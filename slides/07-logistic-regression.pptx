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2"/>
  </p:notesMasterIdLst>
  <p:sldIdLst>
    <p:sldId id="256" r:id="rId2"/>
    <p:sldId id="257" r:id="rId3"/>
    <p:sldId id="288" r:id="rId4"/>
    <p:sldId id="289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2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34C5D5-5929-828B-FB4D-1FE239A2D8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357" r="9091" b="1103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1103FDB8-D911-F8F8-F9EC-FB7FF5435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84324"/>
            <a:ext cx="12192000" cy="2573677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17000"/>
                </a:schemeClr>
              </a:gs>
              <a:gs pos="65000">
                <a:schemeClr val="bg1">
                  <a:alpha val="29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02710"/>
            <a:ext cx="7983068" cy="974347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3600"/>
              <a:t>Logistic Regression</a:t>
            </a:r>
            <a:endParaRPr lang="en-US" sz="3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1A06C2-C984-559B-6247-4CE552425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03108" y="5702710"/>
            <a:ext cx="3633535" cy="974347"/>
          </a:xfrm>
        </p:spPr>
        <p:txBody>
          <a:bodyPr anchor="ctr">
            <a:normAutofit/>
          </a:bodyPr>
          <a:lstStyle/>
          <a:p>
            <a:pPr algn="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1029062"/>
            <a:ext cx="6927602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rPr sz="4000" dirty="0"/>
              <a:t>Motivation: Binary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981200" y="1005840"/>
            <a:ext cx="8229600" cy="0"/>
          </a:xfrm>
          <a:prstGeom prst="rect">
            <a:avLst/>
          </a:prstGeom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55520" y="2034902"/>
            <a:ext cx="7680960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• Problem: Predict binary outcome y ∈ {0,1} from features x ∈ ℝᵖ</a:t>
            </a: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Why not linear regression?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✗ Unbounded predictions: ŷ ∈ (-∞, ∞), not [0,1]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✗ Inappropriate error model: assumes Gaussian noise, not Bernoulli</a:t>
            </a: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Provides a useful starting point with </a:t>
            </a:r>
            <a:r>
              <a:rPr lang="en-US" dirty="0"/>
              <a:t>a </a:t>
            </a:r>
            <a:r>
              <a:rPr dirty="0"/>
              <a:t>linear combination of features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1101636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rPr sz="4000" dirty="0"/>
              <a:t>From Linear Scores to Probabilities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981200" y="1005840"/>
            <a:ext cx="8229600" cy="0"/>
          </a:xfrm>
          <a:prstGeom prst="rect">
            <a:avLst/>
          </a:prstGeom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55520" y="1833156"/>
            <a:ext cx="768096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Linear predictor (score): </a:t>
            </a: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Treat z as latent score or </a:t>
            </a:r>
            <a:r>
              <a:rPr b="1" dirty="0"/>
              <a:t>log-odds</a:t>
            </a:r>
            <a:r>
              <a:rPr dirty="0"/>
              <a:t>, not direct prediction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Need a function that: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Maps ℝ → (0,1)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Is smooth and monotonic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Solution: Logistic (sigmoid) function</a:t>
            </a:r>
            <a:r>
              <a:rPr lang="en-US" dirty="0"/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dirty="0"/>
              <a:t> </a:t>
            </a: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Model:</a:t>
            </a: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dirty="0"/>
              <a:t>Question: What does P(y = 0 | x) look like?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88B719-0DF5-B29E-ADCD-234B8803FA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742" y="4173652"/>
            <a:ext cx="2236572" cy="7782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988D70-1118-9C1A-D1E4-60369B7B1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6172" y="5167366"/>
            <a:ext cx="3392557" cy="4104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FC52BC-C5BD-3287-45AF-D20A0299C9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8036" y="1794995"/>
            <a:ext cx="1760693" cy="38788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creen Shot 2019-10-01 at 6.53.06 AM.png" descr="Screen Shot 2019-10-01 at 6.53.06 AM.png">
            <a:extLst>
              <a:ext uri="{FF2B5EF4-FFF2-40B4-BE49-F238E27FC236}">
                <a16:creationId xmlns:a16="http://schemas.microsoft.com/office/drawing/2014/main" id="{CC37B5EF-4DFF-F621-349F-94B444F49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54" y="1820228"/>
            <a:ext cx="10756273" cy="4181122"/>
          </a:xfrm>
          <a:prstGeom prst="rect">
            <a:avLst/>
          </a:prstGeom>
          <a:ln w="3175">
            <a:miter lim="400000"/>
          </a:ln>
        </p:spPr>
      </p:pic>
      <p:sp>
        <p:nvSpPr>
          <p:cNvPr id="3" name="Picture from Introduction to Statistic Learning by James et. al">
            <a:extLst>
              <a:ext uri="{FF2B5EF4-FFF2-40B4-BE49-F238E27FC236}">
                <a16:creationId xmlns:a16="http://schemas.microsoft.com/office/drawing/2014/main" id="{9A300D1E-647B-E9E1-86D9-6996D2E69BFC}"/>
              </a:ext>
            </a:extLst>
          </p:cNvPr>
          <p:cNvSpPr txBox="1"/>
          <p:nvPr/>
        </p:nvSpPr>
        <p:spPr>
          <a:xfrm>
            <a:off x="1612884" y="5884106"/>
            <a:ext cx="4004112" cy="23448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/>
          <a:p>
            <a:pPr>
              <a:defRPr sz="1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sz="1055" dirty="0"/>
              <a:t>Picture from </a:t>
            </a:r>
            <a:r>
              <a:rPr sz="1055" i="1" dirty="0">
                <a:latin typeface="Helvetica Neue"/>
                <a:ea typeface="Helvetica Neue"/>
                <a:cs typeface="Helvetica Neue"/>
                <a:sym typeface="Helvetica Neue"/>
              </a:rPr>
              <a:t>Introduction to Statistic Learning</a:t>
            </a:r>
            <a:r>
              <a:rPr sz="1055" dirty="0"/>
              <a:t> by James et. 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E43CB-46CA-830B-E2DA-22E08A597FCC}"/>
              </a:ext>
            </a:extLst>
          </p:cNvPr>
          <p:cNvSpPr txBox="1"/>
          <p:nvPr/>
        </p:nvSpPr>
        <p:spPr>
          <a:xfrm>
            <a:off x="2023170" y="856650"/>
            <a:ext cx="413190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rPr lang="en-US" sz="4000" dirty="0"/>
              <a:t>Linear v. Logistic</a:t>
            </a:r>
            <a:endParaRPr sz="4000" dirty="0"/>
          </a:p>
        </p:txBody>
      </p:sp>
    </p:spTree>
    <p:extLst>
      <p:ext uri="{BB962C8B-B14F-4D97-AF65-F5344CB8AC3E}">
        <p14:creationId xmlns:p14="http://schemas.microsoft.com/office/powerpoint/2010/main" val="3355441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1217749"/>
            <a:ext cx="97328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rPr sz="4000"/>
              <a:t>Statistical Interpretation: Bernoulli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1981200" y="1005840"/>
            <a:ext cx="8229600" cy="0"/>
          </a:xfrm>
          <a:prstGeom prst="rect">
            <a:avLst/>
          </a:prstGeom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55520" y="2223590"/>
            <a:ext cx="768096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Explicitly model the data-generating process: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This choice: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✓ Matches the binary nature of the data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✓ Provides a principled likelihood-based objective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2EA3C6-E1D6-129D-33CF-EDA0283AD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727" y="2757717"/>
            <a:ext cx="6099848" cy="5427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985518"/>
            <a:ext cx="715131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rPr sz="4000" dirty="0"/>
              <a:t>Likelihood and Loss Functions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981200" y="1005840"/>
            <a:ext cx="8229600" cy="0"/>
          </a:xfrm>
          <a:prstGeom prst="rect">
            <a:avLst/>
          </a:prstGeom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55520" y="1991359"/>
            <a:ext cx="768096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Likelihood for one observation:</a:t>
            </a: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Log-likelihood for n samples:</a:t>
            </a: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Loss function (negative log-likelihood):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B47BA1-6A85-D9F1-8AC7-320BB10D7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859" y="1991359"/>
            <a:ext cx="3575659" cy="4939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10B2F8-8268-E1F2-5408-A9A188CEE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9153" y="3477122"/>
            <a:ext cx="5473693" cy="81323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B80AB3-AA91-38D7-EE04-348C5C6AF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7659" y="4958235"/>
            <a:ext cx="6394994" cy="893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941976"/>
            <a:ext cx="523893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rPr sz="4000" dirty="0"/>
              <a:t>Optimization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1981200" y="1005840"/>
            <a:ext cx="8229600" cy="0"/>
          </a:xfrm>
          <a:prstGeom prst="rect">
            <a:avLst/>
          </a:prstGeom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55520" y="1947817"/>
            <a:ext cx="768096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Objective:</a:t>
            </a:r>
            <a:r>
              <a:rPr lang="en-US" dirty="0"/>
              <a:t> 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Key properties: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✓ Convex objective → unique global minimum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✗ No closed-form solution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Common methods: Gradient Descent, SGD, Newton's Method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341488-0E3E-C1D7-40A6-9D6E1FC67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464" y="1947817"/>
            <a:ext cx="1844407" cy="62592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898432"/>
            <a:ext cx="74927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rPr sz="4000" dirty="0"/>
              <a:t>Optimization: Gradient</a:t>
            </a:r>
            <a:r>
              <a:rPr lang="en-US" sz="4000" dirty="0"/>
              <a:t> Descent</a:t>
            </a:r>
            <a:endParaRPr sz="4000" dirty="0"/>
          </a:p>
        </p:txBody>
      </p:sp>
      <p:sp>
        <p:nvSpPr>
          <p:cNvPr id="3" name="Rectangle 2"/>
          <p:cNvSpPr/>
          <p:nvPr/>
        </p:nvSpPr>
        <p:spPr>
          <a:xfrm>
            <a:off x="1981200" y="1005840"/>
            <a:ext cx="8229600" cy="0"/>
          </a:xfrm>
          <a:prstGeom prst="rect">
            <a:avLst/>
          </a:prstGeom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55520" y="1904273"/>
            <a:ext cx="768096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Gradient:</a:t>
            </a: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Parallels linear regression: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Linear regression: uses residuals (ŷ - y)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Logistic regression: uses probabilistic errors (p - y)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Interpretation: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When p &gt; y: feature gradient pushes toward 1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When p &lt; y: feature gradient pulls toward 0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When p ≈ y: minimal gradient signal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132278-B9FC-5C27-070F-D99A8358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42" y="1713726"/>
            <a:ext cx="2735059" cy="8060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1014546"/>
            <a:ext cx="677217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rPr sz="4000"/>
              <a:t>Classification: Decision Rule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981200" y="1005840"/>
            <a:ext cx="8229600" cy="0"/>
          </a:xfrm>
          <a:prstGeom prst="rect">
            <a:avLst/>
          </a:prstGeom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55520" y="2020387"/>
            <a:ext cx="7680960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Although logistic regression models probabilities,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classification requires a decision threshold τ: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• Standard choice: τ = 0.5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• Can be adjusted based on cost considerations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306243-54EE-2BD2-1C19-0132D9770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720" y="3245321"/>
            <a:ext cx="4610278" cy="100736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1043576"/>
            <a:ext cx="5041316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rPr sz="4000"/>
              <a:t>Conceptual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1981200" y="1005840"/>
            <a:ext cx="8229600" cy="0"/>
          </a:xfrm>
          <a:prstGeom prst="rect">
            <a:avLst/>
          </a:prstGeom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55520" y="2049416"/>
            <a:ext cx="768096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1. Start with linear regression structure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2. Interpret as log-odds (latent score)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3. Apply sigmoid to get probabilities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4. Model with Bernoulli likelihood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5. Optimize cross-entropy loss (convex)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6. Solve via gradient-based optimization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</TotalTime>
  <Words>375</Words>
  <Application>Microsoft Office PowerPoint</Application>
  <PresentationFormat>Widescreen</PresentationFormat>
  <Paragraphs>71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</vt:lpstr>
      <vt:lpstr>Calisto MT</vt:lpstr>
      <vt:lpstr>Helvetica Neue</vt:lpstr>
      <vt:lpstr>Univers Condensed</vt:lpstr>
      <vt:lpstr>ChronicleVTI</vt:lpstr>
      <vt:lpstr>Logistic Regression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27</cp:revision>
  <dcterms:created xsi:type="dcterms:W3CDTF">2025-10-28T15:32:43Z</dcterms:created>
  <dcterms:modified xsi:type="dcterms:W3CDTF">2026-01-30T16:50:54Z</dcterms:modified>
</cp:coreProperties>
</file>