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" ContentType="image/ti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1"/>
  </p:sldMasterIdLst>
  <p:notesMasterIdLst>
    <p:notesMasterId r:id="rId87"/>
  </p:notesMasterIdLst>
  <p:sldIdLst>
    <p:sldId id="256" r:id="rId2"/>
    <p:sldId id="257" r:id="rId3"/>
    <p:sldId id="260" r:id="rId4"/>
    <p:sldId id="261" r:id="rId5"/>
    <p:sldId id="263" r:id="rId6"/>
    <p:sldId id="335" r:id="rId7"/>
    <p:sldId id="336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88" r:id="rId32"/>
    <p:sldId id="289" r:id="rId33"/>
    <p:sldId id="290" r:id="rId34"/>
    <p:sldId id="291" r:id="rId35"/>
    <p:sldId id="292" r:id="rId36"/>
    <p:sldId id="293" r:id="rId37"/>
    <p:sldId id="294" r:id="rId38"/>
    <p:sldId id="295" r:id="rId39"/>
    <p:sldId id="296" r:id="rId40"/>
    <p:sldId id="297" r:id="rId41"/>
    <p:sldId id="298" r:id="rId42"/>
    <p:sldId id="299" r:id="rId43"/>
    <p:sldId id="300" r:id="rId44"/>
    <p:sldId id="301" r:id="rId45"/>
    <p:sldId id="302" r:id="rId46"/>
    <p:sldId id="303" r:id="rId47"/>
    <p:sldId id="304" r:id="rId48"/>
    <p:sldId id="305" r:id="rId49"/>
    <p:sldId id="306" r:id="rId50"/>
    <p:sldId id="307" r:id="rId51"/>
    <p:sldId id="308" r:id="rId52"/>
    <p:sldId id="309" r:id="rId53"/>
    <p:sldId id="310" r:id="rId54"/>
    <p:sldId id="311" r:id="rId55"/>
    <p:sldId id="312" r:id="rId56"/>
    <p:sldId id="313" r:id="rId57"/>
    <p:sldId id="314" r:id="rId58"/>
    <p:sldId id="315" r:id="rId59"/>
    <p:sldId id="316" r:id="rId60"/>
    <p:sldId id="317" r:id="rId61"/>
    <p:sldId id="318" r:id="rId62"/>
    <p:sldId id="319" r:id="rId63"/>
    <p:sldId id="320" r:id="rId64"/>
    <p:sldId id="321" r:id="rId65"/>
    <p:sldId id="322" r:id="rId66"/>
    <p:sldId id="323" r:id="rId67"/>
    <p:sldId id="324" r:id="rId68"/>
    <p:sldId id="327" r:id="rId69"/>
    <p:sldId id="329" r:id="rId70"/>
    <p:sldId id="325" r:id="rId71"/>
    <p:sldId id="326" r:id="rId72"/>
    <p:sldId id="331" r:id="rId73"/>
    <p:sldId id="330" r:id="rId74"/>
    <p:sldId id="332" r:id="rId75"/>
    <p:sldId id="337" r:id="rId76"/>
    <p:sldId id="338" r:id="rId77"/>
    <p:sldId id="339" r:id="rId78"/>
    <p:sldId id="343" r:id="rId79"/>
    <p:sldId id="340" r:id="rId80"/>
    <p:sldId id="341" r:id="rId81"/>
    <p:sldId id="342" r:id="rId82"/>
    <p:sldId id="344" r:id="rId83"/>
    <p:sldId id="333" r:id="rId84"/>
    <p:sldId id="334" r:id="rId85"/>
    <p:sldId id="345" r:id="rId8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9" autoAdjust="0"/>
    <p:restoredTop sz="94660"/>
  </p:normalViewPr>
  <p:slideViewPr>
    <p:cSldViewPr snapToGrid="0">
      <p:cViewPr varScale="1">
        <p:scale>
          <a:sx n="144" d="100"/>
          <a:sy n="144" d="100"/>
        </p:scale>
        <p:origin x="872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viewProps" Target="viewProp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theme" Target="theme/theme1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presProps" Target="presProps.xml"/><Relationship Id="rId9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notesMaster" Target="notesMasters/notesMaster1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320152-7289-42ED-97D3-BBB411F9F8C0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F0E3D6-3C77-45F1-B7E2-5B66F3D24A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48739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Desmos:</a:t>
            </a:r>
          </a:p>
          <a:p>
            <a:endParaRPr lang="en-US" dirty="0"/>
          </a:p>
          <a:p>
            <a:r>
              <a:rPr lang="en-US" dirty="0"/>
              <a:t>y\ =1\ \left\{x\ &gt;\ 0\right\}\ \left\{x\ &lt;\ 1\right\}</a:t>
            </a:r>
          </a:p>
          <a:p>
            <a:r>
              <a:rPr lang="en-US" dirty="0"/>
              <a:t>y\ =\ 1\ \left\{x\ &gt;\ a-1\right\}\ \left\{x\ &lt;\ a\right\}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F0E3D6-3C77-45F1-B7E2-5B66F3D24A72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09842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8143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09720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60293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3/19/2026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919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3/19/2026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72091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3/19/2026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19477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3/19/2026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04032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3/19/2026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91026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3/19/2026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76653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83652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57883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Body Level One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44" name="Slide Title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45" name="01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86070647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654844" y="2268141"/>
            <a:ext cx="10882313" cy="2321719"/>
          </a:xfrm>
          <a:prstGeom prst="rect">
            <a:avLst/>
          </a:prstGeom>
        </p:spPr>
        <p:txBody>
          <a:bodyPr anchor="ctr"/>
          <a:lstStyle>
            <a:lvl1pPr>
              <a:defRPr sz="5765" spc="-115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t>Section Title</a:t>
            </a:r>
          </a:p>
        </p:txBody>
      </p:sp>
      <p:sp>
        <p:nvSpPr>
          <p:cNvPr id="72" name="Line"/>
          <p:cNvSpPr/>
          <p:nvPr/>
        </p:nvSpPr>
        <p:spPr>
          <a:xfrm>
            <a:off x="11793" y="2116543"/>
            <a:ext cx="12168415" cy="1"/>
          </a:xfrm>
          <a:prstGeom prst="line">
            <a:avLst/>
          </a:prstGeom>
          <a:ln w="25400">
            <a:solidFill>
              <a:srgbClr val="FF7E79"/>
            </a:solidFill>
            <a:miter lim="400000"/>
          </a:ln>
        </p:spPr>
        <p:txBody>
          <a:bodyPr lIns="35719" tIns="35719" rIns="35719" bIns="35719" anchor="ctr"/>
          <a:lstStyle/>
          <a:p>
            <a:endParaRPr sz="1266"/>
          </a:p>
        </p:txBody>
      </p:sp>
      <p:sp>
        <p:nvSpPr>
          <p:cNvPr id="73" name="Line"/>
          <p:cNvSpPr/>
          <p:nvPr/>
        </p:nvSpPr>
        <p:spPr>
          <a:xfrm>
            <a:off x="11792" y="4516789"/>
            <a:ext cx="12168416" cy="1"/>
          </a:xfrm>
          <a:prstGeom prst="line">
            <a:avLst/>
          </a:prstGeom>
          <a:ln w="25400">
            <a:solidFill>
              <a:srgbClr val="FF7E79"/>
            </a:solidFill>
            <a:miter lim="400000"/>
          </a:ln>
        </p:spPr>
        <p:txBody>
          <a:bodyPr lIns="35719" tIns="35719" rIns="35719" bIns="35719" anchor="ctr"/>
          <a:lstStyle/>
          <a:p>
            <a:endParaRPr sz="1266"/>
          </a:p>
        </p:txBody>
      </p:sp>
      <p:sp>
        <p:nvSpPr>
          <p:cNvPr id="74" name="01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22588033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74544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79" r:id="rId6"/>
    <p:sldLayoutId id="2147483675" r:id="rId7"/>
    <p:sldLayoutId id="2147483676" r:id="rId8"/>
    <p:sldLayoutId id="2147483677" r:id="rId9"/>
    <p:sldLayoutId id="2147483678" r:id="rId10"/>
    <p:sldLayoutId id="2147483680" r:id="rId11"/>
    <p:sldLayoutId id="2147483688" r:id="rId12"/>
    <p:sldLayoutId id="2147483689" r:id="rId13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9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tif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7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tif"/><Relationship Id="rId2" Type="http://schemas.openxmlformats.org/officeDocument/2006/relationships/image" Target="../media/image20.tif"/><Relationship Id="rId1" Type="http://schemas.openxmlformats.org/officeDocument/2006/relationships/slideLayout" Target="../slideLayouts/slideLayout1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tif"/><Relationship Id="rId1" Type="http://schemas.openxmlformats.org/officeDocument/2006/relationships/slideLayout" Target="../slideLayouts/slideLayout6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tif"/><Relationship Id="rId1" Type="http://schemas.openxmlformats.org/officeDocument/2006/relationships/slideLayout" Target="../slideLayouts/slideLayout6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tif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6.png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tif"/><Relationship Id="rId1" Type="http://schemas.openxmlformats.org/officeDocument/2006/relationships/slideLayout" Target="../slideLayouts/slideLayout6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tif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BAF47EC-6C92-339E-6A04-8ABE77E19F2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834" b="5896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612349FF-7742-42ED-ADF3-238B5DDD17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307" y="4237318"/>
            <a:ext cx="12188952" cy="2620682"/>
          </a:xfrm>
          <a:prstGeom prst="rect">
            <a:avLst/>
          </a:prstGeom>
          <a:gradFill>
            <a:gsLst>
              <a:gs pos="42000">
                <a:srgbClr val="000000">
                  <a:alpha val="14000"/>
                </a:srgbClr>
              </a:gs>
              <a:gs pos="0">
                <a:srgbClr val="000000">
                  <a:alpha val="0"/>
                </a:srgbClr>
              </a:gs>
              <a:gs pos="100000">
                <a:srgbClr val="000000">
                  <a:alpha val="31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9F3EC0C-B664-18E2-FAA6-07592A24EF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5158" y="5528235"/>
            <a:ext cx="10696574" cy="770964"/>
          </a:xfrm>
        </p:spPr>
        <p:txBody>
          <a:bodyPr anchor="b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Convolutional Neural Networks</a:t>
            </a:r>
          </a:p>
        </p:txBody>
      </p:sp>
    </p:spTree>
    <p:extLst>
      <p:ext uri="{BB962C8B-B14F-4D97-AF65-F5344CB8AC3E}">
        <p14:creationId xmlns:p14="http://schemas.microsoft.com/office/powerpoint/2010/main" val="1284247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ANN = Artificial neural network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ANN = Artificial neural network</a:t>
            </a:r>
          </a:p>
          <a:p>
            <a:r>
              <a:t>DNN = Deep neural network</a:t>
            </a:r>
          </a:p>
          <a:p>
            <a:r>
              <a:t>CNN = Convolutional neural network</a:t>
            </a:r>
          </a:p>
          <a:p>
            <a:r>
              <a:t>RNN = Recurrent neural network</a:t>
            </a:r>
          </a:p>
        </p:txBody>
      </p:sp>
      <p:sp>
        <p:nvSpPr>
          <p:cNvPr id="157" name="NN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1525858">
              <a:defRPr sz="5280" spc="-105"/>
            </a:lvl1pPr>
          </a:lstStyle>
          <a:p>
            <a:r>
              <a:rPr lang="en-US" dirty="0"/>
              <a:t>Terms</a:t>
            </a:r>
            <a:r>
              <a:rPr dirty="0"/>
              <a:t> </a:t>
            </a: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CNNs are inspired by the structure and function of the visual cortex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CNNs are inspired by the structure and function of the visual cortex</a:t>
            </a:r>
          </a:p>
          <a:p>
            <a:pPr lvl="1"/>
            <a:r>
              <a:t>Simple cells</a:t>
            </a:r>
          </a:p>
          <a:p>
            <a:pPr lvl="2"/>
            <a:r>
              <a:t>Respond to patterns of light of a certain orientation (such as edges or bars)</a:t>
            </a:r>
          </a:p>
          <a:p>
            <a:pPr lvl="1"/>
            <a:r>
              <a:t>Complex cells</a:t>
            </a:r>
          </a:p>
          <a:p>
            <a:pPr lvl="2"/>
            <a:r>
              <a:t>Respond to patterns of light in a location but are less sensitive to the exact position</a:t>
            </a:r>
          </a:p>
          <a:p>
            <a:r>
              <a:t>When looking at images, our brain perceives features (both simple and abstract) rather than every detail</a:t>
            </a:r>
          </a:p>
        </p:txBody>
      </p:sp>
      <p:sp>
        <p:nvSpPr>
          <p:cNvPr id="160" name="Biological motivation of CNN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1525858">
              <a:defRPr sz="5280" spc="-105"/>
            </a:lvl1pPr>
          </a:lstStyle>
          <a:p>
            <a:r>
              <a:t>Biological motivation of CNNs</a:t>
            </a:r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CNNs mimic the structure and function of the visual system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CNNs mimic the structure and function of the visual system</a:t>
            </a:r>
          </a:p>
          <a:p>
            <a:r>
              <a:t>They use layers of “convolutions” (or filters) to learn and extract features of the input data</a:t>
            </a:r>
          </a:p>
          <a:p>
            <a:r>
              <a:t>Specifically designed to process and analyze data with a grid-like structure</a:t>
            </a:r>
          </a:p>
          <a:p>
            <a:pPr lvl="1"/>
            <a:r>
              <a:t>Images</a:t>
            </a:r>
          </a:p>
          <a:p>
            <a:pPr lvl="1"/>
            <a:r>
              <a:t>Videos </a:t>
            </a:r>
          </a:p>
        </p:txBody>
      </p:sp>
      <p:sp>
        <p:nvSpPr>
          <p:cNvPr id="163" name="Convolutional Neural Network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1525858">
              <a:defRPr sz="5280" spc="-105"/>
            </a:lvl1pPr>
          </a:lstStyle>
          <a:p>
            <a:r>
              <a:t>Convolutional Neural Networks</a:t>
            </a:r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67" name="Mathematical operation on two functions (f and g) that produces a third function (f*g) that expresses how the shape of one is modified by the other…"/>
              <p:cNvSpPr txBox="1">
                <a:spLocks noGrp="1"/>
              </p:cNvSpPr>
              <p:nvPr>
                <p:ph type="body" idx="1"/>
              </p:nvPr>
            </p:nvSpPr>
            <p:spPr>
              <a:prstGeom prst="rect">
                <a:avLst/>
              </a:prstGeom>
            </p:spPr>
            <p:txBody>
              <a:bodyPr/>
              <a:lstStyle/>
              <a:p>
                <a:r>
                  <a:rPr dirty="0"/>
                  <a:t>Mathematical operation on two functions (f and g) that produces a third function (f*g) that expresses how the shape of one is modified by the other</a:t>
                </a:r>
                <a:br>
                  <a:rPr dirty="0"/>
                </a:br>
                <a:br>
                  <a:rPr dirty="0"/>
                </a:br>
                <a14:m>
                  <m:oMath xmlns:m="http://schemas.openxmlformats.org/officeDocument/2006/math">
                    <m:r>
                      <a:rPr sz="2285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sz="2285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sz="2285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∗</m:t>
                    </m:r>
                    <m:r>
                      <a:rPr sz="2285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a:rPr sz="2285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)(</m:t>
                    </m:r>
                    <m:r>
                      <a:rPr sz="2285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sz="2285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)=</m:t>
                    </m:r>
                    <m:sSubSup>
                      <m:sSubSupPr>
                        <m:ctrlPr>
                          <a:rPr sz="2285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sz="2285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∫</m:t>
                        </m:r>
                      </m:e>
                      <m:sub>
                        <m:r>
                          <a:rPr sz="2285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−∞</m:t>
                        </m:r>
                      </m:sub>
                      <m:sup>
                        <m:r>
                          <a:rPr sz="2285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</m:sSubSup>
                    <m:r>
                      <a:rPr sz="2285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sz="2285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sz="2285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𝜏</m:t>
                    </m:r>
                    <m:r>
                      <a:rPr sz="2285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sz="2285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a:rPr sz="2285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sz="2285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sz="2285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sz="2285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𝜏</m:t>
                    </m:r>
                    <m:r>
                      <a:rPr sz="2285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sz="2285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sz="2285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𝜏</m:t>
                    </m:r>
                  </m:oMath>
                </a14:m>
                <a:endParaRPr dirty="0"/>
              </a:p>
              <a:p>
                <a:endParaRPr dirty="0"/>
              </a:p>
              <a:p>
                <a:r>
                  <a:rPr dirty="0"/>
                  <a:t>Convolution is fancy multiplication</a:t>
                </a:r>
              </a:p>
              <a:p>
                <a:r>
                  <a:rPr dirty="0"/>
                  <a:t>Convolutions are often described as multiplication and addition over a flipped sliding window</a:t>
                </a:r>
              </a:p>
            </p:txBody>
          </p:sp>
        </mc:Choice>
        <mc:Fallback xmlns="">
          <p:sp>
            <p:nvSpPr>
              <p:cNvPr id="167" name="Mathematical operation on two functions (f and g) that produces a third function (f*g) that expresses how the shape of one is modified by the other…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prstGeom prst="rect">
                <a:avLst/>
              </a:prstGeom>
              <a:blipFill>
                <a:blip r:embed="rId2"/>
                <a:stretch>
                  <a:fillRect l="-513" t="-8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8" name="What is a convolution?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1525858">
              <a:defRPr sz="5280" spc="-105"/>
            </a:lvl1pPr>
          </a:lstStyle>
          <a:p>
            <a:r>
              <a:t>What is a convolution? </a:t>
            </a:r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EE1308-B446-0831-BA77-6A7E40013E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Continuous 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38E621-C471-410F-C77B-B4441276866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15469" y="1741687"/>
                <a:ext cx="10691265" cy="3739896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b="1" dirty="0"/>
                  <a:t>Define two simple functions: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≤</m:t>
                                </m:r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≤</m:t>
                                </m:r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i="1"/>
                                  <m:t>otherwise</m:t>
                                </m:r>
                              </m:e>
                            </m:mr>
                          </m:m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ar-AE" i="1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≤</m:t>
                                </m:r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≤</m:t>
                                </m:r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i="1"/>
                                  <m:t>otherwise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ar-AE" b="0" dirty="0"/>
              </a:p>
              <a:p>
                <a:r>
                  <a:rPr lang="en-US" b="1" dirty="0"/>
                  <a:t>Convolution definition: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∗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</m:d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grow m:val="on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lang="ar-AE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nary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</m:d>
                      <m:r>
                        <m:rPr>
                          <m:nor/>
                        </m:rPr>
                        <a:rPr lang="ar-AE" i="1"/>
                        <m:t> </m:t>
                      </m:r>
                      <m:r>
                        <a:rPr lang="ar-AE" i="1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</m:d>
                      <m:r>
                        <m:rPr>
                          <m:nor/>
                        </m:rPr>
                        <a:rPr lang="ar-AE" i="1"/>
                        <m:t> </m:t>
                      </m:r>
                      <m:r>
                        <a:rPr lang="ar-AE" i="1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ar-AE" i="1">
                          <a:latin typeface="Cambria Math" panose="02040503050406030204" pitchFamily="18" charset="0"/>
                        </a:rPr>
                        <m:t>𝜏</m:t>
                      </m:r>
                    </m:oMath>
                  </m:oMathPara>
                </a14:m>
                <a:endParaRPr lang="ar-AE" b="0" dirty="0"/>
              </a:p>
              <a:p>
                <a14:m>
                  <m:oMath xmlns:m="http://schemas.openxmlformats.org/officeDocument/2006/math">
                    <m:r>
                      <a:rPr lang="ar-AE" i="1">
                        <a:latin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ar-AE" dirty="0"/>
                  <a:t>: </a:t>
                </a:r>
                <a:r>
                  <a:rPr lang="en-US" dirty="0"/>
                  <a:t>integration variable</a:t>
                </a:r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/>
                  <a:t>: output location</a:t>
                </a:r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</m:d>
                  </m:oMath>
                </a14:m>
                <a:r>
                  <a:rPr lang="ar-AE" dirty="0"/>
                  <a:t>: </a:t>
                </a:r>
                <a:r>
                  <a:rPr lang="en-US" dirty="0"/>
                  <a:t>flipped and shifted version of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38E621-C471-410F-C77B-B4441276866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15469" y="1741687"/>
                <a:ext cx="10691265" cy="3739896"/>
              </a:xfrm>
              <a:blipFill>
                <a:blip r:embed="rId2"/>
                <a:stretch>
                  <a:fillRect l="-513" t="-979" b="-13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443976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18D805-F41C-CA04-C26B-295FF1716A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9143C1-9570-E790-FBD4-954865BD45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Continuous 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6B779CD-1210-8AB5-CFB3-66B3023C8F7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00634" y="1751212"/>
                <a:ext cx="10691265" cy="3739896"/>
              </a:xfrm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ar-AE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</m:d>
                  </m:oMath>
                </a14:m>
                <a:r>
                  <a:rPr lang="en-US" dirty="0"/>
                  <a:t>is nonzero on [0, 1]</a:t>
                </a:r>
                <a:endParaRPr lang="ar-AE" dirty="0"/>
              </a:p>
              <a:p>
                <a14:m>
                  <m:oMath xmlns:m="http://schemas.openxmlformats.org/officeDocument/2006/math">
                    <m:r>
                      <a:rPr lang="ar-AE" i="1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</m:d>
                  </m:oMath>
                </a14:m>
                <a:r>
                  <a:rPr lang="en-US" dirty="0"/>
                  <a:t>is nonzero when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endParaRPr lang="en-US" dirty="0"/>
              </a:p>
              <a:p>
                <a:r>
                  <a:rPr lang="en-US" b="1" dirty="0"/>
                  <a:t>Therefore:</a:t>
                </a:r>
              </a:p>
              <a:p>
                <a:pPr marL="0" indent="0">
                  <a:buNone/>
                </a:pPr>
                <a:r>
                  <a:rPr lang="en-US" dirty="0"/>
                  <a:t>           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∗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</m:d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b="0" dirty="0"/>
                  <a:t> Length of Overlap </a:t>
                </a:r>
                <a:r>
                  <a:rPr lang="en-US" dirty="0"/>
                  <a:t>between the intervals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nor/>
                      </m:rPr>
                      <a:rPr lang="en-US" b="0" smtClean="0"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nor/>
                      </m:rPr>
                      <a:rPr lang="en-US" b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nor/>
                      </m:rPr>
                      <a:rPr lang="en-US" b="0" smtClean="0"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nor/>
                      </m:rPr>
                      <a:rPr lang="en-US" b="0" smtClean="0">
                        <a:latin typeface="Cambria Math" panose="02040503050406030204" pitchFamily="18" charset="0"/>
                      </a:rPr>
                      <m:t>] </m:t>
                    </m:r>
                    <m:r>
                      <m:rPr>
                        <m:nor/>
                      </m:rPr>
                      <a:rPr lang="en-US" i="1"/>
                      <m:t>and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6B779CD-1210-8AB5-CFB3-66B3023C8F7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00634" y="1751212"/>
                <a:ext cx="10691265" cy="3739896"/>
              </a:xfrm>
              <a:blipFill>
                <a:blip r:embed="rId3"/>
                <a:stretch>
                  <a:fillRect l="-513" t="-6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967329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Suppose patients come to our hospital this week with a certain disease and a different number of patients come each day…"/>
          <p:cNvSpPr txBox="1">
            <a:spLocks noGrp="1"/>
          </p:cNvSpPr>
          <p:nvPr>
            <p:ph type="body" idx="1"/>
          </p:nvPr>
        </p:nvSpPr>
        <p:spPr>
          <a:xfrm>
            <a:off x="700635" y="1831467"/>
            <a:ext cx="10691265" cy="3739896"/>
          </a:xfrm>
          <a:prstGeom prst="rect">
            <a:avLst/>
          </a:prstGeom>
        </p:spPr>
        <p:txBody>
          <a:bodyPr>
            <a:normAutofit lnSpcReduction="10000"/>
          </a:bodyPr>
          <a:lstStyle/>
          <a:p>
            <a:r>
              <a:rPr dirty="0"/>
              <a:t>Suppose patients come to our hospital this week with a certain disease and a different number of patients come each day</a:t>
            </a:r>
          </a:p>
          <a:p>
            <a:pPr lvl="1"/>
            <a:r>
              <a:rPr dirty="0"/>
              <a:t> M: 1 patients</a:t>
            </a:r>
            <a:br>
              <a:rPr dirty="0"/>
            </a:br>
            <a:r>
              <a:rPr dirty="0"/>
              <a:t> T: 2 patients</a:t>
            </a:r>
            <a:br>
              <a:rPr dirty="0"/>
            </a:br>
            <a:r>
              <a:rPr dirty="0"/>
              <a:t> W: 3 patients</a:t>
            </a:r>
            <a:br>
              <a:rPr dirty="0"/>
            </a:br>
            <a:r>
              <a:rPr dirty="0"/>
              <a:t> Th: 4 patients</a:t>
            </a:r>
            <a:br>
              <a:rPr dirty="0"/>
            </a:br>
            <a:r>
              <a:rPr dirty="0"/>
              <a:t> F: 5 patient</a:t>
            </a:r>
          </a:p>
          <a:p>
            <a:pPr lvl="1"/>
            <a:r>
              <a:rPr dirty="0"/>
              <a:t>In vector format: [1, 2, 3, 4, 5]</a:t>
            </a:r>
          </a:p>
          <a:p>
            <a:r>
              <a:rPr dirty="0"/>
              <a:t>Suppose that we treat each patient with 3 doses of medication </a:t>
            </a:r>
          </a:p>
          <a:p>
            <a:r>
              <a:rPr dirty="0"/>
              <a:t>How many doses of medication will we need each day?</a:t>
            </a:r>
          </a:p>
          <a:p>
            <a:pPr lvl="1"/>
            <a:r>
              <a:rPr dirty="0"/>
              <a:t>[3, 6, 9, 12, 15]</a:t>
            </a:r>
          </a:p>
        </p:txBody>
      </p:sp>
      <p:sp>
        <p:nvSpPr>
          <p:cNvPr id="174" name="Simple Example"/>
          <p:cNvSpPr txBox="1">
            <a:spLocks noGrp="1"/>
          </p:cNvSpPr>
          <p:nvPr>
            <p:ph type="title"/>
          </p:nvPr>
        </p:nvSpPr>
        <p:spPr>
          <a:xfrm>
            <a:off x="700635" y="914400"/>
            <a:ext cx="10691265" cy="781050"/>
          </a:xfrm>
          <a:prstGeom prst="rect">
            <a:avLst/>
          </a:prstGeom>
        </p:spPr>
        <p:txBody>
          <a:bodyPr>
            <a:normAutofit/>
          </a:bodyPr>
          <a:lstStyle>
            <a:lvl1pPr defTabSz="1525858">
              <a:defRPr sz="5280" spc="-105"/>
            </a:lvl1pPr>
          </a:lstStyle>
          <a:p>
            <a:r>
              <a:rPr lang="en-US" sz="4000" dirty="0"/>
              <a:t>Discrete</a:t>
            </a:r>
            <a:r>
              <a:rPr sz="4000" dirty="0"/>
              <a:t> Example</a:t>
            </a:r>
          </a:p>
        </p:txBody>
      </p:sp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Suppose patients come to our hospital this week with a certain disease and a different number of patients come each day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Suppose patients come to our hospital this week with a certain disease and a different number of patients come each day</a:t>
            </a:r>
          </a:p>
          <a:p>
            <a:pPr lvl="1"/>
            <a:r>
              <a:rPr dirty="0"/>
              <a:t>In vector format: [1, 2, 3, 4, 5]</a:t>
            </a:r>
          </a:p>
          <a:p>
            <a:r>
              <a:rPr dirty="0"/>
              <a:t>Now suppose that patients need a multi-day regimen with 3 doses the first day, 2 the second day, and 3 doses the third day</a:t>
            </a:r>
          </a:p>
          <a:p>
            <a:pPr lvl="1"/>
            <a:r>
              <a:rPr dirty="0"/>
              <a:t>[3, 2, 1]</a:t>
            </a:r>
          </a:p>
          <a:p>
            <a:r>
              <a:rPr dirty="0"/>
              <a:t>How many doses of medication will we need each day? </a:t>
            </a:r>
          </a:p>
        </p:txBody>
      </p:sp>
      <p:sp>
        <p:nvSpPr>
          <p:cNvPr id="177" name="Simple Example"/>
          <p:cNvSpPr txBox="1">
            <a:spLocks noGrp="1"/>
          </p:cNvSpPr>
          <p:nvPr>
            <p:ph type="title"/>
          </p:nvPr>
        </p:nvSpPr>
        <p:spPr>
          <a:xfrm>
            <a:off x="700635" y="914400"/>
            <a:ext cx="10691265" cy="676275"/>
          </a:xfrm>
          <a:prstGeom prst="rect">
            <a:avLst/>
          </a:prstGeom>
        </p:spPr>
        <p:txBody>
          <a:bodyPr>
            <a:noAutofit/>
          </a:bodyPr>
          <a:lstStyle>
            <a:lvl1pPr defTabSz="1525858">
              <a:defRPr sz="5280" spc="-105"/>
            </a:lvl1pPr>
          </a:lstStyle>
          <a:p>
            <a:r>
              <a:rPr lang="en-US" sz="4000" dirty="0"/>
              <a:t>Discrete Example</a:t>
            </a:r>
            <a:endParaRPr sz="4000" dirty="0"/>
          </a:p>
        </p:txBody>
      </p:sp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Suppose patients come to our hospital this week with a certain disease and a different number of patients come each day…"/>
          <p:cNvSpPr txBox="1">
            <a:spLocks noGrp="1"/>
          </p:cNvSpPr>
          <p:nvPr>
            <p:ph type="body" idx="1"/>
          </p:nvPr>
        </p:nvSpPr>
        <p:spPr>
          <a:xfrm>
            <a:off x="1688348" y="1829602"/>
            <a:ext cx="8161734" cy="5372253"/>
          </a:xfrm>
          <a:prstGeom prst="rect">
            <a:avLst/>
          </a:prstGeom>
        </p:spPr>
        <p:txBody>
          <a:bodyPr/>
          <a:lstStyle/>
          <a:p>
            <a:r>
              <a:rPr dirty="0"/>
              <a:t>Suppose patients come to our hospital this week with a certain disease and a different number of patients come each day</a:t>
            </a:r>
          </a:p>
          <a:p>
            <a:pPr lvl="1"/>
            <a:r>
              <a:rPr dirty="0"/>
              <a:t>In vector format: [1, 2, 3, 4, 5]</a:t>
            </a:r>
          </a:p>
          <a:p>
            <a:r>
              <a:rPr dirty="0"/>
              <a:t>Now suppose that patients actually need a multi-day regimen with 3 doses the first day, 2 the second day, and </a:t>
            </a:r>
            <a:r>
              <a:rPr lang="en-US" dirty="0"/>
              <a:t>1</a:t>
            </a:r>
            <a:r>
              <a:rPr dirty="0"/>
              <a:t> doses the third day</a:t>
            </a:r>
          </a:p>
          <a:p>
            <a:pPr lvl="1"/>
            <a:r>
              <a:rPr dirty="0"/>
              <a:t>[3, 2, 1]</a:t>
            </a:r>
          </a:p>
          <a:p>
            <a:r>
              <a:rPr dirty="0"/>
              <a:t>How many doses of medication will we need each day?</a:t>
            </a:r>
          </a:p>
        </p:txBody>
      </p:sp>
      <p:sp>
        <p:nvSpPr>
          <p:cNvPr id="180" name="Simple Examp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rmAutofit/>
          </a:bodyPr>
          <a:lstStyle>
            <a:lvl1pPr defTabSz="1525858">
              <a:defRPr sz="5280" spc="-105"/>
            </a:lvl1pPr>
          </a:lstStyle>
          <a:p>
            <a:r>
              <a:rPr lang="en-US" sz="4000" dirty="0"/>
              <a:t>Discrete Example</a:t>
            </a:r>
            <a:endParaRPr sz="4000" dirty="0"/>
          </a:p>
        </p:txBody>
      </p:sp>
      <p:sp>
        <p:nvSpPr>
          <p:cNvPr id="181" name="Monday: 1*3…"/>
          <p:cNvSpPr txBox="1"/>
          <p:nvPr/>
        </p:nvSpPr>
        <p:spPr>
          <a:xfrm>
            <a:off x="1688348" y="4910341"/>
            <a:ext cx="3950120" cy="9167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5719" tIns="35719" rIns="35719" bIns="35719" anchor="ctr">
            <a:spAutoFit/>
          </a:bodyPr>
          <a:lstStyle/>
          <a:p>
            <a:pPr marL="714350" lvl="1" indent="-267881">
              <a:lnSpc>
                <a:spcPct val="30000"/>
              </a:lnSpc>
              <a:spcBef>
                <a:spcPts val="2250"/>
              </a:spcBef>
              <a:buClr>
                <a:srgbClr val="8DA0CB"/>
              </a:buClr>
              <a:buSzPct val="123000"/>
              <a:buChar char="•"/>
              <a:defRPr sz="2300">
                <a:solidFill>
                  <a:srgbClr val="000000"/>
                </a:solidFill>
              </a:defRPr>
            </a:pPr>
            <a:r>
              <a:rPr sz="1617" dirty="0"/>
              <a:t>Monday: 1*3</a:t>
            </a:r>
          </a:p>
          <a:p>
            <a:pPr marL="714350" lvl="1" indent="-267881">
              <a:lnSpc>
                <a:spcPct val="30000"/>
              </a:lnSpc>
              <a:spcBef>
                <a:spcPts val="2250"/>
              </a:spcBef>
              <a:buClr>
                <a:srgbClr val="8DA0CB"/>
              </a:buClr>
              <a:buSzPct val="123000"/>
              <a:buChar char="•"/>
              <a:defRPr sz="2300">
                <a:solidFill>
                  <a:srgbClr val="000000"/>
                </a:solidFill>
              </a:defRPr>
            </a:pPr>
            <a:r>
              <a:rPr sz="1617" dirty="0"/>
              <a:t>Tuesday: 2*3 + 1*2</a:t>
            </a:r>
          </a:p>
          <a:p>
            <a:pPr marL="714350" lvl="1" indent="-267881">
              <a:lnSpc>
                <a:spcPct val="30000"/>
              </a:lnSpc>
              <a:spcBef>
                <a:spcPts val="2250"/>
              </a:spcBef>
              <a:buClr>
                <a:srgbClr val="8DA0CB"/>
              </a:buClr>
              <a:buSzPct val="123000"/>
              <a:buChar char="•"/>
              <a:defRPr sz="2300">
                <a:solidFill>
                  <a:srgbClr val="000000"/>
                </a:solidFill>
              </a:defRPr>
            </a:pPr>
            <a:r>
              <a:rPr sz="1617" dirty="0"/>
              <a:t>Wednesday: 3*3 + 2*2 + 1*1</a:t>
            </a:r>
          </a:p>
        </p:txBody>
      </p:sp>
      <p:sp>
        <p:nvSpPr>
          <p:cNvPr id="182" name="Thursday: 4*3 + 3*2 + 2*1…"/>
          <p:cNvSpPr txBox="1"/>
          <p:nvPr/>
        </p:nvSpPr>
        <p:spPr>
          <a:xfrm>
            <a:off x="5547933" y="4910341"/>
            <a:ext cx="3815153" cy="12863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5719" tIns="35719" rIns="35719" bIns="35719" anchor="ctr">
            <a:spAutoFit/>
          </a:bodyPr>
          <a:lstStyle/>
          <a:p>
            <a:pPr marL="714350" lvl="1" indent="-267881">
              <a:lnSpc>
                <a:spcPct val="30000"/>
              </a:lnSpc>
              <a:spcBef>
                <a:spcPts val="2250"/>
              </a:spcBef>
              <a:buClr>
                <a:srgbClr val="8DA0CB"/>
              </a:buClr>
              <a:buSzPct val="123000"/>
              <a:buChar char="•"/>
              <a:defRPr sz="2300">
                <a:solidFill>
                  <a:srgbClr val="000000"/>
                </a:solidFill>
              </a:defRPr>
            </a:pPr>
            <a:r>
              <a:rPr sz="1617" dirty="0"/>
              <a:t>Thursday: 4*3 + 3*2 + 2*1</a:t>
            </a:r>
          </a:p>
          <a:p>
            <a:pPr marL="714350" lvl="1" indent="-267881">
              <a:lnSpc>
                <a:spcPct val="30000"/>
              </a:lnSpc>
              <a:spcBef>
                <a:spcPts val="2250"/>
              </a:spcBef>
              <a:buClr>
                <a:srgbClr val="8DA0CB"/>
              </a:buClr>
              <a:buSzPct val="123000"/>
              <a:buChar char="•"/>
              <a:defRPr sz="2300">
                <a:solidFill>
                  <a:srgbClr val="000000"/>
                </a:solidFill>
              </a:defRPr>
            </a:pPr>
            <a:r>
              <a:rPr sz="1617" dirty="0"/>
              <a:t>Friday: 5*3 + 4*2 + 3*1</a:t>
            </a:r>
          </a:p>
          <a:p>
            <a:pPr marL="714350" lvl="1" indent="-267881">
              <a:lnSpc>
                <a:spcPct val="30000"/>
              </a:lnSpc>
              <a:spcBef>
                <a:spcPts val="2250"/>
              </a:spcBef>
              <a:buClr>
                <a:srgbClr val="8DA0CB"/>
              </a:buClr>
              <a:buSzPct val="123000"/>
              <a:buChar char="•"/>
              <a:defRPr sz="2300">
                <a:solidFill>
                  <a:srgbClr val="000000"/>
                </a:solidFill>
              </a:defRPr>
            </a:pPr>
            <a:r>
              <a:rPr sz="1617" dirty="0"/>
              <a:t>Saturday: 5*2 + 4*1</a:t>
            </a:r>
          </a:p>
          <a:p>
            <a:pPr marL="714350" lvl="1" indent="-267881">
              <a:lnSpc>
                <a:spcPct val="30000"/>
              </a:lnSpc>
              <a:spcBef>
                <a:spcPts val="2250"/>
              </a:spcBef>
              <a:buClr>
                <a:srgbClr val="8DA0CB"/>
              </a:buClr>
              <a:buSzPct val="123000"/>
              <a:buChar char="•"/>
              <a:defRPr sz="2300">
                <a:solidFill>
                  <a:srgbClr val="000000"/>
                </a:solidFill>
              </a:defRPr>
            </a:pPr>
            <a:r>
              <a:rPr sz="1617" dirty="0"/>
              <a:t>Sunday: 5*1 </a:t>
            </a:r>
          </a:p>
        </p:txBody>
      </p:sp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Simple Examp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rmAutofit/>
          </a:bodyPr>
          <a:lstStyle>
            <a:lvl1pPr defTabSz="1525858">
              <a:defRPr sz="5280" spc="-105"/>
            </a:lvl1pPr>
          </a:lstStyle>
          <a:p>
            <a:r>
              <a:rPr lang="en-US" sz="4000" dirty="0"/>
              <a:t>Discrete Example</a:t>
            </a:r>
            <a:endParaRPr sz="4000" dirty="0"/>
          </a:p>
        </p:txBody>
      </p:sp>
      <p:graphicFrame>
        <p:nvGraphicFramePr>
          <p:cNvPr id="185" name="Table 1"/>
          <p:cNvGraphicFramePr/>
          <p:nvPr/>
        </p:nvGraphicFramePr>
        <p:xfrm>
          <a:off x="2034090" y="1869662"/>
          <a:ext cx="3169070" cy="447268"/>
        </p:xfrm>
        <a:graphic>
          <a:graphicData uri="http://schemas.openxmlformats.org/drawingml/2006/table">
            <a:tbl>
              <a:tblPr/>
              <a:tblGrid>
                <a:gridCol w="6338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38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38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338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338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47268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2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3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4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5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86" name="Table 1-1"/>
          <p:cNvGraphicFramePr/>
          <p:nvPr>
            <p:extLst>
              <p:ext uri="{D42A27DB-BD31-4B8C-83A1-F6EECF244321}">
                <p14:modId xmlns:p14="http://schemas.microsoft.com/office/powerpoint/2010/main" val="2446097364"/>
              </p:ext>
            </p:extLst>
          </p:nvPr>
        </p:nvGraphicFramePr>
        <p:xfrm>
          <a:off x="5868530" y="1866894"/>
          <a:ext cx="1891371" cy="438338"/>
        </p:xfrm>
        <a:graphic>
          <a:graphicData uri="http://schemas.openxmlformats.org/drawingml/2006/table">
            <a:tbl>
              <a:tblPr/>
              <a:tblGrid>
                <a:gridCol w="6304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04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04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8338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3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2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 dirty="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87" name="Table 1-1-1"/>
          <p:cNvGraphicFramePr/>
          <p:nvPr/>
        </p:nvGraphicFramePr>
        <p:xfrm>
          <a:off x="5868530" y="3131440"/>
          <a:ext cx="1891371" cy="438338"/>
        </p:xfrm>
        <a:graphic>
          <a:graphicData uri="http://schemas.openxmlformats.org/drawingml/2006/table">
            <a:tbl>
              <a:tblPr/>
              <a:tblGrid>
                <a:gridCol w="6304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04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04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8338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3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 dirty="0"/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 dirty="0"/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89" name="equation.pdf"/>
              <p:cNvSpPr txBox="1"/>
              <p:nvPr/>
            </p:nvSpPr>
            <p:spPr>
              <a:xfrm>
                <a:off x="5322859" y="1866894"/>
                <a:ext cx="463268" cy="443648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642915" latinLnBrk="1">
                  <a:defRPr sz="1800"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2883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⊛</m:t>
                      </m:r>
                    </m:oMath>
                  </m:oMathPara>
                </a14:m>
                <a:endParaRPr sz="2883" dirty="0"/>
              </a:p>
            </p:txBody>
          </p:sp>
        </mc:Choice>
        <mc:Fallback xmlns="">
          <p:sp>
            <p:nvSpPr>
              <p:cNvPr id="189" name="equation.pdf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2859" y="1866894"/>
                <a:ext cx="463268" cy="44364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90" name="Table 1-2"/>
          <p:cNvGraphicFramePr/>
          <p:nvPr/>
        </p:nvGraphicFramePr>
        <p:xfrm>
          <a:off x="3128497" y="3998556"/>
          <a:ext cx="3169070" cy="447268"/>
        </p:xfrm>
        <a:graphic>
          <a:graphicData uri="http://schemas.openxmlformats.org/drawingml/2006/table">
            <a:tbl>
              <a:tblPr/>
              <a:tblGrid>
                <a:gridCol w="6338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38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38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338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338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47268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5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4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3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2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191" name="Line Line" descr="Line Line"/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 rot="4804281">
            <a:off x="3189557" y="3043161"/>
            <a:ext cx="1468449" cy="234094"/>
          </a:xfrm>
          <a:prstGeom prst="rect">
            <a:avLst/>
          </a:prstGeom>
        </p:spPr>
      </p:pic>
      <p:sp>
        <p:nvSpPr>
          <p:cNvPr id="193" name="Flip this vector"/>
          <p:cNvSpPr txBox="1"/>
          <p:nvPr/>
        </p:nvSpPr>
        <p:spPr>
          <a:xfrm>
            <a:off x="1252257" y="2935139"/>
            <a:ext cx="2093908" cy="4568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/>
          <a:p>
            <a:r>
              <a:rPr sz="2500" dirty="0"/>
              <a:t>Flip this vector</a:t>
            </a:r>
          </a:p>
        </p:txBody>
      </p:sp>
      <p:pic>
        <p:nvPicPr>
          <p:cNvPr id="194" name="Line Line" descr="Line Line"/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6422141" y="4105143"/>
            <a:ext cx="1449251" cy="234095"/>
          </a:xfrm>
          <a:prstGeom prst="rect">
            <a:avLst/>
          </a:prstGeom>
        </p:spPr>
      </p:pic>
      <p:sp>
        <p:nvSpPr>
          <p:cNvPr id="196" name="Slide across"/>
          <p:cNvSpPr txBox="1"/>
          <p:nvPr/>
        </p:nvSpPr>
        <p:spPr>
          <a:xfrm>
            <a:off x="6482500" y="4418235"/>
            <a:ext cx="876843" cy="2669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/>
          <a:p>
            <a:r>
              <a:rPr sz="1266" dirty="0"/>
              <a:t>Slide across</a:t>
            </a:r>
          </a:p>
        </p:txBody>
      </p:sp>
      <p:sp>
        <p:nvSpPr>
          <p:cNvPr id="197" name="Multiply and Add at each “slide”"/>
          <p:cNvSpPr txBox="1"/>
          <p:nvPr/>
        </p:nvSpPr>
        <p:spPr>
          <a:xfrm>
            <a:off x="7490420" y="5014320"/>
            <a:ext cx="2242895" cy="4617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5719" tIns="35719" rIns="35719" bIns="35719" anchor="ctr">
            <a:spAutoFit/>
          </a:bodyPr>
          <a:lstStyle/>
          <a:p>
            <a:r>
              <a:rPr sz="1266"/>
              <a:t>Multiply and Add at each “slide”</a:t>
            </a:r>
          </a:p>
        </p:txBody>
      </p:sp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Simple Examp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1525858">
              <a:defRPr sz="5280" spc="-105"/>
            </a:lvl1pPr>
          </a:lstStyle>
          <a:p>
            <a:r>
              <a:rPr lang="en-US" sz="5400" dirty="0"/>
              <a:t>Discrete Example</a:t>
            </a:r>
            <a:endParaRPr dirty="0"/>
          </a:p>
        </p:txBody>
      </p:sp>
      <p:graphicFrame>
        <p:nvGraphicFramePr>
          <p:cNvPr id="200" name="Table 1"/>
          <p:cNvGraphicFramePr/>
          <p:nvPr/>
        </p:nvGraphicFramePr>
        <p:xfrm>
          <a:off x="2152254" y="2461975"/>
          <a:ext cx="3169070" cy="447268"/>
        </p:xfrm>
        <a:graphic>
          <a:graphicData uri="http://schemas.openxmlformats.org/drawingml/2006/table">
            <a:tbl>
              <a:tblPr/>
              <a:tblGrid>
                <a:gridCol w="6338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38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38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338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338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47268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5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4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3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2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>
                    <a:solidFill>
                      <a:srgbClr val="73FA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01" name="Table 1-1"/>
          <p:cNvGraphicFramePr/>
          <p:nvPr/>
        </p:nvGraphicFramePr>
        <p:xfrm>
          <a:off x="4680654" y="1838547"/>
          <a:ext cx="1891371" cy="438338"/>
        </p:xfrm>
        <a:graphic>
          <a:graphicData uri="http://schemas.openxmlformats.org/drawingml/2006/table">
            <a:tbl>
              <a:tblPr/>
              <a:tblGrid>
                <a:gridCol w="6304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04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04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8338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3</a:t>
                      </a:r>
                    </a:p>
                  </a:txBody>
                  <a:tcPr marL="35719" marR="35719" marT="35719" marB="35719" anchor="ctr" horzOverflow="overflow">
                    <a:solidFill>
                      <a:srgbClr val="73FA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2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02" name="Line"/>
          <p:cNvSpPr/>
          <p:nvPr/>
        </p:nvSpPr>
        <p:spPr>
          <a:xfrm>
            <a:off x="2209956" y="3429000"/>
            <a:ext cx="7054506" cy="0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35719" tIns="35719" rIns="35719" bIns="35719" anchor="ctr"/>
          <a:lstStyle/>
          <a:p>
            <a:endParaRPr sz="1266"/>
          </a:p>
        </p:txBody>
      </p:sp>
      <p:graphicFrame>
        <p:nvGraphicFramePr>
          <p:cNvPr id="203" name="Table 1-1-1"/>
          <p:cNvGraphicFramePr/>
          <p:nvPr/>
        </p:nvGraphicFramePr>
        <p:xfrm>
          <a:off x="4680654" y="4073937"/>
          <a:ext cx="1891371" cy="438338"/>
        </p:xfrm>
        <a:graphic>
          <a:graphicData uri="http://schemas.openxmlformats.org/drawingml/2006/table">
            <a:tbl>
              <a:tblPr/>
              <a:tblGrid>
                <a:gridCol w="6304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04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04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8338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3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04" name="equation.pdf"/>
              <p:cNvSpPr txBox="1"/>
              <p:nvPr/>
            </p:nvSpPr>
            <p:spPr>
              <a:xfrm>
                <a:off x="6832431" y="4244413"/>
                <a:ext cx="370294" cy="443648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642915" latinLnBrk="1">
                  <a:defRPr sz="1800"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2883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sz="2883"/>
              </a:p>
            </p:txBody>
          </p:sp>
        </mc:Choice>
        <mc:Fallback xmlns="">
          <p:sp>
            <p:nvSpPr>
              <p:cNvPr id="204" name="equation.pdf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2431" y="4244413"/>
                <a:ext cx="370294" cy="44364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05" name="Table 1-1-1-1"/>
          <p:cNvGraphicFramePr/>
          <p:nvPr/>
        </p:nvGraphicFramePr>
        <p:xfrm>
          <a:off x="7304015" y="4073937"/>
          <a:ext cx="608547" cy="438338"/>
        </p:xfrm>
        <a:graphic>
          <a:graphicData uri="http://schemas.openxmlformats.org/drawingml/2006/table">
            <a:tbl>
              <a:tblPr/>
              <a:tblGrid>
                <a:gridCol w="6085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38338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3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Simple Examp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1525858">
              <a:defRPr sz="5280" spc="-105"/>
            </a:lvl1pPr>
          </a:lstStyle>
          <a:p>
            <a:r>
              <a:rPr lang="en-US" sz="5400" dirty="0"/>
              <a:t>Discrete Example</a:t>
            </a:r>
            <a:endParaRPr dirty="0"/>
          </a:p>
        </p:txBody>
      </p:sp>
      <p:graphicFrame>
        <p:nvGraphicFramePr>
          <p:cNvPr id="208" name="Table 1"/>
          <p:cNvGraphicFramePr/>
          <p:nvPr/>
        </p:nvGraphicFramePr>
        <p:xfrm>
          <a:off x="2900533" y="2485732"/>
          <a:ext cx="3042385" cy="447268"/>
        </p:xfrm>
        <a:graphic>
          <a:graphicData uri="http://schemas.openxmlformats.org/drawingml/2006/table">
            <a:tbl>
              <a:tblPr/>
              <a:tblGrid>
                <a:gridCol w="6084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84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84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847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847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47268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5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4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3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2</a:t>
                      </a:r>
                    </a:p>
                  </a:txBody>
                  <a:tcPr marL="35719" marR="35719" marT="35719" marB="35719" anchor="ctr" horzOverflow="overflow">
                    <a:solidFill>
                      <a:srgbClr val="73FA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>
                    <a:solidFill>
                      <a:srgbClr val="73FA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09" name="Table 1-1"/>
          <p:cNvGraphicFramePr/>
          <p:nvPr/>
        </p:nvGraphicFramePr>
        <p:xfrm>
          <a:off x="4680654" y="1838547"/>
          <a:ext cx="1891371" cy="438338"/>
        </p:xfrm>
        <a:graphic>
          <a:graphicData uri="http://schemas.openxmlformats.org/drawingml/2006/table">
            <a:tbl>
              <a:tblPr/>
              <a:tblGrid>
                <a:gridCol w="6304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04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04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8338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3</a:t>
                      </a:r>
                    </a:p>
                  </a:txBody>
                  <a:tcPr marL="35719" marR="35719" marT="35719" marB="35719" anchor="ctr" horzOverflow="overflow">
                    <a:solidFill>
                      <a:srgbClr val="73FA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2</a:t>
                      </a:r>
                    </a:p>
                  </a:txBody>
                  <a:tcPr marL="35719" marR="35719" marT="35719" marB="35719" anchor="ctr" horzOverflow="overflow">
                    <a:solidFill>
                      <a:srgbClr val="73FA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10" name="Line"/>
          <p:cNvSpPr/>
          <p:nvPr/>
        </p:nvSpPr>
        <p:spPr>
          <a:xfrm>
            <a:off x="2209956" y="3429000"/>
            <a:ext cx="7054506" cy="0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35719" tIns="35719" rIns="35719" bIns="35719" anchor="ctr"/>
          <a:lstStyle/>
          <a:p>
            <a:endParaRPr sz="1266"/>
          </a:p>
        </p:txBody>
      </p:sp>
      <p:graphicFrame>
        <p:nvGraphicFramePr>
          <p:cNvPr id="211" name="Table 1-1-1"/>
          <p:cNvGraphicFramePr/>
          <p:nvPr/>
        </p:nvGraphicFramePr>
        <p:xfrm>
          <a:off x="4680654" y="4073937"/>
          <a:ext cx="1891371" cy="438338"/>
        </p:xfrm>
        <a:graphic>
          <a:graphicData uri="http://schemas.openxmlformats.org/drawingml/2006/table">
            <a:tbl>
              <a:tblPr/>
              <a:tblGrid>
                <a:gridCol w="6304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04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04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8338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6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2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12" name="equation.pdf"/>
              <p:cNvSpPr txBox="1"/>
              <p:nvPr/>
            </p:nvSpPr>
            <p:spPr>
              <a:xfrm>
                <a:off x="6832431" y="4244413"/>
                <a:ext cx="370294" cy="443648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642915" latinLnBrk="1">
                  <a:defRPr sz="1800"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2883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sz="2883"/>
              </a:p>
            </p:txBody>
          </p:sp>
        </mc:Choice>
        <mc:Fallback xmlns="">
          <p:sp>
            <p:nvSpPr>
              <p:cNvPr id="212" name="equation.pdf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2431" y="4244413"/>
                <a:ext cx="370294" cy="44364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13" name="Table 1-1-1-1"/>
          <p:cNvGraphicFramePr/>
          <p:nvPr/>
        </p:nvGraphicFramePr>
        <p:xfrm>
          <a:off x="7304015" y="4073937"/>
          <a:ext cx="608547" cy="438338"/>
        </p:xfrm>
        <a:graphic>
          <a:graphicData uri="http://schemas.openxmlformats.org/drawingml/2006/table">
            <a:tbl>
              <a:tblPr/>
              <a:tblGrid>
                <a:gridCol w="6085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38338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8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Simple Examp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1525858">
              <a:defRPr sz="5280" spc="-105"/>
            </a:lvl1pPr>
          </a:lstStyle>
          <a:p>
            <a:r>
              <a:rPr lang="en-US" sz="5400" dirty="0"/>
              <a:t>Discrete Example</a:t>
            </a:r>
            <a:endParaRPr dirty="0"/>
          </a:p>
        </p:txBody>
      </p:sp>
      <p:graphicFrame>
        <p:nvGraphicFramePr>
          <p:cNvPr id="216" name="Table 1"/>
          <p:cNvGraphicFramePr/>
          <p:nvPr/>
        </p:nvGraphicFramePr>
        <p:xfrm>
          <a:off x="3415278" y="2461975"/>
          <a:ext cx="3156560" cy="447268"/>
        </p:xfrm>
        <a:graphic>
          <a:graphicData uri="http://schemas.openxmlformats.org/drawingml/2006/table">
            <a:tbl>
              <a:tblPr/>
              <a:tblGrid>
                <a:gridCol w="6313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13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13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313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313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47268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5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4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3</a:t>
                      </a:r>
                    </a:p>
                  </a:txBody>
                  <a:tcPr marL="35719" marR="35719" marT="35719" marB="35719" anchor="ctr" horzOverflow="overflow">
                    <a:solidFill>
                      <a:srgbClr val="73FA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2</a:t>
                      </a:r>
                    </a:p>
                  </a:txBody>
                  <a:tcPr marL="35719" marR="35719" marT="35719" marB="35719" anchor="ctr" horzOverflow="overflow">
                    <a:solidFill>
                      <a:srgbClr val="73FA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>
                    <a:solidFill>
                      <a:srgbClr val="73FA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17" name="Table 1-1"/>
          <p:cNvGraphicFramePr/>
          <p:nvPr/>
        </p:nvGraphicFramePr>
        <p:xfrm>
          <a:off x="4680654" y="1838547"/>
          <a:ext cx="1891371" cy="438338"/>
        </p:xfrm>
        <a:graphic>
          <a:graphicData uri="http://schemas.openxmlformats.org/drawingml/2006/table">
            <a:tbl>
              <a:tblPr/>
              <a:tblGrid>
                <a:gridCol w="6304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04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04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8338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3</a:t>
                      </a:r>
                    </a:p>
                  </a:txBody>
                  <a:tcPr marL="35719" marR="35719" marT="35719" marB="35719" anchor="ctr" horzOverflow="overflow">
                    <a:solidFill>
                      <a:srgbClr val="73FA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2</a:t>
                      </a:r>
                    </a:p>
                  </a:txBody>
                  <a:tcPr marL="35719" marR="35719" marT="35719" marB="35719" anchor="ctr" horzOverflow="overflow">
                    <a:solidFill>
                      <a:srgbClr val="73FA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>
                    <a:solidFill>
                      <a:srgbClr val="73FA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18" name="Line"/>
          <p:cNvSpPr/>
          <p:nvPr/>
        </p:nvSpPr>
        <p:spPr>
          <a:xfrm>
            <a:off x="2209956" y="3429000"/>
            <a:ext cx="7054506" cy="0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35719" tIns="35719" rIns="35719" bIns="35719" anchor="ctr"/>
          <a:lstStyle/>
          <a:p>
            <a:endParaRPr sz="1266"/>
          </a:p>
        </p:txBody>
      </p:sp>
      <p:graphicFrame>
        <p:nvGraphicFramePr>
          <p:cNvPr id="219" name="Table 1-1-1"/>
          <p:cNvGraphicFramePr/>
          <p:nvPr/>
        </p:nvGraphicFramePr>
        <p:xfrm>
          <a:off x="4680654" y="4073937"/>
          <a:ext cx="1891371" cy="438338"/>
        </p:xfrm>
        <a:graphic>
          <a:graphicData uri="http://schemas.openxmlformats.org/drawingml/2006/table">
            <a:tbl>
              <a:tblPr/>
              <a:tblGrid>
                <a:gridCol w="6304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04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04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8338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9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4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20" name="equation.pdf"/>
              <p:cNvSpPr txBox="1"/>
              <p:nvPr/>
            </p:nvSpPr>
            <p:spPr>
              <a:xfrm>
                <a:off x="6832431" y="4244413"/>
                <a:ext cx="370294" cy="443648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642915" latinLnBrk="1">
                  <a:defRPr sz="1800"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2883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sz="2883"/>
              </a:p>
            </p:txBody>
          </p:sp>
        </mc:Choice>
        <mc:Fallback xmlns="">
          <p:sp>
            <p:nvSpPr>
              <p:cNvPr id="220" name="equation.pdf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2431" y="4244413"/>
                <a:ext cx="370294" cy="44364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21" name="Table 1-1-1-1"/>
          <p:cNvGraphicFramePr/>
          <p:nvPr/>
        </p:nvGraphicFramePr>
        <p:xfrm>
          <a:off x="7304015" y="4073937"/>
          <a:ext cx="608547" cy="438338"/>
        </p:xfrm>
        <a:graphic>
          <a:graphicData uri="http://schemas.openxmlformats.org/drawingml/2006/table">
            <a:tbl>
              <a:tblPr/>
              <a:tblGrid>
                <a:gridCol w="6085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38338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14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Simple Examp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1525858">
              <a:defRPr sz="5280" spc="-105"/>
            </a:lvl1pPr>
          </a:lstStyle>
          <a:p>
            <a:r>
              <a:rPr lang="en-US" sz="5400" dirty="0"/>
              <a:t>Discrete Example</a:t>
            </a:r>
            <a:endParaRPr dirty="0"/>
          </a:p>
        </p:txBody>
      </p:sp>
      <p:graphicFrame>
        <p:nvGraphicFramePr>
          <p:cNvPr id="224" name="Table 1"/>
          <p:cNvGraphicFramePr/>
          <p:nvPr/>
        </p:nvGraphicFramePr>
        <p:xfrm>
          <a:off x="4048059" y="2464119"/>
          <a:ext cx="3156560" cy="447268"/>
        </p:xfrm>
        <a:graphic>
          <a:graphicData uri="http://schemas.openxmlformats.org/drawingml/2006/table">
            <a:tbl>
              <a:tblPr/>
              <a:tblGrid>
                <a:gridCol w="6313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13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13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313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313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47268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5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4</a:t>
                      </a:r>
                    </a:p>
                  </a:txBody>
                  <a:tcPr marL="35719" marR="35719" marT="35719" marB="35719" anchor="ctr" horzOverflow="overflow">
                    <a:solidFill>
                      <a:srgbClr val="73FA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3</a:t>
                      </a:r>
                    </a:p>
                  </a:txBody>
                  <a:tcPr marL="35719" marR="35719" marT="35719" marB="35719" anchor="ctr" horzOverflow="overflow">
                    <a:solidFill>
                      <a:srgbClr val="73FA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2</a:t>
                      </a:r>
                    </a:p>
                  </a:txBody>
                  <a:tcPr marL="35719" marR="35719" marT="35719" marB="35719" anchor="ctr" horzOverflow="overflow">
                    <a:solidFill>
                      <a:srgbClr val="73FA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25" name="Table 1-1"/>
          <p:cNvGraphicFramePr/>
          <p:nvPr/>
        </p:nvGraphicFramePr>
        <p:xfrm>
          <a:off x="4680654" y="1838547"/>
          <a:ext cx="1891371" cy="438338"/>
        </p:xfrm>
        <a:graphic>
          <a:graphicData uri="http://schemas.openxmlformats.org/drawingml/2006/table">
            <a:tbl>
              <a:tblPr/>
              <a:tblGrid>
                <a:gridCol w="6304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04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04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8338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3</a:t>
                      </a:r>
                    </a:p>
                  </a:txBody>
                  <a:tcPr marL="35719" marR="35719" marT="35719" marB="35719" anchor="ctr" horzOverflow="overflow">
                    <a:solidFill>
                      <a:srgbClr val="73FA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2</a:t>
                      </a:r>
                    </a:p>
                  </a:txBody>
                  <a:tcPr marL="35719" marR="35719" marT="35719" marB="35719" anchor="ctr" horzOverflow="overflow">
                    <a:solidFill>
                      <a:srgbClr val="73FA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>
                    <a:solidFill>
                      <a:srgbClr val="73FA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26" name="Line"/>
          <p:cNvSpPr/>
          <p:nvPr/>
        </p:nvSpPr>
        <p:spPr>
          <a:xfrm>
            <a:off x="2209956" y="3429000"/>
            <a:ext cx="7054506" cy="0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35719" tIns="35719" rIns="35719" bIns="35719" anchor="ctr"/>
          <a:lstStyle/>
          <a:p>
            <a:endParaRPr sz="1266"/>
          </a:p>
        </p:txBody>
      </p:sp>
      <p:graphicFrame>
        <p:nvGraphicFramePr>
          <p:cNvPr id="227" name="Table 1-1-1"/>
          <p:cNvGraphicFramePr/>
          <p:nvPr/>
        </p:nvGraphicFramePr>
        <p:xfrm>
          <a:off x="4680654" y="4073937"/>
          <a:ext cx="1891371" cy="438338"/>
        </p:xfrm>
        <a:graphic>
          <a:graphicData uri="http://schemas.openxmlformats.org/drawingml/2006/table">
            <a:tbl>
              <a:tblPr/>
              <a:tblGrid>
                <a:gridCol w="6304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04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04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8338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12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6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2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28" name="equation.pdf"/>
              <p:cNvSpPr txBox="1"/>
              <p:nvPr/>
            </p:nvSpPr>
            <p:spPr>
              <a:xfrm>
                <a:off x="6832431" y="4244413"/>
                <a:ext cx="370294" cy="443648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642915" latinLnBrk="1">
                  <a:defRPr sz="1800"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2883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sz="2883"/>
              </a:p>
            </p:txBody>
          </p:sp>
        </mc:Choice>
        <mc:Fallback xmlns="">
          <p:sp>
            <p:nvSpPr>
              <p:cNvPr id="228" name="equation.pdf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2431" y="4244413"/>
                <a:ext cx="370294" cy="44364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29" name="Table 1-1-1-1"/>
          <p:cNvGraphicFramePr/>
          <p:nvPr/>
        </p:nvGraphicFramePr>
        <p:xfrm>
          <a:off x="7304015" y="4073937"/>
          <a:ext cx="608547" cy="438338"/>
        </p:xfrm>
        <a:graphic>
          <a:graphicData uri="http://schemas.openxmlformats.org/drawingml/2006/table">
            <a:tbl>
              <a:tblPr/>
              <a:tblGrid>
                <a:gridCol w="6085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38338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20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Simple Examp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1525858">
              <a:defRPr sz="5280" spc="-105"/>
            </a:lvl1pPr>
          </a:lstStyle>
          <a:p>
            <a:r>
              <a:rPr lang="en-US" sz="5400" dirty="0"/>
              <a:t>Discrete Example</a:t>
            </a:r>
            <a:endParaRPr dirty="0"/>
          </a:p>
        </p:txBody>
      </p:sp>
      <p:graphicFrame>
        <p:nvGraphicFramePr>
          <p:cNvPr id="232" name="Table 1"/>
          <p:cNvGraphicFramePr/>
          <p:nvPr/>
        </p:nvGraphicFramePr>
        <p:xfrm>
          <a:off x="4673674" y="2464119"/>
          <a:ext cx="3156560" cy="447268"/>
        </p:xfrm>
        <a:graphic>
          <a:graphicData uri="http://schemas.openxmlformats.org/drawingml/2006/table">
            <a:tbl>
              <a:tblPr/>
              <a:tblGrid>
                <a:gridCol w="6313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13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13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313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313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47268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5</a:t>
                      </a:r>
                    </a:p>
                  </a:txBody>
                  <a:tcPr marL="35719" marR="35719" marT="35719" marB="35719" anchor="ctr" horzOverflow="overflow">
                    <a:solidFill>
                      <a:srgbClr val="73FA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4</a:t>
                      </a:r>
                    </a:p>
                  </a:txBody>
                  <a:tcPr marL="35719" marR="35719" marT="35719" marB="35719" anchor="ctr" horzOverflow="overflow">
                    <a:solidFill>
                      <a:srgbClr val="73FA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3</a:t>
                      </a:r>
                    </a:p>
                  </a:txBody>
                  <a:tcPr marL="35719" marR="35719" marT="35719" marB="35719" anchor="ctr" horzOverflow="overflow">
                    <a:solidFill>
                      <a:srgbClr val="73FA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2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33" name="Table 1-1"/>
          <p:cNvGraphicFramePr/>
          <p:nvPr/>
        </p:nvGraphicFramePr>
        <p:xfrm>
          <a:off x="4680654" y="1838547"/>
          <a:ext cx="1891371" cy="438338"/>
        </p:xfrm>
        <a:graphic>
          <a:graphicData uri="http://schemas.openxmlformats.org/drawingml/2006/table">
            <a:tbl>
              <a:tblPr/>
              <a:tblGrid>
                <a:gridCol w="6304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04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04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8338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3</a:t>
                      </a:r>
                    </a:p>
                  </a:txBody>
                  <a:tcPr marL="35719" marR="35719" marT="35719" marB="35719" anchor="ctr" horzOverflow="overflow">
                    <a:solidFill>
                      <a:srgbClr val="73FA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2</a:t>
                      </a:r>
                    </a:p>
                  </a:txBody>
                  <a:tcPr marL="35719" marR="35719" marT="35719" marB="35719" anchor="ctr" horzOverflow="overflow">
                    <a:solidFill>
                      <a:srgbClr val="73FA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>
                    <a:solidFill>
                      <a:srgbClr val="73FA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4" name="Line"/>
          <p:cNvSpPr/>
          <p:nvPr/>
        </p:nvSpPr>
        <p:spPr>
          <a:xfrm>
            <a:off x="2209956" y="3429000"/>
            <a:ext cx="7054506" cy="0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35719" tIns="35719" rIns="35719" bIns="35719" anchor="ctr"/>
          <a:lstStyle/>
          <a:p>
            <a:endParaRPr sz="1266"/>
          </a:p>
        </p:txBody>
      </p:sp>
      <p:graphicFrame>
        <p:nvGraphicFramePr>
          <p:cNvPr id="235" name="Table 1-1-1"/>
          <p:cNvGraphicFramePr/>
          <p:nvPr/>
        </p:nvGraphicFramePr>
        <p:xfrm>
          <a:off x="4680654" y="4073937"/>
          <a:ext cx="1891371" cy="438338"/>
        </p:xfrm>
        <a:graphic>
          <a:graphicData uri="http://schemas.openxmlformats.org/drawingml/2006/table">
            <a:tbl>
              <a:tblPr/>
              <a:tblGrid>
                <a:gridCol w="6304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04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04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8338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15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8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3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36" name="equation.pdf"/>
              <p:cNvSpPr txBox="1"/>
              <p:nvPr/>
            </p:nvSpPr>
            <p:spPr>
              <a:xfrm>
                <a:off x="6832431" y="4244413"/>
                <a:ext cx="370294" cy="443648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642915" latinLnBrk="1">
                  <a:defRPr sz="1800"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2883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sz="2883"/>
              </a:p>
            </p:txBody>
          </p:sp>
        </mc:Choice>
        <mc:Fallback xmlns="">
          <p:sp>
            <p:nvSpPr>
              <p:cNvPr id="236" name="equation.pdf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2431" y="4244413"/>
                <a:ext cx="370294" cy="44364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37" name="Table 1-1-1-1"/>
          <p:cNvGraphicFramePr/>
          <p:nvPr/>
        </p:nvGraphicFramePr>
        <p:xfrm>
          <a:off x="7304015" y="4073937"/>
          <a:ext cx="608547" cy="438338"/>
        </p:xfrm>
        <a:graphic>
          <a:graphicData uri="http://schemas.openxmlformats.org/drawingml/2006/table">
            <a:tbl>
              <a:tblPr/>
              <a:tblGrid>
                <a:gridCol w="6085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38338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26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Simple Examp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1525858">
              <a:defRPr sz="5280" spc="-105"/>
            </a:lvl1pPr>
          </a:lstStyle>
          <a:p>
            <a:r>
              <a:rPr lang="en-US" sz="5400" dirty="0"/>
              <a:t>Discrete Example</a:t>
            </a:r>
            <a:endParaRPr dirty="0"/>
          </a:p>
        </p:txBody>
      </p:sp>
      <p:graphicFrame>
        <p:nvGraphicFramePr>
          <p:cNvPr id="240" name="Table 1"/>
          <p:cNvGraphicFramePr/>
          <p:nvPr/>
        </p:nvGraphicFramePr>
        <p:xfrm>
          <a:off x="5361972" y="2464119"/>
          <a:ext cx="3156560" cy="447268"/>
        </p:xfrm>
        <a:graphic>
          <a:graphicData uri="http://schemas.openxmlformats.org/drawingml/2006/table">
            <a:tbl>
              <a:tblPr/>
              <a:tblGrid>
                <a:gridCol w="6313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13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13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313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313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47268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5</a:t>
                      </a:r>
                    </a:p>
                  </a:txBody>
                  <a:tcPr marL="35719" marR="35719" marT="35719" marB="35719" anchor="ctr" horzOverflow="overflow">
                    <a:solidFill>
                      <a:srgbClr val="73FA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4</a:t>
                      </a:r>
                    </a:p>
                  </a:txBody>
                  <a:tcPr marL="35719" marR="35719" marT="35719" marB="35719" anchor="ctr" horzOverflow="overflow">
                    <a:solidFill>
                      <a:srgbClr val="73FA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3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2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41" name="Table 1-1"/>
          <p:cNvGraphicFramePr/>
          <p:nvPr/>
        </p:nvGraphicFramePr>
        <p:xfrm>
          <a:off x="4680654" y="1838547"/>
          <a:ext cx="1891371" cy="438338"/>
        </p:xfrm>
        <a:graphic>
          <a:graphicData uri="http://schemas.openxmlformats.org/drawingml/2006/table">
            <a:tbl>
              <a:tblPr/>
              <a:tblGrid>
                <a:gridCol w="6304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04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04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8338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3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2</a:t>
                      </a:r>
                    </a:p>
                  </a:txBody>
                  <a:tcPr marL="35719" marR="35719" marT="35719" marB="35719" anchor="ctr" horzOverflow="overflow">
                    <a:solidFill>
                      <a:srgbClr val="73FA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>
                    <a:solidFill>
                      <a:srgbClr val="73FA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42" name="Line"/>
          <p:cNvSpPr/>
          <p:nvPr/>
        </p:nvSpPr>
        <p:spPr>
          <a:xfrm>
            <a:off x="2209956" y="3429000"/>
            <a:ext cx="7054506" cy="0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35719" tIns="35719" rIns="35719" bIns="35719" anchor="ctr"/>
          <a:lstStyle/>
          <a:p>
            <a:endParaRPr sz="1266"/>
          </a:p>
        </p:txBody>
      </p:sp>
      <p:graphicFrame>
        <p:nvGraphicFramePr>
          <p:cNvPr id="243" name="Table 1-1-1"/>
          <p:cNvGraphicFramePr/>
          <p:nvPr/>
        </p:nvGraphicFramePr>
        <p:xfrm>
          <a:off x="4680654" y="4073937"/>
          <a:ext cx="1891371" cy="438338"/>
        </p:xfrm>
        <a:graphic>
          <a:graphicData uri="http://schemas.openxmlformats.org/drawingml/2006/table">
            <a:tbl>
              <a:tblPr/>
              <a:tblGrid>
                <a:gridCol w="6304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04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04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8338"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4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44" name="equation.pdf"/>
              <p:cNvSpPr txBox="1"/>
              <p:nvPr/>
            </p:nvSpPr>
            <p:spPr>
              <a:xfrm>
                <a:off x="6832431" y="4244413"/>
                <a:ext cx="370294" cy="443648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642915" latinLnBrk="1">
                  <a:defRPr sz="1800"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2883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sz="2883"/>
              </a:p>
            </p:txBody>
          </p:sp>
        </mc:Choice>
        <mc:Fallback xmlns="">
          <p:sp>
            <p:nvSpPr>
              <p:cNvPr id="244" name="equation.pdf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2431" y="4244413"/>
                <a:ext cx="370294" cy="44364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45" name="Table 1-1-1-1"/>
          <p:cNvGraphicFramePr/>
          <p:nvPr/>
        </p:nvGraphicFramePr>
        <p:xfrm>
          <a:off x="7304015" y="4073937"/>
          <a:ext cx="608547" cy="438338"/>
        </p:xfrm>
        <a:graphic>
          <a:graphicData uri="http://schemas.openxmlformats.org/drawingml/2006/table">
            <a:tbl>
              <a:tblPr/>
              <a:tblGrid>
                <a:gridCol w="6085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38338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14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Simple Examp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1525858">
              <a:defRPr sz="5280" spc="-105"/>
            </a:lvl1pPr>
          </a:lstStyle>
          <a:p>
            <a:r>
              <a:rPr lang="en-US" sz="5400" dirty="0"/>
              <a:t>Discrete Example</a:t>
            </a:r>
            <a:endParaRPr dirty="0"/>
          </a:p>
        </p:txBody>
      </p:sp>
      <p:graphicFrame>
        <p:nvGraphicFramePr>
          <p:cNvPr id="248" name="Table 1"/>
          <p:cNvGraphicFramePr/>
          <p:nvPr/>
        </p:nvGraphicFramePr>
        <p:xfrm>
          <a:off x="5958734" y="2464119"/>
          <a:ext cx="3156560" cy="447268"/>
        </p:xfrm>
        <a:graphic>
          <a:graphicData uri="http://schemas.openxmlformats.org/drawingml/2006/table">
            <a:tbl>
              <a:tblPr/>
              <a:tblGrid>
                <a:gridCol w="6313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13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13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313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313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47268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5</a:t>
                      </a:r>
                    </a:p>
                  </a:txBody>
                  <a:tcPr marL="35719" marR="35719" marT="35719" marB="35719" anchor="ctr" horzOverflow="overflow">
                    <a:solidFill>
                      <a:srgbClr val="73FA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4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3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2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49" name="Table 1-1"/>
          <p:cNvGraphicFramePr/>
          <p:nvPr/>
        </p:nvGraphicFramePr>
        <p:xfrm>
          <a:off x="4680654" y="1838547"/>
          <a:ext cx="1891371" cy="438338"/>
        </p:xfrm>
        <a:graphic>
          <a:graphicData uri="http://schemas.openxmlformats.org/drawingml/2006/table">
            <a:tbl>
              <a:tblPr/>
              <a:tblGrid>
                <a:gridCol w="6304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04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04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8338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3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2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>
                    <a:solidFill>
                      <a:srgbClr val="73FA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50" name="Line"/>
          <p:cNvSpPr/>
          <p:nvPr/>
        </p:nvSpPr>
        <p:spPr>
          <a:xfrm>
            <a:off x="2209956" y="3429000"/>
            <a:ext cx="7054506" cy="0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35719" tIns="35719" rIns="35719" bIns="35719" anchor="ctr"/>
          <a:lstStyle/>
          <a:p>
            <a:endParaRPr sz="1266"/>
          </a:p>
        </p:txBody>
      </p:sp>
      <p:graphicFrame>
        <p:nvGraphicFramePr>
          <p:cNvPr id="251" name="Table 1-1-1"/>
          <p:cNvGraphicFramePr/>
          <p:nvPr/>
        </p:nvGraphicFramePr>
        <p:xfrm>
          <a:off x="4680654" y="4073937"/>
          <a:ext cx="1891371" cy="438338"/>
        </p:xfrm>
        <a:graphic>
          <a:graphicData uri="http://schemas.openxmlformats.org/drawingml/2006/table">
            <a:tbl>
              <a:tblPr/>
              <a:tblGrid>
                <a:gridCol w="6304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04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04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8338"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5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52" name="equation.pdf"/>
              <p:cNvSpPr txBox="1"/>
              <p:nvPr/>
            </p:nvSpPr>
            <p:spPr>
              <a:xfrm>
                <a:off x="6832431" y="4244413"/>
                <a:ext cx="370294" cy="443648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642915" latinLnBrk="1">
                  <a:defRPr sz="1800"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2883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sz="2883"/>
              </a:p>
            </p:txBody>
          </p:sp>
        </mc:Choice>
        <mc:Fallback xmlns="">
          <p:sp>
            <p:nvSpPr>
              <p:cNvPr id="252" name="equation.pdf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2431" y="4244413"/>
                <a:ext cx="370294" cy="44364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53" name="Table 1-1-1-1"/>
          <p:cNvGraphicFramePr/>
          <p:nvPr/>
        </p:nvGraphicFramePr>
        <p:xfrm>
          <a:off x="7304015" y="4073937"/>
          <a:ext cx="608547" cy="438338"/>
        </p:xfrm>
        <a:graphic>
          <a:graphicData uri="http://schemas.openxmlformats.org/drawingml/2006/table">
            <a:tbl>
              <a:tblPr/>
              <a:tblGrid>
                <a:gridCol w="6085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38338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5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Simple Examp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1525858">
              <a:defRPr sz="5280" spc="-105"/>
            </a:lvl1pPr>
          </a:lstStyle>
          <a:p>
            <a:r>
              <a:rPr lang="en-US" sz="5400" dirty="0"/>
              <a:t>Discrete Example</a:t>
            </a:r>
            <a:endParaRPr dirty="0"/>
          </a:p>
        </p:txBody>
      </p:sp>
      <p:graphicFrame>
        <p:nvGraphicFramePr>
          <p:cNvPr id="256" name="Table 1"/>
          <p:cNvGraphicFramePr/>
          <p:nvPr/>
        </p:nvGraphicFramePr>
        <p:xfrm>
          <a:off x="2034090" y="1869662"/>
          <a:ext cx="3169070" cy="447268"/>
        </p:xfrm>
        <a:graphic>
          <a:graphicData uri="http://schemas.openxmlformats.org/drawingml/2006/table">
            <a:tbl>
              <a:tblPr/>
              <a:tblGrid>
                <a:gridCol w="6338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38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38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338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338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47268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2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3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4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5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57" name="Table 1-1"/>
          <p:cNvGraphicFramePr/>
          <p:nvPr/>
        </p:nvGraphicFramePr>
        <p:xfrm>
          <a:off x="5868530" y="1912097"/>
          <a:ext cx="1891371" cy="438338"/>
        </p:xfrm>
        <a:graphic>
          <a:graphicData uri="http://schemas.openxmlformats.org/drawingml/2006/table">
            <a:tbl>
              <a:tblPr/>
              <a:tblGrid>
                <a:gridCol w="6304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04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04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8338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3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2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58" name="Table 1-1-1"/>
          <p:cNvGraphicFramePr/>
          <p:nvPr/>
        </p:nvGraphicFramePr>
        <p:xfrm>
          <a:off x="5535925" y="3209830"/>
          <a:ext cx="4059363" cy="438338"/>
        </p:xfrm>
        <a:graphic>
          <a:graphicData uri="http://schemas.openxmlformats.org/drawingml/2006/table">
            <a:tbl>
              <a:tblPr/>
              <a:tblGrid>
                <a:gridCol w="5799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99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99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99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990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990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990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38338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3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8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14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20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26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14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5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59" name="equation.pdf"/>
              <p:cNvSpPr txBox="1"/>
              <p:nvPr/>
            </p:nvSpPr>
            <p:spPr>
              <a:xfrm>
                <a:off x="8005401" y="2082573"/>
                <a:ext cx="370294" cy="443648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642915" latinLnBrk="1">
                  <a:defRPr sz="1800"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2883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sz="2883"/>
              </a:p>
            </p:txBody>
          </p:sp>
        </mc:Choice>
        <mc:Fallback xmlns="">
          <p:sp>
            <p:nvSpPr>
              <p:cNvPr id="259" name="equation.pdf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05401" y="2082573"/>
                <a:ext cx="370294" cy="44364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0" name="equation.pdf"/>
              <p:cNvSpPr txBox="1"/>
              <p:nvPr/>
            </p:nvSpPr>
            <p:spPr>
              <a:xfrm>
                <a:off x="5412206" y="1957466"/>
                <a:ext cx="463268" cy="443648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642915" latinLnBrk="1">
                  <a:defRPr sz="1800"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2883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⊛</m:t>
                      </m:r>
                    </m:oMath>
                  </m:oMathPara>
                </a14:m>
                <a:endParaRPr sz="2883"/>
              </a:p>
            </p:txBody>
          </p:sp>
        </mc:Choice>
        <mc:Fallback xmlns="">
          <p:sp>
            <p:nvSpPr>
              <p:cNvPr id="260" name="equation.pdf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2206" y="1957466"/>
                <a:ext cx="463268" cy="44364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61" name="pasted-image.png" descr="pasted-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27156" y="4799882"/>
            <a:ext cx="4911329" cy="96440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Convolutions have application is a vast array disciplines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Convolutions have application is a vast array disciplines </a:t>
            </a:r>
          </a:p>
          <a:p>
            <a:pPr lvl="1"/>
            <a:r>
              <a:t>Probability</a:t>
            </a:r>
          </a:p>
          <a:p>
            <a:pPr lvl="1"/>
            <a:r>
              <a:t>Statistics</a:t>
            </a:r>
          </a:p>
          <a:p>
            <a:pPr lvl="1"/>
            <a:r>
              <a:t>Image processing </a:t>
            </a:r>
          </a:p>
          <a:p>
            <a:pPr lvl="1"/>
            <a:r>
              <a:t>Signal processing</a:t>
            </a:r>
          </a:p>
          <a:p>
            <a:pPr lvl="1"/>
            <a:r>
              <a:t>Acoustics</a:t>
            </a:r>
          </a:p>
          <a:p>
            <a:pPr lvl="1"/>
            <a:r>
              <a:t>Computer vision</a:t>
            </a:r>
          </a:p>
          <a:p>
            <a:pPr lvl="1"/>
            <a:r>
              <a:t>Etc.  </a:t>
            </a:r>
          </a:p>
        </p:txBody>
      </p:sp>
      <p:sp>
        <p:nvSpPr>
          <p:cNvPr id="264" name="Uses of convolution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1525858">
              <a:defRPr sz="5280" spc="-105"/>
            </a:lvl1pPr>
          </a:lstStyle>
          <a:p>
            <a:r>
              <a:t>Uses of convolutions </a:t>
            </a:r>
          </a:p>
        </p:txBody>
      </p:sp>
    </p:spTree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In image processing, convolving a filter with the original image results in a range of effects, depending on the filter"/>
          <p:cNvSpPr txBox="1">
            <a:spLocks noGrp="1"/>
          </p:cNvSpPr>
          <p:nvPr>
            <p:ph type="body" sz="quarter" idx="1"/>
          </p:nvPr>
        </p:nvSpPr>
        <p:spPr>
          <a:xfrm>
            <a:off x="1856466" y="1459970"/>
            <a:ext cx="8161734" cy="851645"/>
          </a:xfrm>
          <a:prstGeom prst="rect">
            <a:avLst/>
          </a:prstGeom>
        </p:spPr>
        <p:txBody>
          <a:bodyPr/>
          <a:lstStyle/>
          <a:p>
            <a:r>
              <a:rPr dirty="0"/>
              <a:t>In image processing, convolving a filter with the original image results in a range of effects, depending on the filter</a:t>
            </a:r>
          </a:p>
        </p:txBody>
      </p:sp>
      <p:sp>
        <p:nvSpPr>
          <p:cNvPr id="267" name="Convolutions in Image Processing"/>
          <p:cNvSpPr txBox="1">
            <a:spLocks noGrp="1"/>
          </p:cNvSpPr>
          <p:nvPr>
            <p:ph type="title"/>
          </p:nvPr>
        </p:nvSpPr>
        <p:spPr>
          <a:xfrm>
            <a:off x="672060" y="735414"/>
            <a:ext cx="10691265" cy="712386"/>
          </a:xfrm>
          <a:prstGeom prst="rect">
            <a:avLst/>
          </a:prstGeom>
        </p:spPr>
        <p:txBody>
          <a:bodyPr>
            <a:normAutofit fontScale="90000"/>
          </a:bodyPr>
          <a:lstStyle>
            <a:lvl1pPr defTabSz="1525858">
              <a:defRPr sz="5280" spc="-105"/>
            </a:lvl1pPr>
          </a:lstStyle>
          <a:p>
            <a:r>
              <a:rPr dirty="0"/>
              <a:t>Convolutions in Image Processing</a:t>
            </a:r>
          </a:p>
        </p:txBody>
      </p:sp>
      <p:pic>
        <p:nvPicPr>
          <p:cNvPr id="268" name="pasted-image.png" descr="pasted-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6719" y="3315827"/>
            <a:ext cx="1875235" cy="1812727"/>
          </a:xfrm>
          <a:prstGeom prst="rect">
            <a:avLst/>
          </a:prstGeom>
          <a:ln w="12700">
            <a:miter lim="400000"/>
          </a:ln>
        </p:spPr>
      </p:pic>
      <p:pic>
        <p:nvPicPr>
          <p:cNvPr id="269" name="pasted-image.png" descr="pasted-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7326" y="2427239"/>
            <a:ext cx="3696068" cy="1185311"/>
          </a:xfrm>
          <a:prstGeom prst="rect">
            <a:avLst/>
          </a:prstGeom>
          <a:ln w="12700">
            <a:miter lim="400000"/>
          </a:ln>
        </p:spPr>
      </p:pic>
      <p:pic>
        <p:nvPicPr>
          <p:cNvPr id="270" name="pasted-image.png" descr="pasted-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7326" y="3937750"/>
            <a:ext cx="3696068" cy="1185312"/>
          </a:xfrm>
          <a:prstGeom prst="rect">
            <a:avLst/>
          </a:prstGeom>
          <a:ln w="12700">
            <a:miter lim="400000"/>
          </a:ln>
        </p:spPr>
      </p:pic>
      <p:pic>
        <p:nvPicPr>
          <p:cNvPr id="271" name="pasted-image.png" descr="pasted-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77326" y="5448261"/>
            <a:ext cx="3696068" cy="1185312"/>
          </a:xfrm>
          <a:prstGeom prst="rect">
            <a:avLst/>
          </a:prstGeom>
          <a:ln w="12700">
            <a:miter lim="400000"/>
          </a:ln>
        </p:spPr>
      </p:pic>
      <p:sp>
        <p:nvSpPr>
          <p:cNvPr id="272" name="Edge detection"/>
          <p:cNvSpPr txBox="1"/>
          <p:nvPr/>
        </p:nvSpPr>
        <p:spPr>
          <a:xfrm>
            <a:off x="4566509" y="2859402"/>
            <a:ext cx="1370824" cy="3209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>
            <a:lvl1pPr>
              <a:defRPr sz="2300">
                <a:solidFill>
                  <a:srgbClr val="000000"/>
                </a:solidFill>
              </a:defRPr>
            </a:lvl1pPr>
          </a:lstStyle>
          <a:p>
            <a:r>
              <a:rPr sz="1617"/>
              <a:t>Edge detection</a:t>
            </a:r>
          </a:p>
        </p:txBody>
      </p:sp>
      <p:sp>
        <p:nvSpPr>
          <p:cNvPr id="273" name="Sharpen"/>
          <p:cNvSpPr txBox="1"/>
          <p:nvPr/>
        </p:nvSpPr>
        <p:spPr>
          <a:xfrm>
            <a:off x="4896251" y="4263281"/>
            <a:ext cx="799451" cy="3209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>
            <a:lvl1pPr>
              <a:defRPr sz="2300">
                <a:solidFill>
                  <a:srgbClr val="000000"/>
                </a:solidFill>
              </a:defRPr>
            </a:lvl1pPr>
          </a:lstStyle>
          <a:p>
            <a:r>
              <a:rPr sz="1617"/>
              <a:t>Sharpen</a:t>
            </a:r>
          </a:p>
        </p:txBody>
      </p:sp>
      <p:sp>
        <p:nvSpPr>
          <p:cNvPr id="274" name="Blur"/>
          <p:cNvSpPr txBox="1"/>
          <p:nvPr/>
        </p:nvSpPr>
        <p:spPr>
          <a:xfrm>
            <a:off x="5101634" y="5880424"/>
            <a:ext cx="450444" cy="3209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>
            <a:lvl1pPr>
              <a:defRPr sz="2300">
                <a:solidFill>
                  <a:srgbClr val="000000"/>
                </a:solidFill>
              </a:defRPr>
            </a:lvl1pPr>
          </a:lstStyle>
          <a:p>
            <a:r>
              <a:rPr sz="1617"/>
              <a:t>Blur</a:t>
            </a:r>
          </a:p>
        </p:txBody>
      </p:sp>
    </p:spTree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Basic structure of a CNN: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Basic structure of a CNN:</a:t>
            </a:r>
          </a:p>
          <a:p>
            <a:pPr lvl="1"/>
            <a:r>
              <a:t>Convolutional layers</a:t>
            </a:r>
          </a:p>
          <a:p>
            <a:pPr lvl="2"/>
            <a:r>
              <a:t>part of fitting process involves the network finding the filters that help identify the image</a:t>
            </a:r>
          </a:p>
          <a:p>
            <a:pPr lvl="1"/>
            <a:r>
              <a:t>Pooling layers</a:t>
            </a:r>
          </a:p>
          <a:p>
            <a:pPr lvl="1"/>
            <a:r>
              <a:t>Flattening and Fully connected layers</a:t>
            </a:r>
          </a:p>
        </p:txBody>
      </p:sp>
      <p:sp>
        <p:nvSpPr>
          <p:cNvPr id="277" name="CNN Architectur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1525858">
              <a:defRPr sz="5280" spc="-105"/>
            </a:lvl1pPr>
          </a:lstStyle>
          <a:p>
            <a:r>
              <a:t>CNN Architecture</a:t>
            </a:r>
          </a:p>
        </p:txBody>
      </p:sp>
    </p:spTree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CNN Architectur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1525858">
              <a:defRPr sz="5280" spc="-105"/>
            </a:lvl1pPr>
          </a:lstStyle>
          <a:p>
            <a:r>
              <a:t>CNN Architecture</a:t>
            </a:r>
          </a:p>
        </p:txBody>
      </p:sp>
      <p:pic>
        <p:nvPicPr>
          <p:cNvPr id="280" name="pasted-image.tiff" descr="pasted-image.tif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9875" y="2415263"/>
            <a:ext cx="6772251" cy="30655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Convolutional Layer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Convolutional Layer</a:t>
            </a:r>
          </a:p>
        </p:txBody>
      </p:sp>
    </p:spTree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84" name="Table 1"/>
          <p:cNvGraphicFramePr/>
          <p:nvPr/>
        </p:nvGraphicFramePr>
        <p:xfrm>
          <a:off x="1901675" y="2514754"/>
          <a:ext cx="3152779" cy="2734123"/>
        </p:xfrm>
        <a:graphic>
          <a:graphicData uri="http://schemas.openxmlformats.org/drawingml/2006/table">
            <a:tbl>
              <a:tblPr/>
              <a:tblGrid>
                <a:gridCol w="4503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03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03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039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039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039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5039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90589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0589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0589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0589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0589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0589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0589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285" name="Table 2"/>
          <p:cNvGraphicFramePr/>
          <p:nvPr/>
        </p:nvGraphicFramePr>
        <p:xfrm>
          <a:off x="5794453" y="3244000"/>
          <a:ext cx="1318551" cy="1275630"/>
        </p:xfrm>
        <a:graphic>
          <a:graphicData uri="http://schemas.openxmlformats.org/drawingml/2006/table">
            <a:tbl>
              <a:tblPr/>
              <a:tblGrid>
                <a:gridCol w="4395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95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95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521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521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521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86" name="Input Image"/>
          <p:cNvSpPr txBox="1"/>
          <p:nvPr/>
        </p:nvSpPr>
        <p:spPr>
          <a:xfrm>
            <a:off x="2749668" y="5748869"/>
            <a:ext cx="917816" cy="2669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/>
          <a:p>
            <a:r>
              <a:rPr sz="1266"/>
              <a:t>Input Image</a:t>
            </a:r>
          </a:p>
        </p:txBody>
      </p:sp>
      <p:sp>
        <p:nvSpPr>
          <p:cNvPr id="287" name="Feature Detector/ Filter"/>
          <p:cNvSpPr txBox="1"/>
          <p:nvPr/>
        </p:nvSpPr>
        <p:spPr>
          <a:xfrm>
            <a:off x="5537752" y="5651470"/>
            <a:ext cx="1314399" cy="4617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/>
          <a:p>
            <a:r>
              <a:rPr sz="1266"/>
              <a:t>Feature Detector/</a:t>
            </a:r>
            <a:br>
              <a:rPr sz="1266"/>
            </a:br>
            <a:r>
              <a:rPr sz="1266"/>
              <a:t>Filter</a:t>
            </a:r>
          </a:p>
        </p:txBody>
      </p:sp>
      <p:graphicFrame>
        <p:nvGraphicFramePr>
          <p:cNvPr id="288" name="Table 3"/>
          <p:cNvGraphicFramePr/>
          <p:nvPr/>
        </p:nvGraphicFramePr>
        <p:xfrm>
          <a:off x="7853008" y="2856752"/>
          <a:ext cx="2332835" cy="2050125"/>
        </p:xfrm>
        <a:graphic>
          <a:graphicData uri="http://schemas.openxmlformats.org/drawingml/2006/table">
            <a:tbl>
              <a:tblPr/>
              <a:tblGrid>
                <a:gridCol w="4665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65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65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656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665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0025"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0025"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0025"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0025"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0025"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89" name="equation.pdf"/>
              <p:cNvSpPr txBox="1"/>
              <p:nvPr/>
            </p:nvSpPr>
            <p:spPr>
              <a:xfrm>
                <a:off x="5288623" y="3745986"/>
                <a:ext cx="463268" cy="443648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642915" latinLnBrk="1">
                  <a:defRPr sz="1800"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2883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⊛</m:t>
                      </m:r>
                    </m:oMath>
                  </m:oMathPara>
                </a14:m>
                <a:endParaRPr sz="2883"/>
              </a:p>
            </p:txBody>
          </p:sp>
        </mc:Choice>
        <mc:Fallback xmlns="">
          <p:sp>
            <p:nvSpPr>
              <p:cNvPr id="289" name="equation.pdf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8623" y="3745986"/>
                <a:ext cx="463268" cy="44364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0" name="equation.pdf"/>
              <p:cNvSpPr txBox="1"/>
              <p:nvPr/>
            </p:nvSpPr>
            <p:spPr>
              <a:xfrm>
                <a:off x="7347177" y="3745986"/>
                <a:ext cx="370294" cy="443648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642915" latinLnBrk="1">
                  <a:defRPr sz="1800"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2883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sz="2883"/>
              </a:p>
            </p:txBody>
          </p:sp>
        </mc:Choice>
        <mc:Fallback xmlns="">
          <p:sp>
            <p:nvSpPr>
              <p:cNvPr id="290" name="equation.pdf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7177" y="3745986"/>
                <a:ext cx="370294" cy="44364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1" name="Convolution with one filter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1525858">
              <a:defRPr sz="5280" spc="-105"/>
            </a:lvl1pPr>
          </a:lstStyle>
          <a:p>
            <a:r>
              <a:rPr dirty="0"/>
              <a:t>Convolution with one filter</a:t>
            </a:r>
          </a:p>
        </p:txBody>
      </p:sp>
      <p:sp>
        <p:nvSpPr>
          <p:cNvPr id="292" name="Feature Map"/>
          <p:cNvSpPr txBox="1"/>
          <p:nvPr/>
        </p:nvSpPr>
        <p:spPr>
          <a:xfrm>
            <a:off x="8264028" y="5748869"/>
            <a:ext cx="955326" cy="2669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/>
          <a:p>
            <a:r>
              <a:rPr sz="1266"/>
              <a:t>Feature Map</a:t>
            </a:r>
          </a:p>
        </p:txBody>
      </p:sp>
      <p:pic>
        <p:nvPicPr>
          <p:cNvPr id="293" name="Line Line" descr="Line Line"/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5981427" y="2577249"/>
            <a:ext cx="944607" cy="234094"/>
          </a:xfrm>
          <a:prstGeom prst="rect">
            <a:avLst/>
          </a:prstGeom>
        </p:spPr>
      </p:pic>
      <p:sp>
        <p:nvSpPr>
          <p:cNvPr id="295" name="This is chosen by the model"/>
          <p:cNvSpPr txBox="1"/>
          <p:nvPr/>
        </p:nvSpPr>
        <p:spPr>
          <a:xfrm>
            <a:off x="5520257" y="1859653"/>
            <a:ext cx="3035222" cy="3102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35719" tIns="35719" rIns="35719" bIns="35719" anchor="ctr">
            <a:spAutoFit/>
          </a:bodyPr>
          <a:lstStyle>
            <a:lvl1pPr>
              <a:defRPr sz="2200"/>
            </a:lvl1pPr>
          </a:lstStyle>
          <a:p>
            <a:r>
              <a:rPr sz="1547" dirty="0"/>
              <a:t>This is </a:t>
            </a:r>
            <a:r>
              <a:rPr lang="en-US" sz="1547" dirty="0"/>
              <a:t>learned</a:t>
            </a:r>
            <a:r>
              <a:rPr sz="1547" dirty="0"/>
              <a:t> by the model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97" name="Table 1"/>
          <p:cNvGraphicFramePr/>
          <p:nvPr/>
        </p:nvGraphicFramePr>
        <p:xfrm>
          <a:off x="1901675" y="2514754"/>
          <a:ext cx="3152779" cy="2734123"/>
        </p:xfrm>
        <a:graphic>
          <a:graphicData uri="http://schemas.openxmlformats.org/drawingml/2006/table">
            <a:tbl>
              <a:tblPr/>
              <a:tblGrid>
                <a:gridCol w="4503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03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03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039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039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039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5039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90589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>
                    <a:solidFill>
                      <a:srgbClr val="FFD4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>
                    <a:solidFill>
                      <a:srgbClr val="FFD4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>
                    <a:solidFill>
                      <a:srgbClr val="FFD4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0589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>
                    <a:solidFill>
                      <a:srgbClr val="FFD4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>
                    <a:solidFill>
                      <a:srgbClr val="FFD4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>
                    <a:solidFill>
                      <a:srgbClr val="FFD4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0589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>
                    <a:solidFill>
                      <a:srgbClr val="FFD4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>
                    <a:solidFill>
                      <a:srgbClr val="FFD4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>
                    <a:solidFill>
                      <a:srgbClr val="FFD4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0589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0589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0589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0589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298" name="Table 2"/>
          <p:cNvGraphicFramePr/>
          <p:nvPr/>
        </p:nvGraphicFramePr>
        <p:xfrm>
          <a:off x="5794453" y="3244000"/>
          <a:ext cx="1318551" cy="1275630"/>
        </p:xfrm>
        <a:graphic>
          <a:graphicData uri="http://schemas.openxmlformats.org/drawingml/2006/table">
            <a:tbl>
              <a:tblPr/>
              <a:tblGrid>
                <a:gridCol w="4395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95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95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521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521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521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99" name="Input Image"/>
          <p:cNvSpPr txBox="1"/>
          <p:nvPr/>
        </p:nvSpPr>
        <p:spPr>
          <a:xfrm>
            <a:off x="2749668" y="5748869"/>
            <a:ext cx="917816" cy="2669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/>
          <a:p>
            <a:r>
              <a:rPr sz="1266"/>
              <a:t>Input Image</a:t>
            </a:r>
          </a:p>
        </p:txBody>
      </p:sp>
      <p:sp>
        <p:nvSpPr>
          <p:cNvPr id="300" name="Feature Detector/ Filter"/>
          <p:cNvSpPr txBox="1"/>
          <p:nvPr/>
        </p:nvSpPr>
        <p:spPr>
          <a:xfrm>
            <a:off x="5537752" y="5651470"/>
            <a:ext cx="1314399" cy="4617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/>
          <a:p>
            <a:r>
              <a:rPr sz="1266"/>
              <a:t>Feature Detector/</a:t>
            </a:r>
            <a:br>
              <a:rPr sz="1266"/>
            </a:br>
            <a:r>
              <a:rPr sz="1266"/>
              <a:t>Filter</a:t>
            </a:r>
          </a:p>
        </p:txBody>
      </p:sp>
      <p:graphicFrame>
        <p:nvGraphicFramePr>
          <p:cNvPr id="301" name="Table 3"/>
          <p:cNvGraphicFramePr/>
          <p:nvPr/>
        </p:nvGraphicFramePr>
        <p:xfrm>
          <a:off x="7853008" y="2856752"/>
          <a:ext cx="2332835" cy="2050125"/>
        </p:xfrm>
        <a:graphic>
          <a:graphicData uri="http://schemas.openxmlformats.org/drawingml/2006/table">
            <a:tbl>
              <a:tblPr/>
              <a:tblGrid>
                <a:gridCol w="4665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65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65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656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665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0025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0025"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0025"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0025"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0025"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02" name="equation.pdf"/>
              <p:cNvSpPr txBox="1"/>
              <p:nvPr/>
            </p:nvSpPr>
            <p:spPr>
              <a:xfrm>
                <a:off x="5288623" y="3745986"/>
                <a:ext cx="463268" cy="443648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642915" latinLnBrk="1">
                  <a:defRPr sz="1800"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2883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⊛</m:t>
                      </m:r>
                    </m:oMath>
                  </m:oMathPara>
                </a14:m>
                <a:endParaRPr sz="2883"/>
              </a:p>
            </p:txBody>
          </p:sp>
        </mc:Choice>
        <mc:Fallback xmlns="">
          <p:sp>
            <p:nvSpPr>
              <p:cNvPr id="302" name="equation.pdf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8623" y="3745986"/>
                <a:ext cx="463268" cy="44364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3" name="equation.pdf"/>
              <p:cNvSpPr txBox="1"/>
              <p:nvPr/>
            </p:nvSpPr>
            <p:spPr>
              <a:xfrm>
                <a:off x="7347177" y="3745986"/>
                <a:ext cx="370294" cy="443648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642915" latinLnBrk="1">
                  <a:defRPr sz="1800"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2883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sz="2883"/>
              </a:p>
            </p:txBody>
          </p:sp>
        </mc:Choice>
        <mc:Fallback xmlns="">
          <p:sp>
            <p:nvSpPr>
              <p:cNvPr id="303" name="equation.pdf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7177" y="3745986"/>
                <a:ext cx="370294" cy="44364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4" name="Convolution with one filter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1525858">
              <a:defRPr sz="5280" spc="-105"/>
            </a:lvl1pPr>
          </a:lstStyle>
          <a:p>
            <a:r>
              <a:t>Convolution with one filter</a:t>
            </a:r>
          </a:p>
        </p:txBody>
      </p:sp>
      <p:sp>
        <p:nvSpPr>
          <p:cNvPr id="305" name="Feature Map"/>
          <p:cNvSpPr txBox="1"/>
          <p:nvPr/>
        </p:nvSpPr>
        <p:spPr>
          <a:xfrm>
            <a:off x="8264028" y="5748869"/>
            <a:ext cx="955326" cy="2669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/>
          <a:p>
            <a:r>
              <a:rPr sz="1266"/>
              <a:t>Feature Map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7" name="Table 1"/>
          <p:cNvGraphicFramePr/>
          <p:nvPr/>
        </p:nvGraphicFramePr>
        <p:xfrm>
          <a:off x="1901675" y="2514754"/>
          <a:ext cx="3152779" cy="2734123"/>
        </p:xfrm>
        <a:graphic>
          <a:graphicData uri="http://schemas.openxmlformats.org/drawingml/2006/table">
            <a:tbl>
              <a:tblPr/>
              <a:tblGrid>
                <a:gridCol w="4503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03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03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039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039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039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5039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90589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>
                    <a:solidFill>
                      <a:srgbClr val="FFD4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>
                    <a:solidFill>
                      <a:srgbClr val="FFD4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>
                    <a:solidFill>
                      <a:srgbClr val="FFD4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0589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>
                    <a:solidFill>
                      <a:srgbClr val="FFD4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>
                    <a:solidFill>
                      <a:srgbClr val="FFD4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>
                    <a:solidFill>
                      <a:srgbClr val="FFD4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0589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>
                    <a:solidFill>
                      <a:srgbClr val="FFD4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>
                    <a:solidFill>
                      <a:srgbClr val="FFD4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>
                    <a:solidFill>
                      <a:srgbClr val="FFD4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0589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0589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0589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0589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308" name="Table 2"/>
          <p:cNvGraphicFramePr/>
          <p:nvPr/>
        </p:nvGraphicFramePr>
        <p:xfrm>
          <a:off x="5794453" y="3244000"/>
          <a:ext cx="1318551" cy="1275630"/>
        </p:xfrm>
        <a:graphic>
          <a:graphicData uri="http://schemas.openxmlformats.org/drawingml/2006/table">
            <a:tbl>
              <a:tblPr/>
              <a:tblGrid>
                <a:gridCol w="4395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95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95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521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521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521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09" name="Input Image"/>
          <p:cNvSpPr txBox="1"/>
          <p:nvPr/>
        </p:nvSpPr>
        <p:spPr>
          <a:xfrm>
            <a:off x="2749668" y="5748869"/>
            <a:ext cx="917816" cy="2669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/>
          <a:p>
            <a:r>
              <a:rPr sz="1266"/>
              <a:t>Input Image</a:t>
            </a:r>
          </a:p>
        </p:txBody>
      </p:sp>
      <p:sp>
        <p:nvSpPr>
          <p:cNvPr id="310" name="Feature Detector/ Filter"/>
          <p:cNvSpPr txBox="1"/>
          <p:nvPr/>
        </p:nvSpPr>
        <p:spPr>
          <a:xfrm>
            <a:off x="5537752" y="5651470"/>
            <a:ext cx="1314399" cy="4617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/>
          <a:p>
            <a:r>
              <a:rPr sz="1266"/>
              <a:t>Feature Detector/</a:t>
            </a:r>
            <a:br>
              <a:rPr sz="1266"/>
            </a:br>
            <a:r>
              <a:rPr sz="1266"/>
              <a:t>Filter</a:t>
            </a:r>
          </a:p>
        </p:txBody>
      </p:sp>
      <p:graphicFrame>
        <p:nvGraphicFramePr>
          <p:cNvPr id="311" name="Table 3"/>
          <p:cNvGraphicFramePr/>
          <p:nvPr/>
        </p:nvGraphicFramePr>
        <p:xfrm>
          <a:off x="7853008" y="2856752"/>
          <a:ext cx="2332835" cy="2050125"/>
        </p:xfrm>
        <a:graphic>
          <a:graphicData uri="http://schemas.openxmlformats.org/drawingml/2006/table">
            <a:tbl>
              <a:tblPr/>
              <a:tblGrid>
                <a:gridCol w="4665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65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65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656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665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0025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0025"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0025"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0025"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0025"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12" name="equation.pdf"/>
              <p:cNvSpPr txBox="1"/>
              <p:nvPr/>
            </p:nvSpPr>
            <p:spPr>
              <a:xfrm>
                <a:off x="5288623" y="3745986"/>
                <a:ext cx="463268" cy="443648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642915" latinLnBrk="1">
                  <a:defRPr sz="1800"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2883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⊛</m:t>
                      </m:r>
                    </m:oMath>
                  </m:oMathPara>
                </a14:m>
                <a:endParaRPr sz="2883"/>
              </a:p>
            </p:txBody>
          </p:sp>
        </mc:Choice>
        <mc:Fallback xmlns="">
          <p:sp>
            <p:nvSpPr>
              <p:cNvPr id="312" name="equation.pdf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8623" y="3745986"/>
                <a:ext cx="463268" cy="44364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3" name="equation.pdf"/>
              <p:cNvSpPr txBox="1"/>
              <p:nvPr/>
            </p:nvSpPr>
            <p:spPr>
              <a:xfrm>
                <a:off x="7347177" y="3745986"/>
                <a:ext cx="370294" cy="443648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642915" latinLnBrk="1">
                  <a:defRPr sz="1800"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2883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sz="2883"/>
              </a:p>
            </p:txBody>
          </p:sp>
        </mc:Choice>
        <mc:Fallback xmlns="">
          <p:sp>
            <p:nvSpPr>
              <p:cNvPr id="313" name="equation.pdf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7177" y="3745986"/>
                <a:ext cx="370294" cy="44364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4" name="Convolution with one filter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1525858">
              <a:defRPr sz="5280" spc="-105"/>
            </a:lvl1pPr>
          </a:lstStyle>
          <a:p>
            <a:r>
              <a:t>Convolution with one filter</a:t>
            </a:r>
          </a:p>
        </p:txBody>
      </p:sp>
      <p:sp>
        <p:nvSpPr>
          <p:cNvPr id="315" name="Feature Map"/>
          <p:cNvSpPr txBox="1"/>
          <p:nvPr/>
        </p:nvSpPr>
        <p:spPr>
          <a:xfrm>
            <a:off x="8264028" y="5748869"/>
            <a:ext cx="955326" cy="2669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/>
          <a:p>
            <a:r>
              <a:rPr sz="1266"/>
              <a:t>Feature Map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7" name="Table 1"/>
          <p:cNvGraphicFramePr/>
          <p:nvPr/>
        </p:nvGraphicFramePr>
        <p:xfrm>
          <a:off x="1901675" y="2514754"/>
          <a:ext cx="3152779" cy="2734123"/>
        </p:xfrm>
        <a:graphic>
          <a:graphicData uri="http://schemas.openxmlformats.org/drawingml/2006/table">
            <a:tbl>
              <a:tblPr/>
              <a:tblGrid>
                <a:gridCol w="4503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03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03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039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039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039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5039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90589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>
                    <a:solidFill>
                      <a:srgbClr val="FFD4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>
                    <a:solidFill>
                      <a:srgbClr val="FFD4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>
                    <a:solidFill>
                      <a:srgbClr val="FFD4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0589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>
                    <a:solidFill>
                      <a:srgbClr val="FFD4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>
                    <a:solidFill>
                      <a:srgbClr val="FFD4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>
                    <a:solidFill>
                      <a:srgbClr val="FFD4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0589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>
                    <a:solidFill>
                      <a:srgbClr val="FFD4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>
                    <a:solidFill>
                      <a:srgbClr val="FFD4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>
                    <a:solidFill>
                      <a:srgbClr val="FFD4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0589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0589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0589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0589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318" name="Table 2"/>
          <p:cNvGraphicFramePr/>
          <p:nvPr/>
        </p:nvGraphicFramePr>
        <p:xfrm>
          <a:off x="5794453" y="3244000"/>
          <a:ext cx="1318551" cy="1275630"/>
        </p:xfrm>
        <a:graphic>
          <a:graphicData uri="http://schemas.openxmlformats.org/drawingml/2006/table">
            <a:tbl>
              <a:tblPr/>
              <a:tblGrid>
                <a:gridCol w="4395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95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95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521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521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521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19" name="Input Image"/>
          <p:cNvSpPr txBox="1"/>
          <p:nvPr/>
        </p:nvSpPr>
        <p:spPr>
          <a:xfrm>
            <a:off x="2749668" y="5748869"/>
            <a:ext cx="917816" cy="2669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/>
          <a:p>
            <a:r>
              <a:rPr sz="1266"/>
              <a:t>Input Image</a:t>
            </a:r>
          </a:p>
        </p:txBody>
      </p:sp>
      <p:sp>
        <p:nvSpPr>
          <p:cNvPr id="320" name="Feature Detector/ Filter"/>
          <p:cNvSpPr txBox="1"/>
          <p:nvPr/>
        </p:nvSpPr>
        <p:spPr>
          <a:xfrm>
            <a:off x="5537752" y="5651470"/>
            <a:ext cx="1314399" cy="4617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/>
          <a:p>
            <a:r>
              <a:rPr sz="1266"/>
              <a:t>Feature Detector/</a:t>
            </a:r>
            <a:br>
              <a:rPr sz="1266"/>
            </a:br>
            <a:r>
              <a:rPr sz="1266"/>
              <a:t>Filter</a:t>
            </a:r>
          </a:p>
        </p:txBody>
      </p:sp>
      <p:graphicFrame>
        <p:nvGraphicFramePr>
          <p:cNvPr id="321" name="Table 3"/>
          <p:cNvGraphicFramePr/>
          <p:nvPr/>
        </p:nvGraphicFramePr>
        <p:xfrm>
          <a:off x="7853008" y="2856752"/>
          <a:ext cx="2332835" cy="2050125"/>
        </p:xfrm>
        <a:graphic>
          <a:graphicData uri="http://schemas.openxmlformats.org/drawingml/2006/table">
            <a:tbl>
              <a:tblPr/>
              <a:tblGrid>
                <a:gridCol w="4665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65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65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656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665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0025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0025"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0025"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0025"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0025"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22" name="equation.pdf"/>
              <p:cNvSpPr txBox="1"/>
              <p:nvPr/>
            </p:nvSpPr>
            <p:spPr>
              <a:xfrm>
                <a:off x="5288623" y="3745986"/>
                <a:ext cx="463268" cy="443648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642915" latinLnBrk="1">
                  <a:defRPr sz="1800"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2883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⊛</m:t>
                      </m:r>
                    </m:oMath>
                  </m:oMathPara>
                </a14:m>
                <a:endParaRPr sz="2883"/>
              </a:p>
            </p:txBody>
          </p:sp>
        </mc:Choice>
        <mc:Fallback xmlns="">
          <p:sp>
            <p:nvSpPr>
              <p:cNvPr id="322" name="equation.pdf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8623" y="3745986"/>
                <a:ext cx="463268" cy="44364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3" name="equation.pdf"/>
              <p:cNvSpPr txBox="1"/>
              <p:nvPr/>
            </p:nvSpPr>
            <p:spPr>
              <a:xfrm>
                <a:off x="7347177" y="3745986"/>
                <a:ext cx="370294" cy="443648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642915" latinLnBrk="1">
                  <a:defRPr sz="1800"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2883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sz="2883"/>
              </a:p>
            </p:txBody>
          </p:sp>
        </mc:Choice>
        <mc:Fallback xmlns="">
          <p:sp>
            <p:nvSpPr>
              <p:cNvPr id="323" name="equation.pdf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7177" y="3745986"/>
                <a:ext cx="370294" cy="44364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4" name="Convolution with one filter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1525858">
              <a:defRPr sz="5280" spc="-105"/>
            </a:lvl1pPr>
          </a:lstStyle>
          <a:p>
            <a:r>
              <a:t>Convolution with one filter</a:t>
            </a:r>
          </a:p>
        </p:txBody>
      </p:sp>
      <p:sp>
        <p:nvSpPr>
          <p:cNvPr id="325" name="Feature Map"/>
          <p:cNvSpPr txBox="1"/>
          <p:nvPr/>
        </p:nvSpPr>
        <p:spPr>
          <a:xfrm>
            <a:off x="8264028" y="5748869"/>
            <a:ext cx="955326" cy="2669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/>
          <a:p>
            <a:r>
              <a:rPr sz="1266"/>
              <a:t>Feature Map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27" name="Table 1"/>
          <p:cNvGraphicFramePr/>
          <p:nvPr/>
        </p:nvGraphicFramePr>
        <p:xfrm>
          <a:off x="1901675" y="2514754"/>
          <a:ext cx="3152779" cy="2734123"/>
        </p:xfrm>
        <a:graphic>
          <a:graphicData uri="http://schemas.openxmlformats.org/drawingml/2006/table">
            <a:tbl>
              <a:tblPr/>
              <a:tblGrid>
                <a:gridCol w="4503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03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03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039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039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039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5039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90589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>
                    <a:solidFill>
                      <a:srgbClr val="FFD4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>
                    <a:solidFill>
                      <a:srgbClr val="FFD4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>
                    <a:solidFill>
                      <a:srgbClr val="FFD4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0589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>
                    <a:solidFill>
                      <a:srgbClr val="FFD4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>
                    <a:solidFill>
                      <a:srgbClr val="FFD4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>
                    <a:solidFill>
                      <a:srgbClr val="FFD4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0589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>
                    <a:solidFill>
                      <a:srgbClr val="FFD4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>
                    <a:solidFill>
                      <a:srgbClr val="FFD4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>
                    <a:solidFill>
                      <a:srgbClr val="FFD4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0589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0589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0589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0589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328" name="Table 2"/>
          <p:cNvGraphicFramePr/>
          <p:nvPr/>
        </p:nvGraphicFramePr>
        <p:xfrm>
          <a:off x="5794453" y="3244000"/>
          <a:ext cx="1318551" cy="1275630"/>
        </p:xfrm>
        <a:graphic>
          <a:graphicData uri="http://schemas.openxmlformats.org/drawingml/2006/table">
            <a:tbl>
              <a:tblPr/>
              <a:tblGrid>
                <a:gridCol w="4395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95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95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521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521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521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29" name="Input Image"/>
          <p:cNvSpPr txBox="1"/>
          <p:nvPr/>
        </p:nvSpPr>
        <p:spPr>
          <a:xfrm>
            <a:off x="2749668" y="5748869"/>
            <a:ext cx="917816" cy="2669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/>
          <a:p>
            <a:r>
              <a:rPr sz="1266"/>
              <a:t>Input Image</a:t>
            </a:r>
          </a:p>
        </p:txBody>
      </p:sp>
      <p:sp>
        <p:nvSpPr>
          <p:cNvPr id="330" name="Feature Detector/ Filter"/>
          <p:cNvSpPr txBox="1"/>
          <p:nvPr/>
        </p:nvSpPr>
        <p:spPr>
          <a:xfrm>
            <a:off x="5537752" y="5651470"/>
            <a:ext cx="1314399" cy="4617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/>
          <a:p>
            <a:r>
              <a:rPr sz="1266"/>
              <a:t>Feature Detector/</a:t>
            </a:r>
            <a:br>
              <a:rPr sz="1266"/>
            </a:br>
            <a:r>
              <a:rPr sz="1266"/>
              <a:t>Filter</a:t>
            </a:r>
          </a:p>
        </p:txBody>
      </p:sp>
      <p:graphicFrame>
        <p:nvGraphicFramePr>
          <p:cNvPr id="331" name="Table 3"/>
          <p:cNvGraphicFramePr/>
          <p:nvPr/>
        </p:nvGraphicFramePr>
        <p:xfrm>
          <a:off x="7853008" y="2856752"/>
          <a:ext cx="2332835" cy="2050125"/>
        </p:xfrm>
        <a:graphic>
          <a:graphicData uri="http://schemas.openxmlformats.org/drawingml/2006/table">
            <a:tbl>
              <a:tblPr/>
              <a:tblGrid>
                <a:gridCol w="4665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65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65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656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665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0025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0025"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0025"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0025"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0025"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32" name="equation.pdf"/>
              <p:cNvSpPr txBox="1"/>
              <p:nvPr/>
            </p:nvSpPr>
            <p:spPr>
              <a:xfrm>
                <a:off x="5288623" y="3745986"/>
                <a:ext cx="463268" cy="443648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642915" latinLnBrk="1">
                  <a:defRPr sz="1800"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2883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⊛</m:t>
                      </m:r>
                    </m:oMath>
                  </m:oMathPara>
                </a14:m>
                <a:endParaRPr sz="2883"/>
              </a:p>
            </p:txBody>
          </p:sp>
        </mc:Choice>
        <mc:Fallback xmlns="">
          <p:sp>
            <p:nvSpPr>
              <p:cNvPr id="332" name="equation.pdf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8623" y="3745986"/>
                <a:ext cx="463268" cy="44364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3" name="equation.pdf"/>
              <p:cNvSpPr txBox="1"/>
              <p:nvPr/>
            </p:nvSpPr>
            <p:spPr>
              <a:xfrm>
                <a:off x="7347177" y="3745986"/>
                <a:ext cx="370294" cy="443648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642915" latinLnBrk="1">
                  <a:defRPr sz="1800"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2883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sz="2883"/>
              </a:p>
            </p:txBody>
          </p:sp>
        </mc:Choice>
        <mc:Fallback xmlns="">
          <p:sp>
            <p:nvSpPr>
              <p:cNvPr id="333" name="equation.pdf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7177" y="3745986"/>
                <a:ext cx="370294" cy="44364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4" name="Convolution with one filter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1525858">
              <a:defRPr sz="5280" spc="-105"/>
            </a:lvl1pPr>
          </a:lstStyle>
          <a:p>
            <a:r>
              <a:t>Convolution with one filter</a:t>
            </a:r>
          </a:p>
        </p:txBody>
      </p:sp>
      <p:sp>
        <p:nvSpPr>
          <p:cNvPr id="335" name="Feature Map"/>
          <p:cNvSpPr txBox="1"/>
          <p:nvPr/>
        </p:nvSpPr>
        <p:spPr>
          <a:xfrm>
            <a:off x="8264028" y="5748869"/>
            <a:ext cx="955326" cy="2669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/>
          <a:p>
            <a:r>
              <a:rPr sz="1266"/>
              <a:t>Feature Map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37" name="Table 1"/>
          <p:cNvGraphicFramePr/>
          <p:nvPr/>
        </p:nvGraphicFramePr>
        <p:xfrm>
          <a:off x="1901675" y="2514754"/>
          <a:ext cx="3152779" cy="2734123"/>
        </p:xfrm>
        <a:graphic>
          <a:graphicData uri="http://schemas.openxmlformats.org/drawingml/2006/table">
            <a:tbl>
              <a:tblPr/>
              <a:tblGrid>
                <a:gridCol w="4503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03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03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039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039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039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5039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90589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>
                    <a:solidFill>
                      <a:srgbClr val="FFD4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>
                    <a:solidFill>
                      <a:srgbClr val="FFD4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>
                    <a:solidFill>
                      <a:srgbClr val="FFD4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0589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>
                    <a:solidFill>
                      <a:srgbClr val="FFD4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>
                    <a:solidFill>
                      <a:srgbClr val="FFD4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>
                    <a:solidFill>
                      <a:srgbClr val="FFD4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0589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>
                    <a:solidFill>
                      <a:srgbClr val="FFD4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>
                    <a:solidFill>
                      <a:srgbClr val="FFD4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>
                    <a:solidFill>
                      <a:srgbClr val="FFD4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0589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0589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0589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0589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338" name="Table 2"/>
          <p:cNvGraphicFramePr/>
          <p:nvPr/>
        </p:nvGraphicFramePr>
        <p:xfrm>
          <a:off x="5794453" y="3244000"/>
          <a:ext cx="1318551" cy="1275630"/>
        </p:xfrm>
        <a:graphic>
          <a:graphicData uri="http://schemas.openxmlformats.org/drawingml/2006/table">
            <a:tbl>
              <a:tblPr/>
              <a:tblGrid>
                <a:gridCol w="4395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95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95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521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521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521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39" name="Input Image"/>
          <p:cNvSpPr txBox="1"/>
          <p:nvPr/>
        </p:nvSpPr>
        <p:spPr>
          <a:xfrm>
            <a:off x="2749668" y="5748869"/>
            <a:ext cx="917816" cy="2669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/>
          <a:p>
            <a:r>
              <a:rPr sz="1266"/>
              <a:t>Input Image</a:t>
            </a:r>
          </a:p>
        </p:txBody>
      </p:sp>
      <p:sp>
        <p:nvSpPr>
          <p:cNvPr id="340" name="Feature Detector/ Filter"/>
          <p:cNvSpPr txBox="1"/>
          <p:nvPr/>
        </p:nvSpPr>
        <p:spPr>
          <a:xfrm>
            <a:off x="5537752" y="5651470"/>
            <a:ext cx="1314399" cy="4617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/>
          <a:p>
            <a:r>
              <a:rPr sz="1266"/>
              <a:t>Feature Detector/</a:t>
            </a:r>
            <a:br>
              <a:rPr sz="1266"/>
            </a:br>
            <a:r>
              <a:rPr sz="1266"/>
              <a:t>Filter</a:t>
            </a:r>
          </a:p>
        </p:txBody>
      </p:sp>
      <p:graphicFrame>
        <p:nvGraphicFramePr>
          <p:cNvPr id="341" name="Table 3"/>
          <p:cNvGraphicFramePr/>
          <p:nvPr/>
        </p:nvGraphicFramePr>
        <p:xfrm>
          <a:off x="7853008" y="2856752"/>
          <a:ext cx="2332835" cy="2050125"/>
        </p:xfrm>
        <a:graphic>
          <a:graphicData uri="http://schemas.openxmlformats.org/drawingml/2006/table">
            <a:tbl>
              <a:tblPr/>
              <a:tblGrid>
                <a:gridCol w="4665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65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65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656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665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0025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0025"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0025"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0025"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0025"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42" name="equation.pdf"/>
              <p:cNvSpPr txBox="1"/>
              <p:nvPr/>
            </p:nvSpPr>
            <p:spPr>
              <a:xfrm>
                <a:off x="5288623" y="3745986"/>
                <a:ext cx="463268" cy="443648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642915" latinLnBrk="1">
                  <a:defRPr sz="1800"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2883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⊛</m:t>
                      </m:r>
                    </m:oMath>
                  </m:oMathPara>
                </a14:m>
                <a:endParaRPr sz="2883"/>
              </a:p>
            </p:txBody>
          </p:sp>
        </mc:Choice>
        <mc:Fallback xmlns="">
          <p:sp>
            <p:nvSpPr>
              <p:cNvPr id="342" name="equation.pdf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8623" y="3745986"/>
                <a:ext cx="463268" cy="44364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3" name="equation.pdf"/>
              <p:cNvSpPr txBox="1"/>
              <p:nvPr/>
            </p:nvSpPr>
            <p:spPr>
              <a:xfrm>
                <a:off x="7347177" y="3745986"/>
                <a:ext cx="370294" cy="443648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642915" latinLnBrk="1">
                  <a:defRPr sz="1800"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2883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sz="2883"/>
              </a:p>
            </p:txBody>
          </p:sp>
        </mc:Choice>
        <mc:Fallback xmlns="">
          <p:sp>
            <p:nvSpPr>
              <p:cNvPr id="343" name="equation.pdf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7177" y="3745986"/>
                <a:ext cx="370294" cy="44364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4" name="Convolution with one filter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1525858">
              <a:defRPr sz="5280" spc="-105"/>
            </a:lvl1pPr>
          </a:lstStyle>
          <a:p>
            <a:r>
              <a:t>Convolution with one filter</a:t>
            </a:r>
          </a:p>
        </p:txBody>
      </p:sp>
      <p:sp>
        <p:nvSpPr>
          <p:cNvPr id="345" name="Feature Map"/>
          <p:cNvSpPr txBox="1"/>
          <p:nvPr/>
        </p:nvSpPr>
        <p:spPr>
          <a:xfrm>
            <a:off x="8264028" y="5748869"/>
            <a:ext cx="955326" cy="2669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/>
          <a:p>
            <a:r>
              <a:rPr sz="1266"/>
              <a:t>Feature Map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47" name="Table 1"/>
          <p:cNvGraphicFramePr/>
          <p:nvPr/>
        </p:nvGraphicFramePr>
        <p:xfrm>
          <a:off x="1906141" y="2514754"/>
          <a:ext cx="3152779" cy="2734123"/>
        </p:xfrm>
        <a:graphic>
          <a:graphicData uri="http://schemas.openxmlformats.org/drawingml/2006/table">
            <a:tbl>
              <a:tblPr/>
              <a:tblGrid>
                <a:gridCol w="4503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03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03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039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039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039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5039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90589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0589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>
                    <a:solidFill>
                      <a:srgbClr val="FFD4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>
                    <a:solidFill>
                      <a:srgbClr val="FFD4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>
                    <a:solidFill>
                      <a:srgbClr val="FFD4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0589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>
                    <a:solidFill>
                      <a:srgbClr val="FFD4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>
                    <a:solidFill>
                      <a:srgbClr val="FFD4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>
                    <a:solidFill>
                      <a:srgbClr val="FFD4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0589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>
                    <a:solidFill>
                      <a:srgbClr val="FFD4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>
                    <a:solidFill>
                      <a:srgbClr val="FFD4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>
                    <a:solidFill>
                      <a:srgbClr val="FFD4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0589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0589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0589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348" name="Table 2"/>
          <p:cNvGraphicFramePr/>
          <p:nvPr/>
        </p:nvGraphicFramePr>
        <p:xfrm>
          <a:off x="5794453" y="3244000"/>
          <a:ext cx="1318551" cy="1275630"/>
        </p:xfrm>
        <a:graphic>
          <a:graphicData uri="http://schemas.openxmlformats.org/drawingml/2006/table">
            <a:tbl>
              <a:tblPr/>
              <a:tblGrid>
                <a:gridCol w="4395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95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95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521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521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521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49" name="Input Image"/>
          <p:cNvSpPr txBox="1"/>
          <p:nvPr/>
        </p:nvSpPr>
        <p:spPr>
          <a:xfrm>
            <a:off x="2749668" y="5748869"/>
            <a:ext cx="917816" cy="2669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/>
          <a:p>
            <a:r>
              <a:rPr sz="1266"/>
              <a:t>Input Image</a:t>
            </a:r>
          </a:p>
        </p:txBody>
      </p:sp>
      <p:sp>
        <p:nvSpPr>
          <p:cNvPr id="350" name="Feature Detector/ Filter"/>
          <p:cNvSpPr txBox="1"/>
          <p:nvPr/>
        </p:nvSpPr>
        <p:spPr>
          <a:xfrm>
            <a:off x="5537752" y="5651470"/>
            <a:ext cx="1314399" cy="4617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/>
          <a:p>
            <a:r>
              <a:rPr sz="1266"/>
              <a:t>Feature Detector/</a:t>
            </a:r>
            <a:br>
              <a:rPr sz="1266"/>
            </a:br>
            <a:r>
              <a:rPr sz="1266"/>
              <a:t>Filter</a:t>
            </a:r>
          </a:p>
        </p:txBody>
      </p:sp>
      <p:graphicFrame>
        <p:nvGraphicFramePr>
          <p:cNvPr id="351" name="Table 3"/>
          <p:cNvGraphicFramePr/>
          <p:nvPr/>
        </p:nvGraphicFramePr>
        <p:xfrm>
          <a:off x="7853008" y="2856752"/>
          <a:ext cx="2332835" cy="2050125"/>
        </p:xfrm>
        <a:graphic>
          <a:graphicData uri="http://schemas.openxmlformats.org/drawingml/2006/table">
            <a:tbl>
              <a:tblPr/>
              <a:tblGrid>
                <a:gridCol w="4665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65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65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656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665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0025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0025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0025"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0025"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0025"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52" name="equation.pdf"/>
              <p:cNvSpPr txBox="1"/>
              <p:nvPr/>
            </p:nvSpPr>
            <p:spPr>
              <a:xfrm>
                <a:off x="5288623" y="3745986"/>
                <a:ext cx="463268" cy="443648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642915" latinLnBrk="1">
                  <a:defRPr sz="1800"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2883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⊛</m:t>
                      </m:r>
                    </m:oMath>
                  </m:oMathPara>
                </a14:m>
                <a:endParaRPr sz="2883"/>
              </a:p>
            </p:txBody>
          </p:sp>
        </mc:Choice>
        <mc:Fallback xmlns="">
          <p:sp>
            <p:nvSpPr>
              <p:cNvPr id="352" name="equation.pdf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8623" y="3745986"/>
                <a:ext cx="463268" cy="44364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3" name="equation.pdf"/>
              <p:cNvSpPr txBox="1"/>
              <p:nvPr/>
            </p:nvSpPr>
            <p:spPr>
              <a:xfrm>
                <a:off x="7347177" y="3745986"/>
                <a:ext cx="370294" cy="443648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642915" latinLnBrk="1">
                  <a:defRPr sz="1800"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2883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sz="2883"/>
              </a:p>
            </p:txBody>
          </p:sp>
        </mc:Choice>
        <mc:Fallback xmlns="">
          <p:sp>
            <p:nvSpPr>
              <p:cNvPr id="353" name="equation.pdf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7177" y="3745986"/>
                <a:ext cx="370294" cy="44364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4" name="Convolution with one filter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1525858">
              <a:defRPr sz="5280" spc="-105"/>
            </a:lvl1pPr>
          </a:lstStyle>
          <a:p>
            <a:r>
              <a:t>Convolution with one filter</a:t>
            </a:r>
          </a:p>
        </p:txBody>
      </p:sp>
      <p:sp>
        <p:nvSpPr>
          <p:cNvPr id="355" name="Feature Map"/>
          <p:cNvSpPr txBox="1"/>
          <p:nvPr/>
        </p:nvSpPr>
        <p:spPr>
          <a:xfrm>
            <a:off x="8264028" y="5748869"/>
            <a:ext cx="955326" cy="2669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/>
          <a:p>
            <a:r>
              <a:rPr sz="1266"/>
              <a:t>Feature Map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57" name="Table 1"/>
          <p:cNvGraphicFramePr/>
          <p:nvPr/>
        </p:nvGraphicFramePr>
        <p:xfrm>
          <a:off x="1906141" y="2514754"/>
          <a:ext cx="3152779" cy="2734123"/>
        </p:xfrm>
        <a:graphic>
          <a:graphicData uri="http://schemas.openxmlformats.org/drawingml/2006/table">
            <a:tbl>
              <a:tblPr/>
              <a:tblGrid>
                <a:gridCol w="4503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03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03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039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039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039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5039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90589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0589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>
                    <a:solidFill>
                      <a:srgbClr val="FFD4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>
                    <a:solidFill>
                      <a:srgbClr val="FFD4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>
                    <a:solidFill>
                      <a:srgbClr val="FFD4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0589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>
                    <a:solidFill>
                      <a:srgbClr val="FFD4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>
                    <a:solidFill>
                      <a:srgbClr val="FFD4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>
                    <a:solidFill>
                      <a:srgbClr val="FFD4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0589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>
                    <a:solidFill>
                      <a:srgbClr val="FFD4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>
                    <a:solidFill>
                      <a:srgbClr val="FFD4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>
                    <a:solidFill>
                      <a:srgbClr val="FFD4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0589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0589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0589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358" name="Table 2"/>
          <p:cNvGraphicFramePr/>
          <p:nvPr/>
        </p:nvGraphicFramePr>
        <p:xfrm>
          <a:off x="5794453" y="3244000"/>
          <a:ext cx="1318551" cy="1275630"/>
        </p:xfrm>
        <a:graphic>
          <a:graphicData uri="http://schemas.openxmlformats.org/drawingml/2006/table">
            <a:tbl>
              <a:tblPr/>
              <a:tblGrid>
                <a:gridCol w="4395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95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95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521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521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521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59" name="Input Image"/>
          <p:cNvSpPr txBox="1"/>
          <p:nvPr/>
        </p:nvSpPr>
        <p:spPr>
          <a:xfrm>
            <a:off x="2749668" y="5748869"/>
            <a:ext cx="917816" cy="2669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/>
          <a:p>
            <a:r>
              <a:rPr sz="1266"/>
              <a:t>Input Image</a:t>
            </a:r>
          </a:p>
        </p:txBody>
      </p:sp>
      <p:sp>
        <p:nvSpPr>
          <p:cNvPr id="360" name="Feature Detector/ Filter"/>
          <p:cNvSpPr txBox="1"/>
          <p:nvPr/>
        </p:nvSpPr>
        <p:spPr>
          <a:xfrm>
            <a:off x="5537752" y="5651470"/>
            <a:ext cx="1314399" cy="4617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/>
          <a:p>
            <a:r>
              <a:rPr sz="1266"/>
              <a:t>Feature Detector/</a:t>
            </a:r>
            <a:br>
              <a:rPr sz="1266"/>
            </a:br>
            <a:r>
              <a:rPr sz="1266"/>
              <a:t>Filter</a:t>
            </a:r>
          </a:p>
        </p:txBody>
      </p:sp>
      <p:graphicFrame>
        <p:nvGraphicFramePr>
          <p:cNvPr id="361" name="Table 3"/>
          <p:cNvGraphicFramePr/>
          <p:nvPr/>
        </p:nvGraphicFramePr>
        <p:xfrm>
          <a:off x="7853008" y="2856752"/>
          <a:ext cx="2332835" cy="2050125"/>
        </p:xfrm>
        <a:graphic>
          <a:graphicData uri="http://schemas.openxmlformats.org/drawingml/2006/table">
            <a:tbl>
              <a:tblPr/>
              <a:tblGrid>
                <a:gridCol w="4665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65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65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656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665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0025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0025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0025"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0025"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0025"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62" name="equation.pdf"/>
              <p:cNvSpPr txBox="1"/>
              <p:nvPr/>
            </p:nvSpPr>
            <p:spPr>
              <a:xfrm>
                <a:off x="5288623" y="3745986"/>
                <a:ext cx="463268" cy="443648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642915" latinLnBrk="1">
                  <a:defRPr sz="1800"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2883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⊛</m:t>
                      </m:r>
                    </m:oMath>
                  </m:oMathPara>
                </a14:m>
                <a:endParaRPr sz="2883"/>
              </a:p>
            </p:txBody>
          </p:sp>
        </mc:Choice>
        <mc:Fallback xmlns="">
          <p:sp>
            <p:nvSpPr>
              <p:cNvPr id="362" name="equation.pdf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8623" y="3745986"/>
                <a:ext cx="463268" cy="44364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3" name="equation.pdf"/>
              <p:cNvSpPr txBox="1"/>
              <p:nvPr/>
            </p:nvSpPr>
            <p:spPr>
              <a:xfrm>
                <a:off x="7347177" y="3745986"/>
                <a:ext cx="370294" cy="443648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642915" latinLnBrk="1">
                  <a:defRPr sz="1800"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2883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sz="2883"/>
              </a:p>
            </p:txBody>
          </p:sp>
        </mc:Choice>
        <mc:Fallback xmlns="">
          <p:sp>
            <p:nvSpPr>
              <p:cNvPr id="363" name="equation.pdf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7177" y="3745986"/>
                <a:ext cx="370294" cy="44364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4" name="Convolution with one filter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1525858">
              <a:defRPr sz="5280" spc="-105"/>
            </a:lvl1pPr>
          </a:lstStyle>
          <a:p>
            <a:r>
              <a:t>Convolution with one filter</a:t>
            </a:r>
          </a:p>
        </p:txBody>
      </p:sp>
      <p:sp>
        <p:nvSpPr>
          <p:cNvPr id="365" name="Feature Map"/>
          <p:cNvSpPr txBox="1"/>
          <p:nvPr/>
        </p:nvSpPr>
        <p:spPr>
          <a:xfrm>
            <a:off x="8264028" y="5748869"/>
            <a:ext cx="955326" cy="2669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/>
          <a:p>
            <a:r>
              <a:rPr sz="1266"/>
              <a:t>Feature Map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67" name="Table 1"/>
          <p:cNvGraphicFramePr/>
          <p:nvPr/>
        </p:nvGraphicFramePr>
        <p:xfrm>
          <a:off x="1906141" y="2514754"/>
          <a:ext cx="3152779" cy="2734123"/>
        </p:xfrm>
        <a:graphic>
          <a:graphicData uri="http://schemas.openxmlformats.org/drawingml/2006/table">
            <a:tbl>
              <a:tblPr/>
              <a:tblGrid>
                <a:gridCol w="4503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03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03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039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039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039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5039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90589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0589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>
                    <a:solidFill>
                      <a:srgbClr val="FFD4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>
                    <a:solidFill>
                      <a:srgbClr val="FFD4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>
                    <a:solidFill>
                      <a:srgbClr val="FFD4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0589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>
                    <a:solidFill>
                      <a:srgbClr val="FFD4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>
                    <a:solidFill>
                      <a:srgbClr val="FFD4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>
                    <a:solidFill>
                      <a:srgbClr val="FFD4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0589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>
                    <a:solidFill>
                      <a:srgbClr val="FFD4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>
                    <a:solidFill>
                      <a:srgbClr val="FFD4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>
                    <a:solidFill>
                      <a:srgbClr val="FFD4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0589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0589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0589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368" name="Table 2"/>
          <p:cNvGraphicFramePr/>
          <p:nvPr/>
        </p:nvGraphicFramePr>
        <p:xfrm>
          <a:off x="5794453" y="3244000"/>
          <a:ext cx="1318551" cy="1275630"/>
        </p:xfrm>
        <a:graphic>
          <a:graphicData uri="http://schemas.openxmlformats.org/drawingml/2006/table">
            <a:tbl>
              <a:tblPr/>
              <a:tblGrid>
                <a:gridCol w="4395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95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95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521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521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521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69" name="Input Image"/>
          <p:cNvSpPr txBox="1"/>
          <p:nvPr/>
        </p:nvSpPr>
        <p:spPr>
          <a:xfrm>
            <a:off x="2749668" y="5748869"/>
            <a:ext cx="917816" cy="2669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/>
          <a:p>
            <a:r>
              <a:rPr sz="1266"/>
              <a:t>Input Image</a:t>
            </a:r>
          </a:p>
        </p:txBody>
      </p:sp>
      <p:sp>
        <p:nvSpPr>
          <p:cNvPr id="370" name="Feature Detector/ Filter"/>
          <p:cNvSpPr txBox="1"/>
          <p:nvPr/>
        </p:nvSpPr>
        <p:spPr>
          <a:xfrm>
            <a:off x="5537752" y="5651470"/>
            <a:ext cx="1314399" cy="4617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/>
          <a:p>
            <a:r>
              <a:rPr sz="1266"/>
              <a:t>Feature Detector/</a:t>
            </a:r>
            <a:br>
              <a:rPr sz="1266"/>
            </a:br>
            <a:r>
              <a:rPr sz="1266"/>
              <a:t>Filter</a:t>
            </a:r>
          </a:p>
        </p:txBody>
      </p:sp>
      <p:graphicFrame>
        <p:nvGraphicFramePr>
          <p:cNvPr id="371" name="Table 3"/>
          <p:cNvGraphicFramePr/>
          <p:nvPr/>
        </p:nvGraphicFramePr>
        <p:xfrm>
          <a:off x="7844078" y="2856752"/>
          <a:ext cx="2332835" cy="2050125"/>
        </p:xfrm>
        <a:graphic>
          <a:graphicData uri="http://schemas.openxmlformats.org/drawingml/2006/table">
            <a:tbl>
              <a:tblPr/>
              <a:tblGrid>
                <a:gridCol w="4665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65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65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656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665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0025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0025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2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0025"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0025"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0025"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72" name="equation.pdf"/>
              <p:cNvSpPr txBox="1"/>
              <p:nvPr/>
            </p:nvSpPr>
            <p:spPr>
              <a:xfrm>
                <a:off x="5288623" y="3745986"/>
                <a:ext cx="463268" cy="443648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642915" latinLnBrk="1">
                  <a:defRPr sz="1800"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2883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⊛</m:t>
                      </m:r>
                    </m:oMath>
                  </m:oMathPara>
                </a14:m>
                <a:endParaRPr sz="2883"/>
              </a:p>
            </p:txBody>
          </p:sp>
        </mc:Choice>
        <mc:Fallback xmlns="">
          <p:sp>
            <p:nvSpPr>
              <p:cNvPr id="372" name="equation.pdf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8623" y="3745986"/>
                <a:ext cx="463268" cy="44364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3" name="equation.pdf"/>
              <p:cNvSpPr txBox="1"/>
              <p:nvPr/>
            </p:nvSpPr>
            <p:spPr>
              <a:xfrm>
                <a:off x="7347177" y="3745986"/>
                <a:ext cx="370294" cy="443648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642915" latinLnBrk="1">
                  <a:defRPr sz="1800"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2883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sz="2883"/>
              </a:p>
            </p:txBody>
          </p:sp>
        </mc:Choice>
        <mc:Fallback xmlns="">
          <p:sp>
            <p:nvSpPr>
              <p:cNvPr id="373" name="equation.pdf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7177" y="3745986"/>
                <a:ext cx="370294" cy="44364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4" name="Convolution with one filter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1525858">
              <a:defRPr sz="5280" spc="-105"/>
            </a:lvl1pPr>
          </a:lstStyle>
          <a:p>
            <a:r>
              <a:t>Convolution with one filter</a:t>
            </a:r>
          </a:p>
        </p:txBody>
      </p:sp>
      <p:sp>
        <p:nvSpPr>
          <p:cNvPr id="375" name="Feature Map"/>
          <p:cNvSpPr txBox="1"/>
          <p:nvPr/>
        </p:nvSpPr>
        <p:spPr>
          <a:xfrm>
            <a:off x="8264028" y="5748869"/>
            <a:ext cx="955326" cy="2669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/>
          <a:p>
            <a:r>
              <a:rPr sz="1266"/>
              <a:t>Feature Map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77" name="Table 1"/>
          <p:cNvGraphicFramePr/>
          <p:nvPr/>
        </p:nvGraphicFramePr>
        <p:xfrm>
          <a:off x="1906141" y="2514754"/>
          <a:ext cx="3152779" cy="2734123"/>
        </p:xfrm>
        <a:graphic>
          <a:graphicData uri="http://schemas.openxmlformats.org/drawingml/2006/table">
            <a:tbl>
              <a:tblPr/>
              <a:tblGrid>
                <a:gridCol w="4503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03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03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039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039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039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5039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90589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0589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>
                    <a:solidFill>
                      <a:srgbClr val="FFD4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>
                    <a:solidFill>
                      <a:srgbClr val="FFD4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>
                    <a:solidFill>
                      <a:srgbClr val="FFD4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0589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>
                    <a:solidFill>
                      <a:srgbClr val="FFD4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>
                    <a:solidFill>
                      <a:srgbClr val="FFD4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>
                    <a:solidFill>
                      <a:srgbClr val="FFD4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0589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>
                    <a:solidFill>
                      <a:srgbClr val="FFD4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>
                    <a:solidFill>
                      <a:srgbClr val="FFD4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>
                    <a:solidFill>
                      <a:srgbClr val="FFD4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0589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0589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0589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378" name="Table 2"/>
          <p:cNvGraphicFramePr/>
          <p:nvPr/>
        </p:nvGraphicFramePr>
        <p:xfrm>
          <a:off x="5794453" y="3244000"/>
          <a:ext cx="1318551" cy="1275630"/>
        </p:xfrm>
        <a:graphic>
          <a:graphicData uri="http://schemas.openxmlformats.org/drawingml/2006/table">
            <a:tbl>
              <a:tblPr/>
              <a:tblGrid>
                <a:gridCol w="4395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95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95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521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521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521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79" name="Input Image"/>
          <p:cNvSpPr txBox="1"/>
          <p:nvPr/>
        </p:nvSpPr>
        <p:spPr>
          <a:xfrm>
            <a:off x="2749668" y="5748869"/>
            <a:ext cx="917816" cy="2669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/>
          <a:p>
            <a:r>
              <a:rPr sz="1266"/>
              <a:t>Input Image</a:t>
            </a:r>
          </a:p>
        </p:txBody>
      </p:sp>
      <p:sp>
        <p:nvSpPr>
          <p:cNvPr id="380" name="Feature Detector/ Filter"/>
          <p:cNvSpPr txBox="1"/>
          <p:nvPr/>
        </p:nvSpPr>
        <p:spPr>
          <a:xfrm>
            <a:off x="5537752" y="5651470"/>
            <a:ext cx="1314399" cy="4617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/>
          <a:p>
            <a:r>
              <a:rPr sz="1266"/>
              <a:t>Feature Detector/</a:t>
            </a:r>
            <a:br>
              <a:rPr sz="1266"/>
            </a:br>
            <a:r>
              <a:rPr sz="1266"/>
              <a:t>Filter</a:t>
            </a:r>
          </a:p>
        </p:txBody>
      </p:sp>
      <p:graphicFrame>
        <p:nvGraphicFramePr>
          <p:cNvPr id="381" name="Table 3"/>
          <p:cNvGraphicFramePr/>
          <p:nvPr/>
        </p:nvGraphicFramePr>
        <p:xfrm>
          <a:off x="7844078" y="2856752"/>
          <a:ext cx="2332835" cy="2050125"/>
        </p:xfrm>
        <a:graphic>
          <a:graphicData uri="http://schemas.openxmlformats.org/drawingml/2006/table">
            <a:tbl>
              <a:tblPr/>
              <a:tblGrid>
                <a:gridCol w="4665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65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65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656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665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0025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0025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2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0025"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0025"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0025"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82" name="equation.pdf"/>
              <p:cNvSpPr txBox="1"/>
              <p:nvPr/>
            </p:nvSpPr>
            <p:spPr>
              <a:xfrm>
                <a:off x="5288623" y="3745986"/>
                <a:ext cx="463268" cy="443648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642915" latinLnBrk="1">
                  <a:defRPr sz="1800"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2883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⊛</m:t>
                      </m:r>
                    </m:oMath>
                  </m:oMathPara>
                </a14:m>
                <a:endParaRPr sz="2883"/>
              </a:p>
            </p:txBody>
          </p:sp>
        </mc:Choice>
        <mc:Fallback xmlns="">
          <p:sp>
            <p:nvSpPr>
              <p:cNvPr id="382" name="equation.pdf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8623" y="3745986"/>
                <a:ext cx="463268" cy="44364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3" name="equation.pdf"/>
              <p:cNvSpPr txBox="1"/>
              <p:nvPr/>
            </p:nvSpPr>
            <p:spPr>
              <a:xfrm>
                <a:off x="7347177" y="3745986"/>
                <a:ext cx="370294" cy="443648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642915" latinLnBrk="1">
                  <a:defRPr sz="1800"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2883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sz="2883"/>
              </a:p>
            </p:txBody>
          </p:sp>
        </mc:Choice>
        <mc:Fallback xmlns="">
          <p:sp>
            <p:nvSpPr>
              <p:cNvPr id="383" name="equation.pdf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7177" y="3745986"/>
                <a:ext cx="370294" cy="44364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4" name="Convolution with one filter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1525858">
              <a:defRPr sz="5280" spc="-105"/>
            </a:lvl1pPr>
          </a:lstStyle>
          <a:p>
            <a:r>
              <a:t>Convolution with one filter</a:t>
            </a:r>
          </a:p>
        </p:txBody>
      </p:sp>
      <p:sp>
        <p:nvSpPr>
          <p:cNvPr id="385" name="Feature Map"/>
          <p:cNvSpPr txBox="1"/>
          <p:nvPr/>
        </p:nvSpPr>
        <p:spPr>
          <a:xfrm>
            <a:off x="8264028" y="5748869"/>
            <a:ext cx="955326" cy="2669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/>
          <a:p>
            <a:r>
              <a:rPr sz="1266"/>
              <a:t>Feature Map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87" name="Table 1"/>
          <p:cNvGraphicFramePr/>
          <p:nvPr/>
        </p:nvGraphicFramePr>
        <p:xfrm>
          <a:off x="1906141" y="2514754"/>
          <a:ext cx="3152779" cy="2734123"/>
        </p:xfrm>
        <a:graphic>
          <a:graphicData uri="http://schemas.openxmlformats.org/drawingml/2006/table">
            <a:tbl>
              <a:tblPr/>
              <a:tblGrid>
                <a:gridCol w="4503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03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03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039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039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039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5039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90589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0589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>
                    <a:solidFill>
                      <a:srgbClr val="FFD4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>
                    <a:solidFill>
                      <a:srgbClr val="FFD4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>
                    <a:solidFill>
                      <a:srgbClr val="FFD4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0589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>
                    <a:solidFill>
                      <a:srgbClr val="FFD4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>
                    <a:solidFill>
                      <a:srgbClr val="FFD4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>
                    <a:solidFill>
                      <a:srgbClr val="FFD4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0589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>
                    <a:solidFill>
                      <a:srgbClr val="FFD4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>
                    <a:solidFill>
                      <a:srgbClr val="FFD4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>
                    <a:solidFill>
                      <a:srgbClr val="FFD4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0589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0589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0589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388" name="Table 2"/>
          <p:cNvGraphicFramePr/>
          <p:nvPr/>
        </p:nvGraphicFramePr>
        <p:xfrm>
          <a:off x="5794453" y="3244000"/>
          <a:ext cx="1318551" cy="1275630"/>
        </p:xfrm>
        <a:graphic>
          <a:graphicData uri="http://schemas.openxmlformats.org/drawingml/2006/table">
            <a:tbl>
              <a:tblPr/>
              <a:tblGrid>
                <a:gridCol w="4395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95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95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521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521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521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89" name="Input Image"/>
          <p:cNvSpPr txBox="1"/>
          <p:nvPr/>
        </p:nvSpPr>
        <p:spPr>
          <a:xfrm>
            <a:off x="2749668" y="5748869"/>
            <a:ext cx="917816" cy="2669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/>
          <a:p>
            <a:r>
              <a:rPr sz="1266"/>
              <a:t>Input Image</a:t>
            </a:r>
          </a:p>
        </p:txBody>
      </p:sp>
      <p:sp>
        <p:nvSpPr>
          <p:cNvPr id="390" name="Feature Detector/ Filter"/>
          <p:cNvSpPr txBox="1"/>
          <p:nvPr/>
        </p:nvSpPr>
        <p:spPr>
          <a:xfrm>
            <a:off x="5537752" y="5651470"/>
            <a:ext cx="1314399" cy="4617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/>
          <a:p>
            <a:r>
              <a:rPr sz="1266"/>
              <a:t>Feature Detector/</a:t>
            </a:r>
            <a:br>
              <a:rPr sz="1266"/>
            </a:br>
            <a:r>
              <a:rPr sz="1266"/>
              <a:t>Filter</a:t>
            </a:r>
          </a:p>
        </p:txBody>
      </p:sp>
      <p:graphicFrame>
        <p:nvGraphicFramePr>
          <p:cNvPr id="391" name="Table 3"/>
          <p:cNvGraphicFramePr/>
          <p:nvPr/>
        </p:nvGraphicFramePr>
        <p:xfrm>
          <a:off x="7844078" y="2856752"/>
          <a:ext cx="2332835" cy="2050125"/>
        </p:xfrm>
        <a:graphic>
          <a:graphicData uri="http://schemas.openxmlformats.org/drawingml/2006/table">
            <a:tbl>
              <a:tblPr/>
              <a:tblGrid>
                <a:gridCol w="4665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65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65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656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665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0025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0025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2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0025"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0025"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0025"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92" name="equation.pdf"/>
              <p:cNvSpPr txBox="1"/>
              <p:nvPr/>
            </p:nvSpPr>
            <p:spPr>
              <a:xfrm>
                <a:off x="5288623" y="3745986"/>
                <a:ext cx="463268" cy="443648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642915" latinLnBrk="1">
                  <a:defRPr sz="1800"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2883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⊛</m:t>
                      </m:r>
                    </m:oMath>
                  </m:oMathPara>
                </a14:m>
                <a:endParaRPr sz="2883"/>
              </a:p>
            </p:txBody>
          </p:sp>
        </mc:Choice>
        <mc:Fallback xmlns="">
          <p:sp>
            <p:nvSpPr>
              <p:cNvPr id="392" name="equation.pdf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8623" y="3745986"/>
                <a:ext cx="463268" cy="44364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3" name="equation.pdf"/>
              <p:cNvSpPr txBox="1"/>
              <p:nvPr/>
            </p:nvSpPr>
            <p:spPr>
              <a:xfrm>
                <a:off x="7347177" y="3745986"/>
                <a:ext cx="370294" cy="443648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642915" latinLnBrk="1">
                  <a:defRPr sz="1800"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2883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sz="2883"/>
              </a:p>
            </p:txBody>
          </p:sp>
        </mc:Choice>
        <mc:Fallback xmlns="">
          <p:sp>
            <p:nvSpPr>
              <p:cNvPr id="393" name="equation.pdf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7177" y="3745986"/>
                <a:ext cx="370294" cy="44364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4" name="Convolution with one filter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1525858">
              <a:defRPr sz="5280" spc="-105"/>
            </a:lvl1pPr>
          </a:lstStyle>
          <a:p>
            <a:r>
              <a:t>Convolution with one filter</a:t>
            </a:r>
          </a:p>
        </p:txBody>
      </p:sp>
      <p:sp>
        <p:nvSpPr>
          <p:cNvPr id="395" name="Feature Map"/>
          <p:cNvSpPr txBox="1"/>
          <p:nvPr/>
        </p:nvSpPr>
        <p:spPr>
          <a:xfrm>
            <a:off x="8264028" y="5748869"/>
            <a:ext cx="955326" cy="2669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/>
          <a:p>
            <a:r>
              <a:rPr sz="1266"/>
              <a:t>Feature Map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97" name="Table 1"/>
          <p:cNvGraphicFramePr/>
          <p:nvPr/>
        </p:nvGraphicFramePr>
        <p:xfrm>
          <a:off x="1906141" y="2514754"/>
          <a:ext cx="3152779" cy="2734123"/>
        </p:xfrm>
        <a:graphic>
          <a:graphicData uri="http://schemas.openxmlformats.org/drawingml/2006/table">
            <a:tbl>
              <a:tblPr/>
              <a:tblGrid>
                <a:gridCol w="4503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03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03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039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039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039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5039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90589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0589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0589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>
                    <a:solidFill>
                      <a:srgbClr val="FFD4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>
                    <a:solidFill>
                      <a:srgbClr val="FFD4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>
                    <a:solidFill>
                      <a:srgbClr val="FFD4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0589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>
                    <a:solidFill>
                      <a:srgbClr val="FFD4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>
                    <a:solidFill>
                      <a:srgbClr val="FFD4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>
                    <a:solidFill>
                      <a:srgbClr val="FFD4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0589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>
                    <a:solidFill>
                      <a:srgbClr val="FFD4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>
                    <a:solidFill>
                      <a:srgbClr val="FFD4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>
                    <a:solidFill>
                      <a:srgbClr val="FFD4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0589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0589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398" name="Table 2"/>
          <p:cNvGraphicFramePr/>
          <p:nvPr/>
        </p:nvGraphicFramePr>
        <p:xfrm>
          <a:off x="5794453" y="3244000"/>
          <a:ext cx="1318551" cy="1275630"/>
        </p:xfrm>
        <a:graphic>
          <a:graphicData uri="http://schemas.openxmlformats.org/drawingml/2006/table">
            <a:tbl>
              <a:tblPr/>
              <a:tblGrid>
                <a:gridCol w="4395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95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95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521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521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521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99" name="Input Image"/>
          <p:cNvSpPr txBox="1"/>
          <p:nvPr/>
        </p:nvSpPr>
        <p:spPr>
          <a:xfrm>
            <a:off x="2749668" y="5748869"/>
            <a:ext cx="917816" cy="2669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/>
          <a:p>
            <a:r>
              <a:rPr sz="1266"/>
              <a:t>Input Image</a:t>
            </a:r>
          </a:p>
        </p:txBody>
      </p:sp>
      <p:sp>
        <p:nvSpPr>
          <p:cNvPr id="400" name="Feature Detector/ Filter"/>
          <p:cNvSpPr txBox="1"/>
          <p:nvPr/>
        </p:nvSpPr>
        <p:spPr>
          <a:xfrm>
            <a:off x="5537752" y="5651470"/>
            <a:ext cx="1314399" cy="4617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/>
          <a:p>
            <a:r>
              <a:rPr sz="1266"/>
              <a:t>Feature Detector/</a:t>
            </a:r>
            <a:br>
              <a:rPr sz="1266"/>
            </a:br>
            <a:r>
              <a:rPr sz="1266"/>
              <a:t>Filter</a:t>
            </a:r>
          </a:p>
        </p:txBody>
      </p:sp>
      <p:graphicFrame>
        <p:nvGraphicFramePr>
          <p:cNvPr id="401" name="Table 3"/>
          <p:cNvGraphicFramePr/>
          <p:nvPr/>
        </p:nvGraphicFramePr>
        <p:xfrm>
          <a:off x="7844078" y="2856752"/>
          <a:ext cx="2332835" cy="2050125"/>
        </p:xfrm>
        <a:graphic>
          <a:graphicData uri="http://schemas.openxmlformats.org/drawingml/2006/table">
            <a:tbl>
              <a:tblPr/>
              <a:tblGrid>
                <a:gridCol w="4665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65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65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656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665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0025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0025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2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0025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0025"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0025"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02" name="equation.pdf"/>
              <p:cNvSpPr txBox="1"/>
              <p:nvPr/>
            </p:nvSpPr>
            <p:spPr>
              <a:xfrm>
                <a:off x="5288623" y="3745986"/>
                <a:ext cx="463268" cy="443648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642915" latinLnBrk="1">
                  <a:defRPr sz="1800"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2883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⊛</m:t>
                      </m:r>
                    </m:oMath>
                  </m:oMathPara>
                </a14:m>
                <a:endParaRPr sz="2883"/>
              </a:p>
            </p:txBody>
          </p:sp>
        </mc:Choice>
        <mc:Fallback xmlns="">
          <p:sp>
            <p:nvSpPr>
              <p:cNvPr id="402" name="equation.pdf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8623" y="3745986"/>
                <a:ext cx="463268" cy="44364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3" name="equation.pdf"/>
              <p:cNvSpPr txBox="1"/>
              <p:nvPr/>
            </p:nvSpPr>
            <p:spPr>
              <a:xfrm>
                <a:off x="7347177" y="3745986"/>
                <a:ext cx="370294" cy="443648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642915" latinLnBrk="1">
                  <a:defRPr sz="1800"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2883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sz="2883"/>
              </a:p>
            </p:txBody>
          </p:sp>
        </mc:Choice>
        <mc:Fallback xmlns="">
          <p:sp>
            <p:nvSpPr>
              <p:cNvPr id="403" name="equation.pdf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7177" y="3745986"/>
                <a:ext cx="370294" cy="44364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4" name="Convolution with one filter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1525858">
              <a:defRPr sz="5280" spc="-105"/>
            </a:lvl1pPr>
          </a:lstStyle>
          <a:p>
            <a:r>
              <a:t>Convolution with one filter</a:t>
            </a:r>
          </a:p>
        </p:txBody>
      </p:sp>
      <p:sp>
        <p:nvSpPr>
          <p:cNvPr id="405" name="Feature Map"/>
          <p:cNvSpPr txBox="1"/>
          <p:nvPr/>
        </p:nvSpPr>
        <p:spPr>
          <a:xfrm>
            <a:off x="8264028" y="5748869"/>
            <a:ext cx="955326" cy="2669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/>
          <a:p>
            <a:r>
              <a:rPr sz="1266"/>
              <a:t>Feature Map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7" name="Table 1"/>
          <p:cNvGraphicFramePr/>
          <p:nvPr/>
        </p:nvGraphicFramePr>
        <p:xfrm>
          <a:off x="1906141" y="2514754"/>
          <a:ext cx="3152779" cy="2734123"/>
        </p:xfrm>
        <a:graphic>
          <a:graphicData uri="http://schemas.openxmlformats.org/drawingml/2006/table">
            <a:tbl>
              <a:tblPr/>
              <a:tblGrid>
                <a:gridCol w="4503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03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03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039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039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039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5039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90589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0589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0589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>
                    <a:solidFill>
                      <a:srgbClr val="FFD4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>
                    <a:solidFill>
                      <a:srgbClr val="FFD4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>
                    <a:solidFill>
                      <a:srgbClr val="FFD4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0589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>
                    <a:solidFill>
                      <a:srgbClr val="FFD4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>
                    <a:solidFill>
                      <a:srgbClr val="FFD4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>
                    <a:solidFill>
                      <a:srgbClr val="FFD4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0589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>
                    <a:solidFill>
                      <a:srgbClr val="FFD4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>
                    <a:solidFill>
                      <a:srgbClr val="FFD4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>
                    <a:solidFill>
                      <a:srgbClr val="FFD4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0589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0589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408" name="Table 2"/>
          <p:cNvGraphicFramePr/>
          <p:nvPr/>
        </p:nvGraphicFramePr>
        <p:xfrm>
          <a:off x="5794453" y="3244000"/>
          <a:ext cx="1318551" cy="1275630"/>
        </p:xfrm>
        <a:graphic>
          <a:graphicData uri="http://schemas.openxmlformats.org/drawingml/2006/table">
            <a:tbl>
              <a:tblPr/>
              <a:tblGrid>
                <a:gridCol w="4395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95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95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521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521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521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09" name="Input Image"/>
          <p:cNvSpPr txBox="1"/>
          <p:nvPr/>
        </p:nvSpPr>
        <p:spPr>
          <a:xfrm>
            <a:off x="2749668" y="5748869"/>
            <a:ext cx="917816" cy="2669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/>
          <a:p>
            <a:r>
              <a:rPr sz="1266"/>
              <a:t>Input Image</a:t>
            </a:r>
          </a:p>
        </p:txBody>
      </p:sp>
      <p:sp>
        <p:nvSpPr>
          <p:cNvPr id="410" name="Feature Detector/ Filter"/>
          <p:cNvSpPr txBox="1"/>
          <p:nvPr/>
        </p:nvSpPr>
        <p:spPr>
          <a:xfrm>
            <a:off x="5537752" y="5651470"/>
            <a:ext cx="1314399" cy="4617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/>
          <a:p>
            <a:r>
              <a:rPr sz="1266"/>
              <a:t>Feature Detector/</a:t>
            </a:r>
            <a:br>
              <a:rPr sz="1266"/>
            </a:br>
            <a:r>
              <a:rPr sz="1266"/>
              <a:t>Filter</a:t>
            </a:r>
          </a:p>
        </p:txBody>
      </p:sp>
      <p:graphicFrame>
        <p:nvGraphicFramePr>
          <p:cNvPr id="411" name="Table 3"/>
          <p:cNvGraphicFramePr/>
          <p:nvPr/>
        </p:nvGraphicFramePr>
        <p:xfrm>
          <a:off x="7844078" y="2856752"/>
          <a:ext cx="2332835" cy="2050125"/>
        </p:xfrm>
        <a:graphic>
          <a:graphicData uri="http://schemas.openxmlformats.org/drawingml/2006/table">
            <a:tbl>
              <a:tblPr/>
              <a:tblGrid>
                <a:gridCol w="4665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65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65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656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665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0025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0025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2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0025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0025"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0025"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12" name="equation.pdf"/>
              <p:cNvSpPr txBox="1"/>
              <p:nvPr/>
            </p:nvSpPr>
            <p:spPr>
              <a:xfrm>
                <a:off x="5288623" y="3745986"/>
                <a:ext cx="463268" cy="443648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642915" latinLnBrk="1">
                  <a:defRPr sz="1800"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2883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⊛</m:t>
                      </m:r>
                    </m:oMath>
                  </m:oMathPara>
                </a14:m>
                <a:endParaRPr sz="2883"/>
              </a:p>
            </p:txBody>
          </p:sp>
        </mc:Choice>
        <mc:Fallback xmlns="">
          <p:sp>
            <p:nvSpPr>
              <p:cNvPr id="412" name="equation.pdf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8623" y="3745986"/>
                <a:ext cx="463268" cy="44364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3" name="equation.pdf"/>
              <p:cNvSpPr txBox="1"/>
              <p:nvPr/>
            </p:nvSpPr>
            <p:spPr>
              <a:xfrm>
                <a:off x="7347177" y="3745986"/>
                <a:ext cx="370294" cy="443648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642915" latinLnBrk="1">
                  <a:defRPr sz="1800"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2883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sz="2883"/>
              </a:p>
            </p:txBody>
          </p:sp>
        </mc:Choice>
        <mc:Fallback xmlns="">
          <p:sp>
            <p:nvSpPr>
              <p:cNvPr id="413" name="equation.pdf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7177" y="3745986"/>
                <a:ext cx="370294" cy="44364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4" name="Convolution with one filter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1525858">
              <a:defRPr sz="5280" spc="-105"/>
            </a:lvl1pPr>
          </a:lstStyle>
          <a:p>
            <a:r>
              <a:t>Convolution with one filter</a:t>
            </a:r>
          </a:p>
        </p:txBody>
      </p:sp>
      <p:sp>
        <p:nvSpPr>
          <p:cNvPr id="415" name="Feature Map"/>
          <p:cNvSpPr txBox="1"/>
          <p:nvPr/>
        </p:nvSpPr>
        <p:spPr>
          <a:xfrm>
            <a:off x="8264028" y="5748869"/>
            <a:ext cx="955326" cy="2669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/>
          <a:p>
            <a:r>
              <a:rPr sz="1266"/>
              <a:t>Feature Map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7" name="Table 1"/>
          <p:cNvGraphicFramePr/>
          <p:nvPr/>
        </p:nvGraphicFramePr>
        <p:xfrm>
          <a:off x="1906141" y="2514754"/>
          <a:ext cx="3152779" cy="2734123"/>
        </p:xfrm>
        <a:graphic>
          <a:graphicData uri="http://schemas.openxmlformats.org/drawingml/2006/table">
            <a:tbl>
              <a:tblPr/>
              <a:tblGrid>
                <a:gridCol w="4503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03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03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039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039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039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5039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90589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0589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0589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>
                    <a:solidFill>
                      <a:srgbClr val="FFD4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>
                    <a:solidFill>
                      <a:srgbClr val="FFD4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>
                    <a:solidFill>
                      <a:srgbClr val="FFD4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0589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>
                    <a:solidFill>
                      <a:srgbClr val="FFD4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>
                    <a:solidFill>
                      <a:srgbClr val="FFD4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>
                    <a:solidFill>
                      <a:srgbClr val="FFD4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0589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>
                    <a:solidFill>
                      <a:srgbClr val="FFD4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>
                    <a:solidFill>
                      <a:srgbClr val="FFD4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>
                    <a:solidFill>
                      <a:srgbClr val="FFD4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0589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0589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418" name="Table 2"/>
          <p:cNvGraphicFramePr/>
          <p:nvPr/>
        </p:nvGraphicFramePr>
        <p:xfrm>
          <a:off x="5794453" y="3244000"/>
          <a:ext cx="1318551" cy="1275630"/>
        </p:xfrm>
        <a:graphic>
          <a:graphicData uri="http://schemas.openxmlformats.org/drawingml/2006/table">
            <a:tbl>
              <a:tblPr/>
              <a:tblGrid>
                <a:gridCol w="4395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95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95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521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521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521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19" name="Input Image"/>
          <p:cNvSpPr txBox="1"/>
          <p:nvPr/>
        </p:nvSpPr>
        <p:spPr>
          <a:xfrm>
            <a:off x="2749668" y="5748869"/>
            <a:ext cx="917816" cy="2669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/>
          <a:p>
            <a:r>
              <a:rPr sz="1266"/>
              <a:t>Input Image</a:t>
            </a:r>
          </a:p>
        </p:txBody>
      </p:sp>
      <p:sp>
        <p:nvSpPr>
          <p:cNvPr id="420" name="Feature Detector/ Filter"/>
          <p:cNvSpPr txBox="1"/>
          <p:nvPr/>
        </p:nvSpPr>
        <p:spPr>
          <a:xfrm>
            <a:off x="5537752" y="5651470"/>
            <a:ext cx="1314399" cy="4617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/>
          <a:p>
            <a:r>
              <a:rPr sz="1266"/>
              <a:t>Feature Detector/</a:t>
            </a:r>
            <a:br>
              <a:rPr sz="1266"/>
            </a:br>
            <a:r>
              <a:rPr sz="1266"/>
              <a:t>Filter</a:t>
            </a:r>
          </a:p>
        </p:txBody>
      </p:sp>
      <p:graphicFrame>
        <p:nvGraphicFramePr>
          <p:cNvPr id="421" name="Table 3"/>
          <p:cNvGraphicFramePr/>
          <p:nvPr/>
        </p:nvGraphicFramePr>
        <p:xfrm>
          <a:off x="7844078" y="2856752"/>
          <a:ext cx="2332835" cy="2050125"/>
        </p:xfrm>
        <a:graphic>
          <a:graphicData uri="http://schemas.openxmlformats.org/drawingml/2006/table">
            <a:tbl>
              <a:tblPr/>
              <a:tblGrid>
                <a:gridCol w="4665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65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65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656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665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0025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0025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2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0025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0025"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0025"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22" name="equation.pdf"/>
              <p:cNvSpPr txBox="1"/>
              <p:nvPr/>
            </p:nvSpPr>
            <p:spPr>
              <a:xfrm>
                <a:off x="5288623" y="3745986"/>
                <a:ext cx="463268" cy="443648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642915" latinLnBrk="1">
                  <a:defRPr sz="1800"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2883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⊛</m:t>
                      </m:r>
                    </m:oMath>
                  </m:oMathPara>
                </a14:m>
                <a:endParaRPr sz="2883"/>
              </a:p>
            </p:txBody>
          </p:sp>
        </mc:Choice>
        <mc:Fallback xmlns="">
          <p:sp>
            <p:nvSpPr>
              <p:cNvPr id="422" name="equation.pdf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8623" y="3745986"/>
                <a:ext cx="463268" cy="44364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3" name="equation.pdf"/>
              <p:cNvSpPr txBox="1"/>
              <p:nvPr/>
            </p:nvSpPr>
            <p:spPr>
              <a:xfrm>
                <a:off x="7347177" y="3745986"/>
                <a:ext cx="370294" cy="443648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642915" latinLnBrk="1">
                  <a:defRPr sz="1800"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2883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sz="2883"/>
              </a:p>
            </p:txBody>
          </p:sp>
        </mc:Choice>
        <mc:Fallback xmlns="">
          <p:sp>
            <p:nvSpPr>
              <p:cNvPr id="423" name="equation.pdf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7177" y="3745986"/>
                <a:ext cx="370294" cy="44364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4" name="Convolution with one filter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1525858">
              <a:defRPr sz="5280" spc="-105"/>
            </a:lvl1pPr>
          </a:lstStyle>
          <a:p>
            <a:r>
              <a:t>Convolution with one filter</a:t>
            </a:r>
          </a:p>
        </p:txBody>
      </p:sp>
      <p:sp>
        <p:nvSpPr>
          <p:cNvPr id="425" name="Feature Map"/>
          <p:cNvSpPr txBox="1"/>
          <p:nvPr/>
        </p:nvSpPr>
        <p:spPr>
          <a:xfrm>
            <a:off x="8264028" y="5748869"/>
            <a:ext cx="955326" cy="2669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/>
          <a:p>
            <a:r>
              <a:rPr sz="1266"/>
              <a:t>Feature Map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27" name="Table 1"/>
          <p:cNvGraphicFramePr/>
          <p:nvPr/>
        </p:nvGraphicFramePr>
        <p:xfrm>
          <a:off x="1906141" y="2514754"/>
          <a:ext cx="3152779" cy="2734123"/>
        </p:xfrm>
        <a:graphic>
          <a:graphicData uri="http://schemas.openxmlformats.org/drawingml/2006/table">
            <a:tbl>
              <a:tblPr/>
              <a:tblGrid>
                <a:gridCol w="4503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03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03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039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039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039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5039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90589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0589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0589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>
                    <a:solidFill>
                      <a:srgbClr val="FFD4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>
                    <a:solidFill>
                      <a:srgbClr val="FFD4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>
                    <a:solidFill>
                      <a:srgbClr val="FFD4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0589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>
                    <a:solidFill>
                      <a:srgbClr val="FFD4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>
                    <a:solidFill>
                      <a:srgbClr val="FFD4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>
                    <a:solidFill>
                      <a:srgbClr val="FFD4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0589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>
                    <a:solidFill>
                      <a:srgbClr val="FFD4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>
                    <a:solidFill>
                      <a:srgbClr val="FFD4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>
                    <a:solidFill>
                      <a:srgbClr val="FFD4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0589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0589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428" name="Table 2"/>
          <p:cNvGraphicFramePr/>
          <p:nvPr/>
        </p:nvGraphicFramePr>
        <p:xfrm>
          <a:off x="5794453" y="3244000"/>
          <a:ext cx="1318551" cy="1275630"/>
        </p:xfrm>
        <a:graphic>
          <a:graphicData uri="http://schemas.openxmlformats.org/drawingml/2006/table">
            <a:tbl>
              <a:tblPr/>
              <a:tblGrid>
                <a:gridCol w="4395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95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95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521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521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521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29" name="Input Image"/>
          <p:cNvSpPr txBox="1"/>
          <p:nvPr/>
        </p:nvSpPr>
        <p:spPr>
          <a:xfrm>
            <a:off x="2749668" y="5748869"/>
            <a:ext cx="917816" cy="2669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/>
          <a:p>
            <a:r>
              <a:rPr sz="1266"/>
              <a:t>Input Image</a:t>
            </a:r>
          </a:p>
        </p:txBody>
      </p:sp>
      <p:sp>
        <p:nvSpPr>
          <p:cNvPr id="430" name="Feature Detector/ Filter"/>
          <p:cNvSpPr txBox="1"/>
          <p:nvPr/>
        </p:nvSpPr>
        <p:spPr>
          <a:xfrm>
            <a:off x="5537752" y="5651470"/>
            <a:ext cx="1314399" cy="4617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/>
          <a:p>
            <a:r>
              <a:rPr sz="1266"/>
              <a:t>Feature Detector/</a:t>
            </a:r>
            <a:br>
              <a:rPr sz="1266"/>
            </a:br>
            <a:r>
              <a:rPr sz="1266"/>
              <a:t>Filter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1" name="equation.pdf"/>
              <p:cNvSpPr txBox="1"/>
              <p:nvPr/>
            </p:nvSpPr>
            <p:spPr>
              <a:xfrm>
                <a:off x="5288623" y="3745986"/>
                <a:ext cx="463268" cy="443648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642915" latinLnBrk="1">
                  <a:defRPr sz="1800"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2883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⊛</m:t>
                      </m:r>
                    </m:oMath>
                  </m:oMathPara>
                </a14:m>
                <a:endParaRPr sz="2883"/>
              </a:p>
            </p:txBody>
          </p:sp>
        </mc:Choice>
        <mc:Fallback xmlns="">
          <p:sp>
            <p:nvSpPr>
              <p:cNvPr id="431" name="equation.pdf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8623" y="3745986"/>
                <a:ext cx="463268" cy="44364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2" name="equation.pdf"/>
              <p:cNvSpPr txBox="1"/>
              <p:nvPr/>
            </p:nvSpPr>
            <p:spPr>
              <a:xfrm>
                <a:off x="7347177" y="3745986"/>
                <a:ext cx="370294" cy="443648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642915" latinLnBrk="1">
                  <a:defRPr sz="1800"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2883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sz="2883"/>
              </a:p>
            </p:txBody>
          </p:sp>
        </mc:Choice>
        <mc:Fallback xmlns="">
          <p:sp>
            <p:nvSpPr>
              <p:cNvPr id="432" name="equation.pdf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7177" y="3745986"/>
                <a:ext cx="370294" cy="44364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33" name="Table 3"/>
          <p:cNvGraphicFramePr/>
          <p:nvPr/>
        </p:nvGraphicFramePr>
        <p:xfrm>
          <a:off x="7844078" y="2856752"/>
          <a:ext cx="2332835" cy="2050125"/>
        </p:xfrm>
        <a:graphic>
          <a:graphicData uri="http://schemas.openxmlformats.org/drawingml/2006/table">
            <a:tbl>
              <a:tblPr/>
              <a:tblGrid>
                <a:gridCol w="4665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65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65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656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665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0025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0025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2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0025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2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0025"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0025"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34" name="Convolution with one filter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1525858">
              <a:defRPr sz="5280" spc="-105"/>
            </a:lvl1pPr>
          </a:lstStyle>
          <a:p>
            <a:r>
              <a:t>Convolution with one filter</a:t>
            </a:r>
          </a:p>
        </p:txBody>
      </p:sp>
      <p:sp>
        <p:nvSpPr>
          <p:cNvPr id="435" name="Feature Map"/>
          <p:cNvSpPr txBox="1"/>
          <p:nvPr/>
        </p:nvSpPr>
        <p:spPr>
          <a:xfrm>
            <a:off x="8264028" y="5748869"/>
            <a:ext cx="955326" cy="2669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/>
          <a:p>
            <a:r>
              <a:rPr sz="1266"/>
              <a:t>Feature Map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37" name="Table 1"/>
          <p:cNvGraphicFramePr/>
          <p:nvPr/>
        </p:nvGraphicFramePr>
        <p:xfrm>
          <a:off x="1906141" y="2514754"/>
          <a:ext cx="3152779" cy="2734123"/>
        </p:xfrm>
        <a:graphic>
          <a:graphicData uri="http://schemas.openxmlformats.org/drawingml/2006/table">
            <a:tbl>
              <a:tblPr/>
              <a:tblGrid>
                <a:gridCol w="4503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03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03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039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039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039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5039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90589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0589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0589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>
                    <a:solidFill>
                      <a:srgbClr val="FFD4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>
                    <a:solidFill>
                      <a:srgbClr val="FFD4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>
                    <a:solidFill>
                      <a:srgbClr val="FFD4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0589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>
                    <a:solidFill>
                      <a:srgbClr val="FFD4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>
                    <a:solidFill>
                      <a:srgbClr val="FFD4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>
                    <a:solidFill>
                      <a:srgbClr val="FFD4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0589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>
                    <a:solidFill>
                      <a:srgbClr val="FFD4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>
                    <a:solidFill>
                      <a:srgbClr val="FFD4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>
                    <a:solidFill>
                      <a:srgbClr val="FFD4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0589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0589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438" name="Table 2"/>
          <p:cNvGraphicFramePr/>
          <p:nvPr/>
        </p:nvGraphicFramePr>
        <p:xfrm>
          <a:off x="5794453" y="3244000"/>
          <a:ext cx="1318551" cy="1275630"/>
        </p:xfrm>
        <a:graphic>
          <a:graphicData uri="http://schemas.openxmlformats.org/drawingml/2006/table">
            <a:tbl>
              <a:tblPr/>
              <a:tblGrid>
                <a:gridCol w="4395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95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95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521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521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521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39" name="Input Image"/>
          <p:cNvSpPr txBox="1"/>
          <p:nvPr/>
        </p:nvSpPr>
        <p:spPr>
          <a:xfrm>
            <a:off x="2749668" y="5748869"/>
            <a:ext cx="917816" cy="2669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/>
          <a:p>
            <a:r>
              <a:rPr sz="1266"/>
              <a:t>Input Image</a:t>
            </a:r>
          </a:p>
        </p:txBody>
      </p:sp>
      <p:sp>
        <p:nvSpPr>
          <p:cNvPr id="440" name="Feature Detector/ Filter"/>
          <p:cNvSpPr txBox="1"/>
          <p:nvPr/>
        </p:nvSpPr>
        <p:spPr>
          <a:xfrm>
            <a:off x="5537752" y="5651470"/>
            <a:ext cx="1314399" cy="4617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/>
          <a:p>
            <a:r>
              <a:rPr sz="1266"/>
              <a:t>Feature Detector/</a:t>
            </a:r>
            <a:br>
              <a:rPr sz="1266"/>
            </a:br>
            <a:r>
              <a:rPr sz="1266"/>
              <a:t>Filter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41" name="equation.pdf"/>
              <p:cNvSpPr txBox="1"/>
              <p:nvPr/>
            </p:nvSpPr>
            <p:spPr>
              <a:xfrm>
                <a:off x="5288623" y="3745986"/>
                <a:ext cx="463268" cy="443648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642915" latinLnBrk="1">
                  <a:defRPr sz="1800"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2883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⊛</m:t>
                      </m:r>
                    </m:oMath>
                  </m:oMathPara>
                </a14:m>
                <a:endParaRPr sz="2883"/>
              </a:p>
            </p:txBody>
          </p:sp>
        </mc:Choice>
        <mc:Fallback xmlns="">
          <p:sp>
            <p:nvSpPr>
              <p:cNvPr id="441" name="equation.pdf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8623" y="3745986"/>
                <a:ext cx="463268" cy="44364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2" name="equation.pdf"/>
              <p:cNvSpPr txBox="1"/>
              <p:nvPr/>
            </p:nvSpPr>
            <p:spPr>
              <a:xfrm>
                <a:off x="7347177" y="3745986"/>
                <a:ext cx="370294" cy="443648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642915" latinLnBrk="1">
                  <a:defRPr sz="1800"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2883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sz="2883"/>
              </a:p>
            </p:txBody>
          </p:sp>
        </mc:Choice>
        <mc:Fallback xmlns="">
          <p:sp>
            <p:nvSpPr>
              <p:cNvPr id="442" name="equation.pdf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7177" y="3745986"/>
                <a:ext cx="370294" cy="44364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43" name="Table 3"/>
          <p:cNvGraphicFramePr/>
          <p:nvPr/>
        </p:nvGraphicFramePr>
        <p:xfrm>
          <a:off x="7844078" y="2856752"/>
          <a:ext cx="2332835" cy="2050125"/>
        </p:xfrm>
        <a:graphic>
          <a:graphicData uri="http://schemas.openxmlformats.org/drawingml/2006/table">
            <a:tbl>
              <a:tblPr/>
              <a:tblGrid>
                <a:gridCol w="4665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65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65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656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665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0025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0025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2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0025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2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0025"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0025"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44" name="Convolution with one filter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1525858">
              <a:defRPr sz="5280" spc="-105"/>
            </a:lvl1pPr>
          </a:lstStyle>
          <a:p>
            <a:r>
              <a:t>Convolution with one filter</a:t>
            </a:r>
          </a:p>
        </p:txBody>
      </p:sp>
      <p:sp>
        <p:nvSpPr>
          <p:cNvPr id="445" name="Feature Map"/>
          <p:cNvSpPr txBox="1"/>
          <p:nvPr/>
        </p:nvSpPr>
        <p:spPr>
          <a:xfrm>
            <a:off x="8264028" y="5748869"/>
            <a:ext cx="955326" cy="2669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/>
          <a:p>
            <a:r>
              <a:rPr sz="1266"/>
              <a:t>Feature Map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47" name="Table 1"/>
          <p:cNvGraphicFramePr/>
          <p:nvPr/>
        </p:nvGraphicFramePr>
        <p:xfrm>
          <a:off x="1906141" y="2514754"/>
          <a:ext cx="3152779" cy="2734123"/>
        </p:xfrm>
        <a:graphic>
          <a:graphicData uri="http://schemas.openxmlformats.org/drawingml/2006/table">
            <a:tbl>
              <a:tblPr/>
              <a:tblGrid>
                <a:gridCol w="4503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03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03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039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039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039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5039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90589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0589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0589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0589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>
                    <a:solidFill>
                      <a:srgbClr val="FFD4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>
                    <a:solidFill>
                      <a:srgbClr val="FFD4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>
                    <a:solidFill>
                      <a:srgbClr val="FFD4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0589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>
                    <a:solidFill>
                      <a:srgbClr val="FFD4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>
                    <a:solidFill>
                      <a:srgbClr val="FFD4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>
                    <a:solidFill>
                      <a:srgbClr val="FFD4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0589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>
                    <a:solidFill>
                      <a:srgbClr val="FFD4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>
                    <a:solidFill>
                      <a:srgbClr val="FFD4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>
                    <a:solidFill>
                      <a:srgbClr val="FFD4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0589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448" name="Table 2"/>
          <p:cNvGraphicFramePr/>
          <p:nvPr/>
        </p:nvGraphicFramePr>
        <p:xfrm>
          <a:off x="5794453" y="3244000"/>
          <a:ext cx="1318551" cy="1275630"/>
        </p:xfrm>
        <a:graphic>
          <a:graphicData uri="http://schemas.openxmlformats.org/drawingml/2006/table">
            <a:tbl>
              <a:tblPr/>
              <a:tblGrid>
                <a:gridCol w="4395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95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95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521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521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521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49" name="Input Image"/>
          <p:cNvSpPr txBox="1"/>
          <p:nvPr/>
        </p:nvSpPr>
        <p:spPr>
          <a:xfrm>
            <a:off x="2749668" y="5748869"/>
            <a:ext cx="917816" cy="2669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/>
          <a:p>
            <a:r>
              <a:rPr sz="1266"/>
              <a:t>Input Image</a:t>
            </a:r>
          </a:p>
        </p:txBody>
      </p:sp>
      <p:sp>
        <p:nvSpPr>
          <p:cNvPr id="450" name="Feature Detector/ Filter"/>
          <p:cNvSpPr txBox="1"/>
          <p:nvPr/>
        </p:nvSpPr>
        <p:spPr>
          <a:xfrm>
            <a:off x="5537752" y="5651470"/>
            <a:ext cx="1314399" cy="4617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/>
          <a:p>
            <a:r>
              <a:rPr sz="1266"/>
              <a:t>Feature Detector/</a:t>
            </a:r>
            <a:br>
              <a:rPr sz="1266"/>
            </a:br>
            <a:r>
              <a:rPr sz="1266"/>
              <a:t>Filter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1" name="equation.pdf"/>
              <p:cNvSpPr txBox="1"/>
              <p:nvPr/>
            </p:nvSpPr>
            <p:spPr>
              <a:xfrm>
                <a:off x="5288623" y="3745986"/>
                <a:ext cx="463268" cy="443648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642915" latinLnBrk="1">
                  <a:defRPr sz="1800"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2883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⊛</m:t>
                      </m:r>
                    </m:oMath>
                  </m:oMathPara>
                </a14:m>
                <a:endParaRPr sz="2883"/>
              </a:p>
            </p:txBody>
          </p:sp>
        </mc:Choice>
        <mc:Fallback xmlns="">
          <p:sp>
            <p:nvSpPr>
              <p:cNvPr id="451" name="equation.pdf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8623" y="3745986"/>
                <a:ext cx="463268" cy="44364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2" name="equation.pdf"/>
              <p:cNvSpPr txBox="1"/>
              <p:nvPr/>
            </p:nvSpPr>
            <p:spPr>
              <a:xfrm>
                <a:off x="7347177" y="3745986"/>
                <a:ext cx="370294" cy="443648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642915" latinLnBrk="1">
                  <a:defRPr sz="1800"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2883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sz="2883"/>
              </a:p>
            </p:txBody>
          </p:sp>
        </mc:Choice>
        <mc:Fallback xmlns="">
          <p:sp>
            <p:nvSpPr>
              <p:cNvPr id="452" name="equation.pdf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7177" y="3745986"/>
                <a:ext cx="370294" cy="44364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53" name="Table 3"/>
          <p:cNvGraphicFramePr/>
          <p:nvPr/>
        </p:nvGraphicFramePr>
        <p:xfrm>
          <a:off x="7844078" y="2856752"/>
          <a:ext cx="2332835" cy="2050125"/>
        </p:xfrm>
        <a:graphic>
          <a:graphicData uri="http://schemas.openxmlformats.org/drawingml/2006/table">
            <a:tbl>
              <a:tblPr/>
              <a:tblGrid>
                <a:gridCol w="4665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65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65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656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665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0025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0025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2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0025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2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0025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0025"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54" name="Convolution with one filter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1525858">
              <a:defRPr sz="5280" spc="-105"/>
            </a:lvl1pPr>
          </a:lstStyle>
          <a:p>
            <a:r>
              <a:t>Convolution with one filter</a:t>
            </a:r>
          </a:p>
        </p:txBody>
      </p:sp>
      <p:sp>
        <p:nvSpPr>
          <p:cNvPr id="455" name="Feature Map"/>
          <p:cNvSpPr txBox="1"/>
          <p:nvPr/>
        </p:nvSpPr>
        <p:spPr>
          <a:xfrm>
            <a:off x="8264028" y="5748869"/>
            <a:ext cx="955326" cy="2669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/>
          <a:p>
            <a:r>
              <a:rPr sz="1266"/>
              <a:t>Feature Map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57" name="Table 1"/>
          <p:cNvGraphicFramePr/>
          <p:nvPr/>
        </p:nvGraphicFramePr>
        <p:xfrm>
          <a:off x="1906141" y="2514754"/>
          <a:ext cx="3161706" cy="2743053"/>
        </p:xfrm>
        <a:graphic>
          <a:graphicData uri="http://schemas.openxmlformats.org/drawingml/2006/table">
            <a:tbl>
              <a:tblPr/>
              <a:tblGrid>
                <a:gridCol w="4503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03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03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039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039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039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5039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90589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0589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0589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0589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>
                    <a:solidFill>
                      <a:srgbClr val="FFD4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>
                    <a:solidFill>
                      <a:srgbClr val="FFD4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>
                    <a:solidFill>
                      <a:srgbClr val="FFD4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0589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>
                    <a:solidFill>
                      <a:srgbClr val="FFD4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>
                    <a:solidFill>
                      <a:srgbClr val="FFD4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>
                    <a:solidFill>
                      <a:srgbClr val="FFD4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0589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>
                    <a:solidFill>
                      <a:srgbClr val="FFD4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>
                    <a:solidFill>
                      <a:srgbClr val="FFD4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>
                    <a:solidFill>
                      <a:srgbClr val="FFD4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0589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458" name="Table 2"/>
          <p:cNvGraphicFramePr/>
          <p:nvPr/>
        </p:nvGraphicFramePr>
        <p:xfrm>
          <a:off x="5794453" y="3244000"/>
          <a:ext cx="1327483" cy="1284561"/>
        </p:xfrm>
        <a:graphic>
          <a:graphicData uri="http://schemas.openxmlformats.org/drawingml/2006/table">
            <a:tbl>
              <a:tblPr/>
              <a:tblGrid>
                <a:gridCol w="4395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95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95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521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521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521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59" name="Input Image"/>
          <p:cNvSpPr txBox="1"/>
          <p:nvPr/>
        </p:nvSpPr>
        <p:spPr>
          <a:xfrm>
            <a:off x="2749668" y="5748869"/>
            <a:ext cx="917816" cy="2669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/>
          <a:p>
            <a:r>
              <a:rPr sz="1266"/>
              <a:t>Input Image</a:t>
            </a:r>
          </a:p>
        </p:txBody>
      </p:sp>
      <p:sp>
        <p:nvSpPr>
          <p:cNvPr id="460" name="Feature Detector/ Filter"/>
          <p:cNvSpPr txBox="1"/>
          <p:nvPr/>
        </p:nvSpPr>
        <p:spPr>
          <a:xfrm>
            <a:off x="5537752" y="5651470"/>
            <a:ext cx="1314399" cy="4617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/>
          <a:p>
            <a:r>
              <a:rPr sz="1266"/>
              <a:t>Feature Detector/</a:t>
            </a:r>
            <a:br>
              <a:rPr sz="1266"/>
            </a:br>
            <a:r>
              <a:rPr sz="1266"/>
              <a:t>Filter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61" name="equation.pdf"/>
              <p:cNvSpPr txBox="1"/>
              <p:nvPr/>
            </p:nvSpPr>
            <p:spPr>
              <a:xfrm>
                <a:off x="5288623" y="3745986"/>
                <a:ext cx="463268" cy="443648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642915" latinLnBrk="1">
                  <a:defRPr sz="1800"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2883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⊛</m:t>
                      </m:r>
                    </m:oMath>
                  </m:oMathPara>
                </a14:m>
                <a:endParaRPr sz="2883"/>
              </a:p>
            </p:txBody>
          </p:sp>
        </mc:Choice>
        <mc:Fallback xmlns="">
          <p:sp>
            <p:nvSpPr>
              <p:cNvPr id="461" name="equation.pdf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8623" y="3745986"/>
                <a:ext cx="463268" cy="44364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2" name="equation.pdf"/>
              <p:cNvSpPr txBox="1"/>
              <p:nvPr/>
            </p:nvSpPr>
            <p:spPr>
              <a:xfrm>
                <a:off x="7347177" y="3745986"/>
                <a:ext cx="370294" cy="443648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642915" latinLnBrk="1">
                  <a:defRPr sz="1800"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2883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sz="2883"/>
              </a:p>
            </p:txBody>
          </p:sp>
        </mc:Choice>
        <mc:Fallback xmlns="">
          <p:sp>
            <p:nvSpPr>
              <p:cNvPr id="462" name="equation.pdf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7177" y="3745986"/>
                <a:ext cx="370294" cy="44364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63" name="Table 3"/>
          <p:cNvGraphicFramePr/>
          <p:nvPr/>
        </p:nvGraphicFramePr>
        <p:xfrm>
          <a:off x="7844078" y="2856752"/>
          <a:ext cx="2341767" cy="2059056"/>
        </p:xfrm>
        <a:graphic>
          <a:graphicData uri="http://schemas.openxmlformats.org/drawingml/2006/table">
            <a:tbl>
              <a:tblPr/>
              <a:tblGrid>
                <a:gridCol w="4665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65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65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656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665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0025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0025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2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0025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2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0025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4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0025"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64" name="Convolution with one filter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1525858">
              <a:defRPr sz="5280" spc="-105"/>
            </a:lvl1pPr>
          </a:lstStyle>
          <a:p>
            <a:r>
              <a:t>Convolution with one filter</a:t>
            </a:r>
          </a:p>
        </p:txBody>
      </p:sp>
      <p:sp>
        <p:nvSpPr>
          <p:cNvPr id="465" name="Feature Map"/>
          <p:cNvSpPr txBox="1"/>
          <p:nvPr/>
        </p:nvSpPr>
        <p:spPr>
          <a:xfrm>
            <a:off x="8264028" y="5748869"/>
            <a:ext cx="955326" cy="2669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/>
          <a:p>
            <a:r>
              <a:rPr sz="1266"/>
              <a:t>Feature Map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67" name="Table 1"/>
          <p:cNvGraphicFramePr/>
          <p:nvPr/>
        </p:nvGraphicFramePr>
        <p:xfrm>
          <a:off x="1906141" y="2514754"/>
          <a:ext cx="3152779" cy="2734123"/>
        </p:xfrm>
        <a:graphic>
          <a:graphicData uri="http://schemas.openxmlformats.org/drawingml/2006/table">
            <a:tbl>
              <a:tblPr/>
              <a:tblGrid>
                <a:gridCol w="4503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03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03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039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039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039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5039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90589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0589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0589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0589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>
                    <a:solidFill>
                      <a:srgbClr val="FFD4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>
                    <a:solidFill>
                      <a:srgbClr val="FFD4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>
                    <a:solidFill>
                      <a:srgbClr val="FFD4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0589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>
                    <a:solidFill>
                      <a:srgbClr val="FFD4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>
                    <a:solidFill>
                      <a:srgbClr val="FFD4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>
                    <a:solidFill>
                      <a:srgbClr val="FFD4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0589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>
                    <a:solidFill>
                      <a:srgbClr val="FFD4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>
                    <a:solidFill>
                      <a:srgbClr val="FFD4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>
                    <a:solidFill>
                      <a:srgbClr val="FFD4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0589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468" name="Table 2"/>
          <p:cNvGraphicFramePr/>
          <p:nvPr/>
        </p:nvGraphicFramePr>
        <p:xfrm>
          <a:off x="5794453" y="3244000"/>
          <a:ext cx="1318551" cy="1275630"/>
        </p:xfrm>
        <a:graphic>
          <a:graphicData uri="http://schemas.openxmlformats.org/drawingml/2006/table">
            <a:tbl>
              <a:tblPr/>
              <a:tblGrid>
                <a:gridCol w="4395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95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95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521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521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521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69" name="Input Image"/>
          <p:cNvSpPr txBox="1"/>
          <p:nvPr/>
        </p:nvSpPr>
        <p:spPr>
          <a:xfrm>
            <a:off x="2749668" y="5748869"/>
            <a:ext cx="917816" cy="2669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/>
          <a:p>
            <a:r>
              <a:rPr sz="1266"/>
              <a:t>Input Image</a:t>
            </a:r>
          </a:p>
        </p:txBody>
      </p:sp>
      <p:sp>
        <p:nvSpPr>
          <p:cNvPr id="470" name="Feature Detector/ Filter"/>
          <p:cNvSpPr txBox="1"/>
          <p:nvPr/>
        </p:nvSpPr>
        <p:spPr>
          <a:xfrm>
            <a:off x="5537752" y="5651470"/>
            <a:ext cx="1314399" cy="4617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/>
          <a:p>
            <a:r>
              <a:rPr sz="1266"/>
              <a:t>Feature Detector/</a:t>
            </a:r>
            <a:br>
              <a:rPr sz="1266"/>
            </a:br>
            <a:r>
              <a:rPr sz="1266"/>
              <a:t>Filter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1" name="equation.pdf"/>
              <p:cNvSpPr txBox="1"/>
              <p:nvPr/>
            </p:nvSpPr>
            <p:spPr>
              <a:xfrm>
                <a:off x="5288623" y="3745986"/>
                <a:ext cx="463268" cy="443648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642915" latinLnBrk="1">
                  <a:defRPr sz="1800"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2883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⊛</m:t>
                      </m:r>
                    </m:oMath>
                  </m:oMathPara>
                </a14:m>
                <a:endParaRPr sz="2883"/>
              </a:p>
            </p:txBody>
          </p:sp>
        </mc:Choice>
        <mc:Fallback xmlns="">
          <p:sp>
            <p:nvSpPr>
              <p:cNvPr id="471" name="equation.pdf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8623" y="3745986"/>
                <a:ext cx="463268" cy="44364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2" name="equation.pdf"/>
              <p:cNvSpPr txBox="1"/>
              <p:nvPr/>
            </p:nvSpPr>
            <p:spPr>
              <a:xfrm>
                <a:off x="7347177" y="3745986"/>
                <a:ext cx="370294" cy="443648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642915" latinLnBrk="1">
                  <a:defRPr sz="1800"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2883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sz="2883"/>
              </a:p>
            </p:txBody>
          </p:sp>
        </mc:Choice>
        <mc:Fallback xmlns="">
          <p:sp>
            <p:nvSpPr>
              <p:cNvPr id="472" name="equation.pdf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7177" y="3745986"/>
                <a:ext cx="370294" cy="44364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73" name="Table 3"/>
          <p:cNvGraphicFramePr/>
          <p:nvPr/>
        </p:nvGraphicFramePr>
        <p:xfrm>
          <a:off x="7844078" y="2856752"/>
          <a:ext cx="2332835" cy="2050125"/>
        </p:xfrm>
        <a:graphic>
          <a:graphicData uri="http://schemas.openxmlformats.org/drawingml/2006/table">
            <a:tbl>
              <a:tblPr/>
              <a:tblGrid>
                <a:gridCol w="4665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65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65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656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665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0025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0025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2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0025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2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0025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4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2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0025"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74" name="Convolution with one filter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1525858">
              <a:defRPr sz="5280" spc="-105"/>
            </a:lvl1pPr>
          </a:lstStyle>
          <a:p>
            <a:r>
              <a:t>Convolution with one filter</a:t>
            </a:r>
          </a:p>
        </p:txBody>
      </p:sp>
      <p:sp>
        <p:nvSpPr>
          <p:cNvPr id="475" name="Feature Map"/>
          <p:cNvSpPr txBox="1"/>
          <p:nvPr/>
        </p:nvSpPr>
        <p:spPr>
          <a:xfrm>
            <a:off x="8264028" y="5748869"/>
            <a:ext cx="955326" cy="2669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/>
          <a:p>
            <a:r>
              <a:rPr sz="1266"/>
              <a:t>Feature Map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77" name="Table 1"/>
          <p:cNvGraphicFramePr/>
          <p:nvPr/>
        </p:nvGraphicFramePr>
        <p:xfrm>
          <a:off x="1906141" y="2514754"/>
          <a:ext cx="3152779" cy="2734123"/>
        </p:xfrm>
        <a:graphic>
          <a:graphicData uri="http://schemas.openxmlformats.org/drawingml/2006/table">
            <a:tbl>
              <a:tblPr/>
              <a:tblGrid>
                <a:gridCol w="4503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03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03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039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039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039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5039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90589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0589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0589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0589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>
                    <a:solidFill>
                      <a:srgbClr val="FFD4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>
                    <a:solidFill>
                      <a:srgbClr val="FFD4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>
                    <a:solidFill>
                      <a:srgbClr val="FFD4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0589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>
                    <a:solidFill>
                      <a:srgbClr val="FFD4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>
                    <a:solidFill>
                      <a:srgbClr val="FFD4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>
                    <a:solidFill>
                      <a:srgbClr val="FFD4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0589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>
                    <a:solidFill>
                      <a:srgbClr val="FFD4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>
                    <a:solidFill>
                      <a:srgbClr val="FFD4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>
                    <a:solidFill>
                      <a:srgbClr val="FFD4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0589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478" name="Table 2"/>
          <p:cNvGraphicFramePr/>
          <p:nvPr/>
        </p:nvGraphicFramePr>
        <p:xfrm>
          <a:off x="5794453" y="3244000"/>
          <a:ext cx="1318551" cy="1275630"/>
        </p:xfrm>
        <a:graphic>
          <a:graphicData uri="http://schemas.openxmlformats.org/drawingml/2006/table">
            <a:tbl>
              <a:tblPr/>
              <a:tblGrid>
                <a:gridCol w="4395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95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95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521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521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521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79" name="Input Image"/>
          <p:cNvSpPr txBox="1"/>
          <p:nvPr/>
        </p:nvSpPr>
        <p:spPr>
          <a:xfrm>
            <a:off x="2749668" y="5748869"/>
            <a:ext cx="917816" cy="2669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/>
          <a:p>
            <a:r>
              <a:rPr sz="1266"/>
              <a:t>Input Image</a:t>
            </a:r>
          </a:p>
        </p:txBody>
      </p:sp>
      <p:sp>
        <p:nvSpPr>
          <p:cNvPr id="480" name="Feature Detector/ Filter"/>
          <p:cNvSpPr txBox="1"/>
          <p:nvPr/>
        </p:nvSpPr>
        <p:spPr>
          <a:xfrm>
            <a:off x="5537752" y="5651470"/>
            <a:ext cx="1314399" cy="4617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/>
          <a:p>
            <a:r>
              <a:rPr sz="1266"/>
              <a:t>Feature Detector/</a:t>
            </a:r>
            <a:br>
              <a:rPr sz="1266"/>
            </a:br>
            <a:r>
              <a:rPr sz="1266"/>
              <a:t>Filter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81" name="equation.pdf"/>
              <p:cNvSpPr txBox="1"/>
              <p:nvPr/>
            </p:nvSpPr>
            <p:spPr>
              <a:xfrm>
                <a:off x="5288623" y="3745986"/>
                <a:ext cx="463268" cy="443648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642915" latinLnBrk="1">
                  <a:defRPr sz="1800"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2883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⊛</m:t>
                      </m:r>
                    </m:oMath>
                  </m:oMathPara>
                </a14:m>
                <a:endParaRPr sz="2883"/>
              </a:p>
            </p:txBody>
          </p:sp>
        </mc:Choice>
        <mc:Fallback xmlns="">
          <p:sp>
            <p:nvSpPr>
              <p:cNvPr id="481" name="equation.pdf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8623" y="3745986"/>
                <a:ext cx="463268" cy="44364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2" name="equation.pdf"/>
              <p:cNvSpPr txBox="1"/>
              <p:nvPr/>
            </p:nvSpPr>
            <p:spPr>
              <a:xfrm>
                <a:off x="7347177" y="3745986"/>
                <a:ext cx="370294" cy="443648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642915" latinLnBrk="1">
                  <a:defRPr sz="1800"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2883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sz="2883"/>
              </a:p>
            </p:txBody>
          </p:sp>
        </mc:Choice>
        <mc:Fallback xmlns="">
          <p:sp>
            <p:nvSpPr>
              <p:cNvPr id="482" name="equation.pdf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7177" y="3745986"/>
                <a:ext cx="370294" cy="44364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83" name="Table 3"/>
          <p:cNvGraphicFramePr/>
          <p:nvPr/>
        </p:nvGraphicFramePr>
        <p:xfrm>
          <a:off x="7844078" y="2856752"/>
          <a:ext cx="2332835" cy="2050125"/>
        </p:xfrm>
        <a:graphic>
          <a:graphicData uri="http://schemas.openxmlformats.org/drawingml/2006/table">
            <a:tbl>
              <a:tblPr/>
              <a:tblGrid>
                <a:gridCol w="4665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65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65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656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665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0025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0025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2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0025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2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0025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4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2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0025"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84" name="Convolution with one filter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1525858">
              <a:defRPr sz="5280" spc="-105"/>
            </a:lvl1pPr>
          </a:lstStyle>
          <a:p>
            <a:r>
              <a:t>Convolution with one filter</a:t>
            </a:r>
          </a:p>
        </p:txBody>
      </p:sp>
      <p:sp>
        <p:nvSpPr>
          <p:cNvPr id="485" name="Feature Map"/>
          <p:cNvSpPr txBox="1"/>
          <p:nvPr/>
        </p:nvSpPr>
        <p:spPr>
          <a:xfrm>
            <a:off x="8264028" y="5748869"/>
            <a:ext cx="955326" cy="2669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/>
          <a:p>
            <a:r>
              <a:rPr sz="1266"/>
              <a:t>Feature Map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87" name="Table 1"/>
          <p:cNvGraphicFramePr/>
          <p:nvPr/>
        </p:nvGraphicFramePr>
        <p:xfrm>
          <a:off x="1906141" y="2514754"/>
          <a:ext cx="3152779" cy="2734123"/>
        </p:xfrm>
        <a:graphic>
          <a:graphicData uri="http://schemas.openxmlformats.org/drawingml/2006/table">
            <a:tbl>
              <a:tblPr/>
              <a:tblGrid>
                <a:gridCol w="4503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03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03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039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039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039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5039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90589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0589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0589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0589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>
                    <a:solidFill>
                      <a:srgbClr val="FFD4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>
                    <a:solidFill>
                      <a:srgbClr val="FFD4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>
                    <a:solidFill>
                      <a:srgbClr val="FFD4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0589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>
                    <a:solidFill>
                      <a:srgbClr val="FFD4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>
                    <a:solidFill>
                      <a:srgbClr val="FFD4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>
                    <a:solidFill>
                      <a:srgbClr val="FFD4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0589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>
                    <a:solidFill>
                      <a:srgbClr val="FFD4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>
                    <a:solidFill>
                      <a:srgbClr val="FFD4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>
                    <a:solidFill>
                      <a:srgbClr val="FFD4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0589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488" name="Table 2"/>
          <p:cNvGraphicFramePr/>
          <p:nvPr/>
        </p:nvGraphicFramePr>
        <p:xfrm>
          <a:off x="5794453" y="3244000"/>
          <a:ext cx="1318551" cy="1275630"/>
        </p:xfrm>
        <a:graphic>
          <a:graphicData uri="http://schemas.openxmlformats.org/drawingml/2006/table">
            <a:tbl>
              <a:tblPr/>
              <a:tblGrid>
                <a:gridCol w="4395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95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95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521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521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521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89" name="Input Image"/>
          <p:cNvSpPr txBox="1"/>
          <p:nvPr/>
        </p:nvSpPr>
        <p:spPr>
          <a:xfrm>
            <a:off x="2749668" y="5748869"/>
            <a:ext cx="917816" cy="2669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/>
          <a:p>
            <a:r>
              <a:rPr sz="1266"/>
              <a:t>Input Image</a:t>
            </a:r>
          </a:p>
        </p:txBody>
      </p:sp>
      <p:sp>
        <p:nvSpPr>
          <p:cNvPr id="490" name="Feature Detector/ Filter"/>
          <p:cNvSpPr txBox="1"/>
          <p:nvPr/>
        </p:nvSpPr>
        <p:spPr>
          <a:xfrm>
            <a:off x="5537752" y="5651470"/>
            <a:ext cx="1314399" cy="4617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/>
          <a:p>
            <a:r>
              <a:rPr sz="1266"/>
              <a:t>Feature Detector/</a:t>
            </a:r>
            <a:br>
              <a:rPr sz="1266"/>
            </a:br>
            <a:r>
              <a:rPr sz="1266"/>
              <a:t>Filter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91" name="equation.pdf"/>
              <p:cNvSpPr txBox="1"/>
              <p:nvPr/>
            </p:nvSpPr>
            <p:spPr>
              <a:xfrm>
                <a:off x="5288623" y="3745986"/>
                <a:ext cx="463268" cy="443648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642915" latinLnBrk="1">
                  <a:defRPr sz="1800"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2883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⊛</m:t>
                      </m:r>
                    </m:oMath>
                  </m:oMathPara>
                </a14:m>
                <a:endParaRPr sz="2883"/>
              </a:p>
            </p:txBody>
          </p:sp>
        </mc:Choice>
        <mc:Fallback xmlns="">
          <p:sp>
            <p:nvSpPr>
              <p:cNvPr id="491" name="equation.pdf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8623" y="3745986"/>
                <a:ext cx="463268" cy="44364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2" name="equation.pdf"/>
              <p:cNvSpPr txBox="1"/>
              <p:nvPr/>
            </p:nvSpPr>
            <p:spPr>
              <a:xfrm>
                <a:off x="7347177" y="3745986"/>
                <a:ext cx="370294" cy="443648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642915" latinLnBrk="1">
                  <a:defRPr sz="1800"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2883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sz="2883"/>
              </a:p>
            </p:txBody>
          </p:sp>
        </mc:Choice>
        <mc:Fallback xmlns="">
          <p:sp>
            <p:nvSpPr>
              <p:cNvPr id="492" name="equation.pdf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7177" y="3745986"/>
                <a:ext cx="370294" cy="44364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93" name="Table 3"/>
          <p:cNvGraphicFramePr/>
          <p:nvPr/>
        </p:nvGraphicFramePr>
        <p:xfrm>
          <a:off x="7844078" y="2856752"/>
          <a:ext cx="2332835" cy="2050125"/>
        </p:xfrm>
        <a:graphic>
          <a:graphicData uri="http://schemas.openxmlformats.org/drawingml/2006/table">
            <a:tbl>
              <a:tblPr/>
              <a:tblGrid>
                <a:gridCol w="4665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65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65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656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665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0025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0025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2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0025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2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0025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4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2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0025"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94" name="Convolution with one filter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1525858">
              <a:defRPr sz="5280" spc="-105"/>
            </a:lvl1pPr>
          </a:lstStyle>
          <a:p>
            <a:r>
              <a:t>Convolution with one filter</a:t>
            </a:r>
          </a:p>
        </p:txBody>
      </p:sp>
      <p:sp>
        <p:nvSpPr>
          <p:cNvPr id="495" name="Feature Map"/>
          <p:cNvSpPr txBox="1"/>
          <p:nvPr/>
        </p:nvSpPr>
        <p:spPr>
          <a:xfrm>
            <a:off x="8264028" y="5748869"/>
            <a:ext cx="955326" cy="2669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/>
          <a:p>
            <a:r>
              <a:rPr sz="1266"/>
              <a:t>Feature Map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97" name="Table 1"/>
          <p:cNvGraphicFramePr/>
          <p:nvPr/>
        </p:nvGraphicFramePr>
        <p:xfrm>
          <a:off x="1906141" y="2514754"/>
          <a:ext cx="3152779" cy="2734123"/>
        </p:xfrm>
        <a:graphic>
          <a:graphicData uri="http://schemas.openxmlformats.org/drawingml/2006/table">
            <a:tbl>
              <a:tblPr/>
              <a:tblGrid>
                <a:gridCol w="4503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03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03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039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039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039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5039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90589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0589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0589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0589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0589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>
                    <a:solidFill>
                      <a:srgbClr val="FFD4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>
                    <a:solidFill>
                      <a:srgbClr val="FFD4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>
                    <a:solidFill>
                      <a:srgbClr val="FFD4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0589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>
                    <a:solidFill>
                      <a:srgbClr val="FFD4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>
                    <a:solidFill>
                      <a:srgbClr val="FFD4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>
                    <a:solidFill>
                      <a:srgbClr val="FFD4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0589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>
                    <a:solidFill>
                      <a:srgbClr val="FFD4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>
                    <a:solidFill>
                      <a:srgbClr val="FFD4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>
                    <a:solidFill>
                      <a:srgbClr val="FFD4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498" name="Table 2"/>
          <p:cNvGraphicFramePr/>
          <p:nvPr/>
        </p:nvGraphicFramePr>
        <p:xfrm>
          <a:off x="5794453" y="3244000"/>
          <a:ext cx="1318551" cy="1275630"/>
        </p:xfrm>
        <a:graphic>
          <a:graphicData uri="http://schemas.openxmlformats.org/drawingml/2006/table">
            <a:tbl>
              <a:tblPr/>
              <a:tblGrid>
                <a:gridCol w="4395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95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95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521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521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521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99" name="Input Image"/>
          <p:cNvSpPr txBox="1"/>
          <p:nvPr/>
        </p:nvSpPr>
        <p:spPr>
          <a:xfrm>
            <a:off x="2749668" y="5748869"/>
            <a:ext cx="917816" cy="2669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/>
          <a:p>
            <a:r>
              <a:rPr sz="1266"/>
              <a:t>Input Image</a:t>
            </a:r>
          </a:p>
        </p:txBody>
      </p:sp>
      <p:sp>
        <p:nvSpPr>
          <p:cNvPr id="500" name="Feature Detector/ Filter"/>
          <p:cNvSpPr txBox="1"/>
          <p:nvPr/>
        </p:nvSpPr>
        <p:spPr>
          <a:xfrm>
            <a:off x="5537752" y="5651470"/>
            <a:ext cx="1314399" cy="4617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/>
          <a:p>
            <a:r>
              <a:rPr sz="1266"/>
              <a:t>Feature Detector/</a:t>
            </a:r>
            <a:br>
              <a:rPr sz="1266"/>
            </a:br>
            <a:r>
              <a:rPr sz="1266"/>
              <a:t>Filter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1" name="equation.pdf"/>
              <p:cNvSpPr txBox="1"/>
              <p:nvPr/>
            </p:nvSpPr>
            <p:spPr>
              <a:xfrm>
                <a:off x="5288623" y="3745986"/>
                <a:ext cx="463268" cy="443648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642915" latinLnBrk="1">
                  <a:defRPr sz="1800"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2883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⊛</m:t>
                      </m:r>
                    </m:oMath>
                  </m:oMathPara>
                </a14:m>
                <a:endParaRPr sz="2883"/>
              </a:p>
            </p:txBody>
          </p:sp>
        </mc:Choice>
        <mc:Fallback xmlns="">
          <p:sp>
            <p:nvSpPr>
              <p:cNvPr id="501" name="equation.pdf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8623" y="3745986"/>
                <a:ext cx="463268" cy="44364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2" name="equation.pdf"/>
              <p:cNvSpPr txBox="1"/>
              <p:nvPr/>
            </p:nvSpPr>
            <p:spPr>
              <a:xfrm>
                <a:off x="7347177" y="3745986"/>
                <a:ext cx="370294" cy="443648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642915" latinLnBrk="1">
                  <a:defRPr sz="1800"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2883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sz="2883"/>
              </a:p>
            </p:txBody>
          </p:sp>
        </mc:Choice>
        <mc:Fallback xmlns="">
          <p:sp>
            <p:nvSpPr>
              <p:cNvPr id="502" name="equation.pdf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7177" y="3745986"/>
                <a:ext cx="370294" cy="44364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03" name="Table 3"/>
          <p:cNvGraphicFramePr/>
          <p:nvPr/>
        </p:nvGraphicFramePr>
        <p:xfrm>
          <a:off x="7844078" y="2856752"/>
          <a:ext cx="2332835" cy="2050125"/>
        </p:xfrm>
        <a:graphic>
          <a:graphicData uri="http://schemas.openxmlformats.org/drawingml/2006/table">
            <a:tbl>
              <a:tblPr/>
              <a:tblGrid>
                <a:gridCol w="4665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65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65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656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665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0025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0025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2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0025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2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0025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4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2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0025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04" name="Convolution with one filter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1525858">
              <a:defRPr sz="5280" spc="-105"/>
            </a:lvl1pPr>
          </a:lstStyle>
          <a:p>
            <a:r>
              <a:t>Convolution with one filter</a:t>
            </a:r>
          </a:p>
        </p:txBody>
      </p:sp>
      <p:sp>
        <p:nvSpPr>
          <p:cNvPr id="505" name="Feature Map"/>
          <p:cNvSpPr txBox="1"/>
          <p:nvPr/>
        </p:nvSpPr>
        <p:spPr>
          <a:xfrm>
            <a:off x="8264028" y="5748869"/>
            <a:ext cx="955326" cy="2669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/>
          <a:p>
            <a:r>
              <a:rPr sz="1266"/>
              <a:t>Feature Map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07" name="Table 1"/>
          <p:cNvGraphicFramePr/>
          <p:nvPr/>
        </p:nvGraphicFramePr>
        <p:xfrm>
          <a:off x="1906141" y="2514754"/>
          <a:ext cx="3152779" cy="2734123"/>
        </p:xfrm>
        <a:graphic>
          <a:graphicData uri="http://schemas.openxmlformats.org/drawingml/2006/table">
            <a:tbl>
              <a:tblPr/>
              <a:tblGrid>
                <a:gridCol w="4503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03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03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039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039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039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5039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90589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0589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0589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0589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0589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>
                    <a:solidFill>
                      <a:srgbClr val="FFD4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>
                    <a:solidFill>
                      <a:srgbClr val="FFD4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>
                    <a:solidFill>
                      <a:srgbClr val="FFD4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0589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>
                    <a:solidFill>
                      <a:srgbClr val="FFD4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>
                    <a:solidFill>
                      <a:srgbClr val="FFD4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>
                    <a:solidFill>
                      <a:srgbClr val="FFD4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0589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>
                    <a:solidFill>
                      <a:srgbClr val="FFD4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>
                    <a:solidFill>
                      <a:srgbClr val="FFD4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>
                    <a:solidFill>
                      <a:srgbClr val="FFD4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508" name="Table 2"/>
          <p:cNvGraphicFramePr/>
          <p:nvPr/>
        </p:nvGraphicFramePr>
        <p:xfrm>
          <a:off x="5794453" y="3244000"/>
          <a:ext cx="1318551" cy="1275630"/>
        </p:xfrm>
        <a:graphic>
          <a:graphicData uri="http://schemas.openxmlformats.org/drawingml/2006/table">
            <a:tbl>
              <a:tblPr/>
              <a:tblGrid>
                <a:gridCol w="4395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95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95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521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521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521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09" name="Input Image"/>
          <p:cNvSpPr txBox="1"/>
          <p:nvPr/>
        </p:nvSpPr>
        <p:spPr>
          <a:xfrm>
            <a:off x="2749668" y="5748869"/>
            <a:ext cx="917816" cy="2669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/>
          <a:p>
            <a:r>
              <a:rPr sz="1266"/>
              <a:t>Input Image</a:t>
            </a:r>
          </a:p>
        </p:txBody>
      </p:sp>
      <p:sp>
        <p:nvSpPr>
          <p:cNvPr id="510" name="Feature Detector/ Filter"/>
          <p:cNvSpPr txBox="1"/>
          <p:nvPr/>
        </p:nvSpPr>
        <p:spPr>
          <a:xfrm>
            <a:off x="5537752" y="5651470"/>
            <a:ext cx="1314399" cy="4617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/>
          <a:p>
            <a:r>
              <a:rPr sz="1266"/>
              <a:t>Feature Detector/</a:t>
            </a:r>
            <a:br>
              <a:rPr sz="1266"/>
            </a:br>
            <a:r>
              <a:rPr sz="1266"/>
              <a:t>Filter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11" name="equation.pdf"/>
              <p:cNvSpPr txBox="1"/>
              <p:nvPr/>
            </p:nvSpPr>
            <p:spPr>
              <a:xfrm>
                <a:off x="5288623" y="3745986"/>
                <a:ext cx="463268" cy="443648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642915" latinLnBrk="1">
                  <a:defRPr sz="1800"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2883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⊛</m:t>
                      </m:r>
                    </m:oMath>
                  </m:oMathPara>
                </a14:m>
                <a:endParaRPr sz="2883"/>
              </a:p>
            </p:txBody>
          </p:sp>
        </mc:Choice>
        <mc:Fallback xmlns="">
          <p:sp>
            <p:nvSpPr>
              <p:cNvPr id="511" name="equation.pdf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8623" y="3745986"/>
                <a:ext cx="463268" cy="44364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2" name="equation.pdf"/>
              <p:cNvSpPr txBox="1"/>
              <p:nvPr/>
            </p:nvSpPr>
            <p:spPr>
              <a:xfrm>
                <a:off x="7347177" y="3745986"/>
                <a:ext cx="370294" cy="443648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642915" latinLnBrk="1">
                  <a:defRPr sz="1800"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2883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sz="2883"/>
              </a:p>
            </p:txBody>
          </p:sp>
        </mc:Choice>
        <mc:Fallback xmlns="">
          <p:sp>
            <p:nvSpPr>
              <p:cNvPr id="512" name="equation.pdf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7177" y="3745986"/>
                <a:ext cx="370294" cy="44364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13" name="Table 3"/>
          <p:cNvGraphicFramePr/>
          <p:nvPr/>
        </p:nvGraphicFramePr>
        <p:xfrm>
          <a:off x="7844078" y="2856752"/>
          <a:ext cx="2332835" cy="2050125"/>
        </p:xfrm>
        <a:graphic>
          <a:graphicData uri="http://schemas.openxmlformats.org/drawingml/2006/table">
            <a:tbl>
              <a:tblPr/>
              <a:tblGrid>
                <a:gridCol w="4665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65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65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656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665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0025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0025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2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0025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2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0025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4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2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0025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14" name="Convolution with one filter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1525858">
              <a:defRPr sz="5280" spc="-105"/>
            </a:lvl1pPr>
          </a:lstStyle>
          <a:p>
            <a:r>
              <a:t>Convolution with one filter</a:t>
            </a:r>
          </a:p>
        </p:txBody>
      </p:sp>
      <p:sp>
        <p:nvSpPr>
          <p:cNvPr id="515" name="Feature Map"/>
          <p:cNvSpPr txBox="1"/>
          <p:nvPr/>
        </p:nvSpPr>
        <p:spPr>
          <a:xfrm>
            <a:off x="8264028" y="5748869"/>
            <a:ext cx="955326" cy="2669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/>
          <a:p>
            <a:r>
              <a:rPr sz="1266"/>
              <a:t>Feature Map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17" name="Table 1"/>
          <p:cNvGraphicFramePr/>
          <p:nvPr/>
        </p:nvGraphicFramePr>
        <p:xfrm>
          <a:off x="1906141" y="2514754"/>
          <a:ext cx="3152779" cy="2734123"/>
        </p:xfrm>
        <a:graphic>
          <a:graphicData uri="http://schemas.openxmlformats.org/drawingml/2006/table">
            <a:tbl>
              <a:tblPr/>
              <a:tblGrid>
                <a:gridCol w="4503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03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03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039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039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039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5039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90589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0589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0589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0589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0589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>
                    <a:solidFill>
                      <a:srgbClr val="FFD4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>
                    <a:solidFill>
                      <a:srgbClr val="FFD4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>
                    <a:solidFill>
                      <a:srgbClr val="FFD4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0589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>
                    <a:solidFill>
                      <a:srgbClr val="FFD4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>
                    <a:solidFill>
                      <a:srgbClr val="FFD4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>
                    <a:solidFill>
                      <a:srgbClr val="FFD4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0589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>
                    <a:solidFill>
                      <a:srgbClr val="FFD4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>
                    <a:solidFill>
                      <a:srgbClr val="FFD4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>
                    <a:solidFill>
                      <a:srgbClr val="FFD4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518" name="Table 2"/>
          <p:cNvGraphicFramePr/>
          <p:nvPr/>
        </p:nvGraphicFramePr>
        <p:xfrm>
          <a:off x="5794453" y="3244000"/>
          <a:ext cx="1318551" cy="1275630"/>
        </p:xfrm>
        <a:graphic>
          <a:graphicData uri="http://schemas.openxmlformats.org/drawingml/2006/table">
            <a:tbl>
              <a:tblPr/>
              <a:tblGrid>
                <a:gridCol w="4395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95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95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521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521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521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19" name="Input Image"/>
          <p:cNvSpPr txBox="1"/>
          <p:nvPr/>
        </p:nvSpPr>
        <p:spPr>
          <a:xfrm>
            <a:off x="2749668" y="5748869"/>
            <a:ext cx="917816" cy="2669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/>
          <a:p>
            <a:r>
              <a:rPr sz="1266"/>
              <a:t>Input Image</a:t>
            </a:r>
          </a:p>
        </p:txBody>
      </p:sp>
      <p:sp>
        <p:nvSpPr>
          <p:cNvPr id="520" name="Feature Detector/ Filter"/>
          <p:cNvSpPr txBox="1"/>
          <p:nvPr/>
        </p:nvSpPr>
        <p:spPr>
          <a:xfrm>
            <a:off x="5537752" y="5651470"/>
            <a:ext cx="1314399" cy="4617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/>
          <a:p>
            <a:r>
              <a:rPr sz="1266"/>
              <a:t>Feature Detector/</a:t>
            </a:r>
            <a:br>
              <a:rPr sz="1266"/>
            </a:br>
            <a:r>
              <a:rPr sz="1266"/>
              <a:t>Filter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21" name="equation.pdf"/>
              <p:cNvSpPr txBox="1"/>
              <p:nvPr/>
            </p:nvSpPr>
            <p:spPr>
              <a:xfrm>
                <a:off x="5288623" y="3745986"/>
                <a:ext cx="463268" cy="443648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642915" latinLnBrk="1">
                  <a:defRPr sz="1800"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2883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⊛</m:t>
                      </m:r>
                    </m:oMath>
                  </m:oMathPara>
                </a14:m>
                <a:endParaRPr sz="2883"/>
              </a:p>
            </p:txBody>
          </p:sp>
        </mc:Choice>
        <mc:Fallback xmlns="">
          <p:sp>
            <p:nvSpPr>
              <p:cNvPr id="521" name="equation.pdf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8623" y="3745986"/>
                <a:ext cx="463268" cy="44364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2" name="equation.pdf"/>
              <p:cNvSpPr txBox="1"/>
              <p:nvPr/>
            </p:nvSpPr>
            <p:spPr>
              <a:xfrm>
                <a:off x="7347177" y="3745986"/>
                <a:ext cx="370294" cy="443648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642915" latinLnBrk="1">
                  <a:defRPr sz="1800"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2883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sz="2883"/>
              </a:p>
            </p:txBody>
          </p:sp>
        </mc:Choice>
        <mc:Fallback xmlns="">
          <p:sp>
            <p:nvSpPr>
              <p:cNvPr id="522" name="equation.pdf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7177" y="3745986"/>
                <a:ext cx="370294" cy="44364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23" name="Table 3"/>
          <p:cNvGraphicFramePr/>
          <p:nvPr/>
        </p:nvGraphicFramePr>
        <p:xfrm>
          <a:off x="7844078" y="2856752"/>
          <a:ext cx="2332835" cy="2050125"/>
        </p:xfrm>
        <a:graphic>
          <a:graphicData uri="http://schemas.openxmlformats.org/drawingml/2006/table">
            <a:tbl>
              <a:tblPr/>
              <a:tblGrid>
                <a:gridCol w="4665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65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65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656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665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0025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0025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2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0025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2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0025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4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2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0025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24" name="Convolution with one filter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1525858">
              <a:defRPr sz="5280" spc="-105"/>
            </a:lvl1pPr>
          </a:lstStyle>
          <a:p>
            <a:r>
              <a:t>Convolution with one filter</a:t>
            </a:r>
          </a:p>
        </p:txBody>
      </p:sp>
      <p:sp>
        <p:nvSpPr>
          <p:cNvPr id="525" name="Feature Map"/>
          <p:cNvSpPr txBox="1"/>
          <p:nvPr/>
        </p:nvSpPr>
        <p:spPr>
          <a:xfrm>
            <a:off x="8264028" y="5748869"/>
            <a:ext cx="955326" cy="2669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/>
          <a:p>
            <a:r>
              <a:rPr sz="1266"/>
              <a:t>Feature Map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27" name="Table 1"/>
          <p:cNvGraphicFramePr/>
          <p:nvPr/>
        </p:nvGraphicFramePr>
        <p:xfrm>
          <a:off x="1906141" y="2514754"/>
          <a:ext cx="3152779" cy="2734123"/>
        </p:xfrm>
        <a:graphic>
          <a:graphicData uri="http://schemas.openxmlformats.org/drawingml/2006/table">
            <a:tbl>
              <a:tblPr/>
              <a:tblGrid>
                <a:gridCol w="4503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03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03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039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039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039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5039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90589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0589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0589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0589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0589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>
                    <a:solidFill>
                      <a:srgbClr val="FFD4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>
                    <a:solidFill>
                      <a:srgbClr val="FFD4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>
                    <a:solidFill>
                      <a:srgbClr val="FFD4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0589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>
                    <a:solidFill>
                      <a:srgbClr val="FFD4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>
                    <a:solidFill>
                      <a:srgbClr val="FFD4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>
                    <a:solidFill>
                      <a:srgbClr val="FFD4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0589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>
                    <a:solidFill>
                      <a:srgbClr val="FFD4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>
                    <a:solidFill>
                      <a:srgbClr val="FFD4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>
                    <a:solidFill>
                      <a:srgbClr val="FFD4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528" name="Table 2"/>
          <p:cNvGraphicFramePr/>
          <p:nvPr/>
        </p:nvGraphicFramePr>
        <p:xfrm>
          <a:off x="5794453" y="3244000"/>
          <a:ext cx="1318551" cy="1275630"/>
        </p:xfrm>
        <a:graphic>
          <a:graphicData uri="http://schemas.openxmlformats.org/drawingml/2006/table">
            <a:tbl>
              <a:tblPr/>
              <a:tblGrid>
                <a:gridCol w="4395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95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95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521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521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521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29" name="Input Image"/>
          <p:cNvSpPr txBox="1"/>
          <p:nvPr/>
        </p:nvSpPr>
        <p:spPr>
          <a:xfrm>
            <a:off x="2749668" y="5748869"/>
            <a:ext cx="917816" cy="2669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/>
          <a:p>
            <a:r>
              <a:rPr sz="1266"/>
              <a:t>Input Image</a:t>
            </a:r>
          </a:p>
        </p:txBody>
      </p:sp>
      <p:sp>
        <p:nvSpPr>
          <p:cNvPr id="530" name="Feature Detector/ Filter"/>
          <p:cNvSpPr txBox="1"/>
          <p:nvPr/>
        </p:nvSpPr>
        <p:spPr>
          <a:xfrm>
            <a:off x="5537752" y="5651470"/>
            <a:ext cx="1314399" cy="4617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/>
          <a:p>
            <a:r>
              <a:rPr sz="1266"/>
              <a:t>Feature Detector/</a:t>
            </a:r>
            <a:br>
              <a:rPr sz="1266"/>
            </a:br>
            <a:r>
              <a:rPr sz="1266"/>
              <a:t>Filter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31" name="equation.pdf"/>
              <p:cNvSpPr txBox="1"/>
              <p:nvPr/>
            </p:nvSpPr>
            <p:spPr>
              <a:xfrm>
                <a:off x="5288623" y="3745986"/>
                <a:ext cx="463268" cy="443648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642915" latinLnBrk="1">
                  <a:defRPr sz="1800"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2883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⊛</m:t>
                      </m:r>
                    </m:oMath>
                  </m:oMathPara>
                </a14:m>
                <a:endParaRPr sz="2883"/>
              </a:p>
            </p:txBody>
          </p:sp>
        </mc:Choice>
        <mc:Fallback xmlns="">
          <p:sp>
            <p:nvSpPr>
              <p:cNvPr id="531" name="equation.pdf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8623" y="3745986"/>
                <a:ext cx="463268" cy="44364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2" name="equation.pdf"/>
              <p:cNvSpPr txBox="1"/>
              <p:nvPr/>
            </p:nvSpPr>
            <p:spPr>
              <a:xfrm>
                <a:off x="7347177" y="3745986"/>
                <a:ext cx="370294" cy="443648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642915" latinLnBrk="1">
                  <a:defRPr sz="1800"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2883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sz="2883"/>
              </a:p>
            </p:txBody>
          </p:sp>
        </mc:Choice>
        <mc:Fallback xmlns="">
          <p:sp>
            <p:nvSpPr>
              <p:cNvPr id="532" name="equation.pdf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7177" y="3745986"/>
                <a:ext cx="370294" cy="44364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33" name="Table 3"/>
          <p:cNvGraphicFramePr/>
          <p:nvPr/>
        </p:nvGraphicFramePr>
        <p:xfrm>
          <a:off x="7844078" y="2856752"/>
          <a:ext cx="2332835" cy="2050125"/>
        </p:xfrm>
        <a:graphic>
          <a:graphicData uri="http://schemas.openxmlformats.org/drawingml/2006/table">
            <a:tbl>
              <a:tblPr/>
              <a:tblGrid>
                <a:gridCol w="4665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65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65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656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665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0025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0025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2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0025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2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0025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4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2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0025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2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34" name="Convolution with one filter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1525858">
              <a:defRPr sz="5280" spc="-105"/>
            </a:lvl1pPr>
          </a:lstStyle>
          <a:p>
            <a:r>
              <a:t>Convolution with one filter</a:t>
            </a:r>
          </a:p>
        </p:txBody>
      </p:sp>
      <p:sp>
        <p:nvSpPr>
          <p:cNvPr id="535" name="Feature Map"/>
          <p:cNvSpPr txBox="1"/>
          <p:nvPr/>
        </p:nvSpPr>
        <p:spPr>
          <a:xfrm>
            <a:off x="8264028" y="5748869"/>
            <a:ext cx="955326" cy="2669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/>
          <a:p>
            <a:r>
              <a:rPr sz="1266"/>
              <a:t>Feature Map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Convolution with one filter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1525858">
              <a:defRPr sz="5280" spc="-105"/>
            </a:lvl1pPr>
          </a:lstStyle>
          <a:p>
            <a:r>
              <a:t>Convolution with one filter</a:t>
            </a:r>
          </a:p>
        </p:txBody>
      </p:sp>
      <p:graphicFrame>
        <p:nvGraphicFramePr>
          <p:cNvPr id="538" name="Table 1"/>
          <p:cNvGraphicFramePr/>
          <p:nvPr/>
        </p:nvGraphicFramePr>
        <p:xfrm>
          <a:off x="1906141" y="2514754"/>
          <a:ext cx="3152779" cy="2734123"/>
        </p:xfrm>
        <a:graphic>
          <a:graphicData uri="http://schemas.openxmlformats.org/drawingml/2006/table">
            <a:tbl>
              <a:tblPr/>
              <a:tblGrid>
                <a:gridCol w="4503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03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03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039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039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039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5039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90589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0589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0589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0589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0589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>
                    <a:solidFill>
                      <a:srgbClr val="FFD4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>
                    <a:solidFill>
                      <a:srgbClr val="FFD4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>
                    <a:solidFill>
                      <a:srgbClr val="FFD4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0589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>
                    <a:solidFill>
                      <a:srgbClr val="FFD4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>
                    <a:solidFill>
                      <a:srgbClr val="FFD4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>
                    <a:solidFill>
                      <a:srgbClr val="FFD4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0589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>
                    <a:solidFill>
                      <a:srgbClr val="FFD4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>
                    <a:solidFill>
                      <a:srgbClr val="FFD4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>
                    <a:solidFill>
                      <a:srgbClr val="FFD4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539" name="Table 2"/>
          <p:cNvGraphicFramePr/>
          <p:nvPr/>
        </p:nvGraphicFramePr>
        <p:xfrm>
          <a:off x="5794453" y="3244000"/>
          <a:ext cx="1318551" cy="1275630"/>
        </p:xfrm>
        <a:graphic>
          <a:graphicData uri="http://schemas.openxmlformats.org/drawingml/2006/table">
            <a:tbl>
              <a:tblPr/>
              <a:tblGrid>
                <a:gridCol w="4395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95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95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521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521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521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40" name="Input Image"/>
          <p:cNvSpPr txBox="1"/>
          <p:nvPr/>
        </p:nvSpPr>
        <p:spPr>
          <a:xfrm>
            <a:off x="2749668" y="5748869"/>
            <a:ext cx="917816" cy="2669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/>
          <a:p>
            <a:r>
              <a:rPr sz="1266"/>
              <a:t>Input Image</a:t>
            </a:r>
          </a:p>
        </p:txBody>
      </p:sp>
      <p:sp>
        <p:nvSpPr>
          <p:cNvPr id="541" name="Feature Detector/ Filter"/>
          <p:cNvSpPr txBox="1"/>
          <p:nvPr/>
        </p:nvSpPr>
        <p:spPr>
          <a:xfrm>
            <a:off x="5537752" y="5651470"/>
            <a:ext cx="1314399" cy="4617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/>
          <a:p>
            <a:r>
              <a:rPr sz="1266"/>
              <a:t>Feature Detector/</a:t>
            </a:r>
            <a:br>
              <a:rPr sz="1266"/>
            </a:br>
            <a:r>
              <a:rPr sz="1266"/>
              <a:t>Filter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42" name="equation.pdf"/>
              <p:cNvSpPr txBox="1"/>
              <p:nvPr/>
            </p:nvSpPr>
            <p:spPr>
              <a:xfrm>
                <a:off x="5288623" y="3745986"/>
                <a:ext cx="463268" cy="443648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642915" latinLnBrk="1">
                  <a:defRPr sz="1800"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2883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⊛</m:t>
                      </m:r>
                    </m:oMath>
                  </m:oMathPara>
                </a14:m>
                <a:endParaRPr sz="2883"/>
              </a:p>
            </p:txBody>
          </p:sp>
        </mc:Choice>
        <mc:Fallback xmlns="">
          <p:sp>
            <p:nvSpPr>
              <p:cNvPr id="542" name="equation.pdf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8623" y="3745986"/>
                <a:ext cx="463268" cy="44364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3" name="equation.pdf"/>
              <p:cNvSpPr txBox="1"/>
              <p:nvPr/>
            </p:nvSpPr>
            <p:spPr>
              <a:xfrm>
                <a:off x="7347177" y="3745986"/>
                <a:ext cx="370294" cy="443648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642915" latinLnBrk="1">
                  <a:defRPr sz="1800"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2883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sz="2883"/>
              </a:p>
            </p:txBody>
          </p:sp>
        </mc:Choice>
        <mc:Fallback xmlns="">
          <p:sp>
            <p:nvSpPr>
              <p:cNvPr id="543" name="equation.pdf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7177" y="3745986"/>
                <a:ext cx="370294" cy="44364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44" name="Table 3"/>
          <p:cNvGraphicFramePr/>
          <p:nvPr/>
        </p:nvGraphicFramePr>
        <p:xfrm>
          <a:off x="7844078" y="2856752"/>
          <a:ext cx="2332835" cy="2050125"/>
        </p:xfrm>
        <a:graphic>
          <a:graphicData uri="http://schemas.openxmlformats.org/drawingml/2006/table">
            <a:tbl>
              <a:tblPr/>
              <a:tblGrid>
                <a:gridCol w="4665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65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65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656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665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0025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0025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2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0025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2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0025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4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2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0025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2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45" name="Feature Map"/>
          <p:cNvSpPr txBox="1"/>
          <p:nvPr/>
        </p:nvSpPr>
        <p:spPr>
          <a:xfrm>
            <a:off x="8264028" y="5748869"/>
            <a:ext cx="955326" cy="2669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/>
          <a:p>
            <a:r>
              <a:rPr sz="1266"/>
              <a:t>Feature Map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Convolutional Layer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1525858">
              <a:defRPr sz="5280" spc="-105"/>
            </a:lvl1pPr>
          </a:lstStyle>
          <a:p>
            <a:r>
              <a:t>Convolutional Layer</a:t>
            </a:r>
          </a:p>
        </p:txBody>
      </p:sp>
      <p:pic>
        <p:nvPicPr>
          <p:cNvPr id="548" name="pasted-image.png" descr="pasted-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1824069"/>
            <a:ext cx="9144001" cy="41760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Pooling Layer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Pooling Layer</a:t>
            </a:r>
          </a:p>
        </p:txBody>
      </p:sp>
    </p:spTree>
  </p:cSld>
  <p:clrMapOvr>
    <a:masterClrMapping/>
  </p:clrMapOvr>
  <p:transition spd="med"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Pooling layers operate on the feature maps to summarize the pixels in a rectangular neighborhood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Pooling layers operate on the feature maps to summarize the pixels in a rectangular neighborhood</a:t>
            </a:r>
          </a:p>
          <a:p>
            <a:r>
              <a:t>Max pooling is the most common, though other pooling operations are occasionally used</a:t>
            </a:r>
          </a:p>
          <a:p>
            <a:r>
              <a:t>The purpose of the pooling layer is to:</a:t>
            </a:r>
          </a:p>
          <a:p>
            <a:pPr lvl="1"/>
            <a:r>
              <a:t>Reduce the the spatial size of the feature map</a:t>
            </a:r>
          </a:p>
          <a:p>
            <a:pPr lvl="1"/>
            <a:r>
              <a:t>Help make the network robust to small translations and distortions of the input data</a:t>
            </a:r>
          </a:p>
        </p:txBody>
      </p:sp>
      <p:sp>
        <p:nvSpPr>
          <p:cNvPr id="553" name="Max Pooling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1525858">
              <a:defRPr sz="5280" spc="-105"/>
            </a:lvl1pPr>
          </a:lstStyle>
          <a:p>
            <a:r>
              <a:t>Max Pooling</a:t>
            </a:r>
          </a:p>
        </p:txBody>
      </p:sp>
    </p:spTree>
  </p:cSld>
  <p:clrMapOvr>
    <a:masterClrMapping/>
  </p:clrMapOvr>
  <p:transition spd="med"/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Max Pooling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1525858">
              <a:defRPr sz="5280" spc="-105"/>
            </a:lvl1pPr>
          </a:lstStyle>
          <a:p>
            <a:r>
              <a:t>Max Pooling</a:t>
            </a:r>
          </a:p>
        </p:txBody>
      </p:sp>
      <p:graphicFrame>
        <p:nvGraphicFramePr>
          <p:cNvPr id="556" name="Table 3"/>
          <p:cNvGraphicFramePr/>
          <p:nvPr/>
        </p:nvGraphicFramePr>
        <p:xfrm>
          <a:off x="2807487" y="2872591"/>
          <a:ext cx="2332835" cy="2050125"/>
        </p:xfrm>
        <a:graphic>
          <a:graphicData uri="http://schemas.openxmlformats.org/drawingml/2006/table">
            <a:tbl>
              <a:tblPr/>
              <a:tblGrid>
                <a:gridCol w="4665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65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65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656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665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0025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>
                    <a:solidFill>
                      <a:srgbClr val="FF7E79">
                        <a:alpha val="5573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>
                    <a:solidFill>
                      <a:srgbClr val="FF7E79">
                        <a:alpha val="5573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0025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>
                    <a:solidFill>
                      <a:srgbClr val="FF7E79">
                        <a:alpha val="5573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>
                    <a:solidFill>
                      <a:srgbClr val="FF7E79">
                        <a:alpha val="5573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2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0025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2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0025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4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2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0025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2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557" name="Table 3-1"/>
          <p:cNvGraphicFramePr/>
          <p:nvPr/>
        </p:nvGraphicFramePr>
        <p:xfrm>
          <a:off x="7448120" y="3168317"/>
          <a:ext cx="1522206" cy="1458672"/>
        </p:xfrm>
        <a:graphic>
          <a:graphicData uri="http://schemas.openxmlformats.org/drawingml/2006/table">
            <a:tbl>
              <a:tblPr/>
              <a:tblGrid>
                <a:gridCol w="5074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74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74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6224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6224"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6224"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558" name="Line Line" descr="Line Line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5306407" y="3780606"/>
            <a:ext cx="1892204" cy="234094"/>
          </a:xfrm>
          <a:prstGeom prst="rect">
            <a:avLst/>
          </a:prstGeom>
        </p:spPr>
      </p:pic>
      <p:sp>
        <p:nvSpPr>
          <p:cNvPr id="560" name="Max Pooling"/>
          <p:cNvSpPr txBox="1"/>
          <p:nvPr/>
        </p:nvSpPr>
        <p:spPr>
          <a:xfrm>
            <a:off x="5704068" y="3543145"/>
            <a:ext cx="1163012" cy="3102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>
            <a:lvl1pPr>
              <a:defRPr sz="2200">
                <a:solidFill>
                  <a:srgbClr val="000000"/>
                </a:solidFill>
              </a:defRPr>
            </a:lvl1pPr>
          </a:lstStyle>
          <a:p>
            <a:r>
              <a:rPr sz="1547"/>
              <a:t>Max Pooling</a:t>
            </a:r>
          </a:p>
        </p:txBody>
      </p:sp>
      <p:sp>
        <p:nvSpPr>
          <p:cNvPr id="561" name="Box size: 2x2 Stride = 2"/>
          <p:cNvSpPr txBox="1"/>
          <p:nvPr/>
        </p:nvSpPr>
        <p:spPr>
          <a:xfrm>
            <a:off x="5807960" y="3993033"/>
            <a:ext cx="939361" cy="4399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/>
          <a:p>
            <a:pPr>
              <a:defRPr sz="1700"/>
            </a:pPr>
            <a:r>
              <a:rPr sz="1195"/>
              <a:t>Box size: 2x2</a:t>
            </a:r>
            <a:br>
              <a:rPr sz="1195"/>
            </a:br>
            <a:r>
              <a:rPr sz="1195"/>
              <a:t>Stride = 2</a:t>
            </a:r>
          </a:p>
        </p:txBody>
      </p:sp>
      <p:sp>
        <p:nvSpPr>
          <p:cNvPr id="562" name="Feature Map"/>
          <p:cNvSpPr txBox="1"/>
          <p:nvPr/>
        </p:nvSpPr>
        <p:spPr>
          <a:xfrm>
            <a:off x="3218508" y="5542970"/>
            <a:ext cx="955326" cy="2669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/>
          <a:p>
            <a:r>
              <a:rPr sz="1266"/>
              <a:t>Feature Map</a:t>
            </a:r>
          </a:p>
        </p:txBody>
      </p:sp>
      <p:sp>
        <p:nvSpPr>
          <p:cNvPr id="563" name="Pooled Feature Map"/>
          <p:cNvSpPr txBox="1"/>
          <p:nvPr/>
        </p:nvSpPr>
        <p:spPr>
          <a:xfrm>
            <a:off x="7023648" y="5542970"/>
            <a:ext cx="1472071" cy="2669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/>
          <a:p>
            <a:r>
              <a:rPr sz="1266"/>
              <a:t>Pooled Feature Map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Max Pooling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1525858">
              <a:defRPr sz="5280" spc="-105"/>
            </a:lvl1pPr>
          </a:lstStyle>
          <a:p>
            <a:r>
              <a:t>Max Pooling</a:t>
            </a:r>
          </a:p>
        </p:txBody>
      </p:sp>
      <p:graphicFrame>
        <p:nvGraphicFramePr>
          <p:cNvPr id="566" name="Table 3"/>
          <p:cNvGraphicFramePr/>
          <p:nvPr/>
        </p:nvGraphicFramePr>
        <p:xfrm>
          <a:off x="2807487" y="2872591"/>
          <a:ext cx="2332835" cy="2050125"/>
        </p:xfrm>
        <a:graphic>
          <a:graphicData uri="http://schemas.openxmlformats.org/drawingml/2006/table">
            <a:tbl>
              <a:tblPr/>
              <a:tblGrid>
                <a:gridCol w="4665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65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65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656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665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0025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>
                    <a:solidFill>
                      <a:srgbClr val="FF7E79">
                        <a:alpha val="5573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>
                    <a:solidFill>
                      <a:srgbClr val="FF7E79">
                        <a:alpha val="5573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0025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2</a:t>
                      </a:r>
                    </a:p>
                  </a:txBody>
                  <a:tcPr marL="35719" marR="35719" marT="35719" marB="35719" anchor="ctr" horzOverflow="overflow">
                    <a:solidFill>
                      <a:srgbClr val="FF7E79">
                        <a:alpha val="5573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>
                    <a:solidFill>
                      <a:srgbClr val="FF7E79">
                        <a:alpha val="5573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0025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2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0025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4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2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0025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2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567" name="Table 3-1"/>
          <p:cNvGraphicFramePr/>
          <p:nvPr/>
        </p:nvGraphicFramePr>
        <p:xfrm>
          <a:off x="7448120" y="3168317"/>
          <a:ext cx="1522206" cy="1458672"/>
        </p:xfrm>
        <a:graphic>
          <a:graphicData uri="http://schemas.openxmlformats.org/drawingml/2006/table">
            <a:tbl>
              <a:tblPr/>
              <a:tblGrid>
                <a:gridCol w="5074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74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74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6224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2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6224"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6224"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568" name="Line Line" descr="Line Line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5306407" y="3780606"/>
            <a:ext cx="1892204" cy="234094"/>
          </a:xfrm>
          <a:prstGeom prst="rect">
            <a:avLst/>
          </a:prstGeom>
        </p:spPr>
      </p:pic>
      <p:sp>
        <p:nvSpPr>
          <p:cNvPr id="570" name="Max Pooling"/>
          <p:cNvSpPr txBox="1"/>
          <p:nvPr/>
        </p:nvSpPr>
        <p:spPr>
          <a:xfrm>
            <a:off x="5704068" y="3543145"/>
            <a:ext cx="1163012" cy="3102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>
            <a:lvl1pPr>
              <a:defRPr sz="2200">
                <a:solidFill>
                  <a:srgbClr val="000000"/>
                </a:solidFill>
              </a:defRPr>
            </a:lvl1pPr>
          </a:lstStyle>
          <a:p>
            <a:r>
              <a:rPr sz="1547"/>
              <a:t>Max Pooling</a:t>
            </a:r>
          </a:p>
        </p:txBody>
      </p:sp>
      <p:sp>
        <p:nvSpPr>
          <p:cNvPr id="571" name="Box size: 2x2 Stride = 2"/>
          <p:cNvSpPr txBox="1"/>
          <p:nvPr/>
        </p:nvSpPr>
        <p:spPr>
          <a:xfrm>
            <a:off x="5807960" y="3993033"/>
            <a:ext cx="939361" cy="4399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/>
          <a:p>
            <a:pPr>
              <a:defRPr sz="1700"/>
            </a:pPr>
            <a:r>
              <a:rPr sz="1195"/>
              <a:t>Box size: 2x2</a:t>
            </a:r>
            <a:br>
              <a:rPr sz="1195"/>
            </a:br>
            <a:r>
              <a:rPr sz="1195"/>
              <a:t>Stride = 2</a:t>
            </a:r>
          </a:p>
        </p:txBody>
      </p:sp>
      <p:sp>
        <p:nvSpPr>
          <p:cNvPr id="572" name="Feature Map"/>
          <p:cNvSpPr txBox="1"/>
          <p:nvPr/>
        </p:nvSpPr>
        <p:spPr>
          <a:xfrm>
            <a:off x="3218508" y="5542970"/>
            <a:ext cx="955326" cy="2669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/>
          <a:p>
            <a:r>
              <a:rPr sz="1266"/>
              <a:t>Feature Map</a:t>
            </a:r>
          </a:p>
        </p:txBody>
      </p:sp>
      <p:sp>
        <p:nvSpPr>
          <p:cNvPr id="573" name="Pooled Feature Map"/>
          <p:cNvSpPr txBox="1"/>
          <p:nvPr/>
        </p:nvSpPr>
        <p:spPr>
          <a:xfrm>
            <a:off x="7023648" y="5542970"/>
            <a:ext cx="1472071" cy="2669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/>
          <a:p>
            <a:r>
              <a:rPr sz="1266"/>
              <a:t>Pooled Feature Map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Max Pooling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1525858">
              <a:defRPr sz="5280" spc="-105"/>
            </a:lvl1pPr>
          </a:lstStyle>
          <a:p>
            <a:r>
              <a:t>Max Pooling</a:t>
            </a:r>
          </a:p>
        </p:txBody>
      </p:sp>
      <p:graphicFrame>
        <p:nvGraphicFramePr>
          <p:cNvPr id="576" name="Table 3"/>
          <p:cNvGraphicFramePr/>
          <p:nvPr/>
        </p:nvGraphicFramePr>
        <p:xfrm>
          <a:off x="2807487" y="2872591"/>
          <a:ext cx="2332835" cy="2050125"/>
        </p:xfrm>
        <a:graphic>
          <a:graphicData uri="http://schemas.openxmlformats.org/drawingml/2006/table">
            <a:tbl>
              <a:tblPr/>
              <a:tblGrid>
                <a:gridCol w="4665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65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65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656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665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0025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>
                    <a:solidFill>
                      <a:srgbClr val="FF7E79">
                        <a:alpha val="55737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0025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2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>
                    <a:solidFill>
                      <a:srgbClr val="FF7E79">
                        <a:alpha val="55737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0025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2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0025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4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2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0025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2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577" name="Table 3-1"/>
          <p:cNvGraphicFramePr/>
          <p:nvPr/>
        </p:nvGraphicFramePr>
        <p:xfrm>
          <a:off x="7448120" y="3168317"/>
          <a:ext cx="1522206" cy="1458672"/>
        </p:xfrm>
        <a:graphic>
          <a:graphicData uri="http://schemas.openxmlformats.org/drawingml/2006/table">
            <a:tbl>
              <a:tblPr/>
              <a:tblGrid>
                <a:gridCol w="5074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74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74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6224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2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6224"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6224"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578" name="Line Line" descr="Line Line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5306407" y="3780606"/>
            <a:ext cx="1892204" cy="234094"/>
          </a:xfrm>
          <a:prstGeom prst="rect">
            <a:avLst/>
          </a:prstGeom>
        </p:spPr>
      </p:pic>
      <p:sp>
        <p:nvSpPr>
          <p:cNvPr id="580" name="Max Pooling"/>
          <p:cNvSpPr txBox="1"/>
          <p:nvPr/>
        </p:nvSpPr>
        <p:spPr>
          <a:xfrm>
            <a:off x="5704068" y="3543145"/>
            <a:ext cx="1163012" cy="3102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>
            <a:lvl1pPr>
              <a:defRPr sz="2200">
                <a:solidFill>
                  <a:srgbClr val="000000"/>
                </a:solidFill>
              </a:defRPr>
            </a:lvl1pPr>
          </a:lstStyle>
          <a:p>
            <a:r>
              <a:rPr sz="1547"/>
              <a:t>Max Pooling</a:t>
            </a:r>
          </a:p>
        </p:txBody>
      </p:sp>
      <p:sp>
        <p:nvSpPr>
          <p:cNvPr id="581" name="Box size: 2x2 Stride = 2"/>
          <p:cNvSpPr txBox="1"/>
          <p:nvPr/>
        </p:nvSpPr>
        <p:spPr>
          <a:xfrm>
            <a:off x="5807960" y="3993033"/>
            <a:ext cx="939361" cy="4399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/>
          <a:p>
            <a:pPr>
              <a:defRPr sz="1700"/>
            </a:pPr>
            <a:r>
              <a:rPr sz="1195"/>
              <a:t>Box size: 2x2</a:t>
            </a:r>
            <a:br>
              <a:rPr sz="1195"/>
            </a:br>
            <a:r>
              <a:rPr sz="1195"/>
              <a:t>Stride = 2</a:t>
            </a:r>
          </a:p>
        </p:txBody>
      </p:sp>
      <p:sp>
        <p:nvSpPr>
          <p:cNvPr id="582" name="Feature Map"/>
          <p:cNvSpPr txBox="1"/>
          <p:nvPr/>
        </p:nvSpPr>
        <p:spPr>
          <a:xfrm>
            <a:off x="3218508" y="5542970"/>
            <a:ext cx="955326" cy="2669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/>
          <a:p>
            <a:r>
              <a:rPr sz="1266"/>
              <a:t>Feature Map</a:t>
            </a:r>
          </a:p>
        </p:txBody>
      </p:sp>
      <p:sp>
        <p:nvSpPr>
          <p:cNvPr id="583" name="Pooled Feature Map"/>
          <p:cNvSpPr txBox="1"/>
          <p:nvPr/>
        </p:nvSpPr>
        <p:spPr>
          <a:xfrm>
            <a:off x="7023648" y="5542970"/>
            <a:ext cx="1472071" cy="2669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/>
          <a:p>
            <a:r>
              <a:rPr sz="1266"/>
              <a:t>Pooled Feature Map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Max Pooling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1525858">
              <a:defRPr sz="5280" spc="-105"/>
            </a:lvl1pPr>
          </a:lstStyle>
          <a:p>
            <a:r>
              <a:t>Max Pooling</a:t>
            </a:r>
          </a:p>
        </p:txBody>
      </p:sp>
      <p:graphicFrame>
        <p:nvGraphicFramePr>
          <p:cNvPr id="586" name="Table 3"/>
          <p:cNvGraphicFramePr/>
          <p:nvPr/>
        </p:nvGraphicFramePr>
        <p:xfrm>
          <a:off x="2807487" y="2872591"/>
          <a:ext cx="2332835" cy="2050125"/>
        </p:xfrm>
        <a:graphic>
          <a:graphicData uri="http://schemas.openxmlformats.org/drawingml/2006/table">
            <a:tbl>
              <a:tblPr/>
              <a:tblGrid>
                <a:gridCol w="4665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65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65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656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665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0025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0025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2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0025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>
                    <a:solidFill>
                      <a:srgbClr val="FF7E79">
                        <a:alpha val="5573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>
                    <a:solidFill>
                      <a:srgbClr val="FF7E79">
                        <a:alpha val="5573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2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0025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>
                    <a:solidFill>
                      <a:srgbClr val="FF7E79">
                        <a:alpha val="5573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4</a:t>
                      </a:r>
                    </a:p>
                  </a:txBody>
                  <a:tcPr marL="35719" marR="35719" marT="35719" marB="35719" anchor="ctr" horzOverflow="overflow">
                    <a:solidFill>
                      <a:srgbClr val="FF7E79">
                        <a:alpha val="5573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2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0025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2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587" name="Table 3-1"/>
          <p:cNvGraphicFramePr/>
          <p:nvPr/>
        </p:nvGraphicFramePr>
        <p:xfrm>
          <a:off x="7448120" y="3168317"/>
          <a:ext cx="1522206" cy="1458672"/>
        </p:xfrm>
        <a:graphic>
          <a:graphicData uri="http://schemas.openxmlformats.org/drawingml/2006/table">
            <a:tbl>
              <a:tblPr/>
              <a:tblGrid>
                <a:gridCol w="5074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74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74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6224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2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6224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4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6224"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588" name="Line Line" descr="Line Line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5306407" y="3780606"/>
            <a:ext cx="1892204" cy="234094"/>
          </a:xfrm>
          <a:prstGeom prst="rect">
            <a:avLst/>
          </a:prstGeom>
        </p:spPr>
      </p:pic>
      <p:sp>
        <p:nvSpPr>
          <p:cNvPr id="590" name="Max Pooling"/>
          <p:cNvSpPr txBox="1"/>
          <p:nvPr/>
        </p:nvSpPr>
        <p:spPr>
          <a:xfrm>
            <a:off x="5704068" y="3543145"/>
            <a:ext cx="1163012" cy="3102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>
            <a:lvl1pPr>
              <a:defRPr sz="2200">
                <a:solidFill>
                  <a:srgbClr val="000000"/>
                </a:solidFill>
              </a:defRPr>
            </a:lvl1pPr>
          </a:lstStyle>
          <a:p>
            <a:r>
              <a:rPr sz="1547"/>
              <a:t>Max Pooling</a:t>
            </a:r>
          </a:p>
        </p:txBody>
      </p:sp>
      <p:sp>
        <p:nvSpPr>
          <p:cNvPr id="591" name="Box size: 2x2 Stride = 2"/>
          <p:cNvSpPr txBox="1"/>
          <p:nvPr/>
        </p:nvSpPr>
        <p:spPr>
          <a:xfrm>
            <a:off x="5807960" y="3993033"/>
            <a:ext cx="939361" cy="4399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/>
          <a:p>
            <a:pPr>
              <a:defRPr sz="1700"/>
            </a:pPr>
            <a:r>
              <a:rPr sz="1195"/>
              <a:t>Box size: 2x2</a:t>
            </a:r>
            <a:br>
              <a:rPr sz="1195"/>
            </a:br>
            <a:r>
              <a:rPr sz="1195"/>
              <a:t>Stride = 2</a:t>
            </a:r>
          </a:p>
        </p:txBody>
      </p:sp>
      <p:sp>
        <p:nvSpPr>
          <p:cNvPr id="592" name="Feature Map"/>
          <p:cNvSpPr txBox="1"/>
          <p:nvPr/>
        </p:nvSpPr>
        <p:spPr>
          <a:xfrm>
            <a:off x="3218508" y="5542970"/>
            <a:ext cx="955326" cy="2669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/>
          <a:p>
            <a:r>
              <a:rPr sz="1266"/>
              <a:t>Feature Map</a:t>
            </a:r>
          </a:p>
        </p:txBody>
      </p:sp>
      <p:sp>
        <p:nvSpPr>
          <p:cNvPr id="593" name="Pooled Feature Map"/>
          <p:cNvSpPr txBox="1"/>
          <p:nvPr/>
        </p:nvSpPr>
        <p:spPr>
          <a:xfrm>
            <a:off x="7023648" y="5542970"/>
            <a:ext cx="1472071" cy="2669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/>
          <a:p>
            <a:r>
              <a:rPr sz="1266"/>
              <a:t>Pooled Feature Map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Max Pooling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1525858">
              <a:defRPr sz="5280" spc="-105"/>
            </a:lvl1pPr>
          </a:lstStyle>
          <a:p>
            <a:r>
              <a:t>Max Pooling</a:t>
            </a:r>
          </a:p>
        </p:txBody>
      </p:sp>
      <p:graphicFrame>
        <p:nvGraphicFramePr>
          <p:cNvPr id="596" name="Table 3"/>
          <p:cNvGraphicFramePr/>
          <p:nvPr/>
        </p:nvGraphicFramePr>
        <p:xfrm>
          <a:off x="2807487" y="2872591"/>
          <a:ext cx="2332835" cy="2050125"/>
        </p:xfrm>
        <a:graphic>
          <a:graphicData uri="http://schemas.openxmlformats.org/drawingml/2006/table">
            <a:tbl>
              <a:tblPr/>
              <a:tblGrid>
                <a:gridCol w="4665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65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65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656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665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0025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0025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2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0025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>
                    <a:solidFill>
                      <a:srgbClr val="FF7E79">
                        <a:alpha val="5573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2</a:t>
                      </a:r>
                    </a:p>
                  </a:txBody>
                  <a:tcPr marL="35719" marR="35719" marT="35719" marB="35719" anchor="ctr" horzOverflow="overflow">
                    <a:solidFill>
                      <a:srgbClr val="FF7E79">
                        <a:alpha val="5573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0025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4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2</a:t>
                      </a:r>
                    </a:p>
                  </a:txBody>
                  <a:tcPr marL="35719" marR="35719" marT="35719" marB="35719" anchor="ctr" horzOverflow="overflow">
                    <a:solidFill>
                      <a:srgbClr val="FF7E79">
                        <a:alpha val="5573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>
                    <a:solidFill>
                      <a:srgbClr val="FF7E79">
                        <a:alpha val="5573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0025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2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597" name="Table 3-1"/>
          <p:cNvGraphicFramePr/>
          <p:nvPr/>
        </p:nvGraphicFramePr>
        <p:xfrm>
          <a:off x="7448120" y="3168317"/>
          <a:ext cx="1522206" cy="1458672"/>
        </p:xfrm>
        <a:graphic>
          <a:graphicData uri="http://schemas.openxmlformats.org/drawingml/2006/table">
            <a:tbl>
              <a:tblPr/>
              <a:tblGrid>
                <a:gridCol w="5074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74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74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6224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2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6224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4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2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6224"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598" name="Line Line" descr="Line Line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5306407" y="3780606"/>
            <a:ext cx="1892204" cy="234094"/>
          </a:xfrm>
          <a:prstGeom prst="rect">
            <a:avLst/>
          </a:prstGeom>
        </p:spPr>
      </p:pic>
      <p:sp>
        <p:nvSpPr>
          <p:cNvPr id="600" name="Max Pooling"/>
          <p:cNvSpPr txBox="1"/>
          <p:nvPr/>
        </p:nvSpPr>
        <p:spPr>
          <a:xfrm>
            <a:off x="5704068" y="3543145"/>
            <a:ext cx="1163012" cy="3102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>
            <a:lvl1pPr>
              <a:defRPr sz="2200">
                <a:solidFill>
                  <a:srgbClr val="000000"/>
                </a:solidFill>
              </a:defRPr>
            </a:lvl1pPr>
          </a:lstStyle>
          <a:p>
            <a:r>
              <a:rPr sz="1547"/>
              <a:t>Max Pooling</a:t>
            </a:r>
          </a:p>
        </p:txBody>
      </p:sp>
      <p:sp>
        <p:nvSpPr>
          <p:cNvPr id="601" name="Box size: 2x2 Stride = 2"/>
          <p:cNvSpPr txBox="1"/>
          <p:nvPr/>
        </p:nvSpPr>
        <p:spPr>
          <a:xfrm>
            <a:off x="5807960" y="3993033"/>
            <a:ext cx="939361" cy="4399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/>
          <a:p>
            <a:pPr>
              <a:defRPr sz="1700"/>
            </a:pPr>
            <a:r>
              <a:rPr sz="1195"/>
              <a:t>Box size: 2x2</a:t>
            </a:r>
            <a:br>
              <a:rPr sz="1195"/>
            </a:br>
            <a:r>
              <a:rPr sz="1195"/>
              <a:t>Stride = 2</a:t>
            </a:r>
          </a:p>
        </p:txBody>
      </p:sp>
      <p:sp>
        <p:nvSpPr>
          <p:cNvPr id="602" name="Feature Map"/>
          <p:cNvSpPr txBox="1"/>
          <p:nvPr/>
        </p:nvSpPr>
        <p:spPr>
          <a:xfrm>
            <a:off x="3218508" y="5542970"/>
            <a:ext cx="955326" cy="2669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/>
          <a:p>
            <a:r>
              <a:rPr sz="1266"/>
              <a:t>Feature Map</a:t>
            </a:r>
          </a:p>
        </p:txBody>
      </p:sp>
      <p:sp>
        <p:nvSpPr>
          <p:cNvPr id="603" name="Pooled Feature Map"/>
          <p:cNvSpPr txBox="1"/>
          <p:nvPr/>
        </p:nvSpPr>
        <p:spPr>
          <a:xfrm>
            <a:off x="7023648" y="5542970"/>
            <a:ext cx="1472071" cy="2669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/>
          <a:p>
            <a:r>
              <a:rPr sz="1266"/>
              <a:t>Pooled Feature Map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Max Pooling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1525858">
              <a:defRPr sz="5280" spc="-105"/>
            </a:lvl1pPr>
          </a:lstStyle>
          <a:p>
            <a:r>
              <a:t>Max Pooling</a:t>
            </a:r>
          </a:p>
        </p:txBody>
      </p:sp>
      <p:graphicFrame>
        <p:nvGraphicFramePr>
          <p:cNvPr id="606" name="Table 3"/>
          <p:cNvGraphicFramePr/>
          <p:nvPr/>
        </p:nvGraphicFramePr>
        <p:xfrm>
          <a:off x="2807487" y="2872591"/>
          <a:ext cx="2332835" cy="2050125"/>
        </p:xfrm>
        <a:graphic>
          <a:graphicData uri="http://schemas.openxmlformats.org/drawingml/2006/table">
            <a:tbl>
              <a:tblPr/>
              <a:tblGrid>
                <a:gridCol w="4665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65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65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656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665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0025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0025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2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0025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2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>
                    <a:solidFill>
                      <a:srgbClr val="FF7E79">
                        <a:alpha val="55737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0025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4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2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>
                    <a:solidFill>
                      <a:srgbClr val="FF7E79">
                        <a:alpha val="55737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0025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2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607" name="Table 3-1"/>
          <p:cNvGraphicFramePr/>
          <p:nvPr/>
        </p:nvGraphicFramePr>
        <p:xfrm>
          <a:off x="7448120" y="3168317"/>
          <a:ext cx="1522206" cy="1458672"/>
        </p:xfrm>
        <a:graphic>
          <a:graphicData uri="http://schemas.openxmlformats.org/drawingml/2006/table">
            <a:tbl>
              <a:tblPr/>
              <a:tblGrid>
                <a:gridCol w="5074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74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74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6224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2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6224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4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2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6224"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608" name="Line Line" descr="Line Line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5306407" y="3780606"/>
            <a:ext cx="1892204" cy="234094"/>
          </a:xfrm>
          <a:prstGeom prst="rect">
            <a:avLst/>
          </a:prstGeom>
        </p:spPr>
      </p:pic>
      <p:sp>
        <p:nvSpPr>
          <p:cNvPr id="610" name="Max Pooling"/>
          <p:cNvSpPr txBox="1"/>
          <p:nvPr/>
        </p:nvSpPr>
        <p:spPr>
          <a:xfrm>
            <a:off x="5704068" y="3543145"/>
            <a:ext cx="1163012" cy="3102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>
            <a:lvl1pPr>
              <a:defRPr sz="2200">
                <a:solidFill>
                  <a:srgbClr val="000000"/>
                </a:solidFill>
              </a:defRPr>
            </a:lvl1pPr>
          </a:lstStyle>
          <a:p>
            <a:r>
              <a:rPr sz="1547"/>
              <a:t>Max Pooling</a:t>
            </a:r>
          </a:p>
        </p:txBody>
      </p:sp>
      <p:sp>
        <p:nvSpPr>
          <p:cNvPr id="611" name="Box size: 2x2 Stride = 2"/>
          <p:cNvSpPr txBox="1"/>
          <p:nvPr/>
        </p:nvSpPr>
        <p:spPr>
          <a:xfrm>
            <a:off x="5807960" y="3993033"/>
            <a:ext cx="939361" cy="4399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/>
          <a:p>
            <a:pPr>
              <a:defRPr sz="1700"/>
            </a:pPr>
            <a:r>
              <a:rPr sz="1195"/>
              <a:t>Box size: 2x2</a:t>
            </a:r>
            <a:br>
              <a:rPr sz="1195"/>
            </a:br>
            <a:r>
              <a:rPr sz="1195"/>
              <a:t>Stride = 2</a:t>
            </a:r>
          </a:p>
        </p:txBody>
      </p:sp>
      <p:sp>
        <p:nvSpPr>
          <p:cNvPr id="612" name="Feature Map"/>
          <p:cNvSpPr txBox="1"/>
          <p:nvPr/>
        </p:nvSpPr>
        <p:spPr>
          <a:xfrm>
            <a:off x="3218508" y="5542970"/>
            <a:ext cx="955326" cy="2669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/>
          <a:p>
            <a:r>
              <a:rPr sz="1266"/>
              <a:t>Feature Map</a:t>
            </a:r>
          </a:p>
        </p:txBody>
      </p:sp>
      <p:sp>
        <p:nvSpPr>
          <p:cNvPr id="613" name="Pooled Feature Map"/>
          <p:cNvSpPr txBox="1"/>
          <p:nvPr/>
        </p:nvSpPr>
        <p:spPr>
          <a:xfrm>
            <a:off x="7023648" y="5542970"/>
            <a:ext cx="1472071" cy="2669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/>
          <a:p>
            <a:r>
              <a:rPr sz="1266"/>
              <a:t>Pooled Feature Map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Max Pooling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1525858">
              <a:defRPr sz="5280" spc="-105"/>
            </a:lvl1pPr>
          </a:lstStyle>
          <a:p>
            <a:r>
              <a:t>Max Pooling</a:t>
            </a:r>
          </a:p>
        </p:txBody>
      </p:sp>
      <p:graphicFrame>
        <p:nvGraphicFramePr>
          <p:cNvPr id="616" name="Table 3"/>
          <p:cNvGraphicFramePr/>
          <p:nvPr/>
        </p:nvGraphicFramePr>
        <p:xfrm>
          <a:off x="2807487" y="2872591"/>
          <a:ext cx="2332835" cy="2050125"/>
        </p:xfrm>
        <a:graphic>
          <a:graphicData uri="http://schemas.openxmlformats.org/drawingml/2006/table">
            <a:tbl>
              <a:tblPr/>
              <a:tblGrid>
                <a:gridCol w="4665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65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65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656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665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0025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0025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2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0025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2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0025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4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2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0025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>
                    <a:solidFill>
                      <a:srgbClr val="FF7E79">
                        <a:alpha val="5573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>
                    <a:solidFill>
                      <a:srgbClr val="FF7E79">
                        <a:alpha val="5573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2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617" name="Table 3-1"/>
          <p:cNvGraphicFramePr/>
          <p:nvPr/>
        </p:nvGraphicFramePr>
        <p:xfrm>
          <a:off x="7448120" y="3168317"/>
          <a:ext cx="1522206" cy="1458672"/>
        </p:xfrm>
        <a:graphic>
          <a:graphicData uri="http://schemas.openxmlformats.org/drawingml/2006/table">
            <a:tbl>
              <a:tblPr/>
              <a:tblGrid>
                <a:gridCol w="5074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74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74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6224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2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6224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4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2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6224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618" name="Line Line" descr="Line Line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5306407" y="3780606"/>
            <a:ext cx="1892204" cy="234094"/>
          </a:xfrm>
          <a:prstGeom prst="rect">
            <a:avLst/>
          </a:prstGeom>
        </p:spPr>
      </p:pic>
      <p:sp>
        <p:nvSpPr>
          <p:cNvPr id="620" name="Max Pooling"/>
          <p:cNvSpPr txBox="1"/>
          <p:nvPr/>
        </p:nvSpPr>
        <p:spPr>
          <a:xfrm>
            <a:off x="5704068" y="3543145"/>
            <a:ext cx="1163012" cy="3102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>
            <a:lvl1pPr>
              <a:defRPr sz="2200">
                <a:solidFill>
                  <a:srgbClr val="000000"/>
                </a:solidFill>
              </a:defRPr>
            </a:lvl1pPr>
          </a:lstStyle>
          <a:p>
            <a:r>
              <a:rPr sz="1547"/>
              <a:t>Max Pooling</a:t>
            </a:r>
          </a:p>
        </p:txBody>
      </p:sp>
      <p:sp>
        <p:nvSpPr>
          <p:cNvPr id="621" name="Box size: 2x2 Stride = 2"/>
          <p:cNvSpPr txBox="1"/>
          <p:nvPr/>
        </p:nvSpPr>
        <p:spPr>
          <a:xfrm>
            <a:off x="5807960" y="3993033"/>
            <a:ext cx="939361" cy="4399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/>
          <a:p>
            <a:pPr>
              <a:defRPr sz="1700"/>
            </a:pPr>
            <a:r>
              <a:rPr sz="1195"/>
              <a:t>Box size: 2x2</a:t>
            </a:r>
            <a:br>
              <a:rPr sz="1195"/>
            </a:br>
            <a:r>
              <a:rPr sz="1195"/>
              <a:t>Stride = 2</a:t>
            </a:r>
          </a:p>
        </p:txBody>
      </p:sp>
      <p:sp>
        <p:nvSpPr>
          <p:cNvPr id="622" name="Feature Map"/>
          <p:cNvSpPr txBox="1"/>
          <p:nvPr/>
        </p:nvSpPr>
        <p:spPr>
          <a:xfrm>
            <a:off x="3218508" y="5542970"/>
            <a:ext cx="955326" cy="2669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/>
          <a:p>
            <a:r>
              <a:rPr sz="1266"/>
              <a:t>Feature Map</a:t>
            </a:r>
          </a:p>
        </p:txBody>
      </p:sp>
      <p:sp>
        <p:nvSpPr>
          <p:cNvPr id="623" name="Pooled Feature Map"/>
          <p:cNvSpPr txBox="1"/>
          <p:nvPr/>
        </p:nvSpPr>
        <p:spPr>
          <a:xfrm>
            <a:off x="7023648" y="5542970"/>
            <a:ext cx="1472071" cy="2669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/>
          <a:p>
            <a:r>
              <a:rPr sz="1266"/>
              <a:t>Pooled Feature Map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Max Pooling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1525858">
              <a:defRPr sz="5280" spc="-105"/>
            </a:lvl1pPr>
          </a:lstStyle>
          <a:p>
            <a:r>
              <a:t>Max Pooling</a:t>
            </a:r>
          </a:p>
        </p:txBody>
      </p:sp>
      <p:graphicFrame>
        <p:nvGraphicFramePr>
          <p:cNvPr id="626" name="Table 3"/>
          <p:cNvGraphicFramePr/>
          <p:nvPr/>
        </p:nvGraphicFramePr>
        <p:xfrm>
          <a:off x="2807487" y="2872591"/>
          <a:ext cx="2332835" cy="2050125"/>
        </p:xfrm>
        <a:graphic>
          <a:graphicData uri="http://schemas.openxmlformats.org/drawingml/2006/table">
            <a:tbl>
              <a:tblPr/>
              <a:tblGrid>
                <a:gridCol w="4665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65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65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656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665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0025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0025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2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0025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2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0025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4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2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0025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>
                    <a:solidFill>
                      <a:srgbClr val="FF7E79">
                        <a:alpha val="5573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2</a:t>
                      </a:r>
                    </a:p>
                  </a:txBody>
                  <a:tcPr marL="35719" marR="35719" marT="35719" marB="35719" anchor="ctr" horzOverflow="overflow">
                    <a:solidFill>
                      <a:srgbClr val="FF7E79">
                        <a:alpha val="5573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627" name="Table 3-1"/>
          <p:cNvGraphicFramePr/>
          <p:nvPr/>
        </p:nvGraphicFramePr>
        <p:xfrm>
          <a:off x="7448120" y="3168317"/>
          <a:ext cx="1522206" cy="1458672"/>
        </p:xfrm>
        <a:graphic>
          <a:graphicData uri="http://schemas.openxmlformats.org/drawingml/2006/table">
            <a:tbl>
              <a:tblPr/>
              <a:tblGrid>
                <a:gridCol w="5074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74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74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6224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2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6224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4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2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6224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2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2200"/>
                      </a:pPr>
                      <a:endParaRPr sz="1500"/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628" name="Line Line" descr="Line Line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5306407" y="3780606"/>
            <a:ext cx="1892204" cy="234094"/>
          </a:xfrm>
          <a:prstGeom prst="rect">
            <a:avLst/>
          </a:prstGeom>
        </p:spPr>
      </p:pic>
      <p:sp>
        <p:nvSpPr>
          <p:cNvPr id="630" name="Max Pooling"/>
          <p:cNvSpPr txBox="1"/>
          <p:nvPr/>
        </p:nvSpPr>
        <p:spPr>
          <a:xfrm>
            <a:off x="5704068" y="3543145"/>
            <a:ext cx="1163012" cy="3102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>
            <a:lvl1pPr>
              <a:defRPr sz="2200">
                <a:solidFill>
                  <a:srgbClr val="000000"/>
                </a:solidFill>
              </a:defRPr>
            </a:lvl1pPr>
          </a:lstStyle>
          <a:p>
            <a:r>
              <a:rPr sz="1547"/>
              <a:t>Max Pooling</a:t>
            </a:r>
          </a:p>
        </p:txBody>
      </p:sp>
      <p:sp>
        <p:nvSpPr>
          <p:cNvPr id="631" name="Box size: 2x2 Stride = 2"/>
          <p:cNvSpPr txBox="1"/>
          <p:nvPr/>
        </p:nvSpPr>
        <p:spPr>
          <a:xfrm>
            <a:off x="5807960" y="3993033"/>
            <a:ext cx="939361" cy="4399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/>
          <a:p>
            <a:pPr>
              <a:defRPr sz="1700"/>
            </a:pPr>
            <a:r>
              <a:rPr sz="1195"/>
              <a:t>Box size: 2x2</a:t>
            </a:r>
            <a:br>
              <a:rPr sz="1195"/>
            </a:br>
            <a:r>
              <a:rPr sz="1195"/>
              <a:t>Stride = 2</a:t>
            </a:r>
          </a:p>
        </p:txBody>
      </p:sp>
      <p:sp>
        <p:nvSpPr>
          <p:cNvPr id="632" name="Feature Map"/>
          <p:cNvSpPr txBox="1"/>
          <p:nvPr/>
        </p:nvSpPr>
        <p:spPr>
          <a:xfrm>
            <a:off x="3218508" y="5542970"/>
            <a:ext cx="955326" cy="2669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/>
          <a:p>
            <a:r>
              <a:rPr sz="1266"/>
              <a:t>Feature Map</a:t>
            </a:r>
          </a:p>
        </p:txBody>
      </p:sp>
      <p:sp>
        <p:nvSpPr>
          <p:cNvPr id="633" name="Pooled Feature Map"/>
          <p:cNvSpPr txBox="1"/>
          <p:nvPr/>
        </p:nvSpPr>
        <p:spPr>
          <a:xfrm>
            <a:off x="7023648" y="5542970"/>
            <a:ext cx="1472071" cy="2669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/>
          <a:p>
            <a:r>
              <a:rPr sz="1266"/>
              <a:t>Pooled Feature Map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Max Pooling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1525858">
              <a:defRPr sz="5280" spc="-105"/>
            </a:lvl1pPr>
          </a:lstStyle>
          <a:p>
            <a:r>
              <a:t>Max Pooling</a:t>
            </a:r>
          </a:p>
        </p:txBody>
      </p:sp>
      <p:graphicFrame>
        <p:nvGraphicFramePr>
          <p:cNvPr id="636" name="Table 3"/>
          <p:cNvGraphicFramePr/>
          <p:nvPr/>
        </p:nvGraphicFramePr>
        <p:xfrm>
          <a:off x="2807487" y="2872591"/>
          <a:ext cx="2332835" cy="2050125"/>
        </p:xfrm>
        <a:graphic>
          <a:graphicData uri="http://schemas.openxmlformats.org/drawingml/2006/table">
            <a:tbl>
              <a:tblPr/>
              <a:tblGrid>
                <a:gridCol w="4665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65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65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656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665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0025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0025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2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0025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2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0025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4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2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0025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2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>
                    <a:solidFill>
                      <a:srgbClr val="FF7E79">
                        <a:alpha val="55737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637" name="Table 3-1"/>
          <p:cNvGraphicFramePr/>
          <p:nvPr/>
        </p:nvGraphicFramePr>
        <p:xfrm>
          <a:off x="7448120" y="3168317"/>
          <a:ext cx="1522206" cy="1458672"/>
        </p:xfrm>
        <a:graphic>
          <a:graphicData uri="http://schemas.openxmlformats.org/drawingml/2006/table">
            <a:tbl>
              <a:tblPr/>
              <a:tblGrid>
                <a:gridCol w="5074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74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74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6224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2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6224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4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2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6224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2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638" name="Line Line" descr="Line Line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5306407" y="3780606"/>
            <a:ext cx="1892204" cy="234094"/>
          </a:xfrm>
          <a:prstGeom prst="rect">
            <a:avLst/>
          </a:prstGeom>
        </p:spPr>
      </p:pic>
      <p:sp>
        <p:nvSpPr>
          <p:cNvPr id="640" name="Max Pooling"/>
          <p:cNvSpPr txBox="1"/>
          <p:nvPr/>
        </p:nvSpPr>
        <p:spPr>
          <a:xfrm>
            <a:off x="5704068" y="3543145"/>
            <a:ext cx="1163012" cy="3102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>
            <a:lvl1pPr>
              <a:defRPr sz="2200">
                <a:solidFill>
                  <a:srgbClr val="000000"/>
                </a:solidFill>
              </a:defRPr>
            </a:lvl1pPr>
          </a:lstStyle>
          <a:p>
            <a:r>
              <a:rPr sz="1547"/>
              <a:t>Max Pooling</a:t>
            </a:r>
          </a:p>
        </p:txBody>
      </p:sp>
      <p:sp>
        <p:nvSpPr>
          <p:cNvPr id="641" name="Box size: 2x2 Stride = 2"/>
          <p:cNvSpPr txBox="1"/>
          <p:nvPr/>
        </p:nvSpPr>
        <p:spPr>
          <a:xfrm>
            <a:off x="5807960" y="3993033"/>
            <a:ext cx="939361" cy="4399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/>
          <a:p>
            <a:pPr>
              <a:defRPr sz="1700"/>
            </a:pPr>
            <a:r>
              <a:rPr sz="1195"/>
              <a:t>Box size: 2x2</a:t>
            </a:r>
            <a:br>
              <a:rPr sz="1195"/>
            </a:br>
            <a:r>
              <a:rPr sz="1195"/>
              <a:t>Stride = 2</a:t>
            </a:r>
          </a:p>
        </p:txBody>
      </p:sp>
      <p:sp>
        <p:nvSpPr>
          <p:cNvPr id="642" name="Feature Map"/>
          <p:cNvSpPr txBox="1"/>
          <p:nvPr/>
        </p:nvSpPr>
        <p:spPr>
          <a:xfrm>
            <a:off x="3218508" y="5542970"/>
            <a:ext cx="955326" cy="2669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/>
          <a:p>
            <a:r>
              <a:rPr sz="1266"/>
              <a:t>Feature Map</a:t>
            </a:r>
          </a:p>
        </p:txBody>
      </p:sp>
      <p:sp>
        <p:nvSpPr>
          <p:cNvPr id="643" name="Pooled Feature Map"/>
          <p:cNvSpPr txBox="1"/>
          <p:nvPr/>
        </p:nvSpPr>
        <p:spPr>
          <a:xfrm>
            <a:off x="7023648" y="5542970"/>
            <a:ext cx="1472071" cy="2669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/>
          <a:p>
            <a:r>
              <a:rPr sz="1266"/>
              <a:t>Pooled Feature Map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Flattening &amp; Fully connected layer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Flattening &amp; Fully connected layers</a:t>
            </a:r>
          </a:p>
        </p:txBody>
      </p:sp>
    </p:spTree>
  </p:cSld>
  <p:clrMapOvr>
    <a:masterClrMapping/>
  </p:clrMapOvr>
  <p:transition spd="med"/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After one or more convolution and pooling layers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After one or more convolution and pooling layers</a:t>
            </a:r>
          </a:p>
          <a:p>
            <a:r>
              <a:t>Send the result into a regular ANN</a:t>
            </a:r>
          </a:p>
          <a:p>
            <a:pPr lvl="1"/>
            <a:r>
              <a:t>Combine features into a wider variety of attributes</a:t>
            </a:r>
          </a:p>
          <a:p>
            <a:pPr lvl="1"/>
            <a:r>
              <a:t>Perform the classification step</a:t>
            </a:r>
          </a:p>
        </p:txBody>
      </p:sp>
      <p:sp>
        <p:nvSpPr>
          <p:cNvPr id="648" name="Image to Classification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1525858">
              <a:defRPr sz="5280" spc="-105"/>
            </a:lvl1pPr>
          </a:lstStyle>
          <a:p>
            <a:r>
              <a:t>Image to Classification </a:t>
            </a:r>
          </a:p>
        </p:txBody>
      </p:sp>
    </p:spTree>
  </p:cSld>
  <p:clrMapOvr>
    <a:masterClrMapping/>
  </p:clrMapOvr>
  <p:transition spd="med"/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Flattening simply means to turn the input grid into a vector that can be input into a regular ANN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Flattening simply means to turn the input grid into a vector that can be input into a regular ANN</a:t>
            </a:r>
          </a:p>
        </p:txBody>
      </p:sp>
      <p:sp>
        <p:nvSpPr>
          <p:cNvPr id="651" name="Flattening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1525858">
              <a:defRPr sz="5280" spc="-105"/>
            </a:lvl1pPr>
          </a:lstStyle>
          <a:p>
            <a:r>
              <a:t>Flattening</a:t>
            </a:r>
          </a:p>
        </p:txBody>
      </p:sp>
      <p:pic>
        <p:nvPicPr>
          <p:cNvPr id="652" name="pasted-image.tiff" descr="pasted-image.tif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5549" y="1990279"/>
            <a:ext cx="5140902" cy="2457660"/>
          </a:xfrm>
          <a:prstGeom prst="rect">
            <a:avLst/>
          </a:prstGeom>
          <a:ln w="12700">
            <a:miter lim="400000"/>
          </a:ln>
        </p:spPr>
      </p:pic>
      <p:pic>
        <p:nvPicPr>
          <p:cNvPr id="653" name="pasted-image.tiff" descr="pasted-image.tif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4222" y="4602552"/>
            <a:ext cx="5183556" cy="228052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Fully connected layer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1525858">
              <a:defRPr sz="5280" spc="-105"/>
            </a:lvl1pPr>
          </a:lstStyle>
          <a:p>
            <a:r>
              <a:t>Fully connected layer</a:t>
            </a:r>
          </a:p>
        </p:txBody>
      </p:sp>
      <p:pic>
        <p:nvPicPr>
          <p:cNvPr id="656" name="pasted-image.tiff" descr="pasted-image.tif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2085" y="2220707"/>
            <a:ext cx="6447830" cy="2933540"/>
          </a:xfrm>
          <a:prstGeom prst="rect">
            <a:avLst/>
          </a:prstGeom>
          <a:ln w="12700">
            <a:miter lim="400000"/>
          </a:ln>
        </p:spPr>
      </p:pic>
      <p:sp>
        <p:nvSpPr>
          <p:cNvPr id="657" name="The output layer will have a neuron for every possible class"/>
          <p:cNvSpPr txBox="1"/>
          <p:nvPr/>
        </p:nvSpPr>
        <p:spPr>
          <a:xfrm>
            <a:off x="6283984" y="6229689"/>
            <a:ext cx="3681431" cy="4617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5719" tIns="35719" rIns="35719" bIns="35719" anchor="ctr">
            <a:spAutoFit/>
          </a:bodyPr>
          <a:lstStyle/>
          <a:p>
            <a:r>
              <a:rPr sz="1266"/>
              <a:t>The output layer will have a neuron for every possible class </a:t>
            </a:r>
          </a:p>
        </p:txBody>
      </p:sp>
      <p:pic>
        <p:nvPicPr>
          <p:cNvPr id="658" name="Line Line" descr="Line Line"/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7606087" y="5365456"/>
            <a:ext cx="656513" cy="234094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Summary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1525858">
              <a:defRPr sz="5280" spc="-105"/>
            </a:lvl1pPr>
          </a:lstStyle>
          <a:p>
            <a:r>
              <a:t>Summary</a:t>
            </a:r>
          </a:p>
        </p:txBody>
      </p:sp>
      <p:pic>
        <p:nvPicPr>
          <p:cNvPr id="662" name="pasted-image.tiff" descr="pasted-image.tif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9875" y="2415263"/>
            <a:ext cx="6772251" cy="30655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Large visual database designed for object recognition research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>
            <a:normAutofit fontScale="55000" lnSpcReduction="20000"/>
          </a:bodyPr>
          <a:lstStyle/>
          <a:p>
            <a:pPr marL="262523" indent="-262523" defTabSz="1194743">
              <a:spcBef>
                <a:spcPts val="2180"/>
              </a:spcBef>
              <a:defRPr sz="2940"/>
            </a:pPr>
            <a:r>
              <a:rPr dirty="0"/>
              <a:t>Large visual database designed for object recognition research</a:t>
            </a:r>
          </a:p>
          <a:p>
            <a:pPr marL="262523" indent="-262523" defTabSz="1194743">
              <a:spcBef>
                <a:spcPts val="2180"/>
              </a:spcBef>
              <a:defRPr sz="2940"/>
            </a:pPr>
            <a:r>
              <a:rPr dirty="0"/>
              <a:t>~14 million images </a:t>
            </a:r>
          </a:p>
          <a:p>
            <a:pPr marL="262523" indent="-262523" defTabSz="1194743">
              <a:spcBef>
                <a:spcPts val="2180"/>
              </a:spcBef>
              <a:defRPr sz="2940"/>
            </a:pPr>
            <a:r>
              <a:rPr dirty="0"/>
              <a:t>Hand-annotated (Mechanical Turk) into 20,000+ categories</a:t>
            </a:r>
          </a:p>
          <a:p>
            <a:pPr marL="262523" indent="-262523" defTabSz="1194743">
              <a:spcBef>
                <a:spcPts val="2180"/>
              </a:spcBef>
              <a:defRPr sz="2940"/>
            </a:pPr>
            <a:r>
              <a:rPr dirty="0"/>
              <a:t>Subset of the data is used in the ImageNet Large Scale Visualization Recognition Challenge (ILSVRC)</a:t>
            </a:r>
          </a:p>
          <a:p>
            <a:pPr marL="700063" lvl="1" indent="-262523" defTabSz="1194743">
              <a:spcBef>
                <a:spcPts val="2180"/>
              </a:spcBef>
              <a:defRPr sz="2940"/>
            </a:pPr>
            <a:r>
              <a:rPr lang="en-US" dirty="0"/>
              <a:t>Help end AI winter </a:t>
            </a:r>
          </a:p>
          <a:p>
            <a:pPr marL="700063" lvl="1" indent="-262523" defTabSz="1194743">
              <a:spcBef>
                <a:spcPts val="2180"/>
              </a:spcBef>
              <a:defRPr sz="2940"/>
            </a:pPr>
            <a:r>
              <a:rPr dirty="0"/>
              <a:t>In 2012 </a:t>
            </a:r>
            <a:r>
              <a:rPr dirty="0" err="1"/>
              <a:t>AlexNet</a:t>
            </a:r>
            <a:r>
              <a:rPr dirty="0"/>
              <a:t> achieved a top-5 error rate more than 10.8 percentage points lower than the runner up</a:t>
            </a:r>
          </a:p>
          <a:p>
            <a:pPr marL="700063" lvl="1" indent="-262523" defTabSz="1194743">
              <a:spcBef>
                <a:spcPts val="2180"/>
              </a:spcBef>
              <a:defRPr sz="2940"/>
            </a:pPr>
            <a:r>
              <a:rPr dirty="0"/>
              <a:t>“Suddenly people started to pay attention, not just within the AI community but across the industry as a whole” </a:t>
            </a:r>
            <a:br>
              <a:rPr dirty="0"/>
            </a:br>
            <a:r>
              <a:rPr dirty="0"/>
              <a:t>(from </a:t>
            </a:r>
            <a:r>
              <a:rPr i="1" dirty="0"/>
              <a:t>The Economist</a:t>
            </a:r>
            <a:r>
              <a:rPr dirty="0"/>
              <a:t>)</a:t>
            </a:r>
          </a:p>
        </p:txBody>
      </p:sp>
      <p:sp>
        <p:nvSpPr>
          <p:cNvPr id="670" name="ImageNe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1525858">
              <a:defRPr sz="5280" spc="-105"/>
            </a:lvl1pPr>
          </a:lstStyle>
          <a:p>
            <a:r>
              <a:t>ImageNet</a:t>
            </a:r>
          </a:p>
        </p:txBody>
      </p:sp>
    </p:spTree>
  </p:cSld>
  <p:clrMapOvr>
    <a:masterClrMapping/>
  </p:clrMapOvr>
  <p:transition spd="med"/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Subset of ImageNet Data…"/>
          <p:cNvSpPr txBox="1">
            <a:spLocks noGrp="1"/>
          </p:cNvSpPr>
          <p:nvPr>
            <p:ph type="body" sz="half" idx="1"/>
          </p:nvPr>
        </p:nvSpPr>
        <p:spPr>
          <a:xfrm>
            <a:off x="554280" y="2645614"/>
            <a:ext cx="8161734" cy="2093470"/>
          </a:xfrm>
          <a:prstGeom prst="rect">
            <a:avLst/>
          </a:prstGeom>
        </p:spPr>
        <p:txBody>
          <a:bodyPr/>
          <a:lstStyle/>
          <a:p>
            <a:r>
              <a:rPr dirty="0"/>
              <a:t>Subset of ImageNet Data</a:t>
            </a:r>
          </a:p>
          <a:p>
            <a:r>
              <a:rPr dirty="0"/>
              <a:t>1.2 million training images</a:t>
            </a:r>
          </a:p>
          <a:p>
            <a:r>
              <a:rPr dirty="0"/>
              <a:t>1000 classes </a:t>
            </a:r>
          </a:p>
        </p:txBody>
      </p:sp>
      <p:sp>
        <p:nvSpPr>
          <p:cNvPr id="678" name="ImageNet Large-Scale Visual Recognition Challeng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1127054">
              <a:defRPr sz="3900" spc="-78"/>
            </a:lvl1pPr>
          </a:lstStyle>
          <a:p>
            <a:r>
              <a:t>ImageNet Large-Scale Visual Recognition Challenge</a:t>
            </a:r>
          </a:p>
        </p:txBody>
      </p:sp>
      <p:pic>
        <p:nvPicPr>
          <p:cNvPr id="679" name="pasted-image.tiff" descr="pasted-image.tif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2372" y="1335761"/>
            <a:ext cx="4097109" cy="5009648"/>
          </a:xfrm>
          <a:prstGeom prst="rect">
            <a:avLst/>
          </a:prstGeom>
          <a:ln w="12700">
            <a:miter lim="400000"/>
          </a:ln>
        </p:spPr>
      </p:pic>
      <p:sp>
        <p:nvSpPr>
          <p:cNvPr id="680" name="AlexNet"/>
          <p:cNvSpPr txBox="1"/>
          <p:nvPr/>
        </p:nvSpPr>
        <p:spPr>
          <a:xfrm>
            <a:off x="4635147" y="4990236"/>
            <a:ext cx="651718" cy="2669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r>
              <a:rPr sz="1266"/>
              <a:t>AlexNet</a:t>
            </a:r>
          </a:p>
        </p:txBody>
      </p:sp>
      <p:pic>
        <p:nvPicPr>
          <p:cNvPr id="681" name="Line Line" descr="Line Line"/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 rot="20836540">
            <a:off x="5681580" y="4779068"/>
            <a:ext cx="1810258" cy="234094"/>
          </a:xfrm>
          <a:prstGeom prst="rect">
            <a:avLst/>
          </a:prstGeom>
        </p:spPr>
      </p:pic>
      <p:pic>
        <p:nvPicPr>
          <p:cNvPr id="683" name="Line Line" descr="Line Line"/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 rot="14824958">
            <a:off x="9113586" y="5795550"/>
            <a:ext cx="690581" cy="234094"/>
          </a:xfrm>
          <a:prstGeom prst="rect">
            <a:avLst/>
          </a:prstGeom>
        </p:spPr>
      </p:pic>
      <p:sp>
        <p:nvSpPr>
          <p:cNvPr id="685" name="ResNet"/>
          <p:cNvSpPr txBox="1"/>
          <p:nvPr/>
        </p:nvSpPr>
        <p:spPr>
          <a:xfrm>
            <a:off x="9309643" y="6311821"/>
            <a:ext cx="575607" cy="2669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r>
              <a:rPr sz="1266"/>
              <a:t>ResNet</a:t>
            </a:r>
          </a:p>
        </p:txBody>
      </p:sp>
      <p:sp>
        <p:nvSpPr>
          <p:cNvPr id="686" name="Graph from ImageNet Wikipedia page"/>
          <p:cNvSpPr txBox="1"/>
          <p:nvPr/>
        </p:nvSpPr>
        <p:spPr>
          <a:xfrm>
            <a:off x="1752570" y="6532388"/>
            <a:ext cx="2148025" cy="2235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>
            <a:lvl1pPr>
              <a:defRPr sz="1400"/>
            </a:lvl1pPr>
          </a:lstStyle>
          <a:p>
            <a:r>
              <a:rPr sz="984"/>
              <a:t>Graph from ImageNet Wikipedia page</a:t>
            </a:r>
          </a:p>
        </p:txBody>
      </p:sp>
      <p:sp>
        <p:nvSpPr>
          <p:cNvPr id="687" name="8 layers"/>
          <p:cNvSpPr txBox="1"/>
          <p:nvPr/>
        </p:nvSpPr>
        <p:spPr>
          <a:xfrm>
            <a:off x="4771960" y="5299184"/>
            <a:ext cx="479298" cy="2235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>
            <a:lvl1pPr>
              <a:defRPr sz="1400"/>
            </a:lvl1pPr>
          </a:lstStyle>
          <a:p>
            <a:r>
              <a:rPr sz="984"/>
              <a:t>8 layers</a:t>
            </a:r>
          </a:p>
        </p:txBody>
      </p:sp>
      <p:sp>
        <p:nvSpPr>
          <p:cNvPr id="688" name="152 layers"/>
          <p:cNvSpPr txBox="1"/>
          <p:nvPr/>
        </p:nvSpPr>
        <p:spPr>
          <a:xfrm>
            <a:off x="9426658" y="6558833"/>
            <a:ext cx="607539" cy="2235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>
            <a:lvl1pPr>
              <a:defRPr sz="1400"/>
            </a:lvl1pPr>
          </a:lstStyle>
          <a:p>
            <a:r>
              <a:rPr sz="984"/>
              <a:t>152 layers</a:t>
            </a:r>
          </a:p>
        </p:txBody>
      </p:sp>
    </p:spTree>
  </p:cSld>
  <p:clrMapOvr>
    <a:masterClrMapping/>
  </p:clrMapOvr>
  <p:transition spd="med"/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Modern CNN Architecture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Modern CNN Architectures </a:t>
            </a:r>
          </a:p>
        </p:txBody>
      </p:sp>
    </p:spTree>
  </p:cSld>
  <p:clrMapOvr>
    <a:masterClrMapping/>
  </p:clrMapOvr>
  <p:transition spd="med"/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We should think of the word “architecture” fairly literally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We should think of the word “architecture” fairly literally</a:t>
            </a:r>
          </a:p>
          <a:p>
            <a:r>
              <a:t>It takes time, education, and practice to become an “architect”</a:t>
            </a:r>
          </a:p>
          <a:p>
            <a:pPr lvl="1"/>
            <a:r>
              <a:t>True for architects that design buildings</a:t>
            </a:r>
          </a:p>
          <a:p>
            <a:pPr lvl="1"/>
            <a:r>
              <a:t>True for architects that design CNNs</a:t>
            </a:r>
          </a:p>
          <a:p>
            <a:r>
              <a:t>We can learn from what others have done and other architectures that have been successful</a:t>
            </a:r>
          </a:p>
        </p:txBody>
      </p:sp>
      <p:sp>
        <p:nvSpPr>
          <p:cNvPr id="667" name="Various CNN Architecture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1525858">
              <a:defRPr sz="5280" spc="-105"/>
            </a:lvl1pPr>
          </a:lstStyle>
          <a:p>
            <a:r>
              <a:t>Various CNN Architectures </a:t>
            </a:r>
          </a:p>
        </p:txBody>
      </p:sp>
    </p:spTree>
  </p:cSld>
  <p:clrMapOvr>
    <a:masterClrMapping/>
  </p:clrMapOvr>
  <p:transition spd="med"/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ReLU (and its relatives)…"/>
          <p:cNvSpPr txBox="1">
            <a:spLocks noGrp="1"/>
          </p:cNvSpPr>
          <p:nvPr>
            <p:ph type="body" idx="1"/>
          </p:nvPr>
        </p:nvSpPr>
        <p:spPr>
          <a:xfrm>
            <a:off x="1047750" y="1952625"/>
            <a:ext cx="9848850" cy="3218688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225019" indent="-225019" defTabSz="1024066">
              <a:spcBef>
                <a:spcPts val="500"/>
              </a:spcBef>
              <a:defRPr sz="2520"/>
            </a:pPr>
            <a:r>
              <a:rPr lang="en-US" sz="1600" dirty="0" err="1"/>
              <a:t>ReLU</a:t>
            </a:r>
            <a:r>
              <a:rPr lang="en-US" sz="1600" dirty="0"/>
              <a:t> (and its relatives)</a:t>
            </a:r>
          </a:p>
          <a:p>
            <a:pPr marL="225019" indent="-225019" defTabSz="1024066">
              <a:spcBef>
                <a:spcPts val="500"/>
              </a:spcBef>
              <a:defRPr sz="2520"/>
            </a:pPr>
            <a:r>
              <a:rPr lang="en-US" sz="1600" dirty="0"/>
              <a:t>Skip connections</a:t>
            </a:r>
          </a:p>
          <a:p>
            <a:pPr marL="225019" indent="-225019" defTabSz="1024066">
              <a:spcBef>
                <a:spcPts val="500"/>
              </a:spcBef>
              <a:defRPr sz="2520"/>
            </a:pPr>
            <a:r>
              <a:rPr lang="en-US" sz="1600" dirty="0"/>
              <a:t>Better weight initializations</a:t>
            </a:r>
          </a:p>
          <a:p>
            <a:pPr marL="225019" indent="-225019" defTabSz="1024066">
              <a:spcBef>
                <a:spcPts val="500"/>
              </a:spcBef>
              <a:defRPr sz="2520"/>
            </a:pPr>
            <a:r>
              <a:rPr lang="en-US" sz="1600" dirty="0"/>
              <a:t>Batch normalization</a:t>
            </a:r>
          </a:p>
          <a:p>
            <a:pPr marL="682219" lvl="1" indent="-225019" defTabSz="1024066">
              <a:defRPr sz="2520"/>
            </a:pPr>
            <a:r>
              <a:rPr lang="en-US" sz="1400" dirty="0"/>
              <a:t>Normalize the inputs of each layer (helps with internal covariate shift, vanishing gradients, overfitting) </a:t>
            </a:r>
          </a:p>
          <a:p>
            <a:pPr marL="225019" indent="-225019" defTabSz="1024066">
              <a:spcBef>
                <a:spcPts val="500"/>
              </a:spcBef>
              <a:defRPr sz="2520"/>
            </a:pPr>
            <a:r>
              <a:rPr lang="en-US" sz="1600" dirty="0"/>
              <a:t>Dropout </a:t>
            </a:r>
          </a:p>
          <a:p>
            <a:pPr marL="682219" lvl="1" indent="-225019" defTabSz="1024066">
              <a:defRPr sz="2520"/>
            </a:pPr>
            <a:r>
              <a:rPr lang="en-US" sz="1400" dirty="0"/>
              <a:t>Randomly dropout or “turn off” some of the neurons during training</a:t>
            </a:r>
          </a:p>
          <a:p>
            <a:pPr marL="682219" lvl="1" indent="-225019" defTabSz="1024066">
              <a:defRPr sz="2520"/>
            </a:pPr>
            <a:r>
              <a:rPr lang="en-US" sz="1400" dirty="0"/>
              <a:t>Forces the network to have redundant representation of features</a:t>
            </a:r>
          </a:p>
          <a:p>
            <a:pPr marL="225019" indent="-225019" defTabSz="1024066">
              <a:spcBef>
                <a:spcPts val="500"/>
              </a:spcBef>
              <a:defRPr sz="2520"/>
            </a:pPr>
            <a:r>
              <a:rPr lang="en-US" sz="1600" dirty="0"/>
              <a:t>(Not an exhaustive list)</a:t>
            </a:r>
          </a:p>
          <a:p>
            <a:pPr marL="225019" indent="-225019" defTabSz="1024066">
              <a:defRPr sz="2520"/>
            </a:pPr>
            <a:endParaRPr sz="800" dirty="0"/>
          </a:p>
        </p:txBody>
      </p:sp>
      <p:sp>
        <p:nvSpPr>
          <p:cNvPr id="695" name="Innovations that made depth possib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rmAutofit/>
          </a:bodyPr>
          <a:lstStyle>
            <a:lvl1pPr defTabSz="1525858">
              <a:defRPr sz="5280" spc="-105"/>
            </a:lvl1pPr>
          </a:lstStyle>
          <a:p>
            <a:r>
              <a:rPr sz="4000" dirty="0"/>
              <a:t>Innovations that made depth possible</a:t>
            </a:r>
          </a:p>
        </p:txBody>
      </p:sp>
    </p:spTree>
  </p:cSld>
  <p:clrMapOvr>
    <a:masterClrMapping/>
  </p:clrMapOvr>
  <p:transition spd="med"/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AlexNet"/>
          <p:cNvSpPr txBox="1">
            <a:spLocks noGrp="1"/>
          </p:cNvSpPr>
          <p:nvPr>
            <p:ph type="title"/>
          </p:nvPr>
        </p:nvSpPr>
        <p:spPr>
          <a:xfrm>
            <a:off x="1348383" y="76200"/>
            <a:ext cx="8161734" cy="714376"/>
          </a:xfrm>
          <a:prstGeom prst="rect">
            <a:avLst/>
          </a:prstGeom>
        </p:spPr>
        <p:txBody>
          <a:bodyPr>
            <a:normAutofit/>
          </a:bodyPr>
          <a:lstStyle>
            <a:lvl1pPr defTabSz="1525858">
              <a:defRPr sz="5280" spc="-105"/>
            </a:lvl1pPr>
          </a:lstStyle>
          <a:p>
            <a:r>
              <a:rPr sz="4000" dirty="0" err="1"/>
              <a:t>AlexNet</a:t>
            </a:r>
            <a:r>
              <a:rPr lang="en-US" sz="4000" dirty="0"/>
              <a:t> (2012)</a:t>
            </a:r>
            <a:endParaRPr sz="4000" dirty="0"/>
          </a:p>
        </p:txBody>
      </p:sp>
      <p:pic>
        <p:nvPicPr>
          <p:cNvPr id="691" name="pasted-image.tiff" descr="pasted-image.tif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7302" y="4326595"/>
            <a:ext cx="8161734" cy="2316956"/>
          </a:xfrm>
          <a:prstGeom prst="rect">
            <a:avLst/>
          </a:prstGeom>
          <a:ln w="12700">
            <a:miter lim="400000"/>
          </a:ln>
        </p:spPr>
      </p:pic>
      <p:sp>
        <p:nvSpPr>
          <p:cNvPr id="692" name="Innovations…"/>
          <p:cNvSpPr txBox="1">
            <a:spLocks noGrp="1"/>
          </p:cNvSpPr>
          <p:nvPr>
            <p:ph type="body" idx="4294967295"/>
          </p:nvPr>
        </p:nvSpPr>
        <p:spPr>
          <a:xfrm>
            <a:off x="1424583" y="948587"/>
            <a:ext cx="8161734" cy="3378008"/>
          </a:xfrm>
          <a:prstGeom prst="rect">
            <a:avLst/>
          </a:prstGeom>
        </p:spPr>
        <p:txBody>
          <a:bodyPr>
            <a:normAutofit fontScale="77500" lnSpcReduction="20000"/>
          </a:bodyPr>
          <a:lstStyle/>
          <a:p>
            <a:pPr marL="216983" indent="-216983" defTabSz="987492">
              <a:spcBef>
                <a:spcPts val="1758"/>
              </a:spcBef>
              <a:defRPr sz="2430"/>
            </a:pPr>
            <a:r>
              <a:rPr lang="fr-FR" dirty="0"/>
              <a:t>Innovations</a:t>
            </a:r>
          </a:p>
          <a:p>
            <a:pPr marL="674183" lvl="1" indent="-216983" defTabSz="987492">
              <a:spcBef>
                <a:spcPts val="1758"/>
              </a:spcBef>
              <a:defRPr sz="2430"/>
            </a:pPr>
            <a:r>
              <a:rPr lang="fr-FR" dirty="0"/>
              <a:t>Deep convolutions</a:t>
            </a:r>
          </a:p>
          <a:p>
            <a:pPr marL="674183" lvl="1" indent="-216983" defTabSz="987492">
              <a:spcBef>
                <a:spcPts val="1758"/>
              </a:spcBef>
              <a:defRPr sz="2430"/>
            </a:pPr>
            <a:r>
              <a:rPr lang="fr-FR" dirty="0" err="1"/>
              <a:t>ReLu</a:t>
            </a:r>
            <a:endParaRPr lang="fr-FR" dirty="0"/>
          </a:p>
          <a:p>
            <a:pPr marL="216983" indent="-216983" defTabSz="987492">
              <a:spcBef>
                <a:spcPts val="1758"/>
              </a:spcBef>
              <a:defRPr sz="2430"/>
            </a:pPr>
            <a:r>
              <a:rPr lang="fr-FR" dirty="0" err="1"/>
              <a:t>Also</a:t>
            </a:r>
            <a:r>
              <a:rPr lang="fr-FR" dirty="0"/>
              <a:t>:</a:t>
            </a:r>
          </a:p>
          <a:p>
            <a:pPr marL="674183" lvl="1" indent="-216983" defTabSz="987492">
              <a:spcBef>
                <a:spcPts val="1758"/>
              </a:spcBef>
              <a:defRPr sz="2430"/>
            </a:pPr>
            <a:r>
              <a:rPr lang="fr-FR" dirty="0"/>
              <a:t>Dropout</a:t>
            </a:r>
          </a:p>
          <a:p>
            <a:pPr marL="674183" lvl="1" indent="-216983" defTabSz="987492">
              <a:spcBef>
                <a:spcPts val="1758"/>
              </a:spcBef>
              <a:defRPr sz="2430"/>
            </a:pPr>
            <a:r>
              <a:rPr lang="fr-FR" dirty="0"/>
              <a:t>Data augmentation </a:t>
            </a:r>
          </a:p>
          <a:p>
            <a:pPr marL="674183" lvl="1" indent="-216983" defTabSz="987492">
              <a:spcBef>
                <a:spcPts val="1758"/>
              </a:spcBef>
              <a:defRPr sz="2430"/>
            </a:pPr>
            <a:r>
              <a:rPr lang="fr-FR" dirty="0"/>
              <a:t>GPU</a:t>
            </a:r>
          </a:p>
          <a:p>
            <a:pPr marL="216983" indent="-216983" defTabSz="987492">
              <a:spcBef>
                <a:spcPts val="1758"/>
              </a:spcBef>
              <a:defRPr sz="2430"/>
            </a:pPr>
            <a:endParaRPr lang="fr-FR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697" name="Introduced by researchers at Microsoft in 2015…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1590675" y="1633226"/>
                <a:ext cx="6259029" cy="4281799"/>
              </a:xfrm>
              <a:prstGeom prst="rect">
                <a:avLst/>
              </a:prstGeom>
            </p:spPr>
            <p:txBody>
              <a:bodyPr>
                <a:normAutofit fontScale="55000" lnSpcReduction="20000"/>
              </a:bodyPr>
              <a:lstStyle/>
              <a:p>
                <a:pPr marL="0" indent="0">
                  <a:buNone/>
                </a:pPr>
                <a:r>
                  <a:rPr lang="en-US" b="1" dirty="0"/>
                  <a:t>Resnet</a:t>
                </a:r>
              </a:p>
              <a:p>
                <a:r>
                  <a:rPr lang="en-US" dirty="0"/>
                  <a:t>Introduced by Microsoft researchers (He et al., 2015)</a:t>
                </a:r>
              </a:p>
              <a:p>
                <a:r>
                  <a:rPr lang="en-US" dirty="0"/>
                  <a:t>Enables training of </a:t>
                </a:r>
                <a:r>
                  <a:rPr lang="en-US" i="1" dirty="0"/>
                  <a:t>very deep networks</a:t>
                </a:r>
                <a:r>
                  <a:rPr lang="en-US" dirty="0"/>
                  <a:t> by addressing vanishing gradients</a:t>
                </a:r>
              </a:p>
              <a:p>
                <a:r>
                  <a:rPr lang="en-US" dirty="0"/>
                  <a:t>Add input directly to output of a few layers: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/>
                        <m:t>𝑦</m:t>
                      </m:r>
                      <m:r>
                        <a:rPr lang="en-US"/>
                        <m:t>=</m:t>
                      </m:r>
                      <m:r>
                        <a:rPr lang="en-US" i="1"/>
                        <m:t>𝐹</m:t>
                      </m:r>
                      <m:d>
                        <m:dPr>
                          <m:ctrlPr>
                            <a:rPr lang="ar-AE" i="1"/>
                          </m:ctrlPr>
                        </m:dPr>
                        <m:e>
                          <m:r>
                            <a:rPr lang="ar-AE" i="1"/>
                            <m:t>𝑥</m:t>
                          </m:r>
                        </m:e>
                      </m:d>
                      <m:r>
                        <a:rPr lang="ar-AE"/>
                        <m:t>+</m:t>
                      </m:r>
                      <m:r>
                        <a:rPr lang="ar-AE" i="1"/>
                        <m:t>𝑥</m:t>
                      </m:r>
                    </m:oMath>
                  </m:oMathPara>
                </a14:m>
                <a:endParaRPr lang="ar-AE" dirty="0"/>
              </a:p>
              <a:p>
                <a:r>
                  <a:rPr lang="en-US" dirty="0"/>
                  <a:t>Layers learn a </a:t>
                </a:r>
                <a:r>
                  <a:rPr lang="en-US" i="1" dirty="0"/>
                  <a:t>residual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/>
                      <m:t>𝐹</m:t>
                    </m:r>
                    <m:d>
                      <m:dPr>
                        <m:ctrlPr>
                          <a:rPr lang="ar-AE" i="1"/>
                        </m:ctrlPr>
                      </m:dPr>
                      <m:e>
                        <m:r>
                          <a:rPr lang="ar-AE" i="1"/>
                          <m:t>𝑥</m:t>
                        </m:r>
                      </m:e>
                    </m:d>
                  </m:oMath>
                </a14:m>
                <a:r>
                  <a:rPr lang="en-US" dirty="0"/>
                  <a:t>: what to change, not the full transformation</a:t>
                </a:r>
              </a:p>
              <a:p>
                <a:pPr marL="0" indent="0">
                  <a:buNone/>
                </a:pPr>
                <a:r>
                  <a:rPr lang="en-US" b="1" dirty="0"/>
                  <a:t>Intuition</a:t>
                </a:r>
                <a:endParaRPr lang="en-US" dirty="0"/>
              </a:p>
              <a:p>
                <a:r>
                  <a:rPr lang="en-US" dirty="0"/>
                  <a:t>Easier to learn small adjustments than entire mappings</a:t>
                </a:r>
              </a:p>
              <a:p>
                <a:r>
                  <a:rPr lang="en-US" dirty="0"/>
                  <a:t>If extra layers aren’t useful → learn </a:t>
                </a:r>
                <a14:m>
                  <m:oMath xmlns:m="http://schemas.openxmlformats.org/officeDocument/2006/math">
                    <m:r>
                      <a:rPr lang="en-US" i="1"/>
                      <m:t>𝐹</m:t>
                    </m:r>
                    <m:d>
                      <m:dPr>
                        <m:ctrlPr>
                          <a:rPr lang="ar-AE" i="1"/>
                        </m:ctrlPr>
                      </m:dPr>
                      <m:e>
                        <m:r>
                          <a:rPr lang="ar-AE" i="1"/>
                          <m:t>𝑥</m:t>
                        </m:r>
                      </m:e>
                    </m:d>
                    <m:r>
                      <a:rPr lang="ar-AE"/>
                      <m:t>≈</m:t>
                    </m:r>
                    <m:r>
                      <a:rPr lang="ar-AE"/>
                      <m:t>0</m:t>
                    </m:r>
                  </m:oMath>
                </a14:m>
                <a:r>
                  <a:rPr lang="ar-AE" dirty="0"/>
                  <a:t>→ </a:t>
                </a:r>
                <a:r>
                  <a:rPr lang="en-US" dirty="0"/>
                  <a:t>behave like identity</a:t>
                </a:r>
              </a:p>
              <a:p>
                <a:r>
                  <a:rPr lang="en-US" dirty="0"/>
                  <a:t>Network can “skip” unnecessary transformations</a:t>
                </a:r>
              </a:p>
              <a:p>
                <a:pPr marL="0" indent="0" defTabSz="1072831">
                  <a:spcBef>
                    <a:spcPts val="1969"/>
                  </a:spcBef>
                  <a:buNone/>
                  <a:defRPr sz="2640"/>
                </a:pPr>
                <a:r>
                  <a:rPr lang="en-US" dirty="0"/>
                  <a:t>Why does this help?</a:t>
                </a:r>
              </a:p>
              <a:p>
                <a:r>
                  <a:rPr lang="en-US" dirty="0"/>
                  <a:t>Provides a direct path for gradients → improves gradient flow</a:t>
                </a:r>
              </a:p>
              <a:p>
                <a:r>
                  <a:rPr lang="en-US" dirty="0"/>
                  <a:t>Prevents degradation as depth increases</a:t>
                </a:r>
              </a:p>
              <a:p>
                <a:r>
                  <a:rPr lang="en-US" dirty="0"/>
                  <a:t>Makes optimization of deep networks much easier</a:t>
                </a:r>
              </a:p>
              <a:p>
                <a:pPr marL="0" indent="0" defTabSz="1072831">
                  <a:spcBef>
                    <a:spcPts val="1969"/>
                  </a:spcBef>
                  <a:buNone/>
                  <a:defRPr sz="2640"/>
                </a:pPr>
                <a:endParaRPr dirty="0"/>
              </a:p>
            </p:txBody>
          </p:sp>
        </mc:Choice>
        <mc:Fallback>
          <p:sp>
            <p:nvSpPr>
              <p:cNvPr id="697" name="Introduced by researchers at Microsoft in 2015…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590675" y="1633226"/>
                <a:ext cx="6259029" cy="4281799"/>
              </a:xfrm>
              <a:prstGeom prst="rect">
                <a:avLst/>
              </a:prstGeom>
              <a:blipFill>
                <a:blip r:embed="rId2"/>
                <a:stretch>
                  <a:fillRect l="-389" t="-5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98" name="ResNet (Residual Network)"/>
          <p:cNvSpPr txBox="1">
            <a:spLocks noGrp="1"/>
          </p:cNvSpPr>
          <p:nvPr>
            <p:ph type="title"/>
          </p:nvPr>
        </p:nvSpPr>
        <p:spPr>
          <a:xfrm>
            <a:off x="750367" y="699548"/>
            <a:ext cx="10691265" cy="1307592"/>
          </a:xfrm>
          <a:prstGeom prst="rect">
            <a:avLst/>
          </a:prstGeom>
        </p:spPr>
        <p:txBody>
          <a:bodyPr>
            <a:normAutofit/>
          </a:bodyPr>
          <a:lstStyle>
            <a:lvl1pPr defTabSz="1525858">
              <a:defRPr sz="5280" spc="-105"/>
            </a:lvl1pPr>
          </a:lstStyle>
          <a:p>
            <a:r>
              <a:rPr sz="4000" dirty="0" err="1"/>
              <a:t>ResNet</a:t>
            </a:r>
            <a:r>
              <a:rPr sz="4000" dirty="0"/>
              <a:t> (Residual Network)</a:t>
            </a:r>
          </a:p>
        </p:txBody>
      </p:sp>
      <p:pic>
        <p:nvPicPr>
          <p:cNvPr id="699" name="pasted-image.tiff" descr="pasted-image.tif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1137" y="3994498"/>
            <a:ext cx="2269552" cy="133125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BF464D-7D21-24A8-3E66-E8AF6A231E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Flattening &amp; Fully connected layers">
            <a:extLst>
              <a:ext uri="{FF2B5EF4-FFF2-40B4-BE49-F238E27FC236}">
                <a16:creationId xmlns:a16="http://schemas.microsoft.com/office/drawing/2014/main" id="{D0DE9937-12CC-7EB5-FC27-B6BF1115FCB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/>
              <a:t>CNN Training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56021388"/>
      </p:ext>
    </p:extLst>
  </p:cSld>
  <p:clrMapOvr>
    <a:masterClrMapping/>
  </p:clrMapOvr>
  <p:transition spd="med"/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0C3A2A9-0290-7817-603B-AF288432A0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Initialization</a:t>
            </a:r>
          </a:p>
          <a:p>
            <a:r>
              <a:rPr lang="en-US" dirty="0"/>
              <a:t>Forward pass</a:t>
            </a:r>
          </a:p>
          <a:p>
            <a:r>
              <a:rPr lang="en-US" dirty="0"/>
              <a:t>Compute loss</a:t>
            </a:r>
          </a:p>
          <a:p>
            <a:r>
              <a:rPr lang="en-US" dirty="0"/>
              <a:t>Backpropagation</a:t>
            </a:r>
          </a:p>
          <a:p>
            <a:pPr lvl="1"/>
            <a:r>
              <a:rPr lang="en-US" dirty="0"/>
              <a:t>Update weights</a:t>
            </a:r>
          </a:p>
          <a:p>
            <a:r>
              <a:rPr lang="en-US" dirty="0"/>
              <a:t>Repeat over mini-batches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Architectural hyperparameters:</a:t>
            </a:r>
          </a:p>
          <a:p>
            <a:pPr lvl="1"/>
            <a:r>
              <a:rPr lang="en-US" dirty="0"/>
              <a:t>Kernel (filter) size</a:t>
            </a:r>
          </a:p>
          <a:p>
            <a:pPr lvl="1"/>
            <a:r>
              <a:rPr lang="en-US" dirty="0"/>
              <a:t>Stride</a:t>
            </a:r>
          </a:p>
          <a:p>
            <a:pPr lvl="1"/>
            <a:r>
              <a:rPr lang="en-US" dirty="0"/>
              <a:t>Padding</a:t>
            </a:r>
          </a:p>
          <a:p>
            <a:pPr lvl="1"/>
            <a:r>
              <a:rPr lang="en-US" dirty="0"/>
              <a:t>Number of filters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4252CAF-7097-90FF-892D-2607174D43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Training components</a:t>
            </a:r>
          </a:p>
        </p:txBody>
      </p:sp>
    </p:spTree>
    <p:extLst>
      <p:ext uri="{BB962C8B-B14F-4D97-AF65-F5344CB8AC3E}">
        <p14:creationId xmlns:p14="http://schemas.microsoft.com/office/powerpoint/2010/main" val="518544760"/>
      </p:ext>
    </p:extLst>
  </p:cSld>
  <p:clrMapOvr>
    <a:masterClrMapping/>
  </p:clrMapOvr>
  <p:transition spd="med"/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9CF51C-8E63-DFA7-2576-30E90A7A00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CE9F5F89-4D98-D36F-3EF1-56EB6C5F6C88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A convolutional layer is defined by:</a:t>
                </a:r>
              </a:p>
              <a:p>
                <a:r>
                  <a:rPr lang="en-US" b="1" dirty="0"/>
                  <a:t>Kernel size (K × K)</a:t>
                </a:r>
                <a:r>
                  <a:rPr lang="en-US" dirty="0"/>
                  <a:t> → sliding window size</a:t>
                </a:r>
              </a:p>
              <a:p>
                <a:r>
                  <a:rPr lang="en-US" b="1" dirty="0"/>
                  <a:t>Stride (S)</a:t>
                </a:r>
                <a:r>
                  <a:rPr lang="en-US" dirty="0"/>
                  <a:t> → step size of movement</a:t>
                </a:r>
              </a:p>
              <a:p>
                <a:r>
                  <a:rPr lang="en-US" b="1" dirty="0"/>
                  <a:t>Padding (P)</a:t>
                </a:r>
                <a:r>
                  <a:rPr lang="en-US" dirty="0"/>
                  <a:t> → zeros added around border</a:t>
                </a:r>
              </a:p>
              <a:p>
                <a:r>
                  <a:rPr lang="en-US" b="1" dirty="0"/>
                  <a:t>Number of filters (F)</a:t>
                </a:r>
                <a:r>
                  <a:rPr lang="en-US" dirty="0"/>
                  <a:t> → number of feature maps</a:t>
                </a:r>
              </a:p>
              <a:p>
                <a:r>
                  <a:rPr lang="en-US" dirty="0"/>
                  <a:t>Output spatial size: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b="0"/>
                        <m:t>Output</m:t>
                      </m:r>
                      <m:r>
                        <m:rPr>
                          <m:nor/>
                        </m:rPr>
                        <a:rPr lang="en-US" b="0" i="1"/>
                        <m:t> </m:t>
                      </m:r>
                      <m:r>
                        <m:rPr>
                          <m:nor/>
                        </m:rPr>
                        <a:rPr lang="en-US" b="0" i="1"/>
                        <m:t>size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𝐾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𝑃</m:t>
                          </m:r>
                        </m:num>
                        <m:den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𝑆</m:t>
                          </m:r>
                        </m:den>
                      </m:f>
                      <m:r>
                        <a:rPr lang="ar-AE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ar-AE" b="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CE9F5F89-4D98-D36F-3EF1-56EB6C5F6C8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 l="-627" t="-8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101B0262-C79A-2601-E504-881925DE62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CNN Layer Components</a:t>
            </a:r>
          </a:p>
        </p:txBody>
      </p:sp>
    </p:spTree>
    <p:extLst>
      <p:ext uri="{BB962C8B-B14F-4D97-AF65-F5344CB8AC3E}">
        <p14:creationId xmlns:p14="http://schemas.microsoft.com/office/powerpoint/2010/main" val="3149333447"/>
      </p:ext>
    </p:extLst>
  </p:cSld>
  <p:clrMapOvr>
    <a:masterClrMapping/>
  </p:clrMapOvr>
  <p:transition spd="med"/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AEE4A5-E942-472D-D073-8A3DECD0F7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6700DC-D24C-40CF-8E59-647559DEE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Kernel (Sliding Window)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137E66D-BFF2-39C2-DF24-102746DEBCE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b="1" dirty="0"/>
                  <a:t>What does kernel size control?</a:t>
                </a:r>
              </a:p>
              <a:p>
                <a:r>
                  <a:rPr lang="en-US" dirty="0"/>
                  <a:t>Spatial pattern scale detected</a:t>
                </a:r>
              </a:p>
              <a:p>
                <a:r>
                  <a:rPr lang="en-US" dirty="0"/>
                  <a:t>Parameter count</a:t>
                </a:r>
              </a:p>
              <a:p>
                <a:r>
                  <a:rPr lang="en-US" dirty="0"/>
                  <a:t>Parameters per filter: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Where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dirty="0"/>
                  <a:t> is the number of input channels (typically 1 or 3).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137E66D-BFF2-39C2-DF24-102746DEBCE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27" t="-8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9002538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E73D5-C9C8-48F6-4A75-6834824586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Kernel Size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AAB8AE-7092-1773-BDF4-A14590E8FD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Larger kernels:</a:t>
            </a:r>
          </a:p>
          <a:p>
            <a:pPr lvl="1"/>
            <a:r>
              <a:rPr lang="en-US" dirty="0"/>
              <a:t>More parameters</a:t>
            </a:r>
          </a:p>
          <a:p>
            <a:pPr lvl="1"/>
            <a:r>
              <a:rPr lang="en-US" dirty="0"/>
              <a:t>Higher variance</a:t>
            </a:r>
          </a:p>
          <a:p>
            <a:pPr lvl="1"/>
            <a:r>
              <a:rPr lang="en-US" dirty="0"/>
              <a:t>More compute</a:t>
            </a:r>
          </a:p>
          <a:p>
            <a:pPr lvl="1"/>
            <a:r>
              <a:rPr lang="en-US" dirty="0"/>
              <a:t>Larger receptive field per layer</a:t>
            </a:r>
          </a:p>
          <a:p>
            <a:r>
              <a:rPr lang="en-US" dirty="0"/>
              <a:t>Smaller kernels (e.g., 3×3):</a:t>
            </a:r>
          </a:p>
          <a:p>
            <a:pPr lvl="1"/>
            <a:r>
              <a:rPr lang="en-US" dirty="0"/>
              <a:t>Fewer parameters</a:t>
            </a:r>
          </a:p>
          <a:p>
            <a:pPr lvl="1"/>
            <a:r>
              <a:rPr lang="en-US" dirty="0"/>
              <a:t>Deeper networks needed</a:t>
            </a:r>
          </a:p>
          <a:p>
            <a:pPr lvl="1"/>
            <a:r>
              <a:rPr lang="en-US" dirty="0"/>
              <a:t>Better regularization</a:t>
            </a:r>
          </a:p>
          <a:p>
            <a:pPr lvl="1"/>
            <a:r>
              <a:rPr lang="en-US" dirty="0"/>
              <a:t>More nonlinearities</a:t>
            </a:r>
          </a:p>
          <a:p>
            <a:r>
              <a:rPr lang="en-US" dirty="0"/>
              <a:t>This is why modern CNNs prefer stacked 3×3 convolutions.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9973775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94A1C8-D729-0182-455A-E9509D52A8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18B3E-61A1-2F21-CBBA-5EBCF80CC7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Stride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7AC0049-48C0-75AE-DE21-B44801762A5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00635" y="2221992"/>
                <a:ext cx="5204865" cy="3739896"/>
              </a:xfrm>
            </p:spPr>
            <p:txBody>
              <a:bodyPr/>
              <a:lstStyle/>
              <a:p>
                <a:r>
                  <a:rPr lang="en-US" dirty="0"/>
                  <a:t>Stride = how far the filter moves each step.</a:t>
                </a:r>
              </a:p>
              <a:p>
                <a:pPr lvl="1"/>
                <a:r>
                  <a:rPr lang="en-US" dirty="0"/>
                  <a:t>S = 1 → dense coverage</a:t>
                </a:r>
              </a:p>
              <a:p>
                <a:pPr lvl="1"/>
                <a:r>
                  <a:rPr lang="en-US" dirty="0"/>
                  <a:t>S = 2 → </a:t>
                </a:r>
                <a:r>
                  <a:rPr lang="en-US" dirty="0" err="1"/>
                  <a:t>downsampling</a:t>
                </a:r>
                <a:endParaRPr lang="en-US" dirty="0"/>
              </a:p>
              <a:p>
                <a:r>
                  <a:rPr lang="en-US" dirty="0"/>
                  <a:t>Effect on output size: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𝐾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𝑃</m:t>
                          </m:r>
                        </m:num>
                        <m:den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𝑆</m:t>
                          </m:r>
                        </m:den>
                      </m:f>
                      <m:r>
                        <a:rPr lang="ar-AE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ar-AE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7AC0049-48C0-75AE-DE21-B44801762A5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00635" y="2221992"/>
                <a:ext cx="5204865" cy="3739896"/>
              </a:xfrm>
              <a:blipFill>
                <a:blip r:embed="rId2"/>
                <a:stretch>
                  <a:fillRect l="-1054" t="-8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5415EFB-6354-1D1C-4F18-858DD79C276D}"/>
              </a:ext>
            </a:extLst>
          </p:cNvPr>
          <p:cNvSpPr txBox="1">
            <a:spLocks/>
          </p:cNvSpPr>
          <p:nvPr/>
        </p:nvSpPr>
        <p:spPr>
          <a:xfrm>
            <a:off x="6286502" y="2221992"/>
            <a:ext cx="52048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Larger stride:</a:t>
            </a:r>
          </a:p>
          <a:p>
            <a:pPr lvl="1"/>
            <a:r>
              <a:rPr lang="en-US" dirty="0"/>
              <a:t>Smaller output feature maps</a:t>
            </a:r>
          </a:p>
          <a:p>
            <a:pPr lvl="1"/>
            <a:r>
              <a:rPr lang="en-US" dirty="0"/>
              <a:t>Fewer activations</a:t>
            </a:r>
          </a:p>
          <a:p>
            <a:pPr lvl="1"/>
            <a:r>
              <a:rPr lang="en-US" dirty="0"/>
              <a:t>Fewer gradient paths</a:t>
            </a:r>
          </a:p>
          <a:p>
            <a:pPr lvl="1"/>
            <a:r>
              <a:rPr lang="en-US" dirty="0"/>
              <a:t>Faster training</a:t>
            </a:r>
          </a:p>
          <a:p>
            <a:pPr lvl="1"/>
            <a:r>
              <a:rPr lang="en-US" dirty="0"/>
              <a:t>More aggressive information compression</a:t>
            </a:r>
          </a:p>
          <a:p>
            <a:r>
              <a:rPr lang="en-US" dirty="0"/>
              <a:t>Smaller stride:</a:t>
            </a:r>
          </a:p>
          <a:p>
            <a:pPr lvl="1"/>
            <a:r>
              <a:rPr lang="en-US" dirty="0"/>
              <a:t>More overlap</a:t>
            </a:r>
          </a:p>
          <a:p>
            <a:pPr lvl="1"/>
            <a:r>
              <a:rPr lang="en-US" dirty="0"/>
              <a:t>More gradient signal</a:t>
            </a:r>
          </a:p>
          <a:p>
            <a:pPr lvl="1"/>
            <a:r>
              <a:rPr lang="en-US" dirty="0"/>
              <a:t>Better fine-detail learning</a:t>
            </a:r>
          </a:p>
          <a:p>
            <a:pPr lvl="1"/>
            <a:r>
              <a:rPr lang="en-US" dirty="0"/>
              <a:t>Higher computation cost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7957834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8BACB8-0E9B-1878-C9C7-3CE28DB7A4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27095E-5CBF-7911-DCA7-8AC1BF16D8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Padding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6EBF5D-4936-C39F-210B-051CF26C21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1821942"/>
            <a:ext cx="5090565" cy="3739896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Padding adds zeros around input borders.</a:t>
            </a:r>
          </a:p>
          <a:p>
            <a:r>
              <a:rPr lang="en-US" dirty="0"/>
              <a:t>Types:</a:t>
            </a:r>
          </a:p>
          <a:p>
            <a:pPr lvl="1"/>
            <a:r>
              <a:rPr lang="en-US" dirty="0"/>
              <a:t>No padding </a:t>
            </a:r>
          </a:p>
          <a:p>
            <a:pPr lvl="1"/>
            <a:r>
              <a:rPr lang="en-US" dirty="0"/>
              <a:t>Same padding (preserve size)</a:t>
            </a:r>
          </a:p>
          <a:p>
            <a:r>
              <a:rPr lang="en-US" dirty="0"/>
              <a:t>Without padding:</a:t>
            </a:r>
          </a:p>
          <a:p>
            <a:pPr lvl="1"/>
            <a:r>
              <a:rPr lang="en-US" dirty="0"/>
              <a:t>Spatial size shrinks each layer</a:t>
            </a:r>
          </a:p>
          <a:p>
            <a:r>
              <a:rPr lang="en-US" dirty="0"/>
              <a:t>With padding:</a:t>
            </a:r>
          </a:p>
          <a:p>
            <a:pPr lvl="1"/>
            <a:r>
              <a:rPr lang="en-US" dirty="0"/>
              <a:t>Spatial resolution preserved</a:t>
            </a:r>
          </a:p>
          <a:p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A0754F4-BBDD-1EB0-D9E5-189D342CCDBE}"/>
              </a:ext>
            </a:extLst>
          </p:cNvPr>
          <p:cNvSpPr txBox="1">
            <a:spLocks/>
          </p:cNvSpPr>
          <p:nvPr/>
        </p:nvSpPr>
        <p:spPr>
          <a:xfrm>
            <a:off x="6046267" y="1821942"/>
            <a:ext cx="50905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Without padding:</a:t>
            </a:r>
          </a:p>
          <a:p>
            <a:pPr lvl="1"/>
            <a:r>
              <a:rPr lang="en-US" dirty="0"/>
              <a:t>Border pixels used fewer times</a:t>
            </a:r>
          </a:p>
          <a:p>
            <a:pPr lvl="1"/>
            <a:r>
              <a:rPr lang="en-US" dirty="0"/>
              <a:t>Gradients weaker at edges</a:t>
            </a:r>
          </a:p>
          <a:p>
            <a:pPr lvl="1"/>
            <a:r>
              <a:rPr lang="en-US" dirty="0"/>
              <a:t>Spatial size shrinks quickly</a:t>
            </a:r>
          </a:p>
          <a:p>
            <a:r>
              <a:rPr lang="en-US" dirty="0"/>
              <a:t>With padding:</a:t>
            </a:r>
          </a:p>
          <a:p>
            <a:pPr lvl="1"/>
            <a:r>
              <a:rPr lang="en-US" dirty="0"/>
              <a:t>More uniform gradient flow</a:t>
            </a:r>
          </a:p>
          <a:p>
            <a:pPr lvl="1"/>
            <a:r>
              <a:rPr lang="en-US" dirty="0"/>
              <a:t>Deeper networks possible</a:t>
            </a:r>
          </a:p>
          <a:p>
            <a:pPr lvl="1"/>
            <a:r>
              <a:rPr lang="en-US" dirty="0"/>
              <a:t>Preserves spatial alignment</a:t>
            </a:r>
          </a:p>
          <a:p>
            <a:r>
              <a:rPr lang="en-US" dirty="0"/>
              <a:t>Padding helps stabilize training in deep CNNs.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2101840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836BFB8-C53B-A10E-F350-0484715038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6" y="2221992"/>
            <a:ext cx="5100090" cy="3739896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Fully connected (no sharing)</a:t>
            </a:r>
          </a:p>
          <a:p>
            <a:r>
              <a:rPr lang="en-US" dirty="0"/>
              <a:t>If you flatten a 224×224 image:</a:t>
            </a:r>
          </a:p>
          <a:p>
            <a:r>
              <a:rPr lang="en-US" dirty="0"/>
              <a:t>Input size ≈ 50,000 pixels</a:t>
            </a:r>
          </a:p>
          <a:p>
            <a:r>
              <a:rPr lang="en-US" dirty="0"/>
              <a:t>If next layer has 100 neurons</a:t>
            </a:r>
          </a:p>
          <a:p>
            <a:r>
              <a:rPr lang="en-US" dirty="0"/>
              <a:t>You need </a:t>
            </a:r>
            <a:r>
              <a:rPr lang="en-US" b="1" dirty="0"/>
              <a:t>50,000 × 100 = 5,000,000 weights</a:t>
            </a:r>
            <a:endParaRPr lang="en-US" dirty="0"/>
          </a:p>
          <a:p>
            <a:r>
              <a:rPr lang="en-US" dirty="0"/>
              <a:t>Each neuron has its own independent weights.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2712467-7956-28B7-930C-3C18F78BB6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Weight Sharing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 Placeholder 1">
                <a:extLst>
                  <a:ext uri="{FF2B5EF4-FFF2-40B4-BE49-F238E27FC236}">
                    <a16:creationId xmlns:a16="http://schemas.microsoft.com/office/drawing/2014/main" id="{837CFDD7-A905-DAE8-1527-202520DBC61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657850" y="2221992"/>
                <a:ext cx="5833516" cy="3739896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fontScale="85000" lnSpcReduction="10000"/>
              </a:bodyPr>
              <a:lstStyle>
                <a:lvl1pPr marL="228600" indent="-228600" algn="l" defTabSz="914400" rtl="0" eaLnBrk="1" latinLnBrk="0" hangingPunct="1">
                  <a:lnSpc>
                    <a:spcPct val="11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1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1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1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1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dirty="0"/>
                  <a:t>Suppose:</a:t>
                </a:r>
              </a:p>
              <a:p>
                <a:pPr lvl="1"/>
                <a:r>
                  <a:rPr lang="en-US" dirty="0"/>
                  <a:t>Kernel size = 3×3</a:t>
                </a:r>
              </a:p>
              <a:p>
                <a:pPr lvl="1"/>
                <a:r>
                  <a:rPr lang="en-US" dirty="0"/>
                  <a:t>Input has 3 channels (RGB)</a:t>
                </a:r>
              </a:p>
              <a:p>
                <a:pPr lvl="1"/>
                <a:r>
                  <a:rPr lang="en-US" dirty="0"/>
                  <a:t>Number of filters = 64</a:t>
                </a:r>
              </a:p>
              <a:p>
                <a:r>
                  <a:rPr lang="en-US" dirty="0"/>
                  <a:t>Each filter has: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>
                        <a:latin typeface="Cambria Math" panose="02040503050406030204" pitchFamily="18" charset="0"/>
                      </a:rPr>
                      <m:t>27</m:t>
                    </m:r>
                    <m:r>
                      <m:rPr>
                        <m:nor/>
                      </m:rPr>
                      <a:rPr lang="en-US" i="1"/>
                      <m:t> </m:t>
                    </m:r>
                    <m:r>
                      <m:rPr>
                        <m:nor/>
                      </m:rPr>
                      <a:rPr lang="en-US" i="1"/>
                      <m:t>weights</m:t>
                    </m:r>
                  </m:oMath>
                </a14:m>
                <a:endParaRPr lang="en-US" b="0" dirty="0"/>
              </a:p>
              <a:p>
                <a:r>
                  <a:rPr lang="en-US" dirty="0"/>
                  <a:t>Total parameters: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27</m:t>
                    </m:r>
                    <m:r>
                      <a:rPr lang="en-US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>
                        <a:latin typeface="Cambria Math" panose="02040503050406030204" pitchFamily="18" charset="0"/>
                      </a:rPr>
                      <m:t>64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>
                        <a:latin typeface="Cambria Math" panose="02040503050406030204" pitchFamily="18" charset="0"/>
                      </a:rPr>
                      <m:t>1728</m:t>
                    </m:r>
                    <m:r>
                      <m:rPr>
                        <m:nor/>
                      </m:rPr>
                      <a:rPr lang="en-US" i="1"/>
                      <m:t> </m:t>
                    </m:r>
                    <m:r>
                      <m:rPr>
                        <m:nor/>
                      </m:rPr>
                      <a:rPr lang="en-US" i="1"/>
                      <m:t>weights</m:t>
                    </m:r>
                  </m:oMath>
                </a14:m>
                <a:endParaRPr lang="en-US" b="0" dirty="0"/>
              </a:p>
              <a:p>
                <a:r>
                  <a:rPr lang="en-US" dirty="0"/>
                  <a:t>Those weights for a filter are used </a:t>
                </a:r>
                <a:r>
                  <a:rPr lang="en-US" b="1" dirty="0"/>
                  <a:t>at every spatial location</a:t>
                </a:r>
                <a:endParaRPr lang="en-US" dirty="0"/>
              </a:p>
              <a:p>
                <a:r>
                  <a:rPr lang="en-US" dirty="0"/>
                  <a:t>We do NOT learn different weights for different pixels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4" name="Text Placeholder 1">
                <a:extLst>
                  <a:ext uri="{FF2B5EF4-FFF2-40B4-BE49-F238E27FC236}">
                    <a16:creationId xmlns:a16="http://schemas.microsoft.com/office/drawing/2014/main" id="{837CFDD7-A905-DAE8-1527-202520DBC6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7850" y="2221992"/>
                <a:ext cx="5833516" cy="3739896"/>
              </a:xfrm>
              <a:prstGeom prst="rect">
                <a:avLst/>
              </a:prstGeom>
              <a:blipFill>
                <a:blip r:embed="rId2"/>
                <a:stretch>
                  <a:fillRect l="-522" t="-6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41618612"/>
      </p:ext>
    </p:extLst>
  </p:cSld>
  <p:clrMapOvr>
    <a:masterClrMapping/>
  </p:clrMapOvr>
  <p:transition spd="med"/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Using Pre-trained Model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Using Pre-trained Models</a:t>
            </a:r>
          </a:p>
        </p:txBody>
      </p:sp>
    </p:spTree>
  </p:cSld>
  <p:clrMapOvr>
    <a:masterClrMapping/>
  </p:clrMapOvr>
  <p:transition spd="med"/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Many of these very large neural networks are publicly availabl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>
            <a:normAutofit fontScale="70000" lnSpcReduction="20000"/>
          </a:bodyPr>
          <a:lstStyle/>
          <a:p>
            <a:r>
              <a:rPr lang="en-US" dirty="0"/>
              <a:t>Large models trained on massive datasets (ImageNet, web text, etc.)</a:t>
            </a:r>
          </a:p>
          <a:p>
            <a:r>
              <a:rPr lang="en-US" dirty="0"/>
              <a:t>Learn </a:t>
            </a:r>
            <a:r>
              <a:rPr lang="en-US" i="1" dirty="0"/>
              <a:t>general-purpose representations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b="1" dirty="0"/>
              <a:t>Why Use Them?</a:t>
            </a:r>
            <a:endParaRPr lang="en-US" dirty="0"/>
          </a:p>
          <a:p>
            <a:r>
              <a:rPr lang="en-US" dirty="0"/>
              <a:t>Avoid training from scratch (expensive + data-hungry)</a:t>
            </a:r>
          </a:p>
          <a:p>
            <a:r>
              <a:rPr lang="en-US" dirty="0"/>
              <a:t>Work well even with small datasets</a:t>
            </a:r>
          </a:p>
          <a:p>
            <a:r>
              <a:rPr lang="en-US" dirty="0"/>
              <a:t>Faster convergence, better performance</a:t>
            </a:r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b="1" dirty="0"/>
              <a:t>Which Layers?</a:t>
            </a:r>
            <a:endParaRPr lang="en-US" dirty="0"/>
          </a:p>
          <a:p>
            <a:r>
              <a:rPr lang="en-US" dirty="0"/>
              <a:t>Initial layers → general features</a:t>
            </a:r>
          </a:p>
          <a:p>
            <a:r>
              <a:rPr lang="en-US" dirty="0"/>
              <a:t>Later layers → task-specific features</a:t>
            </a:r>
          </a:p>
        </p:txBody>
      </p:sp>
      <p:sp>
        <p:nvSpPr>
          <p:cNvPr id="704" name="Pre-trained model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rmAutofit/>
          </a:bodyPr>
          <a:lstStyle>
            <a:lvl1pPr defTabSz="1525858">
              <a:defRPr sz="5280" spc="-105"/>
            </a:lvl1pPr>
          </a:lstStyle>
          <a:p>
            <a:r>
              <a:rPr sz="4000" dirty="0"/>
              <a:t>Pre-trained models</a:t>
            </a:r>
          </a:p>
        </p:txBody>
      </p:sp>
    </p:spTree>
  </p:cSld>
  <p:clrMapOvr>
    <a:masterClrMapping/>
  </p:clrMapOvr>
  <p:transition spd="med"/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F6113A-D8E2-2A06-CCA1-66D9C7A053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Many of these very large neural networks are publicly available…">
            <a:extLst>
              <a:ext uri="{FF2B5EF4-FFF2-40B4-BE49-F238E27FC236}">
                <a16:creationId xmlns:a16="http://schemas.microsoft.com/office/drawing/2014/main" id="{40437F23-12D1-B7E7-62B2-DD2089933B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>
            <a:normAutofit fontScale="92500" lnSpcReduction="20000"/>
          </a:bodyPr>
          <a:lstStyle/>
          <a:p>
            <a:r>
              <a:rPr lang="en-US" b="1" dirty="0"/>
              <a:t>Transfer Learning</a:t>
            </a:r>
            <a:endParaRPr lang="en-US" dirty="0"/>
          </a:p>
          <a:p>
            <a:pPr lvl="1"/>
            <a:r>
              <a:rPr lang="en-US" dirty="0"/>
              <a:t>Keep lower layers (feature extraction)</a:t>
            </a:r>
          </a:p>
          <a:p>
            <a:pPr lvl="1"/>
            <a:r>
              <a:rPr lang="en-US" dirty="0"/>
              <a:t>Replace/train top layers for new task</a:t>
            </a:r>
          </a:p>
          <a:p>
            <a:pPr lvl="1"/>
            <a:r>
              <a:rPr lang="en-US" dirty="0"/>
              <a:t>Optionally fine-tune entire network</a:t>
            </a:r>
          </a:p>
          <a:p>
            <a:pPr marL="457200" lvl="1" indent="0">
              <a:buNone/>
            </a:pPr>
            <a:endParaRPr lang="en-US" dirty="0"/>
          </a:p>
          <a:p>
            <a:r>
              <a:rPr lang="en-US" b="1" dirty="0"/>
              <a:t>Direct Use</a:t>
            </a:r>
            <a:endParaRPr lang="en-US" dirty="0"/>
          </a:p>
          <a:p>
            <a:pPr lvl="1"/>
            <a:r>
              <a:rPr lang="en-US" dirty="0"/>
              <a:t>Apply the model as-is if the task is very similar</a:t>
            </a:r>
            <a:br>
              <a:rPr lang="en-US" dirty="0"/>
            </a:br>
            <a:endParaRPr lang="en-US" dirty="0"/>
          </a:p>
          <a:p>
            <a:r>
              <a:rPr lang="en-US" b="1" dirty="0"/>
              <a:t>Some Considerations</a:t>
            </a:r>
            <a:endParaRPr lang="en-US" dirty="0"/>
          </a:p>
          <a:p>
            <a:pPr lvl="1"/>
            <a:r>
              <a:rPr lang="en-US" dirty="0"/>
              <a:t>Freeze layers when data is small</a:t>
            </a:r>
          </a:p>
          <a:p>
            <a:pPr lvl="1"/>
            <a:r>
              <a:rPr lang="en-US" dirty="0"/>
              <a:t>Fine-tune when data is larger</a:t>
            </a:r>
          </a:p>
          <a:p>
            <a:pPr lvl="1"/>
            <a:r>
              <a:rPr lang="en-US" dirty="0"/>
              <a:t>More similarity → less retraining needed</a:t>
            </a:r>
          </a:p>
        </p:txBody>
      </p:sp>
      <p:sp>
        <p:nvSpPr>
          <p:cNvPr id="704" name="Pre-trained models">
            <a:extLst>
              <a:ext uri="{FF2B5EF4-FFF2-40B4-BE49-F238E27FC236}">
                <a16:creationId xmlns:a16="http://schemas.microsoft.com/office/drawing/2014/main" id="{1FCC8A7B-6B56-19D3-4616-DBD4C468AFC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rmAutofit/>
          </a:bodyPr>
          <a:lstStyle>
            <a:lvl1pPr defTabSz="1525858">
              <a:defRPr sz="5280" spc="-105"/>
            </a:lvl1pPr>
          </a:lstStyle>
          <a:p>
            <a:r>
              <a:rPr lang="en-US" sz="4000" dirty="0"/>
              <a:t>Transfer Learning</a:t>
            </a:r>
            <a:endParaRPr sz="4000" dirty="0"/>
          </a:p>
        </p:txBody>
      </p:sp>
    </p:spTree>
    <p:extLst>
      <p:ext uri="{BB962C8B-B14F-4D97-AF65-F5344CB8AC3E}">
        <p14:creationId xmlns:p14="http://schemas.microsoft.com/office/powerpoint/2010/main" val="2502912553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638</TotalTime>
  <Words>4567</Words>
  <Application>Microsoft Office PowerPoint</Application>
  <PresentationFormat>Widescreen</PresentationFormat>
  <Paragraphs>2719</Paragraphs>
  <Slides>85</Slides>
  <Notes>1</Notes>
  <HiddenSlides>1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85</vt:i4>
      </vt:variant>
    </vt:vector>
  </HeadingPairs>
  <TitlesOfParts>
    <vt:vector size="92" baseType="lpstr">
      <vt:lpstr>Aptos</vt:lpstr>
      <vt:lpstr>Arial</vt:lpstr>
      <vt:lpstr>Calisto MT</vt:lpstr>
      <vt:lpstr>Cambria Math</vt:lpstr>
      <vt:lpstr>Helvetica Neue Medium</vt:lpstr>
      <vt:lpstr>Univers Condensed</vt:lpstr>
      <vt:lpstr>ChronicleVTI</vt:lpstr>
      <vt:lpstr>Convolutional Neural Networks</vt:lpstr>
      <vt:lpstr>Terms </vt:lpstr>
      <vt:lpstr>Biological motivation of CNNs</vt:lpstr>
      <vt:lpstr>Convolutional Neural Networks</vt:lpstr>
      <vt:lpstr>What is a convolution? </vt:lpstr>
      <vt:lpstr>Continuous example</vt:lpstr>
      <vt:lpstr>Continuous example</vt:lpstr>
      <vt:lpstr>Discrete Example</vt:lpstr>
      <vt:lpstr>Discrete Example</vt:lpstr>
      <vt:lpstr>Discrete Example</vt:lpstr>
      <vt:lpstr>Discrete Example</vt:lpstr>
      <vt:lpstr>Discrete Example</vt:lpstr>
      <vt:lpstr>Discrete Example</vt:lpstr>
      <vt:lpstr>Discrete Example</vt:lpstr>
      <vt:lpstr>Discrete Example</vt:lpstr>
      <vt:lpstr>Discrete Example</vt:lpstr>
      <vt:lpstr>Discrete Example</vt:lpstr>
      <vt:lpstr>Discrete Example</vt:lpstr>
      <vt:lpstr>Discrete Example</vt:lpstr>
      <vt:lpstr>Uses of convolutions </vt:lpstr>
      <vt:lpstr>Convolutions in Image Processing</vt:lpstr>
      <vt:lpstr>CNN Architecture</vt:lpstr>
      <vt:lpstr>CNN Architecture</vt:lpstr>
      <vt:lpstr>Convolutional Layer</vt:lpstr>
      <vt:lpstr>Convolution with one filter</vt:lpstr>
      <vt:lpstr>Convolution with one filter</vt:lpstr>
      <vt:lpstr>Convolution with one filter</vt:lpstr>
      <vt:lpstr>Convolution with one filter</vt:lpstr>
      <vt:lpstr>Convolution with one filter</vt:lpstr>
      <vt:lpstr>Convolution with one filter</vt:lpstr>
      <vt:lpstr>Convolution with one filter</vt:lpstr>
      <vt:lpstr>Convolution with one filter</vt:lpstr>
      <vt:lpstr>Convolution with one filter</vt:lpstr>
      <vt:lpstr>Convolution with one filter</vt:lpstr>
      <vt:lpstr>Convolution with one filter</vt:lpstr>
      <vt:lpstr>Convolution with one filter</vt:lpstr>
      <vt:lpstr>Convolution with one filter</vt:lpstr>
      <vt:lpstr>Convolution with one filter</vt:lpstr>
      <vt:lpstr>Convolution with one filter</vt:lpstr>
      <vt:lpstr>Convolution with one filter</vt:lpstr>
      <vt:lpstr>Convolution with one filter</vt:lpstr>
      <vt:lpstr>Convolution with one filter</vt:lpstr>
      <vt:lpstr>Convolution with one filter</vt:lpstr>
      <vt:lpstr>Convolution with one filter</vt:lpstr>
      <vt:lpstr>Convolution with one filter</vt:lpstr>
      <vt:lpstr>Convolution with one filter</vt:lpstr>
      <vt:lpstr>Convolution with one filter</vt:lpstr>
      <vt:lpstr>Convolution with one filter</vt:lpstr>
      <vt:lpstr>Convolution with one filter</vt:lpstr>
      <vt:lpstr>Convolution with one filter</vt:lpstr>
      <vt:lpstr>Convolutional Layer</vt:lpstr>
      <vt:lpstr>Pooling Layer</vt:lpstr>
      <vt:lpstr>Max Pooling</vt:lpstr>
      <vt:lpstr>Max Pooling</vt:lpstr>
      <vt:lpstr>Max Pooling</vt:lpstr>
      <vt:lpstr>Max Pooling</vt:lpstr>
      <vt:lpstr>Max Pooling</vt:lpstr>
      <vt:lpstr>Max Pooling</vt:lpstr>
      <vt:lpstr>Max Pooling</vt:lpstr>
      <vt:lpstr>Max Pooling</vt:lpstr>
      <vt:lpstr>Max Pooling</vt:lpstr>
      <vt:lpstr>Max Pooling</vt:lpstr>
      <vt:lpstr>Flattening &amp; Fully connected layers</vt:lpstr>
      <vt:lpstr>Image to Classification </vt:lpstr>
      <vt:lpstr>Flattening</vt:lpstr>
      <vt:lpstr>Fully connected layer</vt:lpstr>
      <vt:lpstr>Summary</vt:lpstr>
      <vt:lpstr>ImageNet</vt:lpstr>
      <vt:lpstr>ImageNet Large-Scale Visual Recognition Challenge</vt:lpstr>
      <vt:lpstr>Modern CNN Architectures </vt:lpstr>
      <vt:lpstr>Various CNN Architectures </vt:lpstr>
      <vt:lpstr>Innovations that made depth possible</vt:lpstr>
      <vt:lpstr>AlexNet (2012)</vt:lpstr>
      <vt:lpstr>ResNet (Residual Network)</vt:lpstr>
      <vt:lpstr>CNN Training</vt:lpstr>
      <vt:lpstr>Training components</vt:lpstr>
      <vt:lpstr>CNN Layer Components</vt:lpstr>
      <vt:lpstr>Kernel (Sliding Window)</vt:lpstr>
      <vt:lpstr>Kernel Size</vt:lpstr>
      <vt:lpstr>Stride</vt:lpstr>
      <vt:lpstr>Padding</vt:lpstr>
      <vt:lpstr>Weight Sharing</vt:lpstr>
      <vt:lpstr>Using Pre-trained Models</vt:lpstr>
      <vt:lpstr>Pre-trained models</vt:lpstr>
      <vt:lpstr>Transfer Learning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Jake Rhodes</dc:creator>
  <cp:lastModifiedBy>Jake Rhodes</cp:lastModifiedBy>
  <cp:revision>34</cp:revision>
  <dcterms:created xsi:type="dcterms:W3CDTF">2025-10-28T15:32:43Z</dcterms:created>
  <dcterms:modified xsi:type="dcterms:W3CDTF">2026-03-19T15:23:22Z</dcterms:modified>
</cp:coreProperties>
</file>