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86"/>
  </p:notesMasterIdLst>
  <p:sldIdLst>
    <p:sldId id="256" r:id="rId2"/>
    <p:sldId id="257" r:id="rId3"/>
    <p:sldId id="260" r:id="rId4"/>
    <p:sldId id="261" r:id="rId5"/>
    <p:sldId id="263" r:id="rId6"/>
    <p:sldId id="335" r:id="rId7"/>
    <p:sldId id="336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7" r:id="rId69"/>
    <p:sldId id="329" r:id="rId70"/>
    <p:sldId id="325" r:id="rId71"/>
    <p:sldId id="326" r:id="rId72"/>
    <p:sldId id="331" r:id="rId73"/>
    <p:sldId id="330" r:id="rId74"/>
    <p:sldId id="332" r:id="rId75"/>
    <p:sldId id="337" r:id="rId76"/>
    <p:sldId id="338" r:id="rId77"/>
    <p:sldId id="339" r:id="rId78"/>
    <p:sldId id="343" r:id="rId79"/>
    <p:sldId id="340" r:id="rId80"/>
    <p:sldId id="341" r:id="rId81"/>
    <p:sldId id="342" r:id="rId82"/>
    <p:sldId id="344" r:id="rId83"/>
    <p:sldId id="333" r:id="rId84"/>
    <p:sldId id="334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83" d="100"/>
          <a:sy n="83" d="100"/>
        </p:scale>
        <p:origin x="12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Desmos:</a:t>
            </a:r>
          </a:p>
          <a:p>
            <a:endParaRPr lang="en-US" dirty="0"/>
          </a:p>
          <a:p>
            <a:r>
              <a:rPr lang="en-US" dirty="0"/>
              <a:t>y\ =1\ \left\{x\ &gt;\ 0\right\}\ \left\{x\ &lt;\ 1\right\}</a:t>
            </a:r>
          </a:p>
          <a:p>
            <a:r>
              <a:rPr lang="en-US" dirty="0"/>
              <a:t>y\ =\ 1\ \left\{x\ &gt;\ a-1\right\}\ \left\{x\ &lt;\ a\right\}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4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607064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268141"/>
            <a:ext cx="10882313" cy="2321719"/>
          </a:xfrm>
          <a:prstGeom prst="rect">
            <a:avLst/>
          </a:prstGeom>
        </p:spPr>
        <p:txBody>
          <a:bodyPr anchor="ctr"/>
          <a:lstStyle>
            <a:lvl1pPr>
              <a:defRPr sz="5765" spc="-115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Line"/>
          <p:cNvSpPr/>
          <p:nvPr/>
        </p:nvSpPr>
        <p:spPr>
          <a:xfrm>
            <a:off x="11793" y="2116543"/>
            <a:ext cx="12168415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sp>
        <p:nvSpPr>
          <p:cNvPr id="73" name="Line"/>
          <p:cNvSpPr/>
          <p:nvPr/>
        </p:nvSpPr>
        <p:spPr>
          <a:xfrm>
            <a:off x="11792" y="4516789"/>
            <a:ext cx="12168416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sp>
        <p:nvSpPr>
          <p:cNvPr id="7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58803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8" r:id="rId12"/>
    <p:sldLayoutId id="2147483689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"/><Relationship Id="rId2" Type="http://schemas.openxmlformats.org/officeDocument/2006/relationships/image" Target="../media/image20.tif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tif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tif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tif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tif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AF47EC-6C92-339E-6A04-8ABE77E19F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834" b="589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Convolutional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ANN = Artificial neural network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ANN = Artificial neural network</a:t>
            </a:r>
          </a:p>
          <a:p>
            <a:r>
              <a:t>DNN = Deep neural network</a:t>
            </a:r>
          </a:p>
          <a:p>
            <a:r>
              <a:t>CNN = Convolutional neural network</a:t>
            </a:r>
          </a:p>
          <a:p>
            <a:r>
              <a:t>RNN = Recurrent neural network</a:t>
            </a:r>
          </a:p>
        </p:txBody>
      </p:sp>
      <p:sp>
        <p:nvSpPr>
          <p:cNvPr id="157" name="N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dirty="0"/>
              <a:t>Terms</a:t>
            </a:r>
            <a:r>
              <a:rPr dirty="0"/>
              <a:t> 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CNNs are inspired by the structure and function of the visual cortex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CNNs are inspired by the structure and function of the visual cortex</a:t>
            </a:r>
          </a:p>
          <a:p>
            <a:pPr lvl="1"/>
            <a:r>
              <a:t>Simple cells</a:t>
            </a:r>
          </a:p>
          <a:p>
            <a:pPr lvl="2"/>
            <a:r>
              <a:t>Respond to patterns of light of a certain orientation (such as edges or bars)</a:t>
            </a:r>
          </a:p>
          <a:p>
            <a:pPr lvl="1"/>
            <a:r>
              <a:t>Complex cells</a:t>
            </a:r>
          </a:p>
          <a:p>
            <a:pPr lvl="2"/>
            <a:r>
              <a:t>Respond to patterns of light in a location but are less sensitive to the exact position</a:t>
            </a:r>
          </a:p>
          <a:p>
            <a:r>
              <a:t>When looking at images, our brain perceives features (both simple and abstract) rather than every detail</a:t>
            </a:r>
          </a:p>
        </p:txBody>
      </p:sp>
      <p:sp>
        <p:nvSpPr>
          <p:cNvPr id="160" name="Biological motivation of CN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Biological motivation of CNNs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CNNs mimic the structure and function of the visual system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CNNs mimic the structure and function of the visual system</a:t>
            </a:r>
          </a:p>
          <a:p>
            <a:r>
              <a:t>They use layers of “convolutions” (or filters) to learn and extract features of the input data</a:t>
            </a:r>
          </a:p>
          <a:p>
            <a:r>
              <a:t>Specifically designed to process and analyze data with a grid-like structure</a:t>
            </a:r>
          </a:p>
          <a:p>
            <a:pPr lvl="1"/>
            <a:r>
              <a:t>Images</a:t>
            </a:r>
          </a:p>
          <a:p>
            <a:pPr lvl="1"/>
            <a:r>
              <a:t>Videos </a:t>
            </a:r>
          </a:p>
        </p:txBody>
      </p:sp>
      <p:sp>
        <p:nvSpPr>
          <p:cNvPr id="163" name="Convolutional Neural Networ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Convolutional Neural Networks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Mathematical operation on two functions (f and g) that produces a third function (f*g) that expresses how the shape of one is modified by the other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Mathematical operation on two functions (f and g) that produces a third function (f*g) that expresses how the shape of one is modified by the other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Sup>
                      <m:sSubSup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</m:e>
                      <m: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−∞</m:t>
                        </m:r>
                      </m:sub>
                      <m:sup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dirty="0"/>
              </a:p>
              <a:p>
                <a:endParaRPr dirty="0"/>
              </a:p>
              <a:p>
                <a:r>
                  <a:rPr dirty="0"/>
                  <a:t>Convolution is fancy multiplication</a:t>
                </a:r>
              </a:p>
              <a:p>
                <a:r>
                  <a:rPr dirty="0"/>
                  <a:t>Convolutions are often described as multiplication and addition over a flipped sliding window</a:t>
                </a:r>
              </a:p>
            </p:txBody>
          </p:sp>
        </mc:Choice>
        <mc:Fallback xmlns="">
          <p:sp>
            <p:nvSpPr>
              <p:cNvPr id="167" name="Mathematical operation on two functions (f and g) that produces a third function (f*g) that expresses how the shape of one is modified by the other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What is a convolution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What is a convolution? 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E1308-B446-0831-BA77-6A7E40013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38E621-C471-410F-C77B-B444127686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5469" y="1741687"/>
                <a:ext cx="10691265" cy="373989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Define two simple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𝑓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  <m:e>
                                <m:r>
                                  <a:rPr lang="ar-AE"/>
                                  <m:t>0</m:t>
                                </m:r>
                                <m:r>
                                  <a:rPr lang="ar-AE"/>
                                  <m:t>≤</m:t>
                                </m:r>
                                <m:r>
                                  <a:rPr lang="ar-AE" i="1"/>
                                  <m:t>𝑡</m:t>
                                </m:r>
                                <m:r>
                                  <a:rPr lang="ar-AE"/>
                                  <m:t>≤</m:t>
                                </m:r>
                                <m:r>
                                  <a:rPr lang="ar-AE"/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/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/>
                        <m:t> </m:t>
                      </m:r>
                      <m:r>
                        <a:rPr lang="ar-AE" i="1"/>
                        <m:t>𝑔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  <m:e>
                                <m:r>
                                  <a:rPr lang="ar-AE"/>
                                  <m:t>0</m:t>
                                </m:r>
                                <m:r>
                                  <a:rPr lang="ar-AE"/>
                                  <m:t>≤</m:t>
                                </m:r>
                                <m:r>
                                  <a:rPr lang="ar-AE" i="1"/>
                                  <m:t>𝑡</m:t>
                                </m:r>
                                <m:r>
                                  <a:rPr lang="ar-AE"/>
                                  <m:t>≤</m:t>
                                </m:r>
                                <m:r>
                                  <a:rPr lang="ar-AE"/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/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en-US" b="1" dirty="0"/>
                  <a:t>Convolution definition: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ar-AE"/>
                          </m:ctrlPr>
                        </m:dPr>
                        <m:e>
                          <m:r>
                            <a:rPr lang="ar-AE" i="1"/>
                            <m:t>𝑓</m:t>
                          </m:r>
                          <m:r>
                            <a:rPr lang="ar-AE"/>
                            <m:t>∗</m:t>
                          </m:r>
                          <m:r>
                            <a:rPr lang="ar-AE" i="1"/>
                            <m:t>𝑔</m:t>
                          </m:r>
                        </m:e>
                      </m:d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=</m:t>
                      </m:r>
                      <m:nary>
                        <m:naryPr>
                          <m:grow m:val="on"/>
                          <m:ctrlPr>
                            <a:rPr lang="ar-AE" i="1"/>
                          </m:ctrlPr>
                        </m:naryPr>
                        <m:sub>
                          <m:r>
                            <a:rPr lang="ar-AE"/>
                            <m:t>−</m:t>
                          </m:r>
                          <m:r>
                            <a:rPr lang="ar-AE"/>
                            <m:t>∞</m:t>
                          </m:r>
                        </m:sub>
                        <m:sup>
                          <m:r>
                            <a:rPr lang="ar-AE"/>
                            <m:t>∞</m:t>
                          </m:r>
                        </m:sup>
                        <m:e>
                          <m:r>
                            <a:rPr lang="ar-AE" i="1"/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𝜏</m:t>
                          </m:r>
                        </m:e>
                      </m:d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i="1"/>
                        <m:t>𝑔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  <m:r>
                            <a:rPr lang="ar-AE"/>
                            <m:t>−</m:t>
                          </m:r>
                          <m:r>
                            <a:rPr lang="ar-AE" i="1"/>
                            <m:t>𝜏</m:t>
                          </m:r>
                        </m:e>
                      </m:d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i="1"/>
                        <m:t>𝑑</m:t>
                      </m:r>
                      <m:r>
                        <a:rPr lang="ar-AE" i="1"/>
                        <m:t>𝜏</m:t>
                      </m:r>
                    </m:oMath>
                  </m:oMathPara>
                </a14:m>
                <a:endParaRPr lang="ar-AE" b="0" dirty="0"/>
              </a:p>
              <a:p>
                <a14:m>
                  <m:oMath xmlns:m="http://schemas.openxmlformats.org/officeDocument/2006/math">
                    <m:r>
                      <a:rPr lang="ar-AE" i="1"/>
                      <m:t>𝜏</m:t>
                    </m:r>
                  </m:oMath>
                </a14:m>
                <a:r>
                  <a:rPr lang="ar-AE" dirty="0"/>
                  <a:t>: </a:t>
                </a:r>
                <a:r>
                  <a:rPr lang="en-US" dirty="0"/>
                  <a:t>integration variable</a:t>
                </a:r>
              </a:p>
              <a:p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r>
                  <a:rPr lang="en-US" dirty="0"/>
                  <a:t>: output location</a:t>
                </a:r>
              </a:p>
              <a:p>
                <a14:m>
                  <m:oMath xmlns:m="http://schemas.openxmlformats.org/officeDocument/2006/math">
                    <m:r>
                      <a:rPr lang="en-US" i="1"/>
                      <m:t>𝑔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  <m:r>
                          <a:rPr lang="ar-AE"/>
                          <m:t>−</m:t>
                        </m:r>
                        <m:r>
                          <a:rPr lang="ar-AE" i="1"/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: </a:t>
                </a:r>
                <a:r>
                  <a:rPr lang="en-US" dirty="0"/>
                  <a:t>flipped and shifted version of </a:t>
                </a:r>
                <a14:m>
                  <m:oMath xmlns:m="http://schemas.openxmlformats.org/officeDocument/2006/math">
                    <m:r>
                      <a:rPr lang="en-US" i="1"/>
                      <m:t>𝑔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38E621-C471-410F-C77B-B444127686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5469" y="1741687"/>
                <a:ext cx="10691265" cy="3739896"/>
              </a:xfrm>
              <a:blipFill>
                <a:blip r:embed="rId2"/>
                <a:stretch>
                  <a:fillRect l="-513" t="-979" b="-1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397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D805-F41C-CA04-C26B-295FF1716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43C1-9570-E790-FBD4-954865BD4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779CD-1210-8AB5-CFB3-66B3023C8F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0634" y="1751212"/>
                <a:ext cx="10691265" cy="373989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ar-AE" i="1" smtClean="0"/>
                      <m:t>𝑓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is nonzero on [0, 1]</a:t>
                </a:r>
                <a:endParaRPr lang="ar-AE" dirty="0"/>
              </a:p>
              <a:p>
                <a14:m>
                  <m:oMath xmlns:m="http://schemas.openxmlformats.org/officeDocument/2006/math">
                    <m:r>
                      <a:rPr lang="ar-AE" i="1"/>
                      <m:t>𝑔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  <m:r>
                          <a:rPr lang="ar-AE"/>
                          <m:t>−</m:t>
                        </m:r>
                        <m:r>
                          <a:rPr lang="ar-AE" i="1"/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is nonzero when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/>
                      <m:t>𝑡</m:t>
                    </m:r>
                    <m:r>
                      <a:rPr lang="en-US"/>
                      <m:t>−</m:t>
                    </m:r>
                    <m:r>
                      <a:rPr lang="en-US"/>
                      <m:t>1</m:t>
                    </m:r>
                    <m:r>
                      <a:rPr lang="en-US"/>
                      <m:t>≤</m:t>
                    </m:r>
                    <m:r>
                      <a:rPr lang="en-US" i="1"/>
                      <m:t>𝜏</m:t>
                    </m:r>
                    <m:r>
                      <a:rPr lang="en-US"/>
                      <m:t>≤</m:t>
                    </m:r>
                    <m:r>
                      <a:rPr lang="en-US" i="1"/>
                      <m:t>𝑡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Therefore:</a:t>
                </a:r>
              </a:p>
              <a:p>
                <a:pPr marL="0" indent="0">
                  <a:buNone/>
                </a:pPr>
                <a:r>
                  <a:rPr lang="en-US" dirty="0"/>
                  <a:t>      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/>
                        </m:ctrlPr>
                      </m:dPr>
                      <m:e>
                        <m:r>
                          <a:rPr lang="ar-AE" i="1"/>
                          <m:t>𝑓</m:t>
                        </m:r>
                        <m:r>
                          <a:rPr lang="ar-AE"/>
                          <m:t>∗</m:t>
                        </m:r>
                        <m:r>
                          <a:rPr lang="ar-AE" i="1"/>
                          <m:t>𝑔</m:t>
                        </m:r>
                      </m:e>
                    </m:d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  <m:r>
                      <a:rPr lang="ar-AE"/>
                      <m:t>=</m:t>
                    </m:r>
                  </m:oMath>
                </a14:m>
                <a:r>
                  <a:rPr lang="en-US" b="0" dirty="0"/>
                  <a:t> Length of Overlap </a:t>
                </a:r>
                <a:r>
                  <a:rPr lang="en-US" dirty="0"/>
                  <a:t>between the intervals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] </m:t>
                    </m:r>
                    <m:r>
                      <m:rPr>
                        <m:nor/>
                      </m:rPr>
                      <a:rPr lang="en-US" i="1"/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779CD-1210-8AB5-CFB3-66B3023C8F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0634" y="1751212"/>
                <a:ext cx="10691265" cy="3739896"/>
              </a:xfrm>
              <a:blipFill>
                <a:blip r:embed="rId3"/>
                <a:stretch>
                  <a:fillRect l="-513" t="-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6732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uppose patients come to our hospital this week with a certain disease and a different number of patients come each day…"/>
          <p:cNvSpPr txBox="1">
            <a:spLocks noGrp="1"/>
          </p:cNvSpPr>
          <p:nvPr>
            <p:ph type="body" idx="1"/>
          </p:nvPr>
        </p:nvSpPr>
        <p:spPr>
          <a:xfrm>
            <a:off x="700635" y="1831467"/>
            <a:ext cx="10691265" cy="373989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dirty="0"/>
              <a:t>Suppose patients come to our hospital this week with a certain disease and a different number of patients come each day</a:t>
            </a:r>
          </a:p>
          <a:p>
            <a:pPr lvl="1"/>
            <a:r>
              <a:rPr dirty="0"/>
              <a:t> M: 1 patients</a:t>
            </a:r>
            <a:br>
              <a:rPr dirty="0"/>
            </a:br>
            <a:r>
              <a:rPr dirty="0"/>
              <a:t> T: 2 patients</a:t>
            </a:r>
            <a:br>
              <a:rPr dirty="0"/>
            </a:br>
            <a:r>
              <a:rPr dirty="0"/>
              <a:t> W: 3 patients</a:t>
            </a:r>
            <a:br>
              <a:rPr dirty="0"/>
            </a:br>
            <a:r>
              <a:rPr dirty="0"/>
              <a:t> Th: 4 patients</a:t>
            </a:r>
            <a:br>
              <a:rPr dirty="0"/>
            </a:br>
            <a:r>
              <a:rPr dirty="0"/>
              <a:t> F: 5 patient</a:t>
            </a:r>
          </a:p>
          <a:p>
            <a:pPr lvl="1"/>
            <a:r>
              <a:rPr dirty="0"/>
              <a:t>In vector format: [1, 2, 3, 4, 5]</a:t>
            </a:r>
          </a:p>
          <a:p>
            <a:r>
              <a:rPr dirty="0"/>
              <a:t>Suppose that we treat each patient with 3 doses of medication </a:t>
            </a:r>
          </a:p>
          <a:p>
            <a:r>
              <a:rPr dirty="0"/>
              <a:t>How many doses of medication will we need each day?</a:t>
            </a:r>
          </a:p>
          <a:p>
            <a:pPr lvl="1"/>
            <a:r>
              <a:rPr dirty="0"/>
              <a:t>[3, 6, 9, 12, 15]</a:t>
            </a:r>
          </a:p>
        </p:txBody>
      </p:sp>
      <p:sp>
        <p:nvSpPr>
          <p:cNvPr id="174" name="Simple Example"/>
          <p:cNvSpPr txBox="1">
            <a:spLocks noGrp="1"/>
          </p:cNvSpPr>
          <p:nvPr>
            <p:ph type="title"/>
          </p:nvPr>
        </p:nvSpPr>
        <p:spPr>
          <a:xfrm>
            <a:off x="700635" y="914400"/>
            <a:ext cx="10691265" cy="781050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</a:t>
            </a:r>
            <a:r>
              <a:rPr sz="4000" dirty="0"/>
              <a:t> Example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uppose patients come to our hospital this week with a certain disease and a different number of patients come each day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Suppose patients come to our hospital this week with a certain disease and a different number of patients come each day</a:t>
            </a:r>
          </a:p>
          <a:p>
            <a:pPr lvl="1"/>
            <a:r>
              <a:rPr dirty="0"/>
              <a:t>In vector format: [1, 2, 3, 4, 5]</a:t>
            </a:r>
          </a:p>
          <a:p>
            <a:r>
              <a:rPr dirty="0"/>
              <a:t>Now suppose that patients need a multi-day regimen with 3 doses the first day, 2 the second day, and 3 doses the third day</a:t>
            </a:r>
          </a:p>
          <a:p>
            <a:pPr lvl="1"/>
            <a:r>
              <a:rPr dirty="0"/>
              <a:t>[3, 2, 1]</a:t>
            </a:r>
          </a:p>
          <a:p>
            <a:r>
              <a:rPr dirty="0"/>
              <a:t>How many doses of medication will we need each day? </a:t>
            </a:r>
          </a:p>
        </p:txBody>
      </p:sp>
      <p:sp>
        <p:nvSpPr>
          <p:cNvPr id="177" name="Simple Example"/>
          <p:cNvSpPr txBox="1">
            <a:spLocks noGrp="1"/>
          </p:cNvSpPr>
          <p:nvPr>
            <p:ph type="title"/>
          </p:nvPr>
        </p:nvSpPr>
        <p:spPr>
          <a:xfrm>
            <a:off x="700635" y="914400"/>
            <a:ext cx="10691265" cy="676275"/>
          </a:xfrm>
          <a:prstGeom prst="rect">
            <a:avLst/>
          </a:prstGeom>
        </p:spPr>
        <p:txBody>
          <a:bodyPr>
            <a:no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 Example</a:t>
            </a:r>
            <a:endParaRPr sz="400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uppose patients come to our hospital this week with a certain disease and a different number of patients come each day…"/>
          <p:cNvSpPr txBox="1">
            <a:spLocks noGrp="1"/>
          </p:cNvSpPr>
          <p:nvPr>
            <p:ph type="body" idx="1"/>
          </p:nvPr>
        </p:nvSpPr>
        <p:spPr>
          <a:xfrm>
            <a:off x="1688348" y="1829602"/>
            <a:ext cx="8161734" cy="5372253"/>
          </a:xfrm>
          <a:prstGeom prst="rect">
            <a:avLst/>
          </a:prstGeom>
        </p:spPr>
        <p:txBody>
          <a:bodyPr/>
          <a:lstStyle/>
          <a:p>
            <a:r>
              <a:rPr dirty="0"/>
              <a:t>Suppose patients come to our hospital this week with a certain disease and a different number of patients come each day</a:t>
            </a:r>
          </a:p>
          <a:p>
            <a:pPr lvl="1"/>
            <a:r>
              <a:rPr dirty="0"/>
              <a:t>In vector format: [1, 2, 3, 4, 5]</a:t>
            </a:r>
          </a:p>
          <a:p>
            <a:r>
              <a:rPr dirty="0"/>
              <a:t>Now suppose that patients actually need a multi-day regimen with 3 doses the first day, 2 the second day, and 3 doses the third day</a:t>
            </a:r>
          </a:p>
          <a:p>
            <a:pPr lvl="1"/>
            <a:r>
              <a:rPr dirty="0"/>
              <a:t>[3, 2, 1]</a:t>
            </a:r>
          </a:p>
          <a:p>
            <a:r>
              <a:rPr dirty="0"/>
              <a:t>How many doses of medication will we need each day?</a:t>
            </a:r>
          </a:p>
        </p:txBody>
      </p:sp>
      <p:sp>
        <p:nvSpPr>
          <p:cNvPr id="180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 Example</a:t>
            </a:r>
            <a:endParaRPr sz="4000" dirty="0"/>
          </a:p>
        </p:txBody>
      </p:sp>
      <p:sp>
        <p:nvSpPr>
          <p:cNvPr id="181" name="Monday: 1*3…"/>
          <p:cNvSpPr txBox="1"/>
          <p:nvPr/>
        </p:nvSpPr>
        <p:spPr>
          <a:xfrm>
            <a:off x="1688348" y="4910341"/>
            <a:ext cx="3950120" cy="916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Monday: 1*3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Tuesday: 2*3 + 1*2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Wednesday: 3*3 + 2*2 + 1*1</a:t>
            </a:r>
          </a:p>
        </p:txBody>
      </p:sp>
      <p:sp>
        <p:nvSpPr>
          <p:cNvPr id="182" name="Thursday: 4*3 + 3*2 + 2*1…"/>
          <p:cNvSpPr txBox="1"/>
          <p:nvPr/>
        </p:nvSpPr>
        <p:spPr>
          <a:xfrm>
            <a:off x="5547933" y="4910341"/>
            <a:ext cx="3815153" cy="1286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Thursday: 4*3 + 3*2 + 2*1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Friday: 5*3 + 4*2 + 3*1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Saturday: 5*2 + 4*1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Sunday: 5*1 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 Example</a:t>
            </a:r>
            <a:endParaRPr sz="4000" dirty="0"/>
          </a:p>
        </p:txBody>
      </p:sp>
      <p:graphicFrame>
        <p:nvGraphicFramePr>
          <p:cNvPr id="185" name="Table 1"/>
          <p:cNvGraphicFramePr/>
          <p:nvPr/>
        </p:nvGraphicFramePr>
        <p:xfrm>
          <a:off x="2034090" y="1869662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6" name="Table 1-1"/>
          <p:cNvGraphicFramePr/>
          <p:nvPr>
            <p:extLst>
              <p:ext uri="{D42A27DB-BD31-4B8C-83A1-F6EECF244321}">
                <p14:modId xmlns:p14="http://schemas.microsoft.com/office/powerpoint/2010/main" val="2446097364"/>
              </p:ext>
            </p:extLst>
          </p:nvPr>
        </p:nvGraphicFramePr>
        <p:xfrm>
          <a:off x="5868530" y="1866894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dirty="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7" name="Table 1-1-1"/>
          <p:cNvGraphicFramePr/>
          <p:nvPr/>
        </p:nvGraphicFramePr>
        <p:xfrm>
          <a:off x="5868530" y="3131440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 dirty="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 dirty="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equation.pdf"/>
              <p:cNvSpPr txBox="1"/>
              <p:nvPr/>
            </p:nvSpPr>
            <p:spPr>
              <a:xfrm>
                <a:off x="5322859" y="1866894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 dirty="0"/>
              </a:p>
            </p:txBody>
          </p:sp>
        </mc:Choice>
        <mc:Fallback>
          <p:sp>
            <p:nvSpPr>
              <p:cNvPr id="18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859" y="1866894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0" name="Table 1-2"/>
          <p:cNvGraphicFramePr/>
          <p:nvPr/>
        </p:nvGraphicFramePr>
        <p:xfrm>
          <a:off x="3128497" y="3998556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9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4804281">
            <a:off x="3189557" y="3043161"/>
            <a:ext cx="1468449" cy="234094"/>
          </a:xfrm>
          <a:prstGeom prst="rect">
            <a:avLst/>
          </a:prstGeom>
        </p:spPr>
      </p:pic>
      <p:sp>
        <p:nvSpPr>
          <p:cNvPr id="193" name="Flip this vector"/>
          <p:cNvSpPr txBox="1"/>
          <p:nvPr/>
        </p:nvSpPr>
        <p:spPr>
          <a:xfrm>
            <a:off x="1252257" y="2935139"/>
            <a:ext cx="2093908" cy="4568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2500" dirty="0"/>
              <a:t>Flip this vector</a:t>
            </a:r>
          </a:p>
        </p:txBody>
      </p:sp>
      <p:pic>
        <p:nvPicPr>
          <p:cNvPr id="194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22141" y="4105143"/>
            <a:ext cx="1449251" cy="234095"/>
          </a:xfrm>
          <a:prstGeom prst="rect">
            <a:avLst/>
          </a:prstGeom>
        </p:spPr>
      </p:pic>
      <p:sp>
        <p:nvSpPr>
          <p:cNvPr id="196" name="Slide across"/>
          <p:cNvSpPr txBox="1"/>
          <p:nvPr/>
        </p:nvSpPr>
        <p:spPr>
          <a:xfrm>
            <a:off x="6482500" y="4418235"/>
            <a:ext cx="876843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Slide across</a:t>
            </a:r>
          </a:p>
        </p:txBody>
      </p:sp>
      <p:sp>
        <p:nvSpPr>
          <p:cNvPr id="197" name="Multiply and Add at each “slide”"/>
          <p:cNvSpPr txBox="1"/>
          <p:nvPr/>
        </p:nvSpPr>
        <p:spPr>
          <a:xfrm>
            <a:off x="7490420" y="5014320"/>
            <a:ext cx="2242895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r>
              <a:rPr sz="1266"/>
              <a:t>Multiply and Add at each “slide”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00" name="Table 1"/>
          <p:cNvGraphicFramePr/>
          <p:nvPr/>
        </p:nvGraphicFramePr>
        <p:xfrm>
          <a:off x="2152254" y="2461975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1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2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03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04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5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08" name="Table 1"/>
          <p:cNvGraphicFramePr/>
          <p:nvPr/>
        </p:nvGraphicFramePr>
        <p:xfrm>
          <a:off x="2900533" y="2485732"/>
          <a:ext cx="3042385" cy="447268"/>
        </p:xfrm>
        <a:graphic>
          <a:graphicData uri="http://schemas.openxmlformats.org/drawingml/2006/table">
            <a:tbl>
              <a:tblPr/>
              <a:tblGrid>
                <a:gridCol w="608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9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0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11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3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8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16" name="Table 1"/>
          <p:cNvGraphicFramePr/>
          <p:nvPr/>
        </p:nvGraphicFramePr>
        <p:xfrm>
          <a:off x="3415278" y="2461975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7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8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19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2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21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24" name="Table 1"/>
          <p:cNvGraphicFramePr/>
          <p:nvPr/>
        </p:nvGraphicFramePr>
        <p:xfrm>
          <a:off x="4048059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5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6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27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28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29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32" name="Table 1"/>
          <p:cNvGraphicFramePr/>
          <p:nvPr/>
        </p:nvGraphicFramePr>
        <p:xfrm>
          <a:off x="4673674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3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4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35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8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36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7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26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40" name="Table 1"/>
          <p:cNvGraphicFramePr/>
          <p:nvPr/>
        </p:nvGraphicFramePr>
        <p:xfrm>
          <a:off x="5361972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1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2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43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44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5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48" name="Table 1"/>
          <p:cNvGraphicFramePr/>
          <p:nvPr/>
        </p:nvGraphicFramePr>
        <p:xfrm>
          <a:off x="5958734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9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0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51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53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56" name="Table 1"/>
          <p:cNvGraphicFramePr/>
          <p:nvPr/>
        </p:nvGraphicFramePr>
        <p:xfrm>
          <a:off x="2034090" y="1869662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7" name="Table 1-1"/>
          <p:cNvGraphicFramePr/>
          <p:nvPr/>
        </p:nvGraphicFramePr>
        <p:xfrm>
          <a:off x="5868530" y="191209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8" name="Table 1-1-1"/>
          <p:cNvGraphicFramePr/>
          <p:nvPr/>
        </p:nvGraphicFramePr>
        <p:xfrm>
          <a:off x="5535925" y="3209830"/>
          <a:ext cx="4059363" cy="438338"/>
        </p:xfrm>
        <a:graphic>
          <a:graphicData uri="http://schemas.openxmlformats.org/drawingml/2006/table">
            <a:tbl>
              <a:tblPr/>
              <a:tblGrid>
                <a:gridCol w="5799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8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equation.pdf"/>
              <p:cNvSpPr txBox="1"/>
              <p:nvPr/>
            </p:nvSpPr>
            <p:spPr>
              <a:xfrm>
                <a:off x="8005401" y="208257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5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401" y="208257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equation.pdf"/>
              <p:cNvSpPr txBox="1"/>
              <p:nvPr/>
            </p:nvSpPr>
            <p:spPr>
              <a:xfrm>
                <a:off x="5412206" y="195746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6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06" y="1957466"/>
                <a:ext cx="463268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1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7156" y="4799882"/>
            <a:ext cx="4911329" cy="964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Convolutions have application is a vast array discipline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Convolutions have application is a vast array disciplines </a:t>
            </a:r>
          </a:p>
          <a:p>
            <a:pPr lvl="1"/>
            <a:r>
              <a:t>Probability</a:t>
            </a:r>
          </a:p>
          <a:p>
            <a:pPr lvl="1"/>
            <a:r>
              <a:t>Statistics</a:t>
            </a:r>
          </a:p>
          <a:p>
            <a:pPr lvl="1"/>
            <a:r>
              <a:t>Image processing </a:t>
            </a:r>
          </a:p>
          <a:p>
            <a:pPr lvl="1"/>
            <a:r>
              <a:t>Signal processing</a:t>
            </a:r>
          </a:p>
          <a:p>
            <a:pPr lvl="1"/>
            <a:r>
              <a:t>Acoustics</a:t>
            </a:r>
          </a:p>
          <a:p>
            <a:pPr lvl="1"/>
            <a:r>
              <a:t>Computer vision</a:t>
            </a:r>
          </a:p>
          <a:p>
            <a:pPr lvl="1"/>
            <a:r>
              <a:t>Etc.  </a:t>
            </a:r>
          </a:p>
        </p:txBody>
      </p:sp>
      <p:sp>
        <p:nvSpPr>
          <p:cNvPr id="264" name="Uses of convolu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Uses of convolutions 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In image processing, convolving a filter with the original image results in a range of effects, depending on the filter"/>
          <p:cNvSpPr txBox="1">
            <a:spLocks noGrp="1"/>
          </p:cNvSpPr>
          <p:nvPr>
            <p:ph type="body" sz="quarter" idx="1"/>
          </p:nvPr>
        </p:nvSpPr>
        <p:spPr>
          <a:xfrm>
            <a:off x="1856466" y="1459970"/>
            <a:ext cx="8161734" cy="851645"/>
          </a:xfrm>
          <a:prstGeom prst="rect">
            <a:avLst/>
          </a:prstGeom>
        </p:spPr>
        <p:txBody>
          <a:bodyPr/>
          <a:lstStyle/>
          <a:p>
            <a:r>
              <a:rPr dirty="0"/>
              <a:t>In image processing, convolving a filter with the original image results in a range of effects, depending on the filter</a:t>
            </a:r>
          </a:p>
        </p:txBody>
      </p:sp>
      <p:sp>
        <p:nvSpPr>
          <p:cNvPr id="267" name="Convolutions in Image Processing"/>
          <p:cNvSpPr txBox="1">
            <a:spLocks noGrp="1"/>
          </p:cNvSpPr>
          <p:nvPr>
            <p:ph type="title"/>
          </p:nvPr>
        </p:nvSpPr>
        <p:spPr>
          <a:xfrm>
            <a:off x="672060" y="735414"/>
            <a:ext cx="10691265" cy="712386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1525858">
              <a:defRPr sz="5280" spc="-105"/>
            </a:lvl1pPr>
          </a:lstStyle>
          <a:p>
            <a:r>
              <a:rPr dirty="0"/>
              <a:t>Convolutions in Image Processing</a:t>
            </a:r>
          </a:p>
        </p:txBody>
      </p:sp>
      <p:pic>
        <p:nvPicPr>
          <p:cNvPr id="268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719" y="3315827"/>
            <a:ext cx="1875235" cy="18127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69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326" y="2427239"/>
            <a:ext cx="3696068" cy="118531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0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326" y="3937750"/>
            <a:ext cx="3696068" cy="1185312"/>
          </a:xfrm>
          <a:prstGeom prst="rect">
            <a:avLst/>
          </a:prstGeom>
          <a:ln w="12700">
            <a:miter lim="400000"/>
          </a:ln>
        </p:spPr>
      </p:pic>
      <p:pic>
        <p:nvPicPr>
          <p:cNvPr id="271" name="pasted-image.png" descr="pasted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7326" y="5448261"/>
            <a:ext cx="3696068" cy="1185312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Edge detection"/>
          <p:cNvSpPr txBox="1"/>
          <p:nvPr/>
        </p:nvSpPr>
        <p:spPr>
          <a:xfrm>
            <a:off x="4566509" y="2859402"/>
            <a:ext cx="1370824" cy="32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sz="1617"/>
              <a:t>Edge detection</a:t>
            </a:r>
          </a:p>
        </p:txBody>
      </p:sp>
      <p:sp>
        <p:nvSpPr>
          <p:cNvPr id="273" name="Sharpen"/>
          <p:cNvSpPr txBox="1"/>
          <p:nvPr/>
        </p:nvSpPr>
        <p:spPr>
          <a:xfrm>
            <a:off x="4896251" y="4263281"/>
            <a:ext cx="799451" cy="32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sz="1617"/>
              <a:t>Sharpen</a:t>
            </a:r>
          </a:p>
        </p:txBody>
      </p:sp>
      <p:sp>
        <p:nvSpPr>
          <p:cNvPr id="274" name="Blur"/>
          <p:cNvSpPr txBox="1"/>
          <p:nvPr/>
        </p:nvSpPr>
        <p:spPr>
          <a:xfrm>
            <a:off x="5101634" y="5880424"/>
            <a:ext cx="450444" cy="32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sz="1617"/>
              <a:t>Blur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Basic structure of a CNN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Basic structure of a CNN:</a:t>
            </a:r>
          </a:p>
          <a:p>
            <a:pPr lvl="1"/>
            <a:r>
              <a:t>Convolutional layers</a:t>
            </a:r>
          </a:p>
          <a:p>
            <a:pPr lvl="2"/>
            <a:r>
              <a:t>part of fitting process involves the network finding the filters that help identify the image</a:t>
            </a:r>
          </a:p>
          <a:p>
            <a:pPr lvl="1"/>
            <a:r>
              <a:t>Pooling layers</a:t>
            </a:r>
          </a:p>
          <a:p>
            <a:pPr lvl="1"/>
            <a:r>
              <a:t>Flattening and Fully connected layers</a:t>
            </a:r>
          </a:p>
        </p:txBody>
      </p:sp>
      <p:sp>
        <p:nvSpPr>
          <p:cNvPr id="277" name="CNN Archit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CNN Architecture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CNN Archit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CNN Architecture</a:t>
            </a:r>
          </a:p>
        </p:txBody>
      </p:sp>
      <p:pic>
        <p:nvPicPr>
          <p:cNvPr id="280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75" y="2415263"/>
            <a:ext cx="6772251" cy="3065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onvolutional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Convolutional Layer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4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5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86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287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288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8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9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1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Convolution with one filter</a:t>
            </a:r>
          </a:p>
        </p:txBody>
      </p:sp>
      <p:sp>
        <p:nvSpPr>
          <p:cNvPr id="292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pic>
        <p:nvPicPr>
          <p:cNvPr id="29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981427" y="2577249"/>
            <a:ext cx="944607" cy="234094"/>
          </a:xfrm>
          <a:prstGeom prst="rect">
            <a:avLst/>
          </a:prstGeom>
        </p:spPr>
      </p:pic>
      <p:sp>
        <p:nvSpPr>
          <p:cNvPr id="295" name="This is chosen by the model"/>
          <p:cNvSpPr txBox="1"/>
          <p:nvPr/>
        </p:nvSpPr>
        <p:spPr>
          <a:xfrm>
            <a:off x="5520257" y="1859653"/>
            <a:ext cx="303522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2200"/>
            </a:lvl1pPr>
          </a:lstStyle>
          <a:p>
            <a:r>
              <a:rPr sz="1547" dirty="0"/>
              <a:t>This is </a:t>
            </a:r>
            <a:r>
              <a:rPr lang="en-US" sz="1547" dirty="0"/>
              <a:t>learned</a:t>
            </a:r>
            <a:r>
              <a:rPr sz="1547" dirty="0"/>
              <a:t> by the model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9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0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0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0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0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0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0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1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1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1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1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1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2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2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2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2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3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3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3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3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3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3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3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4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4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4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4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4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4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5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51" name="Table 3"/>
          <p:cNvGraphicFramePr/>
          <p:nvPr/>
        </p:nvGraphicFramePr>
        <p:xfrm>
          <a:off x="785300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5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5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5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6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6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6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6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6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6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6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6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7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7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7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7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7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7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7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8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8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8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8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8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8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9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9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9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9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9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9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0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40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0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0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0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0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1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411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1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1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1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1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1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2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42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2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2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2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2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3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3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3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3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3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3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3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3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4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4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4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43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4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4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4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5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5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5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5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5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6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6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6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63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6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6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7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7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7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7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7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7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8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8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8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8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8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8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8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9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9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9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9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9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9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0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0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0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03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0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0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0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0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1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1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1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1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1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1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1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2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2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2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2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2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2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2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3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3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3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3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3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3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graphicFrame>
        <p:nvGraphicFramePr>
          <p:cNvPr id="538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39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0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41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4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4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44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4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Convolutional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Convolutional Layer</a:t>
            </a:r>
          </a:p>
        </p:txBody>
      </p:sp>
      <p:pic>
        <p:nvPicPr>
          <p:cNvPr id="548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4069"/>
            <a:ext cx="9144001" cy="4176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ooling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Pooling Layer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ooling layers operate on the feature maps to summarize the pixels in a rectangular neighborhood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Pooling layers operate on the feature maps to summarize the pixels in a rectangular neighborhood</a:t>
            </a:r>
          </a:p>
          <a:p>
            <a:r>
              <a:t>Max pooling is the most common, though other pooling operations are occasionally used</a:t>
            </a:r>
          </a:p>
          <a:p>
            <a:r>
              <a:t>The purpose of the pooling layer is to:</a:t>
            </a:r>
          </a:p>
          <a:p>
            <a:pPr lvl="1"/>
            <a:r>
              <a:t>Reduce the the spatial size of the feature map</a:t>
            </a:r>
          </a:p>
          <a:p>
            <a:pPr lvl="1"/>
            <a:r>
              <a:t>Help make the network robust to small translations and distortions of the input data</a:t>
            </a:r>
          </a:p>
        </p:txBody>
      </p:sp>
      <p:sp>
        <p:nvSpPr>
          <p:cNvPr id="553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5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5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5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6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6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6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6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6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6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6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7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7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7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7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7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7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7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8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8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8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8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8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8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8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9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9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9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9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9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9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9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0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0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0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0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0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0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0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1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1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1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1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1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1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1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2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2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2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2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2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2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2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3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3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3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3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3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3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3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4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4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4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4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Flattening &amp; Fully connected lay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Flattening &amp; Fully connected layers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After one or more convolution and pooling layer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After one or more convolution and pooling layers</a:t>
            </a:r>
          </a:p>
          <a:p>
            <a:r>
              <a:t>Send the result into a regular ANN</a:t>
            </a:r>
          </a:p>
          <a:p>
            <a:pPr lvl="1"/>
            <a:r>
              <a:t>Combine features into a wider variety of attributes</a:t>
            </a:r>
          </a:p>
          <a:p>
            <a:pPr lvl="1"/>
            <a:r>
              <a:t>Perform the classification step</a:t>
            </a:r>
          </a:p>
        </p:txBody>
      </p:sp>
      <p:sp>
        <p:nvSpPr>
          <p:cNvPr id="648" name="Image to Class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Image to Classification </a:t>
            </a:r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Flattening simply means to turn the input grid into a vector that can be input into a regular ANN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Flattening simply means to turn the input grid into a vector that can be input into a regular ANN</a:t>
            </a:r>
          </a:p>
        </p:txBody>
      </p:sp>
      <p:sp>
        <p:nvSpPr>
          <p:cNvPr id="651" name="Flatte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Flattening</a:t>
            </a:r>
          </a:p>
        </p:txBody>
      </p:sp>
      <p:pic>
        <p:nvPicPr>
          <p:cNvPr id="65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549" y="1990279"/>
            <a:ext cx="5140902" cy="2457660"/>
          </a:xfrm>
          <a:prstGeom prst="rect">
            <a:avLst/>
          </a:prstGeom>
          <a:ln w="12700">
            <a:miter lim="400000"/>
          </a:ln>
        </p:spPr>
      </p:pic>
      <p:pic>
        <p:nvPicPr>
          <p:cNvPr id="653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222" y="4602552"/>
            <a:ext cx="5183556" cy="22805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Fully connected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Fully connected layer</a:t>
            </a:r>
          </a:p>
        </p:txBody>
      </p:sp>
      <p:pic>
        <p:nvPicPr>
          <p:cNvPr id="656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085" y="2220707"/>
            <a:ext cx="6447830" cy="2933540"/>
          </a:xfrm>
          <a:prstGeom prst="rect">
            <a:avLst/>
          </a:prstGeom>
          <a:ln w="12700">
            <a:miter lim="400000"/>
          </a:ln>
        </p:spPr>
      </p:pic>
      <p:sp>
        <p:nvSpPr>
          <p:cNvPr id="657" name="The output layer will have a neuron for every possible class"/>
          <p:cNvSpPr txBox="1"/>
          <p:nvPr/>
        </p:nvSpPr>
        <p:spPr>
          <a:xfrm>
            <a:off x="6283984" y="6229689"/>
            <a:ext cx="3681431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r>
              <a:rPr sz="1266"/>
              <a:t>The output layer will have a neuron for every possible class </a:t>
            </a:r>
          </a:p>
        </p:txBody>
      </p:sp>
      <p:pic>
        <p:nvPicPr>
          <p:cNvPr id="658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606087" y="5365456"/>
            <a:ext cx="656513" cy="23409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Summar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Summary</a:t>
            </a:r>
          </a:p>
        </p:txBody>
      </p:sp>
      <p:pic>
        <p:nvPicPr>
          <p:cNvPr id="66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75" y="2415263"/>
            <a:ext cx="6772251" cy="3065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Large visual database designed for object recognition research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Large visual database designed for object recognition research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~14 million images 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Hand-annotated (Mechanical Turk) into 20,000+ categories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Subset of the data is used in the ImageNet Large Scale Visualization Recognition Challenge (ILSVRC)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lang="en-US" dirty="0"/>
              <a:t>Help end AI winter 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dirty="0"/>
              <a:t>In 2012 </a:t>
            </a:r>
            <a:r>
              <a:rPr dirty="0" err="1"/>
              <a:t>AlexNet</a:t>
            </a:r>
            <a:r>
              <a:rPr dirty="0"/>
              <a:t> achieved a top-5 error rate more than 10.8 percentage points lower than the runner up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dirty="0"/>
              <a:t>“Suddenly people started to pay attention, not just within the AI community but across the industry as a whole” </a:t>
            </a:r>
            <a:br>
              <a:rPr dirty="0"/>
            </a:br>
            <a:r>
              <a:rPr dirty="0"/>
              <a:t>(from </a:t>
            </a:r>
            <a:r>
              <a:rPr i="1" dirty="0"/>
              <a:t>The Economist</a:t>
            </a:r>
            <a:r>
              <a:rPr dirty="0"/>
              <a:t>)</a:t>
            </a:r>
          </a:p>
        </p:txBody>
      </p:sp>
      <p:sp>
        <p:nvSpPr>
          <p:cNvPr id="670" name="ImageNe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ImageNet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Subset of ImageNet Data…"/>
          <p:cNvSpPr txBox="1">
            <a:spLocks noGrp="1"/>
          </p:cNvSpPr>
          <p:nvPr>
            <p:ph type="body" sz="half" idx="1"/>
          </p:nvPr>
        </p:nvSpPr>
        <p:spPr>
          <a:xfrm>
            <a:off x="554280" y="2645614"/>
            <a:ext cx="8161734" cy="2093470"/>
          </a:xfrm>
          <a:prstGeom prst="rect">
            <a:avLst/>
          </a:prstGeom>
        </p:spPr>
        <p:txBody>
          <a:bodyPr/>
          <a:lstStyle/>
          <a:p>
            <a:r>
              <a:rPr dirty="0"/>
              <a:t>Subset of ImageNet Data</a:t>
            </a:r>
          </a:p>
          <a:p>
            <a:r>
              <a:rPr dirty="0"/>
              <a:t>1.2 million training images</a:t>
            </a:r>
          </a:p>
          <a:p>
            <a:r>
              <a:rPr dirty="0"/>
              <a:t>1000 classes </a:t>
            </a:r>
          </a:p>
        </p:txBody>
      </p:sp>
      <p:sp>
        <p:nvSpPr>
          <p:cNvPr id="678" name="ImageNet Large-Scale Visual Recognition Challeng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127054">
              <a:defRPr sz="3900" spc="-78"/>
            </a:lvl1pPr>
          </a:lstStyle>
          <a:p>
            <a:r>
              <a:t>ImageNet Large-Scale Visual Recognition Challenge</a:t>
            </a:r>
          </a:p>
        </p:txBody>
      </p:sp>
      <p:pic>
        <p:nvPicPr>
          <p:cNvPr id="679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372" y="1335761"/>
            <a:ext cx="4097109" cy="5009648"/>
          </a:xfrm>
          <a:prstGeom prst="rect">
            <a:avLst/>
          </a:prstGeom>
          <a:ln w="12700">
            <a:miter lim="400000"/>
          </a:ln>
        </p:spPr>
      </p:pic>
      <p:sp>
        <p:nvSpPr>
          <p:cNvPr id="680" name="AlexNet"/>
          <p:cNvSpPr txBox="1"/>
          <p:nvPr/>
        </p:nvSpPr>
        <p:spPr>
          <a:xfrm>
            <a:off x="4635147" y="4990236"/>
            <a:ext cx="651718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sz="1266"/>
              <a:t>AlexNet</a:t>
            </a:r>
          </a:p>
        </p:txBody>
      </p:sp>
      <p:pic>
        <p:nvPicPr>
          <p:cNvPr id="68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20836540">
            <a:off x="5681580" y="4779068"/>
            <a:ext cx="1810258" cy="234094"/>
          </a:xfrm>
          <a:prstGeom prst="rect">
            <a:avLst/>
          </a:prstGeom>
        </p:spPr>
      </p:pic>
      <p:pic>
        <p:nvPicPr>
          <p:cNvPr id="68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4824958">
            <a:off x="9113586" y="5795550"/>
            <a:ext cx="690581" cy="234094"/>
          </a:xfrm>
          <a:prstGeom prst="rect">
            <a:avLst/>
          </a:prstGeom>
        </p:spPr>
      </p:pic>
      <p:sp>
        <p:nvSpPr>
          <p:cNvPr id="685" name="ResNet"/>
          <p:cNvSpPr txBox="1"/>
          <p:nvPr/>
        </p:nvSpPr>
        <p:spPr>
          <a:xfrm>
            <a:off x="9309643" y="6311821"/>
            <a:ext cx="575607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sz="1266"/>
              <a:t>ResNet</a:t>
            </a:r>
          </a:p>
        </p:txBody>
      </p:sp>
      <p:sp>
        <p:nvSpPr>
          <p:cNvPr id="686" name="Graph from ImageNet Wikipedia page"/>
          <p:cNvSpPr txBox="1"/>
          <p:nvPr/>
        </p:nvSpPr>
        <p:spPr>
          <a:xfrm>
            <a:off x="1752570" y="6532388"/>
            <a:ext cx="2148025" cy="2235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/>
            </a:lvl1pPr>
          </a:lstStyle>
          <a:p>
            <a:r>
              <a:rPr sz="984"/>
              <a:t>Graph from ImageNet Wikipedia page</a:t>
            </a:r>
          </a:p>
        </p:txBody>
      </p:sp>
      <p:sp>
        <p:nvSpPr>
          <p:cNvPr id="687" name="8 layers"/>
          <p:cNvSpPr txBox="1"/>
          <p:nvPr/>
        </p:nvSpPr>
        <p:spPr>
          <a:xfrm>
            <a:off x="4771960" y="5299184"/>
            <a:ext cx="479298" cy="2235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/>
            </a:lvl1pPr>
          </a:lstStyle>
          <a:p>
            <a:r>
              <a:rPr sz="984"/>
              <a:t>8 layers</a:t>
            </a:r>
          </a:p>
        </p:txBody>
      </p:sp>
      <p:sp>
        <p:nvSpPr>
          <p:cNvPr id="688" name="152 layers"/>
          <p:cNvSpPr txBox="1"/>
          <p:nvPr/>
        </p:nvSpPr>
        <p:spPr>
          <a:xfrm>
            <a:off x="9426658" y="6558833"/>
            <a:ext cx="607539" cy="2235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/>
            </a:lvl1pPr>
          </a:lstStyle>
          <a:p>
            <a:r>
              <a:rPr sz="984"/>
              <a:t>152 layers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Modern CNN Architec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Modern CNN Architectures 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We should think of the word “architecture” fairly literally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We should think of the word “architecture” fairly literally</a:t>
            </a:r>
          </a:p>
          <a:p>
            <a:r>
              <a:t>It takes time, education, and practice to become an “architect”</a:t>
            </a:r>
          </a:p>
          <a:p>
            <a:pPr lvl="1"/>
            <a:r>
              <a:t>True for architects that design buildings</a:t>
            </a:r>
          </a:p>
          <a:p>
            <a:pPr lvl="1"/>
            <a:r>
              <a:t>True for architects that design CNNs</a:t>
            </a:r>
          </a:p>
          <a:p>
            <a:r>
              <a:t>We can learn from what others have done and other architectures that have been successful</a:t>
            </a:r>
          </a:p>
        </p:txBody>
      </p:sp>
      <p:sp>
        <p:nvSpPr>
          <p:cNvPr id="667" name="Various CNN Architec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Various CNN Architectures 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LU (and its relatives)…"/>
          <p:cNvSpPr txBox="1">
            <a:spLocks noGrp="1"/>
          </p:cNvSpPr>
          <p:nvPr>
            <p:ph type="body" idx="1"/>
          </p:nvPr>
        </p:nvSpPr>
        <p:spPr>
          <a:xfrm>
            <a:off x="1047750" y="1952625"/>
            <a:ext cx="9848850" cy="321868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 err="1"/>
              <a:t>ReLU</a:t>
            </a:r>
            <a:r>
              <a:rPr lang="en-US" sz="1600" dirty="0"/>
              <a:t> (and its relatives)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Skip connections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Better weight initializations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Batch normalization</a:t>
            </a:r>
          </a:p>
          <a:p>
            <a:pPr marL="682219" lvl="1" indent="-225019" defTabSz="1024066">
              <a:defRPr sz="2520"/>
            </a:pPr>
            <a:r>
              <a:rPr lang="en-US" sz="1400" dirty="0"/>
              <a:t>Normalize the inputs of each layer (helps with internal covariate shift, vanishing gradients, overfitting) 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Dropout </a:t>
            </a:r>
          </a:p>
          <a:p>
            <a:pPr marL="682219" lvl="1" indent="-225019" defTabSz="1024066">
              <a:defRPr sz="2520"/>
            </a:pPr>
            <a:r>
              <a:rPr lang="en-US" sz="1400" dirty="0"/>
              <a:t>Randomly dropout or “turn off” some of the neurons during training</a:t>
            </a:r>
          </a:p>
          <a:p>
            <a:pPr marL="682219" lvl="1" indent="-225019" defTabSz="1024066">
              <a:defRPr sz="2520"/>
            </a:pPr>
            <a:r>
              <a:rPr lang="en-US" sz="1400" dirty="0"/>
              <a:t>Forces the network to have redundant representation of features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(Not an exhaustive list)</a:t>
            </a:r>
          </a:p>
          <a:p>
            <a:pPr marL="225019" indent="-225019" defTabSz="1024066">
              <a:defRPr sz="2520"/>
            </a:pPr>
            <a:endParaRPr sz="800" dirty="0"/>
          </a:p>
        </p:txBody>
      </p:sp>
      <p:sp>
        <p:nvSpPr>
          <p:cNvPr id="695" name="Innovations that made depth possi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/>
              <a:t>Innovations that made depth possible</a:t>
            </a:r>
          </a:p>
        </p:txBody>
      </p:sp>
    </p:spTree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AlexNet"/>
          <p:cNvSpPr txBox="1">
            <a:spLocks noGrp="1"/>
          </p:cNvSpPr>
          <p:nvPr>
            <p:ph type="title"/>
          </p:nvPr>
        </p:nvSpPr>
        <p:spPr>
          <a:xfrm>
            <a:off x="1348383" y="76200"/>
            <a:ext cx="8161734" cy="714376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 err="1"/>
              <a:t>AlexNet</a:t>
            </a:r>
            <a:endParaRPr sz="4000" dirty="0"/>
          </a:p>
        </p:txBody>
      </p:sp>
      <p:pic>
        <p:nvPicPr>
          <p:cNvPr id="691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302" y="4326595"/>
            <a:ext cx="8161734" cy="2316956"/>
          </a:xfrm>
          <a:prstGeom prst="rect">
            <a:avLst/>
          </a:prstGeom>
          <a:ln w="12700">
            <a:miter lim="400000"/>
          </a:ln>
        </p:spPr>
      </p:pic>
      <p:sp>
        <p:nvSpPr>
          <p:cNvPr id="692" name="Innovations…"/>
          <p:cNvSpPr txBox="1">
            <a:spLocks noGrp="1"/>
          </p:cNvSpPr>
          <p:nvPr>
            <p:ph type="body" idx="4294967295"/>
          </p:nvPr>
        </p:nvSpPr>
        <p:spPr>
          <a:xfrm>
            <a:off x="1424583" y="948587"/>
            <a:ext cx="8161734" cy="3378008"/>
          </a:xfrm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16983" indent="-216983" defTabSz="987492">
              <a:spcBef>
                <a:spcPts val="1758"/>
              </a:spcBef>
              <a:defRPr sz="2430"/>
            </a:pPr>
            <a:r>
              <a:rPr lang="fr-FR" dirty="0"/>
              <a:t>Innovations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Deep convolutions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 err="1"/>
              <a:t>ReLu</a:t>
            </a:r>
            <a:endParaRPr lang="fr-FR" dirty="0"/>
          </a:p>
          <a:p>
            <a:pPr marL="216983" indent="-216983" defTabSz="987492">
              <a:spcBef>
                <a:spcPts val="1758"/>
              </a:spcBef>
              <a:defRPr sz="2430"/>
            </a:pPr>
            <a:r>
              <a:rPr lang="fr-FR" dirty="0" err="1"/>
              <a:t>Also</a:t>
            </a:r>
            <a:r>
              <a:rPr lang="fr-FR" dirty="0"/>
              <a:t>: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Dropout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Data augmentation 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GPU</a:t>
            </a:r>
          </a:p>
          <a:p>
            <a:pPr marL="216983" indent="-216983" defTabSz="987492">
              <a:spcBef>
                <a:spcPts val="1758"/>
              </a:spcBef>
              <a:defRPr sz="2430"/>
            </a:pPr>
            <a:endParaRPr lang="fr-FR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Introduced by researchers at Microsoft in 2015…"/>
          <p:cNvSpPr txBox="1">
            <a:spLocks noGrp="1"/>
          </p:cNvSpPr>
          <p:nvPr>
            <p:ph type="body" idx="1"/>
          </p:nvPr>
        </p:nvSpPr>
        <p:spPr>
          <a:xfrm>
            <a:off x="1590675" y="1633226"/>
            <a:ext cx="5934075" cy="4281799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/>
              <a:t>Introduced by researchers at Microsoft in 2015</a:t>
            </a:r>
          </a:p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 err="1"/>
              <a:t>ResNet</a:t>
            </a:r>
            <a:r>
              <a:rPr dirty="0"/>
              <a:t> can train much deeper networks while avoiding the vanishing gradient problem</a:t>
            </a:r>
          </a:p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/>
              <a:t>Innovation: </a:t>
            </a:r>
          </a:p>
          <a:p>
            <a:pPr marL="628628" lvl="1" indent="-235735" defTabSz="1072831">
              <a:spcBef>
                <a:spcPts val="1969"/>
              </a:spcBef>
              <a:defRPr sz="2640"/>
            </a:pPr>
            <a:r>
              <a:rPr dirty="0"/>
              <a:t>Skip connection: allow the gradient to pass thru fewer steps</a:t>
            </a:r>
          </a:p>
          <a:p>
            <a:pPr marL="628628" lvl="1" indent="-235735" defTabSz="1072831">
              <a:spcBef>
                <a:spcPts val="1969"/>
              </a:spcBef>
              <a:defRPr sz="2640"/>
            </a:pPr>
            <a:r>
              <a:rPr dirty="0"/>
              <a:t>Residual block: allow network to learn residual functions</a:t>
            </a:r>
          </a:p>
          <a:p>
            <a:pPr marL="1021520" lvl="2" indent="-235735" defTabSz="1072831">
              <a:spcBef>
                <a:spcPts val="1969"/>
              </a:spcBef>
              <a:defRPr sz="2640"/>
            </a:pPr>
            <a:r>
              <a:rPr dirty="0"/>
              <a:t>Enables the network to “skip” some layers and focus on learning residual functions that cannot be learned by the shallower layers</a:t>
            </a:r>
          </a:p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/>
              <a:t>One of the most widely used deep learning architectures used today</a:t>
            </a:r>
          </a:p>
        </p:txBody>
      </p:sp>
      <p:sp>
        <p:nvSpPr>
          <p:cNvPr id="698" name="ResNet (Residual Network)"/>
          <p:cNvSpPr txBox="1">
            <a:spLocks noGrp="1"/>
          </p:cNvSpPr>
          <p:nvPr>
            <p:ph type="title"/>
          </p:nvPr>
        </p:nvSpPr>
        <p:spPr>
          <a:xfrm>
            <a:off x="750367" y="699548"/>
            <a:ext cx="10691265" cy="1307592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 err="1"/>
              <a:t>ResNet</a:t>
            </a:r>
            <a:r>
              <a:rPr sz="4000" dirty="0"/>
              <a:t> (Residual Network)</a:t>
            </a:r>
          </a:p>
        </p:txBody>
      </p:sp>
      <p:pic>
        <p:nvPicPr>
          <p:cNvPr id="699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137" y="3994498"/>
            <a:ext cx="2269552" cy="133125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F464D-7D21-24A8-3E66-E8AF6A231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Flattening &amp; Fully connected layers">
            <a:extLst>
              <a:ext uri="{FF2B5EF4-FFF2-40B4-BE49-F238E27FC236}">
                <a16:creationId xmlns:a16="http://schemas.microsoft.com/office/drawing/2014/main" id="{D0DE9937-12CC-7EB5-FC27-B6BF1115FC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CNN Training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6021388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0C3A2A9-0290-7817-603B-AF288432A0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Initialization</a:t>
            </a:r>
          </a:p>
          <a:p>
            <a:r>
              <a:rPr lang="en-US" dirty="0"/>
              <a:t>Forward pass</a:t>
            </a:r>
          </a:p>
          <a:p>
            <a:r>
              <a:rPr lang="en-US" dirty="0"/>
              <a:t>Compute loss</a:t>
            </a:r>
          </a:p>
          <a:p>
            <a:r>
              <a:rPr lang="en-US" dirty="0"/>
              <a:t>Backpropagation</a:t>
            </a:r>
          </a:p>
          <a:p>
            <a:pPr lvl="1"/>
            <a:r>
              <a:rPr lang="en-US" dirty="0"/>
              <a:t>Update weights</a:t>
            </a:r>
          </a:p>
          <a:p>
            <a:r>
              <a:rPr lang="en-US" dirty="0"/>
              <a:t>Repeat over mini-batches</a:t>
            </a:r>
          </a:p>
          <a:p>
            <a:r>
              <a:rPr lang="en-US" dirty="0"/>
              <a:t>Key architectural hyperparameters:</a:t>
            </a:r>
          </a:p>
          <a:p>
            <a:pPr lvl="1"/>
            <a:r>
              <a:rPr lang="en-US" dirty="0"/>
              <a:t>Kernel (filter) size</a:t>
            </a:r>
          </a:p>
          <a:p>
            <a:pPr lvl="1"/>
            <a:r>
              <a:rPr lang="en-US" dirty="0"/>
              <a:t>Stride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Number of filters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52CAF-7097-90FF-892D-2607174D4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components</a:t>
            </a:r>
          </a:p>
        </p:txBody>
      </p:sp>
    </p:spTree>
    <p:extLst>
      <p:ext uri="{BB962C8B-B14F-4D97-AF65-F5344CB8AC3E}">
        <p14:creationId xmlns:p14="http://schemas.microsoft.com/office/powerpoint/2010/main" val="518544760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CF51C-8E63-DFA7-2576-30E90A7A0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E9F5F89-4D98-D36F-3EF1-56EB6C5F6C8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convolutional layer is defined by:</a:t>
                </a:r>
              </a:p>
              <a:p>
                <a:r>
                  <a:rPr lang="en-US" b="1" dirty="0"/>
                  <a:t>Kernel size (K × K)</a:t>
                </a:r>
                <a:r>
                  <a:rPr lang="en-US" dirty="0"/>
                  <a:t> → sliding window size</a:t>
                </a:r>
              </a:p>
              <a:p>
                <a:r>
                  <a:rPr lang="en-US" b="1" dirty="0"/>
                  <a:t>Stride (S)</a:t>
                </a:r>
                <a:r>
                  <a:rPr lang="en-US" dirty="0"/>
                  <a:t> → step size of movement</a:t>
                </a:r>
              </a:p>
              <a:p>
                <a:r>
                  <a:rPr lang="en-US" b="1" dirty="0"/>
                  <a:t>Padding (P)</a:t>
                </a:r>
                <a:r>
                  <a:rPr lang="en-US" dirty="0"/>
                  <a:t> → zeros added around border</a:t>
                </a:r>
              </a:p>
              <a:p>
                <a:r>
                  <a:rPr lang="en-US" b="1" dirty="0"/>
                  <a:t>Number of filters (F)</a:t>
                </a:r>
                <a:r>
                  <a:rPr lang="en-US" dirty="0"/>
                  <a:t> → number of feature maps</a:t>
                </a:r>
              </a:p>
              <a:p>
                <a:r>
                  <a:rPr lang="en-US" dirty="0"/>
                  <a:t>Output spatial size: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/>
                        <m:t>Output</m:t>
                      </m:r>
                      <m:r>
                        <m:rPr>
                          <m:nor/>
                        </m:rPr>
                        <a:rPr lang="en-US" b="0" i="1"/>
                        <m:t> </m:t>
                      </m:r>
                      <m:r>
                        <m:rPr>
                          <m:nor/>
                        </m:rPr>
                        <a:rPr lang="en-US" b="0" i="1"/>
                        <m:t>size</m:t>
                      </m:r>
                      <m:r>
                        <a:rPr lang="en-US"/>
                        <m:t>=</m:t>
                      </m:r>
                      <m:f>
                        <m:fPr>
                          <m:ctrlPr>
                            <a:rPr lang="ar-AE" i="1"/>
                          </m:ctrlPr>
                        </m:fPr>
                        <m:num>
                          <m:r>
                            <a:rPr lang="ar-AE" i="1"/>
                            <m:t>𝑁</m:t>
                          </m:r>
                          <m:r>
                            <a:rPr lang="ar-AE"/>
                            <m:t>−</m:t>
                          </m:r>
                          <m:r>
                            <a:rPr lang="ar-AE" i="1"/>
                            <m:t>𝐾</m:t>
                          </m:r>
                          <m:r>
                            <a:rPr lang="ar-AE"/>
                            <m:t>+</m:t>
                          </m:r>
                          <m:r>
                            <a:rPr lang="ar-AE"/>
                            <m:t>2</m:t>
                          </m:r>
                          <m:r>
                            <a:rPr lang="ar-AE" i="1"/>
                            <m:t>𝑃</m:t>
                          </m:r>
                        </m:num>
                        <m:den>
                          <m:r>
                            <a:rPr lang="ar-AE" i="1"/>
                            <m:t>𝑆</m:t>
                          </m:r>
                        </m:den>
                      </m:f>
                      <m:r>
                        <a:rPr lang="ar-AE"/>
                        <m:t>+</m:t>
                      </m:r>
                      <m:r>
                        <a:rPr lang="ar-AE"/>
                        <m:t>1</m:t>
                      </m:r>
                    </m:oMath>
                  </m:oMathPara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E9F5F89-4D98-D36F-3EF1-56EB6C5F6C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627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1B0262-C79A-2601-E504-881925DE6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Layer Components</a:t>
            </a:r>
          </a:p>
        </p:txBody>
      </p:sp>
    </p:spTree>
    <p:extLst>
      <p:ext uri="{BB962C8B-B14F-4D97-AF65-F5344CB8AC3E}">
        <p14:creationId xmlns:p14="http://schemas.microsoft.com/office/powerpoint/2010/main" val="3149333447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E4A5-E942-472D-D073-8A3DECD0F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700DC-D24C-40CF-8E59-647559DE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(Sliding Window)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37E66D-BFF2-39C2-DF24-102746DEBC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What does kernel size control?</a:t>
                </a:r>
              </a:p>
              <a:p>
                <a:r>
                  <a:rPr lang="en-US" dirty="0"/>
                  <a:t>Spatial pattern scale detected</a:t>
                </a:r>
              </a:p>
              <a:p>
                <a:r>
                  <a:rPr lang="en-US" dirty="0"/>
                  <a:t>Parameter count</a:t>
                </a:r>
              </a:p>
              <a:p>
                <a:r>
                  <a:rPr lang="en-US" dirty="0"/>
                  <a:t>Parameters per filter: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/>
                        <m:t>𝐾</m:t>
                      </m:r>
                      <m:r>
                        <a:rPr lang="en-US"/>
                        <m:t>×</m:t>
                      </m:r>
                      <m:r>
                        <a:rPr lang="en-US" i="1"/>
                        <m:t>𝐾</m:t>
                      </m:r>
                      <m:r>
                        <a:rPr lang="en-US"/>
                        <m:t>×</m:t>
                      </m:r>
                      <m:r>
                        <a:rPr lang="en-US" i="1"/>
                        <m:t>𝐶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/>
                      <m:t>𝐶</m:t>
                    </m:r>
                  </m:oMath>
                </a14:m>
                <a:r>
                  <a:rPr lang="en-US" dirty="0"/>
                  <a:t> is the number of input channels (typically 1 or 3).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37E66D-BFF2-39C2-DF24-102746DEBC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7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00253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73D5-C9C8-48F6-4A75-683482458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AB8AE-7092-1773-BDF4-A14590E8F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Larger kernels:</a:t>
            </a:r>
          </a:p>
          <a:p>
            <a:pPr lvl="1"/>
            <a:r>
              <a:rPr lang="en-US" dirty="0"/>
              <a:t>More parameters</a:t>
            </a:r>
          </a:p>
          <a:p>
            <a:pPr lvl="1"/>
            <a:r>
              <a:rPr lang="en-US" dirty="0"/>
              <a:t>Higher variance</a:t>
            </a:r>
          </a:p>
          <a:p>
            <a:pPr lvl="1"/>
            <a:r>
              <a:rPr lang="en-US" dirty="0"/>
              <a:t>More compute</a:t>
            </a:r>
          </a:p>
          <a:p>
            <a:pPr lvl="1"/>
            <a:r>
              <a:rPr lang="en-US" dirty="0"/>
              <a:t>Larger receptive field per layer</a:t>
            </a:r>
          </a:p>
          <a:p>
            <a:r>
              <a:rPr lang="en-US" dirty="0"/>
              <a:t>Smaller kernels (e.g., 3×3):</a:t>
            </a:r>
          </a:p>
          <a:p>
            <a:pPr lvl="1"/>
            <a:r>
              <a:rPr lang="en-US" dirty="0"/>
              <a:t>Fewer parameters</a:t>
            </a:r>
          </a:p>
          <a:p>
            <a:pPr lvl="1"/>
            <a:r>
              <a:rPr lang="en-US" dirty="0"/>
              <a:t>Deeper networks needed</a:t>
            </a:r>
          </a:p>
          <a:p>
            <a:pPr lvl="1"/>
            <a:r>
              <a:rPr lang="en-US" dirty="0"/>
              <a:t>Better regularization</a:t>
            </a:r>
          </a:p>
          <a:p>
            <a:pPr lvl="1"/>
            <a:r>
              <a:rPr lang="en-US" dirty="0"/>
              <a:t>More nonlinearities</a:t>
            </a:r>
          </a:p>
          <a:p>
            <a:r>
              <a:rPr lang="en-US" dirty="0"/>
              <a:t>This is why modern CNNs prefer stacked 3×3 convolutions.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9737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A1C8-D729-0182-455A-E9509D52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18B3E-61A1-2F21-CBBA-5EBCF80C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AC0049-48C0-75AE-DE21-B44801762A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0635" y="2221992"/>
                <a:ext cx="5204865" cy="3739896"/>
              </a:xfrm>
            </p:spPr>
            <p:txBody>
              <a:bodyPr/>
              <a:lstStyle/>
              <a:p>
                <a:r>
                  <a:rPr lang="en-US" dirty="0"/>
                  <a:t>Stride = how far the filter moves each step.</a:t>
                </a:r>
              </a:p>
              <a:p>
                <a:pPr lvl="1"/>
                <a:r>
                  <a:rPr lang="en-US" dirty="0"/>
                  <a:t>S = 1 → dense coverage</a:t>
                </a:r>
              </a:p>
              <a:p>
                <a:pPr lvl="1"/>
                <a:r>
                  <a:rPr lang="en-US" dirty="0"/>
                  <a:t>S = 2 → </a:t>
                </a:r>
                <a:r>
                  <a:rPr lang="en-US" dirty="0" err="1"/>
                  <a:t>downsampling</a:t>
                </a:r>
                <a:endParaRPr lang="en-US" dirty="0"/>
              </a:p>
              <a:p>
                <a:r>
                  <a:rPr lang="en-US" dirty="0"/>
                  <a:t>Effect on output size: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/>
                          </m:ctrlPr>
                        </m:fPr>
                        <m:num>
                          <m:r>
                            <a:rPr lang="ar-AE" i="1"/>
                            <m:t>𝑁</m:t>
                          </m:r>
                          <m:r>
                            <a:rPr lang="ar-AE"/>
                            <m:t>−</m:t>
                          </m:r>
                          <m:r>
                            <a:rPr lang="ar-AE" i="1"/>
                            <m:t>𝐾</m:t>
                          </m:r>
                          <m:r>
                            <a:rPr lang="ar-AE"/>
                            <m:t>+</m:t>
                          </m:r>
                          <m:r>
                            <a:rPr lang="ar-AE"/>
                            <m:t>2</m:t>
                          </m:r>
                          <m:r>
                            <a:rPr lang="ar-AE" i="1"/>
                            <m:t>𝑃</m:t>
                          </m:r>
                        </m:num>
                        <m:den>
                          <m:r>
                            <a:rPr lang="ar-AE" i="1"/>
                            <m:t>𝑆</m:t>
                          </m:r>
                        </m:den>
                      </m:f>
                      <m:r>
                        <a:rPr lang="ar-AE"/>
                        <m:t>+</m:t>
                      </m:r>
                      <m:r>
                        <a:rPr lang="ar-AE"/>
                        <m:t>1</m:t>
                      </m:r>
                    </m:oMath>
                  </m:oMathPara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AC0049-48C0-75AE-DE21-B44801762A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0635" y="2221992"/>
                <a:ext cx="5204865" cy="3739896"/>
              </a:xfrm>
              <a:blipFill>
                <a:blip r:embed="rId2"/>
                <a:stretch>
                  <a:fillRect l="-1054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5415EFB-6354-1D1C-4F18-858DD79C276D}"/>
              </a:ext>
            </a:extLst>
          </p:cNvPr>
          <p:cNvSpPr txBox="1">
            <a:spLocks/>
          </p:cNvSpPr>
          <p:nvPr/>
        </p:nvSpPr>
        <p:spPr>
          <a:xfrm>
            <a:off x="6286502" y="2221992"/>
            <a:ext cx="52048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Larger stride:</a:t>
            </a:r>
          </a:p>
          <a:p>
            <a:pPr lvl="1"/>
            <a:r>
              <a:rPr lang="en-US" dirty="0"/>
              <a:t>Smaller output feature maps</a:t>
            </a:r>
          </a:p>
          <a:p>
            <a:pPr lvl="1"/>
            <a:r>
              <a:rPr lang="en-US" dirty="0"/>
              <a:t>Fewer activations</a:t>
            </a:r>
          </a:p>
          <a:p>
            <a:pPr lvl="1"/>
            <a:r>
              <a:rPr lang="en-US" dirty="0"/>
              <a:t>Fewer gradient paths</a:t>
            </a:r>
          </a:p>
          <a:p>
            <a:pPr lvl="1"/>
            <a:r>
              <a:rPr lang="en-US" dirty="0"/>
              <a:t>Faster training</a:t>
            </a:r>
          </a:p>
          <a:p>
            <a:pPr lvl="1"/>
            <a:r>
              <a:rPr lang="en-US" dirty="0"/>
              <a:t>More aggressive information compression</a:t>
            </a:r>
          </a:p>
          <a:p>
            <a:r>
              <a:rPr lang="en-US" dirty="0"/>
              <a:t>Smaller stride:</a:t>
            </a:r>
          </a:p>
          <a:p>
            <a:pPr lvl="1"/>
            <a:r>
              <a:rPr lang="en-US" dirty="0"/>
              <a:t>More overlap</a:t>
            </a:r>
          </a:p>
          <a:p>
            <a:pPr lvl="1"/>
            <a:r>
              <a:rPr lang="en-US" dirty="0"/>
              <a:t>More gradient signal</a:t>
            </a:r>
          </a:p>
          <a:p>
            <a:pPr lvl="1"/>
            <a:r>
              <a:rPr lang="en-US" dirty="0"/>
              <a:t>Better fine-detail learning</a:t>
            </a:r>
          </a:p>
          <a:p>
            <a:pPr lvl="1"/>
            <a:r>
              <a:rPr lang="en-US" dirty="0"/>
              <a:t>Higher computation cost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9578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BACB8-0E9B-1878-C9C7-3CE28DB7A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7095E-5CBF-7911-DCA7-8AC1BF16D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BF5D-4936-C39F-210B-051CF26C2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21942"/>
            <a:ext cx="50905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Padding adds zeros around input borders.</a:t>
            </a:r>
          </a:p>
          <a:p>
            <a:r>
              <a:rPr lang="en-US" dirty="0"/>
              <a:t>Types:</a:t>
            </a:r>
          </a:p>
          <a:p>
            <a:pPr lvl="1"/>
            <a:r>
              <a:rPr lang="en-US" dirty="0"/>
              <a:t>No padding </a:t>
            </a:r>
          </a:p>
          <a:p>
            <a:pPr lvl="1"/>
            <a:r>
              <a:rPr lang="en-US" dirty="0"/>
              <a:t>Same padding (preserve size)</a:t>
            </a:r>
          </a:p>
          <a:p>
            <a:r>
              <a:rPr lang="en-US" dirty="0"/>
              <a:t>Without padding:</a:t>
            </a:r>
          </a:p>
          <a:p>
            <a:pPr lvl="1"/>
            <a:r>
              <a:rPr lang="en-US" dirty="0"/>
              <a:t>Spatial size shrinks each layer</a:t>
            </a:r>
          </a:p>
          <a:p>
            <a:r>
              <a:rPr lang="en-US" dirty="0"/>
              <a:t>With padding:</a:t>
            </a:r>
          </a:p>
          <a:p>
            <a:pPr lvl="1"/>
            <a:r>
              <a:rPr lang="en-US" dirty="0"/>
              <a:t>Spatial resolution preserved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0754F4-BBDD-1EB0-D9E5-189D342CCDBE}"/>
              </a:ext>
            </a:extLst>
          </p:cNvPr>
          <p:cNvSpPr txBox="1">
            <a:spLocks/>
          </p:cNvSpPr>
          <p:nvPr/>
        </p:nvSpPr>
        <p:spPr>
          <a:xfrm>
            <a:off x="6046267" y="1821942"/>
            <a:ext cx="50905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Without padding:</a:t>
            </a:r>
          </a:p>
          <a:p>
            <a:pPr lvl="1"/>
            <a:r>
              <a:rPr lang="en-US" dirty="0"/>
              <a:t>Border pixels used fewer times</a:t>
            </a:r>
          </a:p>
          <a:p>
            <a:pPr lvl="1"/>
            <a:r>
              <a:rPr lang="en-US" dirty="0"/>
              <a:t>Gradients weaker at edges</a:t>
            </a:r>
          </a:p>
          <a:p>
            <a:pPr lvl="1"/>
            <a:r>
              <a:rPr lang="en-US" dirty="0"/>
              <a:t>Spatial size shrinks quickly</a:t>
            </a:r>
          </a:p>
          <a:p>
            <a:r>
              <a:rPr lang="en-US" dirty="0"/>
              <a:t>With padding:</a:t>
            </a:r>
          </a:p>
          <a:p>
            <a:pPr lvl="1"/>
            <a:r>
              <a:rPr lang="en-US" dirty="0"/>
              <a:t>More uniform gradient flow</a:t>
            </a:r>
          </a:p>
          <a:p>
            <a:pPr lvl="1"/>
            <a:r>
              <a:rPr lang="en-US" dirty="0"/>
              <a:t>Deeper networks possible</a:t>
            </a:r>
          </a:p>
          <a:p>
            <a:pPr lvl="1"/>
            <a:r>
              <a:rPr lang="en-US" dirty="0"/>
              <a:t>Preserves spatial alignment</a:t>
            </a:r>
          </a:p>
          <a:p>
            <a:r>
              <a:rPr lang="en-US" dirty="0"/>
              <a:t>Padding helps stabilize training in deep CNNs.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10184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836BFB8-C53B-A10E-F350-048471503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6" y="2221992"/>
            <a:ext cx="5100090" cy="373989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Fully connected (no sharing)</a:t>
            </a:r>
          </a:p>
          <a:p>
            <a:r>
              <a:rPr lang="en-US" dirty="0"/>
              <a:t>If you flatten a 224×224 image:</a:t>
            </a:r>
          </a:p>
          <a:p>
            <a:r>
              <a:rPr lang="en-US" dirty="0"/>
              <a:t>Input size ≈ 50,000 pixels</a:t>
            </a:r>
          </a:p>
          <a:p>
            <a:r>
              <a:rPr lang="en-US" dirty="0"/>
              <a:t>If next layer has 100 neurons</a:t>
            </a:r>
          </a:p>
          <a:p>
            <a:r>
              <a:rPr lang="en-US" dirty="0"/>
              <a:t>You need </a:t>
            </a:r>
            <a:r>
              <a:rPr lang="en-US" b="1" dirty="0"/>
              <a:t>50,000 × 100 = 5,000,000 weights</a:t>
            </a:r>
            <a:endParaRPr lang="en-US" dirty="0"/>
          </a:p>
          <a:p>
            <a:r>
              <a:rPr lang="en-US" dirty="0"/>
              <a:t>Each neuron has its own independent weights.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712467-7956-28B7-930C-3C18F78BB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 Sharing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1">
                <a:extLst>
                  <a:ext uri="{FF2B5EF4-FFF2-40B4-BE49-F238E27FC236}">
                    <a16:creationId xmlns:a16="http://schemas.microsoft.com/office/drawing/2014/main" id="{837CFDD7-A905-DAE8-1527-202520DBC6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57850" y="2221992"/>
                <a:ext cx="5833516" cy="37398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1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Suppose:</a:t>
                </a:r>
              </a:p>
              <a:p>
                <a:pPr lvl="1"/>
                <a:r>
                  <a:rPr lang="en-US" dirty="0"/>
                  <a:t>Kernel size = 3×3</a:t>
                </a:r>
              </a:p>
              <a:p>
                <a:pPr lvl="1"/>
                <a:r>
                  <a:rPr lang="en-US" dirty="0"/>
                  <a:t>Input has 3 channels (RGB)</a:t>
                </a:r>
              </a:p>
              <a:p>
                <a:pPr lvl="1"/>
                <a:r>
                  <a:rPr lang="en-US" dirty="0"/>
                  <a:t>Number of filters = 64</a:t>
                </a:r>
              </a:p>
              <a:p>
                <a:r>
                  <a:rPr lang="en-US" dirty="0"/>
                  <a:t>Each filter has: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/>
                      <m:t>3×3×3=27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weights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Total parameters: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/>
                      <m:t>27×64=1728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weights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Those 27 weights for a filter are used </a:t>
                </a:r>
                <a:r>
                  <a:rPr lang="en-US" b="1" dirty="0"/>
                  <a:t>at every spatial location</a:t>
                </a:r>
                <a:endParaRPr lang="en-US" dirty="0"/>
              </a:p>
              <a:p>
                <a:r>
                  <a:rPr lang="en-US" dirty="0"/>
                  <a:t>We do NOT learn different weights for different pixels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Text Placeholder 1">
                <a:extLst>
                  <a:ext uri="{FF2B5EF4-FFF2-40B4-BE49-F238E27FC236}">
                    <a16:creationId xmlns:a16="http://schemas.microsoft.com/office/drawing/2014/main" id="{837CFDD7-A905-DAE8-1527-202520DBC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850" y="2221992"/>
                <a:ext cx="5833516" cy="3739896"/>
              </a:xfrm>
              <a:prstGeom prst="rect">
                <a:avLst/>
              </a:prstGeom>
              <a:blipFill>
                <a:blip r:embed="rId2"/>
                <a:stretch>
                  <a:fillRect l="-522" t="-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618612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Using Pre-trained Mod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Pre-trained Models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Many of these very large neural networks are publicly availab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Many of these very large neural networks are publicly available </a:t>
            </a:r>
          </a:p>
          <a:p>
            <a:r>
              <a:t>These models can be used:</a:t>
            </a:r>
          </a:p>
          <a:p>
            <a:pPr lvl="1"/>
            <a:r>
              <a:t>In Transfer Learning</a:t>
            </a:r>
          </a:p>
          <a:p>
            <a:pPr lvl="2"/>
            <a:r>
              <a:t>Use the lower layers of an existing DNN</a:t>
            </a:r>
          </a:p>
          <a:p>
            <a:pPr lvl="2"/>
            <a:r>
              <a:t>Train the upper layers according to the specific new task</a:t>
            </a:r>
          </a:p>
          <a:p>
            <a:pPr lvl="1"/>
            <a:r>
              <a:t>Directly </a:t>
            </a:r>
          </a:p>
          <a:p>
            <a:pPr lvl="2"/>
            <a:r>
              <a:t>If you have a similar task and similar outputs</a:t>
            </a:r>
          </a:p>
        </p:txBody>
      </p:sp>
      <p:sp>
        <p:nvSpPr>
          <p:cNvPr id="704" name="Pre-trained mod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Pre-trained models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4466</Words>
  <Application>Microsoft Office PowerPoint</Application>
  <PresentationFormat>Widescreen</PresentationFormat>
  <Paragraphs>2695</Paragraphs>
  <Slides>84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1" baseType="lpstr">
      <vt:lpstr>Aptos</vt:lpstr>
      <vt:lpstr>Arial</vt:lpstr>
      <vt:lpstr>Calisto MT</vt:lpstr>
      <vt:lpstr>Cambria Math</vt:lpstr>
      <vt:lpstr>Helvetica Neue Medium</vt:lpstr>
      <vt:lpstr>Univers Condensed</vt:lpstr>
      <vt:lpstr>ChronicleVTI</vt:lpstr>
      <vt:lpstr>Convolutional Neural Networks</vt:lpstr>
      <vt:lpstr>Terms </vt:lpstr>
      <vt:lpstr>Biological motivation of CNNs</vt:lpstr>
      <vt:lpstr>Convolutional Neural Networks</vt:lpstr>
      <vt:lpstr>What is a convolution? </vt:lpstr>
      <vt:lpstr>Continuous example</vt:lpstr>
      <vt:lpstr>Continuous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Uses of convolutions </vt:lpstr>
      <vt:lpstr>Convolutions in Image Processing</vt:lpstr>
      <vt:lpstr>CNN Architecture</vt:lpstr>
      <vt:lpstr>CNN Architecture</vt:lpstr>
      <vt:lpstr>Convolutional Layer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Convolutional Layer</vt:lpstr>
      <vt:lpstr>Pooling Layer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Flattening &amp; Fully connected layers</vt:lpstr>
      <vt:lpstr>Image to Classification </vt:lpstr>
      <vt:lpstr>Flattening</vt:lpstr>
      <vt:lpstr>Fully connected layer</vt:lpstr>
      <vt:lpstr>Summary</vt:lpstr>
      <vt:lpstr>ImageNet</vt:lpstr>
      <vt:lpstr>ImageNet Large-Scale Visual Recognition Challenge</vt:lpstr>
      <vt:lpstr>Modern CNN Architectures </vt:lpstr>
      <vt:lpstr>Various CNN Architectures </vt:lpstr>
      <vt:lpstr>Innovations that made depth possible</vt:lpstr>
      <vt:lpstr>AlexNet</vt:lpstr>
      <vt:lpstr>ResNet (Residual Network)</vt:lpstr>
      <vt:lpstr>CNN Training</vt:lpstr>
      <vt:lpstr>Training components</vt:lpstr>
      <vt:lpstr>CNN Layer Components</vt:lpstr>
      <vt:lpstr>Kernel (Sliding Window)</vt:lpstr>
      <vt:lpstr>Kernel Size</vt:lpstr>
      <vt:lpstr>Stride</vt:lpstr>
      <vt:lpstr>Padding</vt:lpstr>
      <vt:lpstr>Weight Sharing</vt:lpstr>
      <vt:lpstr>Using Pre-trained Models</vt:lpstr>
      <vt:lpstr>Pre-trained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28</cp:revision>
  <dcterms:created xsi:type="dcterms:W3CDTF">2025-10-28T15:32:43Z</dcterms:created>
  <dcterms:modified xsi:type="dcterms:W3CDTF">2026-03-13T17:10:25Z</dcterms:modified>
</cp:coreProperties>
</file>