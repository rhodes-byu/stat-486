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18"/>
  </p:notesMasterIdLst>
  <p:sldIdLst>
    <p:sldId id="256" r:id="rId2"/>
    <p:sldId id="258" r:id="rId3"/>
    <p:sldId id="259" r:id="rId4"/>
    <p:sldId id="260" r:id="rId5"/>
    <p:sldId id="261" r:id="rId6"/>
    <p:sldId id="262" r:id="rId7"/>
    <p:sldId id="273" r:id="rId8"/>
    <p:sldId id="271" r:id="rId9"/>
    <p:sldId id="265" r:id="rId10"/>
    <p:sldId id="266" r:id="rId11"/>
    <p:sldId id="267" r:id="rId12"/>
    <p:sldId id="272" r:id="rId13"/>
    <p:sldId id="268" r:id="rId14"/>
    <p:sldId id="264"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4660"/>
  </p:normalViewPr>
  <p:slideViewPr>
    <p:cSldViewPr snapToGrid="0">
      <p:cViewPr varScale="1">
        <p:scale>
          <a:sx n="153" d="100"/>
          <a:sy n="153" d="100"/>
        </p:scale>
        <p:origin x="524"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320152-7289-42ED-97D3-BBB411F9F8C0}" type="datetimeFigureOut">
              <a:rPr lang="en-US" smtClean="0"/>
              <a:t>3/24/2026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F0E3D6-3C77-45F1-B7E2-5B66F3D24A72}" type="slidenum">
              <a:rPr lang="en-US" smtClean="0"/>
              <a:t>‹#›</a:t>
            </a:fld>
            <a:endParaRPr lang="en-US"/>
          </a:p>
        </p:txBody>
      </p:sp>
    </p:spTree>
    <p:extLst>
      <p:ext uri="{BB962C8B-B14F-4D97-AF65-F5344CB8AC3E}">
        <p14:creationId xmlns:p14="http://schemas.microsoft.com/office/powerpoint/2010/main" val="3564873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3/24/2026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18143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3/24/2026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20972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3/24/2026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96029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3/24/2026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491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3/24/2026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27209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3/24/2026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01947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3/24/2026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90403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3/24/2026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59102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3/24/2026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47665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3/24/2026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98365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3/24/2026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75788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3/24/2026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7454468"/>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0.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6" name="Picture 5">
            <a:extLst>
              <a:ext uri="{FF2B5EF4-FFF2-40B4-BE49-F238E27FC236}">
                <a16:creationId xmlns:a16="http://schemas.microsoft.com/office/drawing/2014/main" id="{CCBBA627-6F75-6565-CFF5-1C1EC7A208EE}"/>
              </a:ext>
            </a:extLst>
          </p:cNvPr>
          <p:cNvPicPr>
            <a:picLocks noChangeAspect="1"/>
          </p:cNvPicPr>
          <p:nvPr/>
        </p:nvPicPr>
        <p:blipFill>
          <a:blip r:embed="rId2"/>
          <a:srcRect t="15730"/>
          <a:stretch>
            <a:fillRect/>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id="{1103FDB8-D911-F8F8-F9EC-FB7FF5435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4324"/>
            <a:ext cx="12192000" cy="2573677"/>
          </a:xfrm>
          <a:prstGeom prst="rect">
            <a:avLst/>
          </a:prstGeom>
          <a:gradFill>
            <a:gsLst>
              <a:gs pos="0">
                <a:schemeClr val="bg1">
                  <a:alpha val="0"/>
                </a:schemeClr>
              </a:gs>
              <a:gs pos="46000">
                <a:schemeClr val="bg1">
                  <a:alpha val="17000"/>
                </a:schemeClr>
              </a:gs>
              <a:gs pos="65000">
                <a:schemeClr val="bg1">
                  <a:alpha val="29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09F3EC0C-B664-18E2-FAA6-07592A24EF44}"/>
              </a:ext>
            </a:extLst>
          </p:cNvPr>
          <p:cNvSpPr>
            <a:spLocks noGrp="1"/>
          </p:cNvSpPr>
          <p:nvPr>
            <p:ph type="ctrTitle"/>
          </p:nvPr>
        </p:nvSpPr>
        <p:spPr>
          <a:xfrm>
            <a:off x="320040" y="5702710"/>
            <a:ext cx="7983068" cy="974347"/>
          </a:xfrm>
          <a:ln>
            <a:noFill/>
          </a:ln>
        </p:spPr>
        <p:txBody>
          <a:bodyPr anchor="ctr">
            <a:normAutofit/>
          </a:bodyPr>
          <a:lstStyle/>
          <a:p>
            <a:r>
              <a:rPr lang="en-US" sz="3600" dirty="0"/>
              <a:t>Variable Importance</a:t>
            </a:r>
          </a:p>
        </p:txBody>
      </p:sp>
      <p:sp>
        <p:nvSpPr>
          <p:cNvPr id="3" name="Subtitle 2">
            <a:extLst>
              <a:ext uri="{FF2B5EF4-FFF2-40B4-BE49-F238E27FC236}">
                <a16:creationId xmlns:a16="http://schemas.microsoft.com/office/drawing/2014/main" id="{A11A06C2-C984-559B-6247-4CE552425B27}"/>
              </a:ext>
            </a:extLst>
          </p:cNvPr>
          <p:cNvSpPr>
            <a:spLocks noGrp="1"/>
          </p:cNvSpPr>
          <p:nvPr>
            <p:ph type="subTitle" idx="1"/>
          </p:nvPr>
        </p:nvSpPr>
        <p:spPr>
          <a:xfrm>
            <a:off x="8303108" y="5702710"/>
            <a:ext cx="3633535" cy="974347"/>
          </a:xfrm>
        </p:spPr>
        <p:txBody>
          <a:bodyPr anchor="ctr">
            <a:normAutofit/>
          </a:bodyPr>
          <a:lstStyle/>
          <a:p>
            <a:pPr algn="r"/>
            <a:endParaRPr lang="en-US" sz="1800"/>
          </a:p>
        </p:txBody>
      </p:sp>
    </p:spTree>
    <p:extLst>
      <p:ext uri="{BB962C8B-B14F-4D97-AF65-F5344CB8AC3E}">
        <p14:creationId xmlns:p14="http://schemas.microsoft.com/office/powerpoint/2010/main" val="12842478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69D93-200E-DD31-8BA0-D6A33E86C62A}"/>
              </a:ext>
            </a:extLst>
          </p:cNvPr>
          <p:cNvSpPr>
            <a:spLocks noGrp="1"/>
          </p:cNvSpPr>
          <p:nvPr>
            <p:ph type="title"/>
          </p:nvPr>
        </p:nvSpPr>
        <p:spPr/>
        <p:txBody>
          <a:bodyPr/>
          <a:lstStyle/>
          <a:p>
            <a:r>
              <a:rPr lang="en-US" dirty="0"/>
              <a:t>Why do we need Variable Importance?</a:t>
            </a:r>
          </a:p>
        </p:txBody>
      </p:sp>
      <p:sp>
        <p:nvSpPr>
          <p:cNvPr id="3" name="Content Placeholder 2">
            <a:extLst>
              <a:ext uri="{FF2B5EF4-FFF2-40B4-BE49-F238E27FC236}">
                <a16:creationId xmlns:a16="http://schemas.microsoft.com/office/drawing/2014/main" id="{B4EC93E0-6574-CDC0-F382-CFE62644C4F2}"/>
              </a:ext>
            </a:extLst>
          </p:cNvPr>
          <p:cNvSpPr>
            <a:spLocks noGrp="1"/>
          </p:cNvSpPr>
          <p:nvPr>
            <p:ph idx="1"/>
          </p:nvPr>
        </p:nvSpPr>
        <p:spPr/>
        <p:txBody>
          <a:bodyPr>
            <a:normAutofit/>
          </a:bodyPr>
          <a:lstStyle/>
          <a:p>
            <a:r>
              <a:rPr lang="en-US" dirty="0"/>
              <a:t>Which variables drive predictions?</a:t>
            </a:r>
          </a:p>
          <a:p>
            <a:r>
              <a:rPr lang="en-US" dirty="0"/>
              <a:t>Can we simplify the model?</a:t>
            </a:r>
          </a:p>
          <a:p>
            <a:r>
              <a:rPr lang="en-US" dirty="0"/>
              <a:t>What insights can we extract?</a:t>
            </a:r>
          </a:p>
          <a:p>
            <a:r>
              <a:rPr lang="en-US" b="1" dirty="0"/>
              <a:t>Applications:</a:t>
            </a:r>
            <a:endParaRPr lang="en-US" dirty="0"/>
          </a:p>
          <a:p>
            <a:pPr lvl="1"/>
            <a:r>
              <a:rPr lang="en-US" sz="2000" dirty="0"/>
              <a:t>Healthcare → risk factors</a:t>
            </a:r>
          </a:p>
          <a:p>
            <a:pPr lvl="1"/>
            <a:r>
              <a:rPr lang="en-US" sz="2000" dirty="0"/>
              <a:t>Finance → default drivers</a:t>
            </a:r>
          </a:p>
          <a:p>
            <a:pPr lvl="1"/>
            <a:r>
              <a:rPr lang="en-US" sz="2000" dirty="0"/>
              <a:t>Policy → key interventions</a:t>
            </a:r>
          </a:p>
          <a:p>
            <a:endParaRPr lang="en-US" dirty="0"/>
          </a:p>
        </p:txBody>
      </p:sp>
    </p:spTree>
    <p:extLst>
      <p:ext uri="{BB962C8B-B14F-4D97-AF65-F5344CB8AC3E}">
        <p14:creationId xmlns:p14="http://schemas.microsoft.com/office/powerpoint/2010/main" val="46406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800B6-F5B2-923F-34DA-60F5697AF685}"/>
              </a:ext>
            </a:extLst>
          </p:cNvPr>
          <p:cNvSpPr>
            <a:spLocks noGrp="1"/>
          </p:cNvSpPr>
          <p:nvPr>
            <p:ph type="title"/>
          </p:nvPr>
        </p:nvSpPr>
        <p:spPr/>
        <p:txBody>
          <a:bodyPr/>
          <a:lstStyle/>
          <a:p>
            <a:r>
              <a:rPr lang="en-US" dirty="0"/>
              <a:t>Variable Importance Principles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7FDE7ED-90F1-B02C-6AB9-0828473CDB31}"/>
                  </a:ext>
                </a:extLst>
              </p:cNvPr>
              <p:cNvSpPr>
                <a:spLocks noGrp="1"/>
              </p:cNvSpPr>
              <p:nvPr>
                <p:ph idx="1"/>
              </p:nvPr>
            </p:nvSpPr>
            <p:spPr/>
            <p:txBody>
              <a:bodyPr>
                <a:noAutofit/>
              </a:bodyPr>
              <a:lstStyle/>
              <a:p>
                <a:pPr marL="0" indent="0">
                  <a:buNone/>
                </a:pPr>
                <a:r>
                  <a:rPr lang="en-US" b="1" dirty="0"/>
                  <a:t>Key Principle</a:t>
                </a:r>
              </a:p>
              <a:p>
                <a:pPr lvl="1"/>
                <a:r>
                  <a:rPr lang="en-US" sz="2000" dirty="0"/>
                  <a:t>Variable importance is only meaningful if the model performs well</a:t>
                </a:r>
              </a:p>
              <a:p>
                <a:pPr lvl="1"/>
                <a:r>
                  <a:rPr lang="en-US" sz="2000" dirty="0"/>
                  <a:t>Always check model performance first</a:t>
                </a:r>
              </a:p>
              <a:p>
                <a:pPr lvl="1"/>
                <a:r>
                  <a:rPr lang="en-US" sz="2000" dirty="0"/>
                  <a:t>Poor model → misleading importance</a:t>
                </a:r>
              </a:p>
              <a:p>
                <a:pPr marL="0" indent="0">
                  <a:buNone/>
                </a:pPr>
                <a:r>
                  <a:rPr lang="en-US" b="1" dirty="0"/>
                  <a:t>General Setup</a:t>
                </a:r>
              </a:p>
              <a:p>
                <a:pPr lvl="1"/>
                <a:r>
                  <a:rPr lang="en-US" sz="2000" dirty="0"/>
                  <a:t>Data: </a:t>
                </a:r>
                <a14:m>
                  <m:oMath xmlns:m="http://schemas.openxmlformats.org/officeDocument/2006/math">
                    <m:r>
                      <a:rPr lang="en-US" sz="2000">
                        <a:latin typeface="Cambria Math" panose="02040503050406030204" pitchFamily="18" charset="0"/>
                      </a:rPr>
                      <m:t>𝒟</m:t>
                    </m:r>
                    <m:r>
                      <a:rPr lang="en-US" sz="2000">
                        <a:latin typeface="Cambria Math" panose="02040503050406030204" pitchFamily="18" charset="0"/>
                      </a:rPr>
                      <m:t>=</m:t>
                    </m:r>
                    <m:d>
                      <m:dPr>
                        <m:begChr m:val="{"/>
                        <m:endChr m:val="}"/>
                        <m:ctrlPr>
                          <a:rPr lang="ar-AE" sz="2000" i="1">
                            <a:latin typeface="Cambria Math" panose="02040503050406030204" pitchFamily="18" charset="0"/>
                          </a:rPr>
                        </m:ctrlPr>
                      </m:dPr>
                      <m:e>
                        <m:d>
                          <m:dPr>
                            <m:sepChr m:val=","/>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i="1">
                                    <a:latin typeface="Cambria Math" panose="02040503050406030204" pitchFamily="18" charset="0"/>
                                  </a:rPr>
                                  <m:t>𝑖</m:t>
                                </m:r>
                              </m:sub>
                            </m:sSub>
                          </m:e>
                          <m:e>
                            <m:sSub>
                              <m:sSubPr>
                                <m:ctrlPr>
                                  <a:rPr lang="ar-AE" sz="2000" i="1">
                                    <a:latin typeface="Cambria Math" panose="02040503050406030204" pitchFamily="18" charset="0"/>
                                  </a:rPr>
                                </m:ctrlPr>
                              </m:sSubPr>
                              <m:e>
                                <m:r>
                                  <a:rPr lang="ar-AE" sz="2000" i="1">
                                    <a:latin typeface="Cambria Math" panose="02040503050406030204" pitchFamily="18" charset="0"/>
                                  </a:rPr>
                                  <m:t>𝑦</m:t>
                                </m:r>
                              </m:e>
                              <m:sub>
                                <m:r>
                                  <a:rPr lang="ar-AE" sz="2000" i="1">
                                    <a:latin typeface="Cambria Math" panose="02040503050406030204" pitchFamily="18" charset="0"/>
                                  </a:rPr>
                                  <m:t>𝑖</m:t>
                                </m:r>
                              </m:sub>
                            </m:sSub>
                          </m:e>
                        </m:d>
                      </m:e>
                    </m:d>
                  </m:oMath>
                </a14:m>
                <a:endParaRPr lang="ar-AE" sz="2000" dirty="0"/>
              </a:p>
              <a:p>
                <a:pPr lvl="1"/>
                <a:r>
                  <a:rPr lang="en-US" sz="2000" dirty="0"/>
                  <a:t>Features: </a:t>
                </a:r>
                <a14:m>
                  <m:oMath xmlns:m="http://schemas.openxmlformats.org/officeDocument/2006/math">
                    <m:r>
                      <a:rPr lang="en-US" sz="2000" i="1">
                        <a:latin typeface="Cambria Math" panose="02040503050406030204" pitchFamily="18" charset="0"/>
                      </a:rPr>
                      <m:t>𝑥</m:t>
                    </m:r>
                    <m:r>
                      <a:rPr lang="en-US" sz="2000">
                        <a:latin typeface="Cambria Math" panose="02040503050406030204" pitchFamily="18" charset="0"/>
                      </a:rPr>
                      <m:t>=</m:t>
                    </m:r>
                    <m:d>
                      <m:dPr>
                        <m:sepChr m:val=","/>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a:latin typeface="Cambria Math" panose="02040503050406030204" pitchFamily="18" charset="0"/>
                              </a:rPr>
                              <m:t>1</m:t>
                            </m:r>
                          </m:sub>
                        </m:sSub>
                      </m:e>
                      <m:e>
                        <m:r>
                          <a:rPr lang="ar-AE" sz="2000">
                            <a:latin typeface="Cambria Math" panose="02040503050406030204" pitchFamily="18" charset="0"/>
                          </a:rPr>
                          <m:t>…</m:t>
                        </m:r>
                      </m:e>
                      <m:e>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i="1">
                                <a:latin typeface="Cambria Math" panose="02040503050406030204" pitchFamily="18" charset="0"/>
                              </a:rPr>
                              <m:t>𝑝</m:t>
                            </m:r>
                          </m:sub>
                        </m:sSub>
                      </m:e>
                    </m:d>
                  </m:oMath>
                </a14:m>
                <a:endParaRPr lang="ar-AE" sz="2000" dirty="0"/>
              </a:p>
              <a:p>
                <a:pPr lvl="1"/>
                <a:r>
                  <a:rPr lang="en-US" sz="2000" dirty="0"/>
                  <a:t>Model: </a:t>
                </a:r>
                <a14:m>
                  <m:oMath xmlns:m="http://schemas.openxmlformats.org/officeDocument/2006/math">
                    <m:acc>
                      <m:accPr>
                        <m:chr m:val="̂"/>
                        <m:ctrlPr>
                          <a:rPr lang="ar-AE" sz="2000" i="1">
                            <a:latin typeface="Cambria Math" panose="02040503050406030204" pitchFamily="18" charset="0"/>
                          </a:rPr>
                        </m:ctrlPr>
                      </m:accPr>
                      <m:e>
                        <m:r>
                          <a:rPr lang="ar-AE" sz="2000" i="1">
                            <a:latin typeface="Cambria Math" panose="02040503050406030204" pitchFamily="18" charset="0"/>
                          </a:rPr>
                          <m:t>𝑓</m:t>
                        </m:r>
                      </m:e>
                    </m:acc>
                    <m:d>
                      <m:dPr>
                        <m:ctrlPr>
                          <a:rPr lang="ar-AE" sz="2000" i="1">
                            <a:latin typeface="Cambria Math" panose="02040503050406030204" pitchFamily="18" charset="0"/>
                          </a:rPr>
                        </m:ctrlPr>
                      </m:dPr>
                      <m:e>
                        <m:r>
                          <a:rPr lang="ar-AE" sz="2000" i="1">
                            <a:latin typeface="Cambria Math" panose="02040503050406030204" pitchFamily="18" charset="0"/>
                          </a:rPr>
                          <m:t>𝑥</m:t>
                        </m:r>
                      </m:e>
                    </m:d>
                  </m:oMath>
                </a14:m>
                <a:endParaRPr lang="ar-AE" sz="2000" dirty="0"/>
              </a:p>
              <a:p>
                <a:pPr lvl="1"/>
                <a:r>
                  <a:rPr lang="en-US" sz="2000" dirty="0"/>
                  <a:t>Goal: quantify contribution of each feature</a:t>
                </a:r>
              </a:p>
              <a:p>
                <a:endParaRPr lang="en-US" dirty="0"/>
              </a:p>
            </p:txBody>
          </p:sp>
        </mc:Choice>
        <mc:Fallback xmlns="">
          <p:sp>
            <p:nvSpPr>
              <p:cNvPr id="3" name="Content Placeholder 2">
                <a:extLst>
                  <a:ext uri="{FF2B5EF4-FFF2-40B4-BE49-F238E27FC236}">
                    <a16:creationId xmlns:a16="http://schemas.microsoft.com/office/drawing/2014/main" id="{E7FDE7ED-90F1-B02C-6AB9-0828473CDB31}"/>
                  </a:ext>
                </a:extLst>
              </p:cNvPr>
              <p:cNvSpPr>
                <a:spLocks noGrp="1" noRot="1" noChangeAspect="1" noMove="1" noResize="1" noEditPoints="1" noAdjustHandles="1" noChangeArrowheads="1" noChangeShapeType="1" noTextEdit="1"/>
              </p:cNvSpPr>
              <p:nvPr>
                <p:ph idx="1"/>
              </p:nvPr>
            </p:nvSpPr>
            <p:spPr>
              <a:blipFill>
                <a:blip r:embed="rId2"/>
                <a:stretch>
                  <a:fillRect l="-627" t="-816" b="-2447"/>
                </a:stretch>
              </a:blipFill>
            </p:spPr>
            <p:txBody>
              <a:bodyPr/>
              <a:lstStyle/>
              <a:p>
                <a:r>
                  <a:rPr lang="en-US">
                    <a:noFill/>
                  </a:rPr>
                  <a:t> </a:t>
                </a:r>
              </a:p>
            </p:txBody>
          </p:sp>
        </mc:Fallback>
      </mc:AlternateContent>
    </p:spTree>
    <p:extLst>
      <p:ext uri="{BB962C8B-B14F-4D97-AF65-F5344CB8AC3E}">
        <p14:creationId xmlns:p14="http://schemas.microsoft.com/office/powerpoint/2010/main" val="3193091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6742B-4377-E06D-A306-6A2A0CCF8167}"/>
              </a:ext>
            </a:extLst>
          </p:cNvPr>
          <p:cNvSpPr>
            <a:spLocks noGrp="1"/>
          </p:cNvSpPr>
          <p:nvPr>
            <p:ph type="title"/>
          </p:nvPr>
        </p:nvSpPr>
        <p:spPr/>
        <p:txBody>
          <a:bodyPr/>
          <a:lstStyle/>
          <a:p>
            <a:r>
              <a:rPr lang="en-US" dirty="0"/>
              <a:t>Linear Regression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D781DE1-16FB-AF00-7D2C-2F5D7D3DF119}"/>
                  </a:ext>
                </a:extLst>
              </p:cNvPr>
              <p:cNvSpPr>
                <a:spLocks noGrp="1"/>
              </p:cNvSpPr>
              <p:nvPr>
                <p:ph idx="1"/>
              </p:nvPr>
            </p:nvSpPr>
            <p:spPr/>
            <p:txBody>
              <a:bodyPr>
                <a:normAutofit fontScale="92500" lnSpcReduction="20000"/>
              </a:bodyPr>
              <a:lstStyle/>
              <a:p>
                <a:pPr marL="0" indent="0">
                  <a:buNone/>
                </a:pPr>
                <a:r>
                  <a:rPr lang="en-US" b="1" dirty="0"/>
                  <a:t>Setup</a:t>
                </a:r>
              </a:p>
              <a:p>
                <a:pPr lvl="1"/>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𝑦</m:t>
                        </m:r>
                      </m:e>
                    </m:acc>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𝛽</m:t>
                        </m:r>
                      </m:e>
                      <m:sub>
                        <m:r>
                          <a:rPr lang="ar-AE">
                            <a:latin typeface="Cambria Math" panose="02040503050406030204" pitchFamily="18" charset="0"/>
                          </a:rPr>
                          <m:t>0</m:t>
                        </m:r>
                      </m:sub>
                    </m:sSub>
                    <m:r>
                      <a:rPr lang="ar-AE">
                        <a:latin typeface="Cambria Math" panose="02040503050406030204" pitchFamily="18" charset="0"/>
                      </a:rPr>
                      <m:t>+</m:t>
                    </m:r>
                    <m:nary>
                      <m:naryPr>
                        <m:chr m:val="∑"/>
                        <m:grow m:val="on"/>
                        <m:ctrlPr>
                          <a:rPr lang="ar-AE" i="1">
                            <a:latin typeface="Cambria Math" panose="02040503050406030204" pitchFamily="18" charset="0"/>
                          </a:rPr>
                        </m:ctrlPr>
                      </m:naryPr>
                      <m:sub>
                        <m:r>
                          <a:rPr lang="ar-AE" i="1">
                            <a:latin typeface="Cambria Math" panose="02040503050406030204" pitchFamily="18" charset="0"/>
                          </a:rPr>
                          <m:t>𝑗</m:t>
                        </m:r>
                        <m:r>
                          <a:rPr lang="ar-AE">
                            <a:latin typeface="Cambria Math" panose="02040503050406030204" pitchFamily="18" charset="0"/>
                          </a:rPr>
                          <m:t>=</m:t>
                        </m:r>
                        <m:r>
                          <a:rPr lang="ar-AE">
                            <a:latin typeface="Cambria Math" panose="02040503050406030204" pitchFamily="18" charset="0"/>
                          </a:rPr>
                          <m:t>1</m:t>
                        </m:r>
                      </m:sub>
                      <m:sup>
                        <m:r>
                          <a:rPr lang="ar-AE" i="1">
                            <a:latin typeface="Cambria Math" panose="02040503050406030204" pitchFamily="18" charset="0"/>
                          </a:rPr>
                          <m:t>𝑝</m:t>
                        </m:r>
                      </m:sup>
                      <m:e>
                        <m:sSub>
                          <m:sSubPr>
                            <m:ctrlPr>
                              <a:rPr lang="ar-AE" i="1">
                                <a:latin typeface="Cambria Math" panose="02040503050406030204" pitchFamily="18" charset="0"/>
                              </a:rPr>
                            </m:ctrlPr>
                          </m:sSubPr>
                          <m:e>
                            <m:r>
                              <a:rPr lang="ar-AE" i="1">
                                <a:latin typeface="Cambria Math" panose="02040503050406030204" pitchFamily="18" charset="0"/>
                              </a:rPr>
                              <m:t>𝛽</m:t>
                            </m:r>
                          </m:e>
                          <m:sub>
                            <m:r>
                              <a:rPr lang="ar-AE" i="1">
                                <a:latin typeface="Cambria Math" panose="02040503050406030204" pitchFamily="18" charset="0"/>
                              </a:rPr>
                              <m:t>𝑗</m:t>
                            </m:r>
                          </m:sub>
                        </m:sSub>
                      </m:e>
                    </m:nary>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𝑗</m:t>
                        </m:r>
                      </m:sub>
                    </m:sSub>
                  </m:oMath>
                </a14:m>
                <a:endParaRPr lang="ar-AE" dirty="0"/>
              </a:p>
              <a:p>
                <a:pPr lvl="1"/>
                <a:r>
                  <a:rPr lang="en-US" dirty="0"/>
                  <a:t>Coefficients represent feature effects</a:t>
                </a:r>
              </a:p>
              <a:p>
                <a:pPr lvl="1"/>
                <a:r>
                  <a:rPr lang="en-US" dirty="0"/>
                  <a:t>Larger magnitude → more influence (with caveats)</a:t>
                </a:r>
              </a:p>
              <a:p>
                <a:pPr marL="0" indent="0">
                  <a:buNone/>
                </a:pPr>
                <a:r>
                  <a:rPr lang="en-US" b="1" dirty="0"/>
                  <a:t>Example</a:t>
                </a:r>
              </a:p>
              <a:p>
                <a:pPr lvl="1"/>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𝑦</m:t>
                        </m:r>
                      </m:e>
                    </m:acc>
                    <m:r>
                      <a:rPr lang="ar-AE">
                        <a:latin typeface="Cambria Math" panose="02040503050406030204" pitchFamily="18" charset="0"/>
                      </a:rPr>
                      <m:t>=</m:t>
                    </m:r>
                    <m:r>
                      <a:rPr lang="ar-AE">
                        <a:latin typeface="Cambria Math" panose="02040503050406030204" pitchFamily="18" charset="0"/>
                      </a:rPr>
                      <m:t>50</m:t>
                    </m:r>
                    <m:r>
                      <a:rPr lang="ar-AE">
                        <a:latin typeface="Cambria Math" panose="02040503050406030204" pitchFamily="18" charset="0"/>
                      </a:rPr>
                      <m:t>,</m:t>
                    </m:r>
                    <m:r>
                      <a:rPr lang="ar-AE">
                        <a:latin typeface="Cambria Math" panose="02040503050406030204" pitchFamily="18" charset="0"/>
                      </a:rPr>
                      <m:t>000</m:t>
                    </m:r>
                    <m:r>
                      <a:rPr lang="ar-AE">
                        <a:latin typeface="Cambria Math" panose="02040503050406030204" pitchFamily="18" charset="0"/>
                      </a:rPr>
                      <m:t>+</m:t>
                    </m:r>
                    <m:r>
                      <a:rPr lang="ar-AE">
                        <a:latin typeface="Cambria Math" panose="02040503050406030204" pitchFamily="18" charset="0"/>
                      </a:rPr>
                      <m:t>150</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20</m:t>
                    </m:r>
                    <m:r>
                      <a:rPr lang="ar-AE">
                        <a:latin typeface="Cambria Math" panose="02040503050406030204" pitchFamily="18" charset="0"/>
                      </a:rPr>
                      <m:t>,</m:t>
                    </m:r>
                    <m:r>
                      <a:rPr lang="ar-AE">
                        <a:latin typeface="Cambria Math" panose="02040503050406030204" pitchFamily="18" charset="0"/>
                      </a:rPr>
                      <m:t>000</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r>
                      <a:rPr lang="ar-AE">
                        <a:latin typeface="Cambria Math" panose="02040503050406030204" pitchFamily="18" charset="0"/>
                      </a:rPr>
                      <m:t>−</m:t>
                    </m:r>
                    <m:r>
                      <a:rPr lang="ar-AE">
                        <a:latin typeface="Cambria Math" panose="02040503050406030204" pitchFamily="18" charset="0"/>
                      </a:rPr>
                      <m:t>5</m:t>
                    </m:r>
                    <m:r>
                      <a:rPr lang="ar-AE">
                        <a:latin typeface="Cambria Math" panose="02040503050406030204" pitchFamily="18" charset="0"/>
                      </a:rPr>
                      <m:t>,</m:t>
                    </m:r>
                    <m:r>
                      <a:rPr lang="ar-AE">
                        <a:latin typeface="Cambria Math" panose="02040503050406030204" pitchFamily="18" charset="0"/>
                      </a:rPr>
                      <m:t>000</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3</m:t>
                        </m:r>
                      </m:sub>
                    </m:sSub>
                  </m:oMath>
                </a14:m>
                <a:endParaRPr lang="ar-AE" dirty="0"/>
              </a:p>
              <a:p>
                <a:pPr lvl="1"/>
                <a:r>
                  <a:rPr lang="en-US" dirty="0" err="1"/>
                  <a:t>sqft</a:t>
                </a:r>
                <a:r>
                  <a:rPr lang="en-US" dirty="0"/>
                  <a:t>: 150</a:t>
                </a:r>
              </a:p>
              <a:p>
                <a:pPr lvl="1"/>
                <a:r>
                  <a:rPr lang="en-US" dirty="0"/>
                  <a:t>bedrooms: 20,000</a:t>
                </a:r>
              </a:p>
              <a:p>
                <a:pPr lvl="1"/>
                <a:r>
                  <a:rPr lang="en-US" dirty="0"/>
                  <a:t>age: -5,000</a:t>
                </a:r>
              </a:p>
              <a:p>
                <a:pPr marL="0" indent="0">
                  <a:buNone/>
                </a:pPr>
                <a:r>
                  <a:rPr lang="en-US" dirty="0"/>
                  <a:t>NOTE: Bedrooms appears most important (misleading)</a:t>
                </a:r>
              </a:p>
              <a:p>
                <a:endParaRPr lang="en-US" dirty="0"/>
              </a:p>
            </p:txBody>
          </p:sp>
        </mc:Choice>
        <mc:Fallback xmlns="">
          <p:sp>
            <p:nvSpPr>
              <p:cNvPr id="3" name="Content Placeholder 2">
                <a:extLst>
                  <a:ext uri="{FF2B5EF4-FFF2-40B4-BE49-F238E27FC236}">
                    <a16:creationId xmlns:a16="http://schemas.microsoft.com/office/drawing/2014/main" id="{1D781DE1-16FB-AF00-7D2C-2F5D7D3DF119}"/>
                  </a:ext>
                </a:extLst>
              </p:cNvPr>
              <p:cNvSpPr>
                <a:spLocks noGrp="1" noRot="1" noChangeAspect="1" noMove="1" noResize="1" noEditPoints="1" noAdjustHandles="1" noChangeArrowheads="1" noChangeShapeType="1" noTextEdit="1"/>
              </p:cNvSpPr>
              <p:nvPr>
                <p:ph idx="1"/>
              </p:nvPr>
            </p:nvSpPr>
            <p:spPr>
              <a:blipFill>
                <a:blip r:embed="rId2"/>
                <a:stretch>
                  <a:fillRect l="-570" t="-1794"/>
                </a:stretch>
              </a:blipFill>
            </p:spPr>
            <p:txBody>
              <a:bodyPr/>
              <a:lstStyle/>
              <a:p>
                <a:r>
                  <a:rPr lang="en-US">
                    <a:noFill/>
                  </a:rPr>
                  <a:t> </a:t>
                </a:r>
              </a:p>
            </p:txBody>
          </p:sp>
        </mc:Fallback>
      </mc:AlternateContent>
    </p:spTree>
    <p:extLst>
      <p:ext uri="{BB962C8B-B14F-4D97-AF65-F5344CB8AC3E}">
        <p14:creationId xmlns:p14="http://schemas.microsoft.com/office/powerpoint/2010/main" val="2830205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8A672-8268-BE41-A2DD-DF43674A4C34}"/>
              </a:ext>
            </a:extLst>
          </p:cNvPr>
          <p:cNvSpPr>
            <a:spLocks noGrp="1"/>
          </p:cNvSpPr>
          <p:nvPr>
            <p:ph type="title"/>
          </p:nvPr>
        </p:nvSpPr>
        <p:spPr/>
        <p:txBody>
          <a:bodyPr/>
          <a:lstStyle/>
          <a:p>
            <a:r>
              <a:rPr lang="en-US" dirty="0"/>
              <a:t>Feature Scaling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36FB43-A536-AFD9-FE12-708DF3A47E5A}"/>
                  </a:ext>
                </a:extLst>
              </p:cNvPr>
              <p:cNvSpPr>
                <a:spLocks noGrp="1"/>
              </p:cNvSpPr>
              <p:nvPr>
                <p:ph idx="1"/>
              </p:nvPr>
            </p:nvSpPr>
            <p:spPr>
              <a:xfrm>
                <a:off x="700635" y="1567472"/>
                <a:ext cx="10691265" cy="3739896"/>
              </a:xfrm>
            </p:spPr>
            <p:txBody>
              <a:bodyPr>
                <a:normAutofit fontScale="92500" lnSpcReduction="10000"/>
              </a:bodyPr>
              <a:lstStyle/>
              <a:p>
                <a:r>
                  <a:rPr lang="en-US" dirty="0"/>
                  <a:t>We scale </a:t>
                </a:r>
                <a:r>
                  <a:rPr lang="en-US" b="1" dirty="0"/>
                  <a:t>features</a:t>
                </a:r>
                <a:r>
                  <a:rPr lang="en-US" dirty="0"/>
                  <a:t>:</a:t>
                </a:r>
              </a:p>
              <a:p>
                <a:pPr lvl="1"/>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𝑥</m:t>
                        </m:r>
                      </m:e>
                      <m:sub>
                        <m:r>
                          <a:rPr lang="ar-AE" i="1">
                            <a:latin typeface="Cambria Math" panose="02040503050406030204" pitchFamily="18" charset="0"/>
                          </a:rPr>
                          <m:t>𝑗</m:t>
                        </m:r>
                      </m:sub>
                      <m:sup>
                        <m:d>
                          <m:dPr>
                            <m:ctrlPr>
                              <a:rPr lang="ar-AE" i="1">
                                <a:latin typeface="Cambria Math" panose="02040503050406030204" pitchFamily="18" charset="0"/>
                              </a:rPr>
                            </m:ctrlPr>
                          </m:dPr>
                          <m:e>
                            <m:r>
                              <m:rPr>
                                <m:sty m:val="p"/>
                              </m:rPr>
                              <a:rPr lang="en-US">
                                <a:latin typeface="Cambria Math" panose="02040503050406030204" pitchFamily="18" charset="0"/>
                              </a:rPr>
                              <m:t>std</m:t>
                            </m:r>
                          </m:e>
                        </m:d>
                      </m:sup>
                    </m:sSubSup>
                    <m:r>
                      <a:rPr lang="ar-AE">
                        <a:latin typeface="Cambria Math" panose="02040503050406030204" pitchFamily="18" charset="0"/>
                      </a:rPr>
                      <m:t>=</m:t>
                    </m:r>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𝑗</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𝜇</m:t>
                            </m:r>
                          </m:e>
                          <m:sub>
                            <m:r>
                              <a:rPr lang="ar-AE" i="1">
                                <a:latin typeface="Cambria Math" panose="02040503050406030204" pitchFamily="18" charset="0"/>
                              </a:rPr>
                              <m:t>𝑗</m:t>
                            </m:r>
                          </m:sub>
                        </m:sSub>
                      </m:num>
                      <m:den>
                        <m:sSub>
                          <m:sSubPr>
                            <m:ctrlPr>
                              <a:rPr lang="ar-AE" i="1">
                                <a:latin typeface="Cambria Math" panose="02040503050406030204" pitchFamily="18" charset="0"/>
                              </a:rPr>
                            </m:ctrlPr>
                          </m:sSubPr>
                          <m:e>
                            <m:r>
                              <a:rPr lang="ar-AE" i="1">
                                <a:latin typeface="Cambria Math" panose="02040503050406030204" pitchFamily="18" charset="0"/>
                              </a:rPr>
                              <m:t>𝜎</m:t>
                            </m:r>
                          </m:e>
                          <m:sub>
                            <m:r>
                              <a:rPr lang="ar-AE" i="1">
                                <a:latin typeface="Cambria Math" panose="02040503050406030204" pitchFamily="18" charset="0"/>
                              </a:rPr>
                              <m:t>𝑗</m:t>
                            </m:r>
                          </m:sub>
                        </m:sSub>
                      </m:den>
                    </m:f>
                  </m:oMath>
                </a14:m>
                <a:endParaRPr lang="ar-AE" dirty="0"/>
              </a:p>
              <a:p>
                <a:r>
                  <a:rPr lang="en-US" dirty="0"/>
                  <a:t>Then fit:</a:t>
                </a:r>
              </a:p>
              <a:p>
                <a:pPr lvl="1"/>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𝑦</m:t>
                        </m:r>
                      </m:e>
                    </m:acc>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𝛽</m:t>
                        </m:r>
                      </m:e>
                      <m:sub>
                        <m:r>
                          <a:rPr lang="ar-AE">
                            <a:latin typeface="Cambria Math" panose="02040503050406030204" pitchFamily="18" charset="0"/>
                          </a:rPr>
                          <m:t>0</m:t>
                        </m:r>
                      </m:sub>
                    </m:sSub>
                    <m:r>
                      <a:rPr lang="ar-AE">
                        <a:latin typeface="Cambria Math" panose="02040503050406030204" pitchFamily="18" charset="0"/>
                      </a:rPr>
                      <m:t>+</m:t>
                    </m:r>
                    <m:nary>
                      <m:naryPr>
                        <m:chr m:val="∑"/>
                        <m:grow m:val="on"/>
                        <m:subHide m:val="on"/>
                        <m:supHide m:val="on"/>
                        <m:ctrlPr>
                          <a:rPr lang="ar-AE" i="1">
                            <a:latin typeface="Cambria Math" panose="02040503050406030204" pitchFamily="18" charset="0"/>
                          </a:rPr>
                        </m:ctrlPr>
                      </m:naryPr>
                      <m:sub/>
                      <m:sup/>
                      <m:e>
                        <m:sSubSup>
                          <m:sSubSupPr>
                            <m:ctrlPr>
                              <a:rPr lang="ar-AE" i="1">
                                <a:latin typeface="Cambria Math" panose="02040503050406030204" pitchFamily="18" charset="0"/>
                              </a:rPr>
                            </m:ctrlPr>
                          </m:sSubSupPr>
                          <m:e>
                            <m:r>
                              <a:rPr lang="ar-AE" i="1">
                                <a:latin typeface="Cambria Math" panose="02040503050406030204" pitchFamily="18" charset="0"/>
                              </a:rPr>
                              <m:t>𝛽</m:t>
                            </m:r>
                          </m:e>
                          <m:sub>
                            <m:r>
                              <a:rPr lang="ar-AE" i="1">
                                <a:latin typeface="Cambria Math" panose="02040503050406030204" pitchFamily="18" charset="0"/>
                              </a:rPr>
                              <m:t>𝑗</m:t>
                            </m:r>
                          </m:sub>
                          <m:sup>
                            <m:d>
                              <m:dPr>
                                <m:ctrlPr>
                                  <a:rPr lang="ar-AE" i="1">
                                    <a:latin typeface="Cambria Math" panose="02040503050406030204" pitchFamily="18" charset="0"/>
                                  </a:rPr>
                                </m:ctrlPr>
                              </m:dPr>
                              <m:e>
                                <m:r>
                                  <m:rPr>
                                    <m:sty m:val="p"/>
                                  </m:rPr>
                                  <a:rPr lang="en-US">
                                    <a:latin typeface="Cambria Math" panose="02040503050406030204" pitchFamily="18" charset="0"/>
                                  </a:rPr>
                                  <m:t>std</m:t>
                                </m:r>
                              </m:e>
                            </m:d>
                          </m:sup>
                        </m:sSubSup>
                      </m:e>
                    </m:nary>
                    <m:sSubSup>
                      <m:sSubSupPr>
                        <m:ctrlPr>
                          <a:rPr lang="ar-AE" i="1">
                            <a:latin typeface="Cambria Math" panose="02040503050406030204" pitchFamily="18" charset="0"/>
                          </a:rPr>
                        </m:ctrlPr>
                      </m:sSubSupPr>
                      <m:e>
                        <m:r>
                          <a:rPr lang="ar-AE" i="1">
                            <a:latin typeface="Cambria Math" panose="02040503050406030204" pitchFamily="18" charset="0"/>
                          </a:rPr>
                          <m:t>𝑥</m:t>
                        </m:r>
                      </m:e>
                      <m:sub>
                        <m:r>
                          <a:rPr lang="ar-AE" i="1">
                            <a:latin typeface="Cambria Math" panose="02040503050406030204" pitchFamily="18" charset="0"/>
                          </a:rPr>
                          <m:t>𝑗</m:t>
                        </m:r>
                      </m:sub>
                      <m:sup>
                        <m:d>
                          <m:dPr>
                            <m:ctrlPr>
                              <a:rPr lang="ar-AE" i="1">
                                <a:latin typeface="Cambria Math" panose="02040503050406030204" pitchFamily="18" charset="0"/>
                              </a:rPr>
                            </m:ctrlPr>
                          </m:dPr>
                          <m:e>
                            <m:r>
                              <m:rPr>
                                <m:sty m:val="p"/>
                              </m:rPr>
                              <a:rPr lang="en-US">
                                <a:latin typeface="Cambria Math" panose="02040503050406030204" pitchFamily="18" charset="0"/>
                              </a:rPr>
                              <m:t>std</m:t>
                            </m:r>
                          </m:e>
                        </m:d>
                      </m:sup>
                    </m:sSubSup>
                  </m:oMath>
                </a14:m>
                <a:br>
                  <a:rPr lang="ar-AE" dirty="0"/>
                </a:br>
                <a:endParaRPr lang="ar-AE" dirty="0"/>
              </a:p>
              <a:p>
                <a:r>
                  <a:rPr lang="en-US" b="1" dirty="0"/>
                  <a:t>Example (After Scaling)</a:t>
                </a:r>
              </a:p>
              <a:p>
                <a:pPr lvl="1"/>
                <a:r>
                  <a:rPr lang="en-US" dirty="0" err="1"/>
                  <a:t>sqft</a:t>
                </a:r>
                <a:r>
                  <a:rPr lang="en-US" dirty="0"/>
                  <a:t>: </a:t>
                </a:r>
                <a:r>
                  <a:rPr lang="en-US" b="1" dirty="0"/>
                  <a:t>0.80</a:t>
                </a:r>
                <a:endParaRPr lang="en-US" dirty="0"/>
              </a:p>
              <a:p>
                <a:pPr lvl="1"/>
                <a:r>
                  <a:rPr lang="en-US" dirty="0"/>
                  <a:t>bedrooms: 0.40</a:t>
                </a:r>
              </a:p>
              <a:p>
                <a:pPr lvl="1"/>
                <a:r>
                  <a:rPr lang="en-US" dirty="0"/>
                  <a:t>age: 0.20</a:t>
                </a:r>
              </a:p>
              <a:p>
                <a:endParaRPr lang="en-US" dirty="0"/>
              </a:p>
            </p:txBody>
          </p:sp>
        </mc:Choice>
        <mc:Fallback xmlns="">
          <p:sp>
            <p:nvSpPr>
              <p:cNvPr id="3" name="Content Placeholder 2">
                <a:extLst>
                  <a:ext uri="{FF2B5EF4-FFF2-40B4-BE49-F238E27FC236}">
                    <a16:creationId xmlns:a16="http://schemas.microsoft.com/office/drawing/2014/main" id="{4636FB43-A536-AFD9-FE12-708DF3A47E5A}"/>
                  </a:ext>
                </a:extLst>
              </p:cNvPr>
              <p:cNvSpPr>
                <a:spLocks noGrp="1" noRot="1" noChangeAspect="1" noMove="1" noResize="1" noEditPoints="1" noAdjustHandles="1" noChangeArrowheads="1" noChangeShapeType="1" noTextEdit="1"/>
              </p:cNvSpPr>
              <p:nvPr>
                <p:ph idx="1"/>
              </p:nvPr>
            </p:nvSpPr>
            <p:spPr>
              <a:xfrm>
                <a:off x="700635" y="1567472"/>
                <a:ext cx="10691265" cy="3739896"/>
              </a:xfrm>
              <a:blipFill>
                <a:blip r:embed="rId2"/>
                <a:stretch>
                  <a:fillRect l="-456" t="-977"/>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8266A4F8-7406-B2C1-25A7-66F51091A7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9366" y="1119810"/>
            <a:ext cx="7185512" cy="4261281"/>
          </a:xfrm>
          <a:prstGeom prst="rect">
            <a:avLst/>
          </a:prstGeom>
        </p:spPr>
      </p:pic>
      <p:sp>
        <p:nvSpPr>
          <p:cNvPr id="6" name="TextBox 5">
            <a:extLst>
              <a:ext uri="{FF2B5EF4-FFF2-40B4-BE49-F238E27FC236}">
                <a16:creationId xmlns:a16="http://schemas.microsoft.com/office/drawing/2014/main" id="{D825FB0F-40B8-42E1-E251-3BF30B13C58E}"/>
              </a:ext>
            </a:extLst>
          </p:cNvPr>
          <p:cNvSpPr txBox="1"/>
          <p:nvPr/>
        </p:nvSpPr>
        <p:spPr>
          <a:xfrm>
            <a:off x="5463941" y="5688449"/>
            <a:ext cx="6096000" cy="1169551"/>
          </a:xfrm>
          <a:prstGeom prst="rect">
            <a:avLst/>
          </a:prstGeom>
          <a:noFill/>
        </p:spPr>
        <p:txBody>
          <a:bodyPr wrap="square">
            <a:spAutoFit/>
          </a:bodyPr>
          <a:lstStyle/>
          <a:p>
            <a:r>
              <a:rPr lang="en-US" sz="1400" dirty="0"/>
              <a:t>This figure shows why raw coefficients can mislead us. Bedrooms looks largest in raw units, but once we account for feature scale, square footage becomes the strongest signal. The core lesson is that we should compare standardized effects, not raw coefficients, when ranking feature importance in linear models.</a:t>
            </a:r>
          </a:p>
        </p:txBody>
      </p:sp>
    </p:spTree>
    <p:extLst>
      <p:ext uri="{BB962C8B-B14F-4D97-AF65-F5344CB8AC3E}">
        <p14:creationId xmlns:p14="http://schemas.microsoft.com/office/powerpoint/2010/main" val="294243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08973-B6E0-6143-5896-A686284D80CD}"/>
              </a:ext>
            </a:extLst>
          </p:cNvPr>
          <p:cNvSpPr>
            <a:spLocks noGrp="1"/>
          </p:cNvSpPr>
          <p:nvPr>
            <p:ph type="title"/>
          </p:nvPr>
        </p:nvSpPr>
        <p:spPr/>
        <p:txBody>
          <a:bodyPr/>
          <a:lstStyle/>
          <a:p>
            <a:r>
              <a:rPr lang="en-US" dirty="0"/>
              <a:t>Logistic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75BCF9-84C5-7554-6345-071EB6D54A58}"/>
                  </a:ext>
                </a:extLst>
              </p:cNvPr>
              <p:cNvSpPr>
                <a:spLocks noGrp="1"/>
              </p:cNvSpPr>
              <p:nvPr>
                <p:ph idx="1"/>
              </p:nvPr>
            </p:nvSpPr>
            <p:spPr>
              <a:xfrm>
                <a:off x="700636" y="2221992"/>
                <a:ext cx="4564384" cy="3739896"/>
              </a:xfrm>
            </p:spPr>
            <p:txBody>
              <a:bodyPr>
                <a:normAutofit fontScale="77500" lnSpcReduction="20000"/>
              </a:bodyPr>
              <a:lstStyle/>
              <a:p>
                <a:pPr marL="0" indent="0">
                  <a:buNone/>
                </a:pPr>
                <a14:m>
                  <m:oMathPara xmlns:m="http://schemas.openxmlformats.org/officeDocument/2006/math">
                    <m:oMathParaPr>
                      <m:jc m:val="centerGroup"/>
                    </m:oMathParaPr>
                    <m:oMath xmlns:m="http://schemas.openxmlformats.org/officeDocument/2006/math">
                      <m:func>
                        <m:funcPr>
                          <m:ctrlPr>
                            <a:rPr lang="ar-AE" i="1" smtClean="0">
                              <a:latin typeface="Cambria Math" panose="02040503050406030204" pitchFamily="18" charset="0"/>
                            </a:rPr>
                          </m:ctrlPr>
                        </m:funcPr>
                        <m:fName>
                          <m:r>
                            <m:rPr>
                              <m:sty m:val="p"/>
                            </m:rPr>
                            <a:rPr lang="en-US">
                              <a:latin typeface="Cambria Math" panose="02040503050406030204" pitchFamily="18" charset="0"/>
                            </a:rPr>
                            <m:t>log</m:t>
                          </m:r>
                        </m:fName>
                        <m:e>
                          <m:d>
                            <m:dPr>
                              <m:ctrlPr>
                                <a:rPr lang="ar-AE" i="1">
                                  <a:latin typeface="Cambria Math" panose="02040503050406030204" pitchFamily="18" charset="0"/>
                                </a:rPr>
                              </m:ctrlPr>
                            </m:dPr>
                            <m:e>
                              <m:f>
                                <m:fPr>
                                  <m:ctrlPr>
                                    <a:rPr lang="ar-AE" i="1">
                                      <a:latin typeface="Cambria Math" panose="02040503050406030204" pitchFamily="18" charset="0"/>
                                    </a:rPr>
                                  </m:ctrlPr>
                                </m:fPr>
                                <m:num>
                                  <m:r>
                                    <a:rPr lang="ar-AE" i="1">
                                      <a:latin typeface="Cambria Math" panose="02040503050406030204" pitchFamily="18" charset="0"/>
                                    </a:rPr>
                                    <m:t>𝑝</m:t>
                                  </m:r>
                                </m:num>
                                <m:den>
                                  <m:r>
                                    <a:rPr lang="ar-AE">
                                      <a:latin typeface="Cambria Math" panose="02040503050406030204" pitchFamily="18" charset="0"/>
                                    </a:rPr>
                                    <m:t>1</m:t>
                                  </m:r>
                                  <m:r>
                                    <a:rPr lang="ar-AE">
                                      <a:latin typeface="Cambria Math" panose="02040503050406030204" pitchFamily="18" charset="0"/>
                                    </a:rPr>
                                    <m:t>−</m:t>
                                  </m:r>
                                  <m:r>
                                    <a:rPr lang="ar-AE" i="1">
                                      <a:latin typeface="Cambria Math" panose="02040503050406030204" pitchFamily="18" charset="0"/>
                                    </a:rPr>
                                    <m:t>𝑝</m:t>
                                  </m:r>
                                </m:den>
                              </m:f>
                            </m:e>
                          </m:d>
                        </m:e>
                      </m:func>
                      <m:r>
                        <a:rPr lang="ar-AE">
                          <a:latin typeface="Cambria Math" panose="02040503050406030204" pitchFamily="18" charset="0"/>
                        </a:rPr>
                        <m:t>=−</m:t>
                      </m:r>
                      <m:r>
                        <a:rPr lang="ar-AE">
                          <a:latin typeface="Cambria Math" panose="02040503050406030204" pitchFamily="18" charset="0"/>
                        </a:rPr>
                        <m:t>5</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04</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2</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3</m:t>
                          </m:r>
                        </m:sub>
                      </m:sSub>
                    </m:oMath>
                  </m:oMathPara>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oMath>
                </a14:m>
                <a:r>
                  <a:rPr lang="ar-AE" dirty="0"/>
                  <a:t>: </a:t>
                </a:r>
                <a:r>
                  <a:rPr lang="en-US" dirty="0"/>
                  <a:t>age</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smtClean="0">
                            <a:latin typeface="Cambria Math" panose="02040503050406030204" pitchFamily="18" charset="0"/>
                          </a:rPr>
                          <m:t>2</m:t>
                        </m:r>
                      </m:sub>
                    </m:sSub>
                  </m:oMath>
                </a14:m>
                <a:r>
                  <a:rPr lang="ar-AE" dirty="0"/>
                  <a:t>: </a:t>
                </a:r>
                <a:r>
                  <a:rPr lang="en-US" dirty="0"/>
                  <a:t>smoker</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3</m:t>
                        </m:r>
                      </m:sub>
                    </m:sSub>
                  </m:oMath>
                </a14:m>
                <a:r>
                  <a:rPr lang="ar-AE" dirty="0"/>
                  <a:t>: </a:t>
                </a:r>
                <a:r>
                  <a:rPr lang="en-US" dirty="0"/>
                  <a:t>blood pressure</a:t>
                </a:r>
                <a:br>
                  <a:rPr lang="en-US" dirty="0"/>
                </a:br>
                <a:endParaRPr lang="en-US" dirty="0"/>
              </a:p>
              <a:p>
                <a:pPr marL="0" indent="0">
                  <a:buNone/>
                </a:pPr>
                <a:r>
                  <a:rPr lang="en-US" b="1" dirty="0"/>
                  <a:t>Interpretation</a:t>
                </a:r>
              </a:p>
              <a:p>
                <a:r>
                  <a:rPr lang="en-US" dirty="0"/>
                  <a:t>Age: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𝑒</m:t>
                        </m:r>
                      </m:e>
                      <m:sup>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04</m:t>
                        </m:r>
                      </m:sup>
                    </m:sSup>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04</m:t>
                    </m:r>
                  </m:oMath>
                </a14:m>
                <a:endParaRPr lang="ar-AE" dirty="0"/>
              </a:p>
              <a:p>
                <a:r>
                  <a:rPr lang="en-US" dirty="0"/>
                  <a:t>Smoking: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𝑒</m:t>
                        </m:r>
                      </m:e>
                      <m:sup>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2</m:t>
                        </m:r>
                      </m:sup>
                    </m:sSup>
                    <m:r>
                      <a:rPr lang="ar-AE">
                        <a:latin typeface="Cambria Math" panose="02040503050406030204" pitchFamily="18" charset="0"/>
                      </a:rPr>
                      <m:t>=</m:t>
                    </m:r>
                    <m:r>
                      <a:rPr lang="ar-AE">
                        <a:latin typeface="Cambria Math" panose="02040503050406030204" pitchFamily="18" charset="0"/>
                      </a:rPr>
                      <m:t>3</m:t>
                    </m:r>
                    <m:r>
                      <a:rPr lang="ar-AE">
                        <a:latin typeface="Cambria Math" panose="02040503050406030204" pitchFamily="18" charset="0"/>
                      </a:rPr>
                      <m:t>.</m:t>
                    </m:r>
                    <m:r>
                      <a:rPr lang="ar-AE">
                        <a:latin typeface="Cambria Math" panose="02040503050406030204" pitchFamily="18" charset="0"/>
                      </a:rPr>
                      <m:t>32</m:t>
                    </m:r>
                  </m:oMath>
                </a14:m>
                <a:endParaRPr lang="ar-AE" dirty="0"/>
              </a:p>
              <a:p>
                <a:r>
                  <a:rPr lang="en-US" dirty="0"/>
                  <a:t>Blood pressure: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𝑒</m:t>
                        </m:r>
                      </m:e>
                      <m:sup>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m:t>
                        </m:r>
                      </m:sup>
                    </m:sSup>
                    <m:r>
                      <a:rPr lang="ar-AE">
                        <a:latin typeface="Cambria Math" panose="02040503050406030204" pitchFamily="18" charset="0"/>
                      </a:rPr>
                      <m:t>=</m:t>
                    </m:r>
                    <m:r>
                      <a:rPr lang="ar-AE">
                        <a:latin typeface="Cambria Math" panose="02040503050406030204" pitchFamily="18" charset="0"/>
                      </a:rPr>
                      <m:t>2</m:t>
                    </m:r>
                    <m:r>
                      <a:rPr lang="ar-AE">
                        <a:latin typeface="Cambria Math" panose="02040503050406030204" pitchFamily="18" charset="0"/>
                      </a:rPr>
                      <m:t>.</m:t>
                    </m:r>
                    <m:r>
                      <a:rPr lang="ar-AE">
                        <a:latin typeface="Cambria Math" panose="02040503050406030204" pitchFamily="18" charset="0"/>
                      </a:rPr>
                      <m:t>23</m:t>
                    </m:r>
                  </m:oMath>
                </a14:m>
                <a:endParaRPr lang="ar-AE" dirty="0"/>
              </a:p>
              <a:p>
                <a:r>
                  <a:rPr lang="en-US" dirty="0"/>
                  <a:t>Smoking strongest predictor</a:t>
                </a:r>
              </a:p>
              <a:p>
                <a:endParaRPr lang="en-US" dirty="0"/>
              </a:p>
            </p:txBody>
          </p:sp>
        </mc:Choice>
        <mc:Fallback xmlns="">
          <p:sp>
            <p:nvSpPr>
              <p:cNvPr id="3" name="Content Placeholder 2">
                <a:extLst>
                  <a:ext uri="{FF2B5EF4-FFF2-40B4-BE49-F238E27FC236}">
                    <a16:creationId xmlns:a16="http://schemas.microsoft.com/office/drawing/2014/main" id="{E475BCF9-84C5-7554-6345-071EB6D54A58}"/>
                  </a:ext>
                </a:extLst>
              </p:cNvPr>
              <p:cNvSpPr>
                <a:spLocks noGrp="1" noRot="1" noChangeAspect="1" noMove="1" noResize="1" noEditPoints="1" noAdjustHandles="1" noChangeArrowheads="1" noChangeShapeType="1" noTextEdit="1"/>
              </p:cNvSpPr>
              <p:nvPr>
                <p:ph idx="1"/>
              </p:nvPr>
            </p:nvSpPr>
            <p:spPr>
              <a:xfrm>
                <a:off x="700636" y="2221992"/>
                <a:ext cx="4564384" cy="3739896"/>
              </a:xfrm>
              <a:blipFill>
                <a:blip r:embed="rId2"/>
                <a:stretch>
                  <a:fillRect l="-801" b="-979"/>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7965C1C5-8948-53EB-AFE1-536607053D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5586" y="1636294"/>
            <a:ext cx="5368832" cy="3183921"/>
          </a:xfrm>
          <a:prstGeom prst="rect">
            <a:avLst/>
          </a:prstGeom>
        </p:spPr>
      </p:pic>
      <p:sp>
        <p:nvSpPr>
          <p:cNvPr id="7" name="TextBox 6">
            <a:extLst>
              <a:ext uri="{FF2B5EF4-FFF2-40B4-BE49-F238E27FC236}">
                <a16:creationId xmlns:a16="http://schemas.microsoft.com/office/drawing/2014/main" id="{43141B20-1E43-B1B0-D7E5-37781DB17F34}"/>
              </a:ext>
            </a:extLst>
          </p:cNvPr>
          <p:cNvSpPr txBox="1"/>
          <p:nvPr/>
        </p:nvSpPr>
        <p:spPr>
          <a:xfrm>
            <a:off x="4899260" y="4917506"/>
            <a:ext cx="7009044" cy="1477328"/>
          </a:xfrm>
          <a:prstGeom prst="rect">
            <a:avLst/>
          </a:prstGeom>
          <a:noFill/>
        </p:spPr>
        <p:txBody>
          <a:bodyPr wrap="square" rtlCol="0">
            <a:spAutoFit/>
          </a:bodyPr>
          <a:lstStyle/>
          <a:p>
            <a:r>
              <a:rPr lang="en-US" dirty="0"/>
              <a:t>"Here, odds ratios make logistic regression interpretable. A value near 1 means little change in odds, while larger values indicate stronger effects. Smoking has the largest odds ratio in this example, so it is the strongest predictor among these features."</a:t>
            </a:r>
          </a:p>
          <a:p>
            <a:endParaRPr lang="en-US" dirty="0"/>
          </a:p>
        </p:txBody>
      </p:sp>
    </p:spTree>
    <p:extLst>
      <p:ext uri="{BB962C8B-B14F-4D97-AF65-F5344CB8AC3E}">
        <p14:creationId xmlns:p14="http://schemas.microsoft.com/office/powerpoint/2010/main" val="3866272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3F61DF-6AF2-CA0F-A2CF-CB20974D3E82}"/>
              </a:ext>
            </a:extLst>
          </p:cNvPr>
          <p:cNvSpPr>
            <a:spLocks noGrp="1"/>
          </p:cNvSpPr>
          <p:nvPr>
            <p:ph type="title"/>
          </p:nvPr>
        </p:nvSpPr>
        <p:spPr>
          <a:xfrm>
            <a:off x="704088" y="914400"/>
            <a:ext cx="10687812" cy="798194"/>
          </a:xfrm>
        </p:spPr>
        <p:txBody>
          <a:bodyPr vert="horz" lIns="91440" tIns="45720" rIns="91440" bIns="45720" rtlCol="0" anchor="t">
            <a:normAutofit/>
          </a:bodyPr>
          <a:lstStyle/>
          <a:p>
            <a:r>
              <a:rPr lang="en-US"/>
              <a:t>Correlated Features</a:t>
            </a:r>
            <a:endParaRPr lang="en-US" dirty="0"/>
          </a:p>
        </p:txBody>
      </p:sp>
      <p:cxnSp>
        <p:nvCxnSpPr>
          <p:cNvPr id="14" name="Straight Connector 13">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a:extLst>
              <a:ext uri="{FF2B5EF4-FFF2-40B4-BE49-F238E27FC236}">
                <a16:creationId xmlns:a16="http://schemas.microsoft.com/office/drawing/2014/main" id="{4B06499E-302F-BAA0-24E4-BAABB67CC4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7406" y="1835573"/>
            <a:ext cx="6983494" cy="3910755"/>
          </a:xfrm>
          <a:prstGeom prst="rect">
            <a:avLst/>
          </a:prstGeom>
        </p:spPr>
      </p:pic>
      <p:sp>
        <p:nvSpPr>
          <p:cNvPr id="7" name="TextBox 6">
            <a:extLst>
              <a:ext uri="{FF2B5EF4-FFF2-40B4-BE49-F238E27FC236}">
                <a16:creationId xmlns:a16="http://schemas.microsoft.com/office/drawing/2014/main" id="{5FC8F8C5-1E4F-DEE3-2438-5D5CAC176A41}"/>
              </a:ext>
            </a:extLst>
          </p:cNvPr>
          <p:cNvSpPr txBox="1"/>
          <p:nvPr/>
        </p:nvSpPr>
        <p:spPr>
          <a:xfrm>
            <a:off x="7200900" y="1849121"/>
            <a:ext cx="4191001" cy="4139626"/>
          </a:xfrm>
          <a:prstGeom prst="rect">
            <a:avLst/>
          </a:prstGeom>
        </p:spPr>
        <p:txBody>
          <a:bodyPr vert="horz" lIns="91440" tIns="45720" rIns="91440" bIns="45720" rtlCol="0" anchor="t">
            <a:normAutofit/>
          </a:bodyPr>
          <a:lstStyle/>
          <a:p>
            <a:pPr>
              <a:lnSpc>
                <a:spcPct val="110000"/>
              </a:lnSpc>
              <a:spcAft>
                <a:spcPts val="600"/>
              </a:spcAft>
            </a:pPr>
            <a:r>
              <a:rPr lang="en-US" dirty="0"/>
              <a:t>With correlated predictors, coefficients can shift between model fits even when overall performance is similar. The predictive signal is shared, so individual coefficient-based importance becomes unstable. Interpret these values cautiously under multicollinearity.</a:t>
            </a:r>
          </a:p>
        </p:txBody>
      </p:sp>
      <p:cxnSp>
        <p:nvCxnSpPr>
          <p:cNvPr id="19" name="Straight Connector 18">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9656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DED11-926F-B383-E33E-8B784CF381A9}"/>
              </a:ext>
            </a:extLst>
          </p:cNvPr>
          <p:cNvSpPr>
            <a:spLocks noGrp="1"/>
          </p:cNvSpPr>
          <p:nvPr>
            <p:ph type="title"/>
          </p:nvPr>
        </p:nvSpPr>
        <p:spPr/>
        <p:txBody>
          <a:bodyPr/>
          <a:lstStyle/>
          <a:p>
            <a:r>
              <a:rPr lang="en-US" dirty="0"/>
              <a:t>Logistic Regression Pitfalls</a:t>
            </a:r>
          </a:p>
        </p:txBody>
      </p:sp>
      <p:sp>
        <p:nvSpPr>
          <p:cNvPr id="5" name="Content Placeholder 2">
            <a:extLst>
              <a:ext uri="{FF2B5EF4-FFF2-40B4-BE49-F238E27FC236}">
                <a16:creationId xmlns:a16="http://schemas.microsoft.com/office/drawing/2014/main" id="{6C472C9F-8BB7-8F42-6819-6C9031B3AC11}"/>
              </a:ext>
            </a:extLst>
          </p:cNvPr>
          <p:cNvSpPr txBox="1">
            <a:spLocks/>
          </p:cNvSpPr>
          <p:nvPr/>
        </p:nvSpPr>
        <p:spPr>
          <a:xfrm>
            <a:off x="1016681" y="2085632"/>
            <a:ext cx="4564384" cy="373989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Pitfalls:</a:t>
            </a:r>
            <a:endParaRPr lang="en-US" dirty="0"/>
          </a:p>
          <a:p>
            <a:r>
              <a:rPr lang="en-US" dirty="0"/>
              <a:t>Log-odds interpretation</a:t>
            </a:r>
          </a:p>
          <a:p>
            <a:r>
              <a:rPr lang="en-US" dirty="0"/>
              <a:t>Scale issues</a:t>
            </a:r>
          </a:p>
          <a:p>
            <a:r>
              <a:rPr lang="en-US" dirty="0"/>
              <a:t>Class imbalance</a:t>
            </a:r>
          </a:p>
          <a:p>
            <a:r>
              <a:rPr lang="en-US" dirty="0"/>
              <a:t>Correlated predictors</a:t>
            </a:r>
          </a:p>
          <a:p>
            <a:r>
              <a:rPr lang="en-US" dirty="0"/>
              <a:t>Poor model performance</a:t>
            </a:r>
          </a:p>
          <a:p>
            <a:pPr marL="0" indent="0">
              <a:buNone/>
            </a:pPr>
            <a:endParaRPr lang="en-US" b="1" dirty="0"/>
          </a:p>
        </p:txBody>
      </p:sp>
    </p:spTree>
    <p:extLst>
      <p:ext uri="{BB962C8B-B14F-4D97-AF65-F5344CB8AC3E}">
        <p14:creationId xmlns:p14="http://schemas.microsoft.com/office/powerpoint/2010/main" val="1007711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A0593-BF3C-9931-571A-DDA0335B1620}"/>
              </a:ext>
            </a:extLst>
          </p:cNvPr>
          <p:cNvSpPr>
            <a:spLocks noGrp="1"/>
          </p:cNvSpPr>
          <p:nvPr>
            <p:ph type="title"/>
          </p:nvPr>
        </p:nvSpPr>
        <p:spPr/>
        <p:txBody>
          <a:bodyPr/>
          <a:lstStyle/>
          <a:p>
            <a:r>
              <a:rPr lang="en-US" dirty="0"/>
              <a:t>Decision Tree Importance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5A467DE-33C8-68A9-A5C7-9078E0F69F18}"/>
                  </a:ext>
                </a:extLst>
              </p:cNvPr>
              <p:cNvSpPr>
                <a:spLocks noGrp="1"/>
              </p:cNvSpPr>
              <p:nvPr>
                <p:ph sz="half" idx="1"/>
              </p:nvPr>
            </p:nvSpPr>
            <p:spPr/>
            <p:txBody>
              <a:bodyPr/>
              <a:lstStyle/>
              <a:p>
                <a:pPr marL="0" indent="0">
                  <a:buNone/>
                </a:pPr>
                <a:r>
                  <a:rPr lang="en-US" dirty="0"/>
                  <a:t>Let:</a:t>
                </a:r>
              </a:p>
              <a:p>
                <a14:m>
                  <m:oMath xmlns:m="http://schemas.openxmlformats.org/officeDocument/2006/math">
                    <m:r>
                      <a:rPr lang="en-US" i="1">
                        <a:latin typeface="Cambria Math" panose="02040503050406030204" pitchFamily="18" charset="0"/>
                      </a:rPr>
                      <m:t>𝑇</m:t>
                    </m:r>
                  </m:oMath>
                </a14:m>
                <a:r>
                  <a:rPr lang="en-US" dirty="0"/>
                  <a:t>: a decision tree</a:t>
                </a:r>
              </a:p>
              <a:p>
                <a14:m>
                  <m:oMath xmlns:m="http://schemas.openxmlformats.org/officeDocument/2006/math">
                    <m:r>
                      <a:rPr lang="en-US" i="1">
                        <a:latin typeface="Cambria Math" panose="02040503050406030204" pitchFamily="18" charset="0"/>
                      </a:rPr>
                      <m:t>𝑡</m:t>
                    </m:r>
                  </m:oMath>
                </a14:m>
                <a:r>
                  <a:rPr lang="en-US" dirty="0"/>
                  <a:t>: a node in the tree</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𝑗</m:t>
                        </m:r>
                      </m:sub>
                    </m:sSub>
                  </m:oMath>
                </a14:m>
                <a:r>
                  <a:rPr lang="ar-AE" dirty="0"/>
                  <a:t>: </a:t>
                </a:r>
                <a:r>
                  <a:rPr lang="en-US" dirty="0"/>
                  <a:t>feature </a:t>
                </a:r>
                <a14:m>
                  <m:oMath xmlns:m="http://schemas.openxmlformats.org/officeDocument/2006/math">
                    <m:r>
                      <a:rPr lang="en-US" i="1">
                        <a:latin typeface="Cambria Math" panose="02040503050406030204" pitchFamily="18" charset="0"/>
                      </a:rPr>
                      <m:t>𝑗</m:t>
                    </m:r>
                  </m:oMath>
                </a14:m>
                <a:endParaRPr lang="en-US" dirty="0"/>
              </a:p>
              <a:p>
                <a14:m>
                  <m:oMath xmlns:m="http://schemas.openxmlformats.org/officeDocument/2006/math">
                    <m:r>
                      <a:rPr lang="en-US" i="1">
                        <a:latin typeface="Cambria Math" panose="02040503050406030204" pitchFamily="18" charset="0"/>
                      </a:rPr>
                      <m:t>𝐼</m:t>
                    </m:r>
                    <m:d>
                      <m:dPr>
                        <m:ctrlPr>
                          <a:rPr lang="ar-AE" i="1">
                            <a:latin typeface="Cambria Math" panose="02040503050406030204" pitchFamily="18" charset="0"/>
                          </a:rPr>
                        </m:ctrlPr>
                      </m:dPr>
                      <m:e>
                        <m:r>
                          <a:rPr lang="ar-AE" i="1">
                            <a:latin typeface="Cambria Math" panose="02040503050406030204" pitchFamily="18" charset="0"/>
                          </a:rPr>
                          <m:t>𝑡</m:t>
                        </m:r>
                      </m:e>
                    </m:d>
                  </m:oMath>
                </a14:m>
                <a:r>
                  <a:rPr lang="ar-AE" dirty="0"/>
                  <a:t>: </a:t>
                </a:r>
                <a:r>
                  <a:rPr lang="en-US" dirty="0"/>
                  <a:t>impurity at node </a:t>
                </a:r>
                <a14:m>
                  <m:oMath xmlns:m="http://schemas.openxmlformats.org/officeDocument/2006/math">
                    <m:r>
                      <a:rPr lang="en-US" i="1">
                        <a:latin typeface="Cambria Math" panose="02040503050406030204" pitchFamily="18" charset="0"/>
                      </a:rPr>
                      <m:t>𝑡</m:t>
                    </m:r>
                  </m:oMath>
                </a14:m>
                <a:endParaRPr lang="en-US"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𝑛</m:t>
                        </m:r>
                      </m:e>
                      <m:sub>
                        <m:r>
                          <a:rPr lang="ar-AE" i="1">
                            <a:latin typeface="Cambria Math" panose="02040503050406030204" pitchFamily="18" charset="0"/>
                          </a:rPr>
                          <m:t>𝑡</m:t>
                        </m:r>
                      </m:sub>
                    </m:sSub>
                  </m:oMath>
                </a14:m>
                <a:r>
                  <a:rPr lang="ar-AE" dirty="0"/>
                  <a:t>: </a:t>
                </a:r>
                <a:r>
                  <a:rPr lang="en-US" dirty="0"/>
                  <a:t>number of samples at node </a:t>
                </a:r>
                <a14:m>
                  <m:oMath xmlns:m="http://schemas.openxmlformats.org/officeDocument/2006/math">
                    <m:r>
                      <a:rPr lang="en-US" i="1">
                        <a:latin typeface="Cambria Math" panose="02040503050406030204" pitchFamily="18" charset="0"/>
                      </a:rPr>
                      <m:t>𝑡</m:t>
                    </m:r>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B5A467DE-33C8-68A9-A5C7-9078E0F69F18}"/>
                  </a:ext>
                </a:extLst>
              </p:cNvPr>
              <p:cNvSpPr>
                <a:spLocks noGrp="1" noRot="1" noChangeAspect="1" noMove="1" noResize="1" noEditPoints="1" noAdjustHandles="1" noChangeArrowheads="1" noChangeShapeType="1" noTextEdit="1"/>
              </p:cNvSpPr>
              <p:nvPr>
                <p:ph sz="half" idx="1"/>
              </p:nvPr>
            </p:nvSpPr>
            <p:spPr>
              <a:blipFill>
                <a:blip r:embed="rId2"/>
                <a:stretch>
                  <a:fillRect l="-1287" t="-8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9439526B-42CF-4FDA-A2D8-52EDEC642D9B}"/>
                  </a:ext>
                </a:extLst>
              </p:cNvPr>
              <p:cNvSpPr>
                <a:spLocks noGrp="1"/>
              </p:cNvSpPr>
              <p:nvPr>
                <p:ph sz="half" idx="2"/>
              </p:nvPr>
            </p:nvSpPr>
            <p:spPr>
              <a:xfrm>
                <a:off x="6181344" y="2221992"/>
                <a:ext cx="5212080" cy="3739896"/>
              </a:xfrm>
            </p:spPr>
            <p:txBody>
              <a:bodyPr/>
              <a:lstStyle/>
              <a:p>
                <a:r>
                  <a:rPr lang="en-US" dirty="0"/>
                  <a:t>At a node </a:t>
                </a:r>
                <a14:m>
                  <m:oMath xmlns:m="http://schemas.openxmlformats.org/officeDocument/2006/math">
                    <m:r>
                      <a:rPr lang="en-US" i="1">
                        <a:latin typeface="Cambria Math" panose="02040503050406030204" pitchFamily="18" charset="0"/>
                      </a:rPr>
                      <m:t>𝑡</m:t>
                    </m:r>
                  </m:oMath>
                </a14:m>
                <a:r>
                  <a:rPr lang="en-US" dirty="0"/>
                  <a:t>, suppose we split on feature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𝑗</m:t>
                        </m:r>
                      </m:sub>
                    </m:sSub>
                  </m:oMath>
                </a14:m>
                <a:r>
                  <a:rPr lang="ar-AE" dirty="0"/>
                  <a:t>, </a:t>
                </a:r>
                <a:r>
                  <a:rPr lang="en-US" dirty="0"/>
                  <a:t>producing:</a:t>
                </a:r>
              </a:p>
              <a:p>
                <a:pPr lvl="1"/>
                <a:r>
                  <a:rPr lang="en-US" dirty="0"/>
                  <a:t>left child: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𝐿</m:t>
                        </m:r>
                      </m:sub>
                    </m:sSub>
                  </m:oMath>
                </a14:m>
                <a:endParaRPr lang="ar-AE" dirty="0"/>
              </a:p>
              <a:p>
                <a:pPr lvl="1"/>
                <a:r>
                  <a:rPr lang="en-US" dirty="0"/>
                  <a:t>right child: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𝑅</m:t>
                        </m:r>
                      </m:sub>
                    </m:sSub>
                  </m:oMath>
                </a14:m>
                <a:endParaRPr lang="ar-AE" dirty="0"/>
              </a:p>
              <a:p>
                <a:r>
                  <a:rPr lang="en-US" dirty="0"/>
                  <a:t>The </a:t>
                </a:r>
                <a:r>
                  <a:rPr lang="en-US" b="1" dirty="0"/>
                  <a:t>impurity decrease</a:t>
                </a:r>
                <a:r>
                  <a:rPr lang="en-US" dirty="0"/>
                  <a:t> from this split is:</a:t>
                </a:r>
              </a:p>
              <a:p>
                <a:pPr marL="0" indent="0">
                  <a:buNone/>
                </a:pPr>
                <a14:m>
                  <m:oMathPara xmlns:m="http://schemas.openxmlformats.org/officeDocument/2006/math">
                    <m:oMathParaPr>
                      <m:jc m:val="centerGroup"/>
                    </m:oMathParaPr>
                    <m:oMath xmlns:m="http://schemas.openxmlformats.org/officeDocument/2006/math">
                      <m:r>
                        <m:rPr>
                          <m:sty m:val="p"/>
                        </m:rPr>
                        <a:rPr lang="el-GR">
                          <a:latin typeface="Cambria Math" panose="02040503050406030204" pitchFamily="18" charset="0"/>
                        </a:rPr>
                        <m:t>Δ</m:t>
                      </m:r>
                      <m:r>
                        <a:rPr lang="el-GR" i="1">
                          <a:latin typeface="Cambria Math" panose="02040503050406030204" pitchFamily="18" charset="0"/>
                        </a:rPr>
                        <m:t>𝐼</m:t>
                      </m:r>
                      <m:d>
                        <m:dPr>
                          <m:ctrlPr>
                            <a:rPr lang="ar-AE" i="1">
                              <a:latin typeface="Cambria Math" panose="02040503050406030204" pitchFamily="18" charset="0"/>
                            </a:rPr>
                          </m:ctrlPr>
                        </m:dPr>
                        <m:e>
                          <m:r>
                            <a:rPr lang="ar-AE" i="1">
                              <a:latin typeface="Cambria Math" panose="02040503050406030204" pitchFamily="18" charset="0"/>
                            </a:rPr>
                            <m:t>𝑡</m:t>
                          </m:r>
                        </m:e>
                      </m:d>
                      <m:r>
                        <a:rPr lang="ar-AE">
                          <a:latin typeface="Cambria Math" panose="02040503050406030204" pitchFamily="18" charset="0"/>
                        </a:rPr>
                        <m:t>=</m:t>
                      </m:r>
                      <m:r>
                        <a:rPr lang="ar-AE" i="1">
                          <a:latin typeface="Cambria Math" panose="02040503050406030204" pitchFamily="18" charset="0"/>
                        </a:rPr>
                        <m:t>𝐼</m:t>
                      </m:r>
                      <m:d>
                        <m:dPr>
                          <m:ctrlPr>
                            <a:rPr lang="ar-AE" i="1">
                              <a:latin typeface="Cambria Math" panose="02040503050406030204" pitchFamily="18" charset="0"/>
                            </a:rPr>
                          </m:ctrlPr>
                        </m:dPr>
                        <m:e>
                          <m:r>
                            <a:rPr lang="ar-AE" i="1">
                              <a:latin typeface="Cambria Math" panose="02040503050406030204" pitchFamily="18" charset="0"/>
                            </a:rPr>
                            <m:t>𝑡</m:t>
                          </m:r>
                        </m:e>
                      </m:d>
                      <m:r>
                        <a:rPr lang="ar-AE">
                          <a:latin typeface="Cambria Math" panose="02040503050406030204" pitchFamily="18" charset="0"/>
                        </a:rPr>
                        <m:t>−</m:t>
                      </m:r>
                      <m:d>
                        <m:dPr>
                          <m:ctrlPr>
                            <a:rPr lang="ar-AE" i="1">
                              <a:latin typeface="Cambria Math" panose="02040503050406030204" pitchFamily="18" charset="0"/>
                            </a:rPr>
                          </m:ctrlPr>
                        </m:dPr>
                        <m:e>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ar-AE" i="1">
                                      <a:latin typeface="Cambria Math" panose="02040503050406030204" pitchFamily="18" charset="0"/>
                                    </a:rPr>
                                    <m:t>𝑛</m:t>
                                  </m:r>
                                </m:e>
                                <m:sub>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𝐿</m:t>
                                      </m:r>
                                    </m:sub>
                                  </m:sSub>
                                </m:sub>
                              </m:sSub>
                            </m:num>
                            <m:den>
                              <m:sSub>
                                <m:sSubPr>
                                  <m:ctrlPr>
                                    <a:rPr lang="ar-AE" i="1">
                                      <a:latin typeface="Cambria Math" panose="02040503050406030204" pitchFamily="18" charset="0"/>
                                    </a:rPr>
                                  </m:ctrlPr>
                                </m:sSubPr>
                                <m:e>
                                  <m:r>
                                    <a:rPr lang="ar-AE" i="1">
                                      <a:latin typeface="Cambria Math" panose="02040503050406030204" pitchFamily="18" charset="0"/>
                                    </a:rPr>
                                    <m:t>𝑛</m:t>
                                  </m:r>
                                </m:e>
                                <m:sub>
                                  <m:r>
                                    <a:rPr lang="ar-AE" i="1">
                                      <a:latin typeface="Cambria Math" panose="02040503050406030204" pitchFamily="18" charset="0"/>
                                    </a:rPr>
                                    <m:t>𝑡</m:t>
                                  </m:r>
                                </m:sub>
                              </m:sSub>
                            </m:den>
                          </m:f>
                          <m:r>
                            <a:rPr lang="ar-AE" i="1">
                              <a:latin typeface="Cambria Math" panose="02040503050406030204" pitchFamily="18" charset="0"/>
                            </a:rPr>
                            <m:t>𝐼</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𝐿</m:t>
                                  </m:r>
                                </m:sub>
                              </m:sSub>
                            </m:e>
                          </m:d>
                          <m:r>
                            <a:rPr lang="ar-AE">
                              <a:latin typeface="Cambria Math" panose="02040503050406030204" pitchFamily="18" charset="0"/>
                            </a:rPr>
                            <m:t>+</m:t>
                          </m:r>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ar-AE" i="1">
                                      <a:latin typeface="Cambria Math" panose="02040503050406030204" pitchFamily="18" charset="0"/>
                                    </a:rPr>
                                    <m:t>𝑛</m:t>
                                  </m:r>
                                </m:e>
                                <m:sub>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𝑅</m:t>
                                      </m:r>
                                    </m:sub>
                                  </m:sSub>
                                </m:sub>
                              </m:sSub>
                            </m:num>
                            <m:den>
                              <m:sSub>
                                <m:sSubPr>
                                  <m:ctrlPr>
                                    <a:rPr lang="ar-AE" i="1">
                                      <a:latin typeface="Cambria Math" panose="02040503050406030204" pitchFamily="18" charset="0"/>
                                    </a:rPr>
                                  </m:ctrlPr>
                                </m:sSubPr>
                                <m:e>
                                  <m:r>
                                    <a:rPr lang="ar-AE" i="1">
                                      <a:latin typeface="Cambria Math" panose="02040503050406030204" pitchFamily="18" charset="0"/>
                                    </a:rPr>
                                    <m:t>𝑛</m:t>
                                  </m:r>
                                </m:e>
                                <m:sub>
                                  <m:r>
                                    <a:rPr lang="ar-AE" i="1">
                                      <a:latin typeface="Cambria Math" panose="02040503050406030204" pitchFamily="18" charset="0"/>
                                    </a:rPr>
                                    <m:t>𝑡</m:t>
                                  </m:r>
                                </m:sub>
                              </m:sSub>
                            </m:den>
                          </m:f>
                          <m:r>
                            <a:rPr lang="ar-AE" i="1">
                              <a:latin typeface="Cambria Math" panose="02040503050406030204" pitchFamily="18" charset="0"/>
                            </a:rPr>
                            <m:t>𝐼</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𝑅</m:t>
                                  </m:r>
                                </m:sub>
                              </m:sSub>
                            </m:e>
                          </m:d>
                        </m:e>
                      </m:d>
                    </m:oMath>
                  </m:oMathPara>
                </a14:m>
                <a:endParaRPr lang="ar-AE" dirty="0"/>
              </a:p>
              <a:p>
                <a:endParaRPr lang="en-US" dirty="0"/>
              </a:p>
            </p:txBody>
          </p:sp>
        </mc:Choice>
        <mc:Fallback xmlns="">
          <p:sp>
            <p:nvSpPr>
              <p:cNvPr id="4" name="Content Placeholder 3">
                <a:extLst>
                  <a:ext uri="{FF2B5EF4-FFF2-40B4-BE49-F238E27FC236}">
                    <a16:creationId xmlns:a16="http://schemas.microsoft.com/office/drawing/2014/main" id="{9439526B-42CF-4FDA-A2D8-52EDEC642D9B}"/>
                  </a:ext>
                </a:extLst>
              </p:cNvPr>
              <p:cNvSpPr>
                <a:spLocks noGrp="1" noRot="1" noChangeAspect="1" noMove="1" noResize="1" noEditPoints="1" noAdjustHandles="1" noChangeArrowheads="1" noChangeShapeType="1" noTextEdit="1"/>
              </p:cNvSpPr>
              <p:nvPr>
                <p:ph sz="half" idx="2"/>
              </p:nvPr>
            </p:nvSpPr>
            <p:spPr>
              <a:xfrm>
                <a:off x="6181344" y="2221992"/>
                <a:ext cx="5212080" cy="3739896"/>
              </a:xfrm>
              <a:blipFill>
                <a:blip r:embed="rId3"/>
                <a:stretch>
                  <a:fillRect l="-1053" t="-326"/>
                </a:stretch>
              </a:blipFill>
            </p:spPr>
            <p:txBody>
              <a:bodyPr/>
              <a:lstStyle/>
              <a:p>
                <a:r>
                  <a:rPr lang="en-US">
                    <a:noFill/>
                  </a:rPr>
                  <a:t> </a:t>
                </a:r>
              </a:p>
            </p:txBody>
          </p:sp>
        </mc:Fallback>
      </mc:AlternateContent>
    </p:spTree>
    <p:extLst>
      <p:ext uri="{BB962C8B-B14F-4D97-AF65-F5344CB8AC3E}">
        <p14:creationId xmlns:p14="http://schemas.microsoft.com/office/powerpoint/2010/main" val="1544760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A6041-637B-6D78-5506-92BFDCE375ED}"/>
              </a:ext>
            </a:extLst>
          </p:cNvPr>
          <p:cNvSpPr>
            <a:spLocks noGrp="1"/>
          </p:cNvSpPr>
          <p:nvPr>
            <p:ph type="title"/>
          </p:nvPr>
        </p:nvSpPr>
        <p:spPr/>
        <p:txBody>
          <a:bodyPr/>
          <a:lstStyle/>
          <a:p>
            <a:r>
              <a:rPr lang="en-US" dirty="0"/>
              <a:t>Impurity Functions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A115A7E1-21F4-7DD9-E149-771F0FD3728E}"/>
                  </a:ext>
                </a:extLst>
              </p:cNvPr>
              <p:cNvSpPr>
                <a:spLocks noGrp="1"/>
              </p:cNvSpPr>
              <p:nvPr>
                <p:ph sz="half" idx="2"/>
              </p:nvPr>
            </p:nvSpPr>
            <p:spPr>
              <a:xfrm>
                <a:off x="704088" y="1682305"/>
                <a:ext cx="5212080" cy="3519185"/>
              </a:xfrm>
            </p:spPr>
            <p:txBody>
              <a:bodyPr>
                <a:normAutofit fontScale="92500" lnSpcReduction="10000"/>
              </a:bodyPr>
              <a:lstStyle/>
              <a:p>
                <a:r>
                  <a:rPr lang="en-US" b="1" dirty="0"/>
                  <a:t>Classification (Gini impurity)</a:t>
                </a:r>
              </a:p>
              <a:p>
                <a14:m>
                  <m:oMath xmlns:m="http://schemas.openxmlformats.org/officeDocument/2006/math">
                    <m:r>
                      <a:rPr lang="en-US" i="1">
                        <a:latin typeface="Cambria Math" panose="02040503050406030204" pitchFamily="18" charset="0"/>
                      </a:rPr>
                      <m:t>𝐼</m:t>
                    </m:r>
                    <m:d>
                      <m:dPr>
                        <m:ctrlPr>
                          <a:rPr lang="ar-AE" i="1">
                            <a:latin typeface="Cambria Math" panose="02040503050406030204" pitchFamily="18" charset="0"/>
                          </a:rPr>
                        </m:ctrlPr>
                      </m:dPr>
                      <m:e>
                        <m:r>
                          <a:rPr lang="ar-AE" i="1">
                            <a:latin typeface="Cambria Math" panose="02040503050406030204" pitchFamily="18" charset="0"/>
                          </a:rPr>
                          <m:t>𝑡</m:t>
                        </m:r>
                      </m:e>
                    </m:d>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nary>
                      <m:naryPr>
                        <m:chr m:val="∑"/>
                        <m:grow m:val="on"/>
                        <m:ctrlPr>
                          <a:rPr lang="ar-AE" i="1">
                            <a:latin typeface="Cambria Math" panose="02040503050406030204" pitchFamily="18" charset="0"/>
                          </a:rPr>
                        </m:ctrlPr>
                      </m:naryPr>
                      <m:sub>
                        <m:r>
                          <a:rPr lang="ar-AE" i="1">
                            <a:latin typeface="Cambria Math" panose="02040503050406030204" pitchFamily="18" charset="0"/>
                          </a:rPr>
                          <m:t>𝑘</m:t>
                        </m:r>
                        <m:r>
                          <a:rPr lang="ar-AE">
                            <a:latin typeface="Cambria Math" panose="02040503050406030204" pitchFamily="18" charset="0"/>
                          </a:rPr>
                          <m:t>=</m:t>
                        </m:r>
                        <m:r>
                          <a:rPr lang="ar-AE">
                            <a:latin typeface="Cambria Math" panose="02040503050406030204" pitchFamily="18" charset="0"/>
                          </a:rPr>
                          <m:t>1</m:t>
                        </m:r>
                      </m:sub>
                      <m:sup>
                        <m:r>
                          <a:rPr lang="ar-AE" i="1">
                            <a:latin typeface="Cambria Math" panose="02040503050406030204" pitchFamily="18" charset="0"/>
                          </a:rPr>
                          <m:t>𝐾</m:t>
                        </m:r>
                      </m:sup>
                      <m:e>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1">
                                <a:latin typeface="Cambria Math" panose="02040503050406030204" pitchFamily="18" charset="0"/>
                              </a:rPr>
                              <m:t>𝑘</m:t>
                            </m:r>
                          </m:sub>
                        </m:sSub>
                      </m:e>
                    </m:nary>
                    <m:d>
                      <m:dPr>
                        <m:endChr m:val=""/>
                        <m:ctrlPr>
                          <a:rPr lang="ar-AE" i="1">
                            <a:latin typeface="Cambria Math" panose="02040503050406030204" pitchFamily="18" charset="0"/>
                          </a:rPr>
                        </m:ctrlPr>
                      </m:dPr>
                      <m:e>
                        <m:r>
                          <a:rPr lang="ar-AE" i="1">
                            <a:latin typeface="Cambria Math" panose="02040503050406030204" pitchFamily="18" charset="0"/>
                          </a:rPr>
                          <m:t>𝑡</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e>
                    </m:d>
                  </m:oMath>
                </a14:m>
                <a:endParaRPr lang="ar-AE" dirty="0"/>
              </a:p>
              <a:p>
                <a:r>
                  <a:rPr lang="en-US" dirty="0"/>
                  <a:t>where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1">
                            <a:latin typeface="Cambria Math" panose="02040503050406030204" pitchFamily="18" charset="0"/>
                          </a:rPr>
                          <m:t>𝑘</m:t>
                        </m:r>
                      </m:sub>
                    </m:sSub>
                    <m:d>
                      <m:dPr>
                        <m:ctrlPr>
                          <a:rPr lang="ar-AE" i="1">
                            <a:latin typeface="Cambria Math" panose="02040503050406030204" pitchFamily="18" charset="0"/>
                          </a:rPr>
                        </m:ctrlPr>
                      </m:dPr>
                      <m:e>
                        <m:r>
                          <a:rPr lang="ar-AE" i="1">
                            <a:latin typeface="Cambria Math" panose="02040503050406030204" pitchFamily="18" charset="0"/>
                          </a:rPr>
                          <m:t>𝑡</m:t>
                        </m:r>
                      </m:e>
                    </m:d>
                  </m:oMath>
                </a14:m>
                <a:r>
                  <a:rPr lang="en-US" dirty="0"/>
                  <a:t>is the proportion of class </a:t>
                </a:r>
                <a14:m>
                  <m:oMath xmlns:m="http://schemas.openxmlformats.org/officeDocument/2006/math">
                    <m:r>
                      <a:rPr lang="en-US" i="1">
                        <a:latin typeface="Cambria Math" panose="02040503050406030204" pitchFamily="18" charset="0"/>
                      </a:rPr>
                      <m:t>𝑘</m:t>
                    </m:r>
                  </m:oMath>
                </a14:m>
                <a:r>
                  <a:rPr lang="en-US" dirty="0"/>
                  <a:t>in node </a:t>
                </a:r>
                <a14:m>
                  <m:oMath xmlns:m="http://schemas.openxmlformats.org/officeDocument/2006/math">
                    <m:r>
                      <a:rPr lang="en-US" i="1">
                        <a:latin typeface="Cambria Math" panose="02040503050406030204" pitchFamily="18" charset="0"/>
                      </a:rPr>
                      <m:t>𝑡</m:t>
                    </m:r>
                  </m:oMath>
                </a14:m>
                <a:r>
                  <a:rPr lang="en-US" dirty="0"/>
                  <a:t>.</a:t>
                </a:r>
              </a:p>
              <a:p>
                <a:r>
                  <a:rPr lang="en-US" b="1" dirty="0"/>
                  <a:t>Regression (Variance / MSE)</a:t>
                </a:r>
              </a:p>
              <a:p>
                <a14:m>
                  <m:oMath xmlns:m="http://schemas.openxmlformats.org/officeDocument/2006/math">
                    <m:r>
                      <a:rPr lang="en-US" i="1">
                        <a:latin typeface="Cambria Math" panose="02040503050406030204" pitchFamily="18" charset="0"/>
                      </a:rPr>
                      <m:t>𝐼</m:t>
                    </m:r>
                    <m:d>
                      <m:dPr>
                        <m:ctrlPr>
                          <a:rPr lang="ar-AE" i="1">
                            <a:latin typeface="Cambria Math" panose="02040503050406030204" pitchFamily="18" charset="0"/>
                          </a:rPr>
                        </m:ctrlPr>
                      </m:dPr>
                      <m:e>
                        <m:r>
                          <a:rPr lang="ar-AE" i="1">
                            <a:latin typeface="Cambria Math" panose="02040503050406030204" pitchFamily="18" charset="0"/>
                          </a:rPr>
                          <m:t>𝑡</m:t>
                        </m:r>
                      </m:e>
                    </m:d>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sSub>
                          <m:sSubPr>
                            <m:ctrlPr>
                              <a:rPr lang="ar-AE" i="1">
                                <a:latin typeface="Cambria Math" panose="02040503050406030204" pitchFamily="18" charset="0"/>
                              </a:rPr>
                            </m:ctrlPr>
                          </m:sSubPr>
                          <m:e>
                            <m:r>
                              <a:rPr lang="ar-AE" i="1">
                                <a:latin typeface="Cambria Math" panose="02040503050406030204" pitchFamily="18" charset="0"/>
                              </a:rPr>
                              <m:t>𝑛</m:t>
                            </m:r>
                          </m:e>
                          <m:sub>
                            <m:r>
                              <a:rPr lang="ar-AE" i="1">
                                <a:latin typeface="Cambria Math" panose="02040503050406030204" pitchFamily="18" charset="0"/>
                              </a:rPr>
                              <m:t>𝑡</m:t>
                            </m:r>
                          </m:sub>
                        </m:sSub>
                      </m:den>
                    </m:f>
                    <m:nary>
                      <m:naryPr>
                        <m:chr m:val="∑"/>
                        <m:grow m:val="on"/>
                        <m:supHide m:val="on"/>
                        <m:ctrlPr>
                          <a:rPr lang="ar-AE" i="1">
                            <a:latin typeface="Cambria Math" panose="02040503050406030204" pitchFamily="18" charset="0"/>
                          </a:rPr>
                        </m:ctrlPr>
                      </m:naryPr>
                      <m:sub>
                        <m:r>
                          <a:rPr lang="ar-AE" i="1">
                            <a:latin typeface="Cambria Math" panose="02040503050406030204" pitchFamily="18" charset="0"/>
                          </a:rPr>
                          <m:t>𝑖</m:t>
                        </m:r>
                        <m:r>
                          <a:rPr lang="ar-AE">
                            <a:latin typeface="Cambria Math" panose="02040503050406030204" pitchFamily="18" charset="0"/>
                          </a:rPr>
                          <m:t>∈</m:t>
                        </m:r>
                        <m:r>
                          <a:rPr lang="ar-AE" i="1">
                            <a:latin typeface="Cambria Math" panose="02040503050406030204" pitchFamily="18" charset="0"/>
                          </a:rPr>
                          <m:t>𝑡</m:t>
                        </m:r>
                      </m:sub>
                      <m:sup/>
                      <m:e>
                        <m:r>
                          <a:rPr lang="ar-AE">
                            <a:latin typeface="Cambria Math" panose="02040503050406030204" pitchFamily="18" charset="0"/>
                          </a:rPr>
                          <m:t>(</m:t>
                        </m:r>
                      </m:e>
                    </m:nary>
                    <m:d>
                      <m:dPr>
                        <m:begChr m:val=""/>
                        <m:end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𝑖</m:t>
                            </m:r>
                          </m:sub>
                        </m:sSub>
                        <m:r>
                          <a:rPr lang="ar-AE">
                            <a:latin typeface="Cambria Math" panose="02040503050406030204" pitchFamily="18" charset="0"/>
                          </a:rPr>
                          <m:t>−</m:t>
                        </m:r>
                        <m:sSub>
                          <m:sSubPr>
                            <m:ctrlPr>
                              <a:rPr lang="ar-AE" i="1">
                                <a:latin typeface="Cambria Math" panose="02040503050406030204" pitchFamily="18" charset="0"/>
                              </a:rPr>
                            </m:ctrlPr>
                          </m:sSubPr>
                          <m:e>
                            <m:limUpp>
                              <m:limUppPr>
                                <m:ctrlPr>
                                  <a:rPr lang="ar-AE" i="1" smtClean="0">
                                    <a:latin typeface="Cambria Math" panose="02040503050406030204" pitchFamily="18" charset="0"/>
                                  </a:rPr>
                                </m:ctrlPr>
                              </m:limUppPr>
                              <m:e>
                                <m:r>
                                  <a:rPr lang="ar-AE" i="1">
                                    <a:latin typeface="Cambria Math" panose="02040503050406030204" pitchFamily="18" charset="0"/>
                                  </a:rPr>
                                  <m:t>𝑦</m:t>
                                </m:r>
                              </m:e>
                              <m:lim>
                                <m:r>
                                  <a:rPr lang="ar-AE">
                                    <a:latin typeface="Cambria Math" panose="02040503050406030204" pitchFamily="18" charset="0"/>
                                  </a:rPr>
                                  <m:t>ˉ</m:t>
                                </m:r>
                              </m:lim>
                            </m:limUpp>
                          </m:e>
                          <m:sub>
                            <m:r>
                              <a:rPr lang="ar-AE" i="1">
                                <a:latin typeface="Cambria Math" panose="02040503050406030204" pitchFamily="18" charset="0"/>
                              </a:rPr>
                              <m:t>𝑡</m:t>
                            </m:r>
                          </m:sub>
                        </m:sSub>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e>
                    </m:d>
                  </m:oMath>
                </a14:m>
                <a:endParaRPr lang="ar-AE" dirty="0"/>
              </a:p>
              <a:p>
                <a:endParaRPr lang="en-US" dirty="0"/>
              </a:p>
            </p:txBody>
          </p:sp>
        </mc:Choice>
        <mc:Fallback xmlns="">
          <p:sp>
            <p:nvSpPr>
              <p:cNvPr id="4" name="Content Placeholder 3">
                <a:extLst>
                  <a:ext uri="{FF2B5EF4-FFF2-40B4-BE49-F238E27FC236}">
                    <a16:creationId xmlns:a16="http://schemas.microsoft.com/office/drawing/2014/main" id="{A115A7E1-21F4-7DD9-E149-771F0FD3728E}"/>
                  </a:ext>
                </a:extLst>
              </p:cNvPr>
              <p:cNvSpPr>
                <a:spLocks noGrp="1" noRot="1" noChangeAspect="1" noMove="1" noResize="1" noEditPoints="1" noAdjustHandles="1" noChangeArrowheads="1" noChangeShapeType="1" noTextEdit="1"/>
              </p:cNvSpPr>
              <p:nvPr>
                <p:ph sz="half" idx="2"/>
              </p:nvPr>
            </p:nvSpPr>
            <p:spPr>
              <a:xfrm>
                <a:off x="704088" y="1682305"/>
                <a:ext cx="5212080" cy="3519185"/>
              </a:xfrm>
              <a:blipFill>
                <a:blip r:embed="rId2"/>
                <a:stretch>
                  <a:fillRect l="-936" t="-1040" r="-10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2B77987E-1EED-C6F7-FF43-794A92C808ED}"/>
                  </a:ext>
                </a:extLst>
              </p:cNvPr>
              <p:cNvSpPr>
                <a:spLocks noGrp="1"/>
              </p:cNvSpPr>
              <p:nvPr>
                <p:ph sz="quarter" idx="4"/>
              </p:nvPr>
            </p:nvSpPr>
            <p:spPr>
              <a:xfrm>
                <a:off x="6181344" y="1682305"/>
                <a:ext cx="5212080" cy="3519185"/>
              </a:xfrm>
            </p:spPr>
            <p:txBody>
              <a:bodyPr>
                <a:normAutofit fontScale="92500" lnSpcReduction="10000"/>
              </a:bodyPr>
              <a:lstStyle/>
              <a:p>
                <a:pPr marL="0" indent="0">
                  <a:buNone/>
                </a:pPr>
                <a:r>
                  <a:rPr lang="en-US" dirty="0"/>
                  <a:t>The importance of feature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𝑗</m:t>
                        </m:r>
                      </m:sub>
                    </m:sSub>
                  </m:oMath>
                </a14:m>
                <a:r>
                  <a:rPr lang="en-US" dirty="0"/>
                  <a:t>is the </a:t>
                </a:r>
                <a:r>
                  <a:rPr lang="en-US" b="1" dirty="0"/>
                  <a:t>total impurity reduction contributed by splits on that feature</a:t>
                </a:r>
                <a:r>
                  <a:rPr lang="en-US" dirty="0"/>
                  <a:t>:</a:t>
                </a:r>
              </a:p>
              <a:p>
                <a:pPr marL="0" indent="0">
                  <a:buNone/>
                </a:pPr>
                <a14:m>
                  <m:oMathPara xmlns:m="http://schemas.openxmlformats.org/officeDocument/2006/math">
                    <m:oMathParaPr>
                      <m:jc m:val="centerGroup"/>
                    </m:oMathParaPr>
                    <m:oMath xmlns:m="http://schemas.openxmlformats.org/officeDocument/2006/math">
                      <m:borderBox>
                        <m:borderBoxPr>
                          <m:ctrlPr>
                            <a:rPr lang="ar-AE" i="1">
                              <a:latin typeface="Cambria Math" panose="02040503050406030204" pitchFamily="18" charset="0"/>
                            </a:rPr>
                          </m:ctrlPr>
                        </m:borderBoxPr>
                        <m:e>
                          <m:r>
                            <a:rPr lang="ar-AE" i="1">
                              <a:latin typeface="Cambria Math" panose="02040503050406030204" pitchFamily="18" charset="0"/>
                            </a:rPr>
                            <m:t>𝑉</m:t>
                          </m:r>
                          <m:sSubSup>
                            <m:sSubSupPr>
                              <m:ctrlPr>
                                <a:rPr lang="ar-AE" i="1">
                                  <a:latin typeface="Cambria Math" panose="02040503050406030204" pitchFamily="18" charset="0"/>
                                </a:rPr>
                              </m:ctrlPr>
                            </m:sSubSupPr>
                            <m:e>
                              <m:r>
                                <a:rPr lang="ar-AE" i="1">
                                  <a:latin typeface="Cambria Math" panose="02040503050406030204" pitchFamily="18" charset="0"/>
                                </a:rPr>
                                <m:t>𝐼</m:t>
                              </m:r>
                            </m:e>
                            <m:sub>
                              <m:r>
                                <a:rPr lang="ar-AE" i="1">
                                  <a:latin typeface="Cambria Math" panose="02040503050406030204" pitchFamily="18" charset="0"/>
                                </a:rPr>
                                <m:t>𝑗</m:t>
                              </m:r>
                            </m:sub>
                            <m:sup>
                              <m:r>
                                <m:rPr>
                                  <m:nor/>
                                </m:rPr>
                                <a:rPr lang="en-US" i="1"/>
                                <m:t>tree</m:t>
                              </m:r>
                            </m:sup>
                          </m:sSubSup>
                          <m:r>
                            <a:rPr lang="ar-AE">
                              <a:latin typeface="Cambria Math" panose="02040503050406030204" pitchFamily="18" charset="0"/>
                            </a:rPr>
                            <m:t>=</m:t>
                          </m:r>
                          <m:nary>
                            <m:naryPr>
                              <m:chr m:val="∑"/>
                              <m:grow m:val="on"/>
                              <m:supHide m:val="on"/>
                              <m:ctrlPr>
                                <a:rPr lang="ar-AE" i="1">
                                  <a:latin typeface="Cambria Math" panose="02040503050406030204" pitchFamily="18" charset="0"/>
                                </a:rPr>
                              </m:ctrlPr>
                            </m:naryPr>
                            <m:sub>
                              <m:r>
                                <a:rPr lang="ar-AE" i="1">
                                  <a:latin typeface="Cambria Math" panose="02040503050406030204" pitchFamily="18" charset="0"/>
                                </a:rPr>
                                <m:t>𝑡</m:t>
                              </m:r>
                              <m:r>
                                <a:rPr lang="ar-AE">
                                  <a:latin typeface="Cambria Math" panose="02040503050406030204" pitchFamily="18" charset="0"/>
                                </a:rPr>
                                <m:t>∈</m:t>
                              </m:r>
                              <m:r>
                                <a:rPr lang="ar-AE" i="1">
                                  <a:latin typeface="Cambria Math" panose="02040503050406030204" pitchFamily="18" charset="0"/>
                                </a:rPr>
                                <m:t>𝑇</m:t>
                              </m:r>
                              <m:r>
                                <a:rPr lang="ar-AE">
                                  <a:latin typeface="Cambria Math" panose="02040503050406030204" pitchFamily="18" charset="0"/>
                                </a:rPr>
                                <m:t>:</m:t>
                              </m:r>
                              <m:r>
                                <m:rPr>
                                  <m:nor/>
                                </m:rPr>
                                <a:rPr lang="ar-AE" i="1"/>
                                <m:t> </m:t>
                              </m:r>
                              <m:r>
                                <m:rPr>
                                  <m:nor/>
                                </m:rPr>
                                <a:rPr lang="en-US" i="1"/>
                                <m:t>split</m:t>
                              </m:r>
                              <m:r>
                                <m:rPr>
                                  <m:nor/>
                                </m:rPr>
                                <a:rPr lang="en-US" i="1"/>
                                <m:t> </m:t>
                              </m:r>
                              <m:r>
                                <m:rPr>
                                  <m:nor/>
                                </m:rPr>
                                <a:rPr lang="en-US" i="1"/>
                                <m:t>on</m:t>
                              </m:r>
                              <m:r>
                                <m:rPr>
                                  <m:nor/>
                                </m:rPr>
                                <a:rPr lang="en-US" i="1"/>
                                <m:t> </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𝑗</m:t>
                                  </m:r>
                                </m:sub>
                              </m:sSub>
                            </m:sub>
                            <m:sup/>
                            <m:e>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ar-AE" i="1">
                                          <a:latin typeface="Cambria Math" panose="02040503050406030204" pitchFamily="18" charset="0"/>
                                        </a:rPr>
                                        <m:t>𝑛</m:t>
                                      </m:r>
                                    </m:e>
                                    <m:sub>
                                      <m:r>
                                        <a:rPr lang="ar-AE" i="1">
                                          <a:latin typeface="Cambria Math" panose="02040503050406030204" pitchFamily="18" charset="0"/>
                                        </a:rPr>
                                        <m:t>𝑡</m:t>
                                      </m:r>
                                    </m:sub>
                                  </m:sSub>
                                </m:num>
                                <m:den>
                                  <m:r>
                                    <a:rPr lang="ar-AE" i="1">
                                      <a:latin typeface="Cambria Math" panose="02040503050406030204" pitchFamily="18" charset="0"/>
                                    </a:rPr>
                                    <m:t>𝑛</m:t>
                                  </m:r>
                                </m:den>
                              </m:f>
                            </m:e>
                          </m:nary>
                          <m:r>
                            <m:rPr>
                              <m:nor/>
                            </m:rPr>
                            <a:rPr lang="ar-AE" i="1"/>
                            <m:t> </m:t>
                          </m:r>
                          <m:r>
                            <m:rPr>
                              <m:sty m:val="p"/>
                            </m:rPr>
                            <a:rPr lang="el-GR">
                              <a:latin typeface="Cambria Math" panose="02040503050406030204" pitchFamily="18" charset="0"/>
                            </a:rPr>
                            <m:t>Δ</m:t>
                          </m:r>
                          <m:r>
                            <a:rPr lang="el-GR" i="1">
                              <a:latin typeface="Cambria Math" panose="02040503050406030204" pitchFamily="18" charset="0"/>
                            </a:rPr>
                            <m:t>𝐼</m:t>
                          </m:r>
                          <m:d>
                            <m:dPr>
                              <m:ctrlPr>
                                <a:rPr lang="ar-AE" i="1">
                                  <a:latin typeface="Cambria Math" panose="02040503050406030204" pitchFamily="18" charset="0"/>
                                </a:rPr>
                              </m:ctrlPr>
                            </m:dPr>
                            <m:e>
                              <m:r>
                                <a:rPr lang="ar-AE" i="1">
                                  <a:latin typeface="Cambria Math" panose="02040503050406030204" pitchFamily="18" charset="0"/>
                                </a:rPr>
                                <m:t>𝑡</m:t>
                              </m:r>
                            </m:e>
                          </m:d>
                        </m:e>
                      </m:borderBox>
                    </m:oMath>
                  </m:oMathPara>
                </a14:m>
                <a:endParaRPr lang="ar-AE" b="0" dirty="0"/>
              </a:p>
              <a:p>
                <a:pPr marL="0" indent="0">
                  <a:buNone/>
                </a:pPr>
                <a:r>
                  <a:rPr lang="en-US" dirty="0"/>
                  <a:t>where:</a:t>
                </a:r>
              </a:p>
              <a:p>
                <a14:m>
                  <m:oMath xmlns:m="http://schemas.openxmlformats.org/officeDocument/2006/math">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ar-AE" i="1">
                                <a:latin typeface="Cambria Math" panose="02040503050406030204" pitchFamily="18" charset="0"/>
                              </a:rPr>
                              <m:t>𝑛</m:t>
                            </m:r>
                          </m:e>
                          <m:sub>
                            <m:r>
                              <a:rPr lang="ar-AE" i="1">
                                <a:latin typeface="Cambria Math" panose="02040503050406030204" pitchFamily="18" charset="0"/>
                              </a:rPr>
                              <m:t>𝑡</m:t>
                            </m:r>
                          </m:sub>
                        </m:sSub>
                      </m:num>
                      <m:den>
                        <m:r>
                          <a:rPr lang="ar-AE" i="1">
                            <a:latin typeface="Cambria Math" panose="02040503050406030204" pitchFamily="18" charset="0"/>
                          </a:rPr>
                          <m:t>𝑛</m:t>
                        </m:r>
                      </m:den>
                    </m:f>
                  </m:oMath>
                </a14:m>
                <a:r>
                  <a:rPr lang="ar-AE" dirty="0"/>
                  <a:t>: </a:t>
                </a:r>
                <a:r>
                  <a:rPr lang="en-US" dirty="0"/>
                  <a:t>weights splits by how many samples reach node </a:t>
                </a:r>
                <a14:m>
                  <m:oMath xmlns:m="http://schemas.openxmlformats.org/officeDocument/2006/math">
                    <m:r>
                      <a:rPr lang="en-US" i="1">
                        <a:latin typeface="Cambria Math" panose="02040503050406030204" pitchFamily="18" charset="0"/>
                      </a:rPr>
                      <m:t>𝑡</m:t>
                    </m:r>
                  </m:oMath>
                </a14:m>
                <a:endParaRPr lang="en-US" dirty="0"/>
              </a:p>
              <a:p>
                <a14:m>
                  <m:oMath xmlns:m="http://schemas.openxmlformats.org/officeDocument/2006/math">
                    <m:r>
                      <a:rPr lang="en-US" i="1">
                        <a:latin typeface="Cambria Math" panose="02040503050406030204" pitchFamily="18" charset="0"/>
                      </a:rPr>
                      <m:t>𝑛</m:t>
                    </m:r>
                  </m:oMath>
                </a14:m>
                <a:r>
                  <a:rPr lang="en-US" dirty="0"/>
                  <a:t>: total number of samples</a:t>
                </a:r>
              </a:p>
              <a:p>
                <a:endParaRPr lang="en-US" dirty="0"/>
              </a:p>
            </p:txBody>
          </p:sp>
        </mc:Choice>
        <mc:Fallback xmlns="">
          <p:sp>
            <p:nvSpPr>
              <p:cNvPr id="6" name="Content Placeholder 5">
                <a:extLst>
                  <a:ext uri="{FF2B5EF4-FFF2-40B4-BE49-F238E27FC236}">
                    <a16:creationId xmlns:a16="http://schemas.microsoft.com/office/drawing/2014/main" id="{2B77987E-1EED-C6F7-FF43-794A92C808ED}"/>
                  </a:ext>
                </a:extLst>
              </p:cNvPr>
              <p:cNvSpPr>
                <a:spLocks noGrp="1" noRot="1" noChangeAspect="1" noMove="1" noResize="1" noEditPoints="1" noAdjustHandles="1" noChangeArrowheads="1" noChangeShapeType="1" noTextEdit="1"/>
              </p:cNvSpPr>
              <p:nvPr>
                <p:ph sz="quarter" idx="4"/>
              </p:nvPr>
            </p:nvSpPr>
            <p:spPr>
              <a:xfrm>
                <a:off x="6181344" y="1682305"/>
                <a:ext cx="5212080" cy="3519185"/>
              </a:xfrm>
              <a:blipFill>
                <a:blip r:embed="rId3"/>
                <a:stretch>
                  <a:fillRect l="-1053" t="-1040" r="-1871"/>
                </a:stretch>
              </a:blipFill>
            </p:spPr>
            <p:txBody>
              <a:bodyPr/>
              <a:lstStyle/>
              <a:p>
                <a:r>
                  <a:rPr lang="en-US">
                    <a:noFill/>
                  </a:rPr>
                  <a:t> </a:t>
                </a:r>
              </a:p>
            </p:txBody>
          </p:sp>
        </mc:Fallback>
      </mc:AlternateContent>
    </p:spTree>
    <p:extLst>
      <p:ext uri="{BB962C8B-B14F-4D97-AF65-F5344CB8AC3E}">
        <p14:creationId xmlns:p14="http://schemas.microsoft.com/office/powerpoint/2010/main" val="471226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5C280-96E9-673E-CC19-A7A2DA5DC896}"/>
              </a:ext>
            </a:extLst>
          </p:cNvPr>
          <p:cNvSpPr>
            <a:spLocks noGrp="1"/>
          </p:cNvSpPr>
          <p:nvPr>
            <p:ph type="title"/>
          </p:nvPr>
        </p:nvSpPr>
        <p:spPr/>
        <p:txBody>
          <a:bodyPr/>
          <a:lstStyle/>
          <a:p>
            <a:r>
              <a:rPr lang="en-US" dirty="0"/>
              <a:t>Random Forests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022F05A-A647-0620-4F6A-04BE21FD4980}"/>
                  </a:ext>
                </a:extLst>
              </p:cNvPr>
              <p:cNvSpPr>
                <a:spLocks noGrp="1"/>
              </p:cNvSpPr>
              <p:nvPr>
                <p:ph idx="1"/>
              </p:nvPr>
            </p:nvSpPr>
            <p:spPr/>
            <p:txBody>
              <a:bodyPr/>
              <a:lstStyle/>
              <a:p>
                <a:pPr marL="0" indent="0">
                  <a:buNone/>
                </a:pPr>
                <a:r>
                  <a:rPr lang="en-US" b="1" dirty="0"/>
                  <a:t>Mean Decrease in Impurity (MDI)</a:t>
                </a:r>
              </a:p>
              <a:p>
                <a:r>
                  <a:rPr lang="en-US" dirty="0"/>
                  <a:t>The standard random forest importance (used in CART-based forests) is:</a:t>
                </a:r>
              </a:p>
              <a:p>
                <a:endParaRPr lang="en-US" dirty="0"/>
              </a:p>
              <a:p>
                <a:endParaRPr lang="en-US" dirty="0"/>
              </a:p>
              <a:p>
                <a:pPr marL="0" indent="0">
                  <a:buNone/>
                </a:pPr>
                <a14:m>
                  <m:oMathPara xmlns:m="http://schemas.openxmlformats.org/officeDocument/2006/math">
                    <m:oMathParaPr>
                      <m:jc m:val="centerGroup"/>
                    </m:oMathParaPr>
                    <m:oMath xmlns:m="http://schemas.openxmlformats.org/officeDocument/2006/math">
                      <m:borderBox>
                        <m:borderBoxPr>
                          <m:ctrlPr>
                            <a:rPr lang="ar-AE" i="1">
                              <a:latin typeface="Cambria Math" panose="02040503050406030204" pitchFamily="18" charset="0"/>
                            </a:rPr>
                          </m:ctrlPr>
                        </m:borderBoxPr>
                        <m:e>
                          <m:r>
                            <a:rPr lang="ar-AE" i="1">
                              <a:latin typeface="Cambria Math" panose="02040503050406030204" pitchFamily="18" charset="0"/>
                            </a:rPr>
                            <m:t>𝑉</m:t>
                          </m:r>
                          <m:sSubSup>
                            <m:sSubSupPr>
                              <m:ctrlPr>
                                <a:rPr lang="ar-AE" i="1">
                                  <a:latin typeface="Cambria Math" panose="02040503050406030204" pitchFamily="18" charset="0"/>
                                </a:rPr>
                              </m:ctrlPr>
                            </m:sSubSupPr>
                            <m:e>
                              <m:r>
                                <a:rPr lang="ar-AE" i="1">
                                  <a:latin typeface="Cambria Math" panose="02040503050406030204" pitchFamily="18" charset="0"/>
                                </a:rPr>
                                <m:t>𝐼</m:t>
                              </m:r>
                            </m:e>
                            <m:sub>
                              <m:r>
                                <a:rPr lang="ar-AE" i="1">
                                  <a:latin typeface="Cambria Math" panose="02040503050406030204" pitchFamily="18" charset="0"/>
                                </a:rPr>
                                <m:t>𝑗</m:t>
                              </m:r>
                            </m:sub>
                            <m:sup>
                              <m:r>
                                <m:rPr>
                                  <m:nor/>
                                </m:rPr>
                                <a:rPr lang="en-US" i="1"/>
                                <m:t>RF</m:t>
                              </m:r>
                            </m:sup>
                          </m:sSubSup>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i="1">
                                  <a:latin typeface="Cambria Math" panose="02040503050406030204" pitchFamily="18" charset="0"/>
                                </a:rPr>
                                <m:t>𝐵</m:t>
                              </m:r>
                            </m:den>
                          </m:f>
                          <m:nary>
                            <m:naryPr>
                              <m:chr m:val="∑"/>
                              <m:grow m:val="on"/>
                              <m:ctrlPr>
                                <a:rPr lang="ar-AE" i="1">
                                  <a:latin typeface="Cambria Math" panose="02040503050406030204" pitchFamily="18" charset="0"/>
                                </a:rPr>
                              </m:ctrlPr>
                            </m:naryPr>
                            <m:sub>
                              <m:r>
                                <a:rPr lang="ar-AE" i="1">
                                  <a:latin typeface="Cambria Math" panose="02040503050406030204" pitchFamily="18" charset="0"/>
                                </a:rPr>
                                <m:t>𝑏</m:t>
                              </m:r>
                              <m:r>
                                <a:rPr lang="ar-AE">
                                  <a:latin typeface="Cambria Math" panose="02040503050406030204" pitchFamily="18" charset="0"/>
                                </a:rPr>
                                <m:t>=</m:t>
                              </m:r>
                              <m:r>
                                <a:rPr lang="ar-AE">
                                  <a:latin typeface="Cambria Math" panose="02040503050406030204" pitchFamily="18" charset="0"/>
                                </a:rPr>
                                <m:t>1</m:t>
                              </m:r>
                            </m:sub>
                            <m:sup>
                              <m:r>
                                <a:rPr lang="ar-AE" i="1">
                                  <a:latin typeface="Cambria Math" panose="02040503050406030204" pitchFamily="18" charset="0"/>
                                </a:rPr>
                                <m:t>𝐵</m:t>
                              </m:r>
                            </m:sup>
                            <m:e>
                              <m:r>
                                <a:rPr lang="ar-AE" i="1">
                                  <a:latin typeface="Cambria Math" panose="02040503050406030204" pitchFamily="18" charset="0"/>
                                </a:rPr>
                                <m:t>𝑉</m:t>
                              </m:r>
                            </m:e>
                          </m:nary>
                          <m:sSubSup>
                            <m:sSubSupPr>
                              <m:ctrlPr>
                                <a:rPr lang="ar-AE" i="1">
                                  <a:latin typeface="Cambria Math" panose="02040503050406030204" pitchFamily="18" charset="0"/>
                                </a:rPr>
                              </m:ctrlPr>
                            </m:sSubSupPr>
                            <m:e>
                              <m:r>
                                <a:rPr lang="ar-AE" i="1">
                                  <a:latin typeface="Cambria Math" panose="02040503050406030204" pitchFamily="18" charset="0"/>
                                </a:rPr>
                                <m:t>𝐼</m:t>
                              </m:r>
                            </m:e>
                            <m:sub>
                              <m:r>
                                <a:rPr lang="ar-AE" i="1">
                                  <a:latin typeface="Cambria Math" panose="02040503050406030204" pitchFamily="18" charset="0"/>
                                </a:rPr>
                                <m:t>𝑗</m:t>
                              </m:r>
                            </m:sub>
                            <m:sup>
                              <m:d>
                                <m:dPr>
                                  <m:ctrlPr>
                                    <a:rPr lang="ar-AE" i="1">
                                      <a:latin typeface="Cambria Math" panose="02040503050406030204" pitchFamily="18" charset="0"/>
                                    </a:rPr>
                                  </m:ctrlPr>
                                </m:dPr>
                                <m:e>
                                  <m:r>
                                    <a:rPr lang="ar-AE" i="1">
                                      <a:latin typeface="Cambria Math" panose="02040503050406030204" pitchFamily="18" charset="0"/>
                                    </a:rPr>
                                    <m:t>𝑏</m:t>
                                  </m:r>
                                </m:e>
                              </m:d>
                            </m:sup>
                          </m:sSubSup>
                        </m:e>
                      </m:borderBox>
                    </m:oMath>
                  </m:oMathPara>
                </a14:m>
                <a:endParaRPr lang="ar-AE" b="0"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F022F05A-A647-0620-4F6A-04BE21FD4980}"/>
                  </a:ext>
                </a:extLst>
              </p:cNvPr>
              <p:cNvSpPr>
                <a:spLocks noGrp="1" noRot="1" noChangeAspect="1" noMove="1" noResize="1" noEditPoints="1" noAdjustHandles="1" noChangeArrowheads="1" noChangeShapeType="1" noTextEdit="1"/>
              </p:cNvSpPr>
              <p:nvPr>
                <p:ph idx="1"/>
              </p:nvPr>
            </p:nvSpPr>
            <p:spPr>
              <a:blipFill>
                <a:blip r:embed="rId2"/>
                <a:stretch>
                  <a:fillRect l="-627" t="-816"/>
                </a:stretch>
              </a:blipFill>
            </p:spPr>
            <p:txBody>
              <a:bodyPr/>
              <a:lstStyle/>
              <a:p>
                <a:r>
                  <a:rPr lang="en-US">
                    <a:noFill/>
                  </a:rPr>
                  <a:t> </a:t>
                </a:r>
              </a:p>
            </p:txBody>
          </p:sp>
        </mc:Fallback>
      </mc:AlternateContent>
    </p:spTree>
    <p:extLst>
      <p:ext uri="{BB962C8B-B14F-4D97-AF65-F5344CB8AC3E}">
        <p14:creationId xmlns:p14="http://schemas.microsoft.com/office/powerpoint/2010/main" val="2883796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9D43D-0674-26FD-A38C-C4F13BF58FC3}"/>
              </a:ext>
            </a:extLst>
          </p:cNvPr>
          <p:cNvSpPr>
            <a:spLocks noGrp="1"/>
          </p:cNvSpPr>
          <p:nvPr>
            <p:ph type="title"/>
          </p:nvPr>
        </p:nvSpPr>
        <p:spPr/>
        <p:txBody>
          <a:bodyPr/>
          <a:lstStyle/>
          <a:p>
            <a:r>
              <a:rPr lang="en-US" dirty="0"/>
              <a:t>RF Importance Example</a:t>
            </a:r>
          </a:p>
        </p:txBody>
      </p:sp>
      <p:pic>
        <p:nvPicPr>
          <p:cNvPr id="5" name="Content Placeholder 4">
            <a:extLst>
              <a:ext uri="{FF2B5EF4-FFF2-40B4-BE49-F238E27FC236}">
                <a16:creationId xmlns:a16="http://schemas.microsoft.com/office/drawing/2014/main" id="{C7A957B2-D90F-ED17-A1D1-321D8CBA0C9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90361" y="1666166"/>
            <a:ext cx="6570610" cy="3905725"/>
          </a:xfrm>
          <a:prstGeom prst="rect">
            <a:avLst/>
          </a:prstGeom>
        </p:spPr>
      </p:pic>
      <p:sp>
        <p:nvSpPr>
          <p:cNvPr id="9" name="TextBox 8">
            <a:extLst>
              <a:ext uri="{FF2B5EF4-FFF2-40B4-BE49-F238E27FC236}">
                <a16:creationId xmlns:a16="http://schemas.microsoft.com/office/drawing/2014/main" id="{138C754F-4165-5F3E-9E7E-F931104C275A}"/>
              </a:ext>
            </a:extLst>
          </p:cNvPr>
          <p:cNvSpPr txBox="1"/>
          <p:nvPr/>
        </p:nvSpPr>
        <p:spPr>
          <a:xfrm>
            <a:off x="526982" y="5571891"/>
            <a:ext cx="11206213" cy="923330"/>
          </a:xfrm>
          <a:prstGeom prst="rect">
            <a:avLst/>
          </a:prstGeom>
          <a:noFill/>
        </p:spPr>
        <p:txBody>
          <a:bodyPr wrap="square">
            <a:spAutoFit/>
          </a:bodyPr>
          <a:lstStyle/>
          <a:p>
            <a:r>
              <a:rPr lang="en-US" dirty="0"/>
              <a:t>This tree-based importance chart summarizes total impurity reduction by feature. Credit score contributes the most, followed by income and late payments. Remember that this ranking is model-specific and can be affected by feature correlation or split bias.</a:t>
            </a:r>
          </a:p>
        </p:txBody>
      </p:sp>
    </p:spTree>
    <p:extLst>
      <p:ext uri="{BB962C8B-B14F-4D97-AF65-F5344CB8AC3E}">
        <p14:creationId xmlns:p14="http://schemas.microsoft.com/office/powerpoint/2010/main" val="2569335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8F20C-E6E8-1DCF-6726-D8CC92059DD7}"/>
              </a:ext>
            </a:extLst>
          </p:cNvPr>
          <p:cNvSpPr>
            <a:spLocks noGrp="1"/>
          </p:cNvSpPr>
          <p:nvPr>
            <p:ph type="title"/>
          </p:nvPr>
        </p:nvSpPr>
        <p:spPr/>
        <p:txBody>
          <a:bodyPr/>
          <a:lstStyle/>
          <a:p>
            <a:r>
              <a:rPr lang="en-US" dirty="0"/>
              <a:t>DT and RF MDI Limitations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DECE28-AC21-E21E-A7FF-0FC3B411CA83}"/>
                  </a:ext>
                </a:extLst>
              </p:cNvPr>
              <p:cNvSpPr>
                <a:spLocks noGrp="1"/>
              </p:cNvSpPr>
              <p:nvPr>
                <p:ph idx="1"/>
              </p:nvPr>
            </p:nvSpPr>
            <p:spPr/>
            <p:txBody>
              <a:bodyPr numCol="2">
                <a:normAutofit lnSpcReduction="10000"/>
              </a:bodyPr>
              <a:lstStyle/>
              <a:p>
                <a:pPr marL="0" indent="0">
                  <a:buNone/>
                </a:pPr>
                <a:r>
                  <a:rPr lang="en-US" b="1" dirty="0"/>
                  <a:t>1. Bias Toward High-Cardinality Features</a:t>
                </a:r>
              </a:p>
              <a:p>
                <a:r>
                  <a:rPr lang="en-US" dirty="0"/>
                  <a:t>Features with many split points:</a:t>
                </a:r>
              </a:p>
              <a:p>
                <a:r>
                  <a:rPr lang="en-US" dirty="0"/>
                  <a:t>More chances to reduce impurity</a:t>
                </a:r>
              </a:p>
              <a:p>
                <a:r>
                  <a:rPr lang="en-US" dirty="0"/>
                  <a:t>Artificially inflated importance</a:t>
                </a:r>
                <a:br>
                  <a:rPr lang="en-US" dirty="0"/>
                </a:br>
                <a:endParaRPr lang="en-US"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r>
                  <a:rPr lang="en-US" b="1" dirty="0"/>
                  <a:t>2. Correlated Features</a:t>
                </a:r>
              </a:p>
              <a:p>
                <a:r>
                  <a:rPr lang="en-US" dirty="0"/>
                  <a:t>If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oMath>
                </a14:m>
                <a:r>
                  <a:rPr lang="ar-AE" dirty="0"/>
                  <a:t>:</a:t>
                </a:r>
              </a:p>
              <a:p>
                <a:r>
                  <a:rPr lang="en-US" dirty="0"/>
                  <a:t>Trees may split on either</a:t>
                </a:r>
              </a:p>
              <a:p>
                <a:r>
                  <a:rPr lang="en-US" dirty="0"/>
                  <a:t>Importance is </a:t>
                </a:r>
                <a:r>
                  <a:rPr lang="en-US" b="1" dirty="0"/>
                  <a:t>shared or diluted</a:t>
                </a:r>
                <a:br>
                  <a:rPr lang="en-US" dirty="0"/>
                </a:br>
                <a:endParaRPr lang="en-US" dirty="0"/>
              </a:p>
              <a:p>
                <a:pPr marL="0" indent="0">
                  <a:buNone/>
                </a:pPr>
                <a:r>
                  <a:rPr lang="en-US" b="1" dirty="0"/>
                  <a:t>3. Training-Based Measure</a:t>
                </a:r>
              </a:p>
              <a:p>
                <a:r>
                  <a:rPr lang="en-US" b="1" dirty="0"/>
                  <a:t>training data impurity reduction</a:t>
                </a:r>
                <a:endParaRPr lang="en-US" dirty="0"/>
              </a:p>
              <a:p>
                <a:pPr lvl="1"/>
                <a:r>
                  <a:rPr lang="en-US" dirty="0"/>
                  <a:t>NOTE: Not directly tied to generalization performance</a:t>
                </a:r>
              </a:p>
              <a:p>
                <a:endParaRPr lang="en-US" dirty="0"/>
              </a:p>
            </p:txBody>
          </p:sp>
        </mc:Choice>
        <mc:Fallback xmlns="">
          <p:sp>
            <p:nvSpPr>
              <p:cNvPr id="3" name="Content Placeholder 2">
                <a:extLst>
                  <a:ext uri="{FF2B5EF4-FFF2-40B4-BE49-F238E27FC236}">
                    <a16:creationId xmlns:a16="http://schemas.microsoft.com/office/drawing/2014/main" id="{26DECE28-AC21-E21E-A7FF-0FC3B411CA83}"/>
                  </a:ext>
                </a:extLst>
              </p:cNvPr>
              <p:cNvSpPr>
                <a:spLocks noGrp="1" noRot="1" noChangeAspect="1" noMove="1" noResize="1" noEditPoints="1" noAdjustHandles="1" noChangeArrowheads="1" noChangeShapeType="1" noTextEdit="1"/>
              </p:cNvSpPr>
              <p:nvPr>
                <p:ph idx="1"/>
              </p:nvPr>
            </p:nvSpPr>
            <p:spPr>
              <a:blipFill>
                <a:blip r:embed="rId2"/>
                <a:stretch>
                  <a:fillRect l="-627" t="-979"/>
                </a:stretch>
              </a:blipFill>
            </p:spPr>
            <p:txBody>
              <a:bodyPr/>
              <a:lstStyle/>
              <a:p>
                <a:r>
                  <a:rPr lang="en-US">
                    <a:noFill/>
                  </a:rPr>
                  <a:t> </a:t>
                </a:r>
              </a:p>
            </p:txBody>
          </p:sp>
        </mc:Fallback>
      </mc:AlternateContent>
    </p:spTree>
    <p:extLst>
      <p:ext uri="{BB962C8B-B14F-4D97-AF65-F5344CB8AC3E}">
        <p14:creationId xmlns:p14="http://schemas.microsoft.com/office/powerpoint/2010/main" val="1340454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F8678-CC5C-C3D3-55C0-722B1697D91D}"/>
              </a:ext>
            </a:extLst>
          </p:cNvPr>
          <p:cNvSpPr>
            <a:spLocks noGrp="1"/>
          </p:cNvSpPr>
          <p:nvPr>
            <p:ph type="title"/>
          </p:nvPr>
        </p:nvSpPr>
        <p:spPr/>
        <p:txBody>
          <a:bodyPr/>
          <a:lstStyle/>
          <a:p>
            <a:r>
              <a:rPr lang="en-US" dirty="0"/>
              <a:t>Model Agnostic</a:t>
            </a:r>
          </a:p>
        </p:txBody>
      </p:sp>
      <p:sp>
        <p:nvSpPr>
          <p:cNvPr id="3" name="Content Placeholder 2">
            <a:extLst>
              <a:ext uri="{FF2B5EF4-FFF2-40B4-BE49-F238E27FC236}">
                <a16:creationId xmlns:a16="http://schemas.microsoft.com/office/drawing/2014/main" id="{8778F1AF-3CA7-06E1-E402-46A3FF6118A1}"/>
              </a:ext>
            </a:extLst>
          </p:cNvPr>
          <p:cNvSpPr>
            <a:spLocks noGrp="1"/>
          </p:cNvSpPr>
          <p:nvPr>
            <p:ph idx="1"/>
          </p:nvPr>
        </p:nvSpPr>
        <p:spPr/>
        <p:txBody>
          <a:bodyPr/>
          <a:lstStyle/>
          <a:p>
            <a:r>
              <a:rPr lang="en-US" dirty="0"/>
              <a:t>The above-described mechanisms are model specific.</a:t>
            </a:r>
          </a:p>
          <a:p>
            <a:r>
              <a:rPr lang="en-US" dirty="0"/>
              <a:t>What about other models, such as ANNs?</a:t>
            </a:r>
          </a:p>
        </p:txBody>
      </p:sp>
    </p:spTree>
    <p:extLst>
      <p:ext uri="{BB962C8B-B14F-4D97-AF65-F5344CB8AC3E}">
        <p14:creationId xmlns:p14="http://schemas.microsoft.com/office/powerpoint/2010/main" val="1223145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E3680-AD24-B8D2-9A5F-D5B3582CCCDD}"/>
              </a:ext>
            </a:extLst>
          </p:cNvPr>
          <p:cNvSpPr>
            <a:spLocks noGrp="1"/>
          </p:cNvSpPr>
          <p:nvPr>
            <p:ph type="title"/>
          </p:nvPr>
        </p:nvSpPr>
        <p:spPr/>
        <p:txBody>
          <a:bodyPr/>
          <a:lstStyle/>
          <a:p>
            <a:r>
              <a:rPr lang="en-US" dirty="0"/>
              <a:t>Permutation Importance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5D887F7-6063-A892-AF3E-90332D49C7B3}"/>
                  </a:ext>
                </a:extLst>
              </p:cNvPr>
              <p:cNvSpPr>
                <a:spLocks noGrp="1"/>
              </p:cNvSpPr>
              <p:nvPr>
                <p:ph idx="1"/>
              </p:nvPr>
            </p:nvSpPr>
            <p:spPr/>
            <p:txBody>
              <a:bodyPr>
                <a:normAutofit/>
              </a:bodyPr>
              <a:lstStyle/>
              <a:p>
                <a:pPr marL="0" indent="0">
                  <a:buNone/>
                </a:pPr>
                <a:r>
                  <a:rPr lang="en-US" dirty="0"/>
                  <a:t>Measure how much model performance degrades when a feature’s information is destroyed.</a:t>
                </a:r>
              </a:p>
              <a:p>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𝑓</m:t>
                        </m:r>
                      </m:e>
                    </m:acc>
                  </m:oMath>
                </a14:m>
                <a:r>
                  <a:rPr lang="ar-AE" dirty="0"/>
                  <a:t>: </a:t>
                </a:r>
                <a:r>
                  <a:rPr lang="en-US" dirty="0"/>
                  <a:t>trained model</a:t>
                </a:r>
              </a:p>
              <a:p>
                <a14:m>
                  <m:oMath xmlns:m="http://schemas.openxmlformats.org/officeDocument/2006/math">
                    <m:r>
                      <a:rPr lang="en-US" i="1">
                        <a:latin typeface="Cambria Math" panose="02040503050406030204" pitchFamily="18" charset="0"/>
                      </a:rPr>
                      <m:t>𝐿</m:t>
                    </m:r>
                    <m:d>
                      <m:dPr>
                        <m:ctrlPr>
                          <a:rPr lang="ar-AE" i="1">
                            <a:latin typeface="Cambria Math" panose="02040503050406030204" pitchFamily="18" charset="0"/>
                          </a:rPr>
                        </m:ctrlPr>
                      </m:dPr>
                      <m:e>
                        <m:r>
                          <a:rPr lang="ar-AE">
                            <a:latin typeface="Cambria Math" panose="02040503050406030204" pitchFamily="18" charset="0"/>
                          </a:rPr>
                          <m:t>⋅</m:t>
                        </m:r>
                      </m:e>
                    </m:d>
                  </m:oMath>
                </a14:m>
                <a:r>
                  <a:rPr lang="ar-AE" dirty="0"/>
                  <a:t>: </a:t>
                </a:r>
                <a:r>
                  <a:rPr lang="en-US" dirty="0"/>
                  <a:t>loss (or negative performance metric)</a:t>
                </a:r>
              </a:p>
              <a:p>
                <a14:m>
                  <m:oMath xmlns:m="http://schemas.openxmlformats.org/officeDocument/2006/math">
                    <m:r>
                      <a:rPr lang="en-US" i="1">
                        <a:latin typeface="Cambria Math" panose="02040503050406030204" pitchFamily="18" charset="0"/>
                      </a:rPr>
                      <m:t>𝑋</m:t>
                    </m:r>
                  </m:oMath>
                </a14:m>
                <a:r>
                  <a:rPr lang="en-US" dirty="0"/>
                  <a:t>: original data</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𝑋</m:t>
                        </m:r>
                      </m:e>
                      <m:sub>
                        <m:r>
                          <m:rPr>
                            <m:nor/>
                          </m:rPr>
                          <a:rPr lang="en-US" i="1"/>
                          <m:t>perm</m:t>
                        </m:r>
                        <m:d>
                          <m:dPr>
                            <m:ctrlPr>
                              <a:rPr lang="ar-AE" i="1">
                                <a:latin typeface="Cambria Math" panose="02040503050406030204" pitchFamily="18" charset="0"/>
                              </a:rPr>
                            </m:ctrlPr>
                          </m:dPr>
                          <m:e>
                            <m:r>
                              <a:rPr lang="ar-AE" i="1">
                                <a:latin typeface="Cambria Math" panose="02040503050406030204" pitchFamily="18" charset="0"/>
                              </a:rPr>
                              <m:t>𝑗</m:t>
                            </m:r>
                          </m:e>
                        </m:d>
                      </m:sub>
                    </m:sSub>
                  </m:oMath>
                </a14:m>
                <a:r>
                  <a:rPr lang="ar-AE" dirty="0"/>
                  <a:t>: </a:t>
                </a:r>
                <a:r>
                  <a:rPr lang="en-US" dirty="0"/>
                  <a:t>data with feature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𝑗</m:t>
                        </m:r>
                      </m:sub>
                    </m:sSub>
                  </m:oMath>
                </a14:m>
                <a:r>
                  <a:rPr lang="en-US" dirty="0"/>
                  <a:t> randomly shuffled</a:t>
                </a:r>
              </a:p>
              <a:p>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m:rPr>
                              <m:nor/>
                            </m:rPr>
                            <a:rPr lang="en-US" b="0"/>
                            <m:t>VI</m:t>
                          </m:r>
                        </m:e>
                        <m:sub>
                          <m:r>
                            <a:rPr lang="ar-AE" b="0" i="1">
                              <a:latin typeface="Cambria Math" panose="02040503050406030204" pitchFamily="18" charset="0"/>
                            </a:rPr>
                            <m:t>𝑗</m:t>
                          </m:r>
                        </m:sub>
                      </m:sSub>
                      <m:r>
                        <a:rPr lang="ar-AE">
                          <a:latin typeface="Cambria Math" panose="02040503050406030204" pitchFamily="18" charset="0"/>
                        </a:rPr>
                        <m:t>=</m:t>
                      </m:r>
                      <m:r>
                        <a:rPr lang="ar-AE" i="1">
                          <a:latin typeface="Cambria Math" panose="02040503050406030204" pitchFamily="18" charset="0"/>
                        </a:rPr>
                        <m:t>𝐿</m:t>
                      </m:r>
                      <m:r>
                        <a:rPr lang="ar-AE">
                          <a:latin typeface="Cambria Math" panose="02040503050406030204" pitchFamily="18" charset="0"/>
                        </a:rPr>
                        <m:t>(</m:t>
                      </m:r>
                      <m:acc>
                        <m:accPr>
                          <m:chr m:val="̂"/>
                          <m:ctrlPr>
                            <a:rPr lang="ar-AE" i="1">
                              <a:latin typeface="Cambria Math" panose="02040503050406030204" pitchFamily="18" charset="0"/>
                            </a:rPr>
                          </m:ctrlPr>
                        </m:accPr>
                        <m:e>
                          <m:r>
                            <a:rPr lang="ar-AE" i="1">
                              <a:latin typeface="Cambria Math" panose="02040503050406030204" pitchFamily="18" charset="0"/>
                            </a:rPr>
                            <m:t>𝑓</m:t>
                          </m:r>
                        </m:e>
                      </m:acc>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𝑋</m:t>
                              </m:r>
                            </m:e>
                            <m:sub>
                              <m:r>
                                <m:rPr>
                                  <m:nor/>
                                </m:rPr>
                                <a:rPr lang="en-US" i="1"/>
                                <m:t>perm</m:t>
                              </m:r>
                              <m:d>
                                <m:dPr>
                                  <m:ctrlPr>
                                    <a:rPr lang="ar-AE" i="1">
                                      <a:latin typeface="Cambria Math" panose="02040503050406030204" pitchFamily="18" charset="0"/>
                                    </a:rPr>
                                  </m:ctrlPr>
                                </m:dPr>
                                <m:e>
                                  <m:r>
                                    <a:rPr lang="ar-AE" i="1">
                                      <a:latin typeface="Cambria Math" panose="02040503050406030204" pitchFamily="18" charset="0"/>
                                    </a:rPr>
                                    <m:t>𝑗</m:t>
                                  </m:r>
                                </m:e>
                              </m:d>
                            </m:sub>
                          </m:sSub>
                        </m:e>
                      </m:d>
                      <m:r>
                        <a:rPr lang="ar-AE">
                          <a:latin typeface="Cambria Math" panose="02040503050406030204" pitchFamily="18" charset="0"/>
                        </a:rPr>
                        <m:t>,</m:t>
                      </m:r>
                      <m:r>
                        <a:rPr lang="ar-AE" i="1">
                          <a:latin typeface="Cambria Math" panose="02040503050406030204" pitchFamily="18" charset="0"/>
                        </a:rPr>
                        <m:t>𝑌</m:t>
                      </m:r>
                      <m:r>
                        <a:rPr lang="ar-AE">
                          <a:latin typeface="Cambria Math" panose="02040503050406030204" pitchFamily="18" charset="0"/>
                        </a:rPr>
                        <m:t>)−</m:t>
                      </m:r>
                      <m:r>
                        <a:rPr lang="ar-AE" i="1">
                          <a:latin typeface="Cambria Math" panose="02040503050406030204" pitchFamily="18" charset="0"/>
                        </a:rPr>
                        <m:t>𝐿</m:t>
                      </m:r>
                      <m:r>
                        <a:rPr lang="ar-AE">
                          <a:latin typeface="Cambria Math" panose="02040503050406030204" pitchFamily="18" charset="0"/>
                        </a:rPr>
                        <m:t>(</m:t>
                      </m:r>
                      <m:acc>
                        <m:accPr>
                          <m:chr m:val="̂"/>
                          <m:ctrlPr>
                            <a:rPr lang="ar-AE" i="1">
                              <a:latin typeface="Cambria Math" panose="02040503050406030204" pitchFamily="18" charset="0"/>
                            </a:rPr>
                          </m:ctrlPr>
                        </m:accPr>
                        <m:e>
                          <m:r>
                            <a:rPr lang="ar-AE" i="1">
                              <a:latin typeface="Cambria Math" panose="02040503050406030204" pitchFamily="18" charset="0"/>
                            </a:rPr>
                            <m:t>𝑓</m:t>
                          </m:r>
                        </m:e>
                      </m:acc>
                      <m:d>
                        <m:dPr>
                          <m:ctrlPr>
                            <a:rPr lang="ar-AE" i="1">
                              <a:latin typeface="Cambria Math" panose="02040503050406030204" pitchFamily="18" charset="0"/>
                            </a:rPr>
                          </m:ctrlPr>
                        </m:dPr>
                        <m:e>
                          <m:r>
                            <a:rPr lang="ar-AE" i="1">
                              <a:latin typeface="Cambria Math" panose="02040503050406030204" pitchFamily="18" charset="0"/>
                            </a:rPr>
                            <m:t>𝑋</m:t>
                          </m:r>
                        </m:e>
                      </m:d>
                      <m:r>
                        <a:rPr lang="ar-AE">
                          <a:latin typeface="Cambria Math" panose="02040503050406030204" pitchFamily="18" charset="0"/>
                        </a:rPr>
                        <m:t>,</m:t>
                      </m:r>
                      <m:r>
                        <a:rPr lang="ar-AE" i="1">
                          <a:latin typeface="Cambria Math" panose="02040503050406030204" pitchFamily="18" charset="0"/>
                        </a:rPr>
                        <m:t>𝑌</m:t>
                      </m:r>
                      <m:r>
                        <a:rPr lang="ar-AE">
                          <a:latin typeface="Cambria Math" panose="02040503050406030204" pitchFamily="18" charset="0"/>
                        </a:rPr>
                        <m:t>)</m:t>
                      </m:r>
                    </m:oMath>
                  </m:oMathPara>
                </a14:m>
                <a:endParaRPr lang="ar-AE" b="0" dirty="0"/>
              </a:p>
              <a:p>
                <a:endParaRPr lang="en-US" dirty="0"/>
              </a:p>
            </p:txBody>
          </p:sp>
        </mc:Choice>
        <mc:Fallback xmlns="">
          <p:sp>
            <p:nvSpPr>
              <p:cNvPr id="3" name="Content Placeholder 2">
                <a:extLst>
                  <a:ext uri="{FF2B5EF4-FFF2-40B4-BE49-F238E27FC236}">
                    <a16:creationId xmlns:a16="http://schemas.microsoft.com/office/drawing/2014/main" id="{65D887F7-6063-A892-AF3E-90332D49C7B3}"/>
                  </a:ext>
                </a:extLst>
              </p:cNvPr>
              <p:cNvSpPr>
                <a:spLocks noGrp="1" noRot="1" noChangeAspect="1" noMove="1" noResize="1" noEditPoints="1" noAdjustHandles="1" noChangeArrowheads="1" noChangeShapeType="1" noTextEdit="1"/>
              </p:cNvSpPr>
              <p:nvPr>
                <p:ph idx="1"/>
              </p:nvPr>
            </p:nvSpPr>
            <p:spPr>
              <a:blipFill>
                <a:blip r:embed="rId2"/>
                <a:stretch>
                  <a:fillRect l="-627" t="-816"/>
                </a:stretch>
              </a:blipFill>
            </p:spPr>
            <p:txBody>
              <a:bodyPr/>
              <a:lstStyle/>
              <a:p>
                <a:r>
                  <a:rPr lang="en-US">
                    <a:noFill/>
                  </a:rPr>
                  <a:t> </a:t>
                </a:r>
              </a:p>
            </p:txBody>
          </p:sp>
        </mc:Fallback>
      </mc:AlternateContent>
    </p:spTree>
    <p:extLst>
      <p:ext uri="{BB962C8B-B14F-4D97-AF65-F5344CB8AC3E}">
        <p14:creationId xmlns:p14="http://schemas.microsoft.com/office/powerpoint/2010/main" val="20969668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B5246-5EFD-0E3D-ADE1-55DDB4FA19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166899-69C0-6E3B-6269-26847F5D45F6}"/>
              </a:ext>
            </a:extLst>
          </p:cNvPr>
          <p:cNvSpPr>
            <a:spLocks noGrp="1"/>
          </p:cNvSpPr>
          <p:nvPr>
            <p:ph type="title"/>
          </p:nvPr>
        </p:nvSpPr>
        <p:spPr/>
        <p:txBody>
          <a:bodyPr/>
          <a:lstStyle/>
          <a:p>
            <a:r>
              <a:rPr lang="en-US" dirty="0"/>
              <a:t>Permutation Importance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2302228-328C-2B64-F366-A842018E0D43}"/>
                  </a:ext>
                </a:extLst>
              </p:cNvPr>
              <p:cNvSpPr>
                <a:spLocks noGrp="1"/>
              </p:cNvSpPr>
              <p:nvPr>
                <p:ph idx="1"/>
              </p:nvPr>
            </p:nvSpPr>
            <p:spPr>
              <a:xfrm>
                <a:off x="700635" y="2221992"/>
                <a:ext cx="4660637" cy="3739896"/>
              </a:xfrm>
            </p:spPr>
            <p:txBody>
              <a:bodyPr>
                <a:normAutofit fontScale="85000" lnSpcReduction="20000"/>
              </a:bodyPr>
              <a:lstStyle/>
              <a:p>
                <a:pPr marL="0" indent="0">
                  <a:buNone/>
                </a:pPr>
                <a:r>
                  <a:rPr lang="en-US" b="1" dirty="0"/>
                  <a:t>Algorithm (scikit-learn style)</a:t>
                </a:r>
              </a:p>
              <a:p>
                <a:r>
                  <a:rPr lang="en-US" dirty="0"/>
                  <a:t>For each feature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𝑗</m:t>
                        </m:r>
                      </m:sub>
                    </m:sSub>
                  </m:oMath>
                </a14:m>
                <a:r>
                  <a:rPr lang="ar-AE" dirty="0"/>
                  <a:t>:</a:t>
                </a:r>
              </a:p>
              <a:p>
                <a:r>
                  <a:rPr lang="en-US" dirty="0"/>
                  <a:t>Compute baseline score:</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𝑆</m:t>
                        </m:r>
                      </m:e>
                      <m:sub>
                        <m:r>
                          <m:rPr>
                            <m:nor/>
                          </m:rPr>
                          <a:rPr lang="en-US" i="1"/>
                          <m:t>orig</m:t>
                        </m:r>
                      </m:sub>
                    </m:sSub>
                  </m:oMath>
                </a14:m>
                <a:r>
                  <a:rPr lang="en-US" b="0" dirty="0"/>
                  <a:t>  (Score)</a:t>
                </a:r>
                <a:endParaRPr lang="ar-AE" b="0" dirty="0"/>
              </a:p>
              <a:p>
                <a:r>
                  <a:rPr lang="en-US" dirty="0"/>
                  <a:t>Repeat for </a:t>
                </a:r>
                <a14:m>
                  <m:oMath xmlns:m="http://schemas.openxmlformats.org/officeDocument/2006/math">
                    <m:r>
                      <a:rPr lang="en-US" i="1">
                        <a:latin typeface="Cambria Math" panose="02040503050406030204" pitchFamily="18" charset="0"/>
                      </a:rPr>
                      <m:t>𝑟</m:t>
                    </m:r>
                    <m:r>
                      <a:rPr lang="en-US">
                        <a:latin typeface="Cambria Math" panose="02040503050406030204" pitchFamily="18" charset="0"/>
                      </a:rPr>
                      <m:t>=</m:t>
                    </m:r>
                    <m:r>
                      <a:rPr lang="en-US">
                        <a:latin typeface="Cambria Math" panose="02040503050406030204" pitchFamily="18" charset="0"/>
                      </a:rPr>
                      <m:t>1</m:t>
                    </m:r>
                    <m:r>
                      <a:rPr lang="en-US">
                        <a:latin typeface="Cambria Math" panose="02040503050406030204" pitchFamily="18" charset="0"/>
                      </a:rPr>
                      <m:t>,…,</m:t>
                    </m:r>
                    <m:r>
                      <a:rPr lang="en-US" i="1">
                        <a:latin typeface="Cambria Math" panose="02040503050406030204" pitchFamily="18" charset="0"/>
                      </a:rPr>
                      <m:t>𝑅</m:t>
                    </m:r>
                  </m:oMath>
                </a14:m>
                <a:r>
                  <a:rPr lang="en-US" dirty="0"/>
                  <a:t>:</a:t>
                </a:r>
              </a:p>
              <a:p>
                <a:pPr lvl="1"/>
                <a:r>
                  <a:rPr lang="en-US" dirty="0"/>
                  <a:t>Shuffle values of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𝑗</m:t>
                        </m:r>
                      </m:sub>
                    </m:sSub>
                  </m:oMath>
                </a14:m>
                <a:endParaRPr lang="ar-AE" dirty="0"/>
              </a:p>
              <a:p>
                <a:pPr lvl="1"/>
                <a:r>
                  <a:rPr lang="en-US" dirty="0"/>
                  <a:t>Compute score </a:t>
                </a: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𝑆</m:t>
                        </m:r>
                      </m:e>
                      <m:sub>
                        <m:r>
                          <a:rPr lang="ar-AE" i="1">
                            <a:latin typeface="Cambria Math" panose="02040503050406030204" pitchFamily="18" charset="0"/>
                          </a:rPr>
                          <m:t>𝑗</m:t>
                        </m:r>
                      </m:sub>
                      <m:sup>
                        <m:d>
                          <m:dPr>
                            <m:ctrlPr>
                              <a:rPr lang="ar-AE" i="1">
                                <a:latin typeface="Cambria Math" panose="02040503050406030204" pitchFamily="18" charset="0"/>
                              </a:rPr>
                            </m:ctrlPr>
                          </m:dPr>
                          <m:e>
                            <m:r>
                              <a:rPr lang="ar-AE" i="1">
                                <a:latin typeface="Cambria Math" panose="02040503050406030204" pitchFamily="18" charset="0"/>
                              </a:rPr>
                              <m:t>𝑟</m:t>
                            </m:r>
                          </m:e>
                        </m:d>
                      </m:sup>
                    </m:sSubSup>
                  </m:oMath>
                </a14:m>
                <a:endParaRPr lang="ar-AE" dirty="0"/>
              </a:p>
              <a:p>
                <a:r>
                  <a:rPr lang="en-US" dirty="0"/>
                  <a:t>Estimate importance:</a:t>
                </a:r>
              </a:p>
              <a:p>
                <a:pPr marL="0" indent="0">
                  <a:buNone/>
                </a:pPr>
                <a14:m>
                  <m:oMathPara xmlns:m="http://schemas.openxmlformats.org/officeDocument/2006/math">
                    <m:oMathParaPr>
                      <m:jc m:val="centerGroup"/>
                    </m:oMathParaPr>
                    <m:oMath xmlns:m="http://schemas.openxmlformats.org/officeDocument/2006/math">
                      <m:sSub>
                        <m:sSubPr>
                          <m:ctrlPr>
                            <a:rPr lang="ar-AE" i="1" smtClean="0">
                              <a:latin typeface="Cambria Math" panose="02040503050406030204" pitchFamily="18" charset="0"/>
                            </a:rPr>
                          </m:ctrlPr>
                        </m:sSubPr>
                        <m:e>
                          <m:r>
                            <m:rPr>
                              <m:nor/>
                            </m:rPr>
                            <a:rPr lang="en-US" b="0"/>
                            <m:t>VI</m:t>
                          </m:r>
                        </m:e>
                        <m:sub>
                          <m:r>
                            <a:rPr lang="ar-AE" b="0" i="1">
                              <a:latin typeface="Cambria Math" panose="02040503050406030204" pitchFamily="18" charset="0"/>
                            </a:rPr>
                            <m:t>𝑗</m:t>
                          </m:r>
                        </m:sub>
                      </m:sSub>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i="1">
                              <a:latin typeface="Cambria Math" panose="02040503050406030204" pitchFamily="18" charset="0"/>
                            </a:rPr>
                            <m:t>𝑅</m:t>
                          </m:r>
                        </m:den>
                      </m:f>
                      <m:nary>
                        <m:naryPr>
                          <m:chr m:val="∑"/>
                          <m:grow m:val="on"/>
                          <m:ctrlPr>
                            <a:rPr lang="ar-AE" i="1">
                              <a:latin typeface="Cambria Math" panose="02040503050406030204" pitchFamily="18" charset="0"/>
                            </a:rPr>
                          </m:ctrlPr>
                        </m:naryPr>
                        <m:sub>
                          <m:r>
                            <a:rPr lang="ar-AE" i="1">
                              <a:latin typeface="Cambria Math" panose="02040503050406030204" pitchFamily="18" charset="0"/>
                            </a:rPr>
                            <m:t>𝑟</m:t>
                          </m:r>
                          <m:r>
                            <a:rPr lang="ar-AE">
                              <a:latin typeface="Cambria Math" panose="02040503050406030204" pitchFamily="18" charset="0"/>
                            </a:rPr>
                            <m:t>=</m:t>
                          </m:r>
                          <m:r>
                            <a:rPr lang="ar-AE">
                              <a:latin typeface="Cambria Math" panose="02040503050406030204" pitchFamily="18" charset="0"/>
                            </a:rPr>
                            <m:t>1</m:t>
                          </m:r>
                        </m:sub>
                        <m:sup>
                          <m:r>
                            <a:rPr lang="ar-AE" i="1">
                              <a:latin typeface="Cambria Math" panose="02040503050406030204" pitchFamily="18" charset="0"/>
                            </a:rPr>
                            <m:t>𝑅</m:t>
                          </m:r>
                        </m:sup>
                        <m:e>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𝑆</m:t>
                                  </m:r>
                                </m:e>
                                <m:sub>
                                  <m:r>
                                    <m:rPr>
                                      <m:nor/>
                                    </m:rPr>
                                    <a:rPr lang="en-US" i="1"/>
                                    <m:t>orig</m:t>
                                  </m:r>
                                </m:sub>
                              </m:sSub>
                              <m:r>
                                <a:rPr lang="ar-AE">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𝑆</m:t>
                                  </m:r>
                                </m:e>
                                <m:sub>
                                  <m:r>
                                    <a:rPr lang="ar-AE" i="1">
                                      <a:latin typeface="Cambria Math" panose="02040503050406030204" pitchFamily="18" charset="0"/>
                                    </a:rPr>
                                    <m:t>𝑗</m:t>
                                  </m:r>
                                </m:sub>
                                <m:sup>
                                  <m:d>
                                    <m:dPr>
                                      <m:ctrlPr>
                                        <a:rPr lang="ar-AE" i="1">
                                          <a:latin typeface="Cambria Math" panose="02040503050406030204" pitchFamily="18" charset="0"/>
                                        </a:rPr>
                                      </m:ctrlPr>
                                    </m:dPr>
                                    <m:e>
                                      <m:r>
                                        <a:rPr lang="ar-AE" i="1">
                                          <a:latin typeface="Cambria Math" panose="02040503050406030204" pitchFamily="18" charset="0"/>
                                        </a:rPr>
                                        <m:t>𝑟</m:t>
                                      </m:r>
                                    </m:e>
                                  </m:d>
                                </m:sup>
                              </m:sSubSup>
                            </m:e>
                          </m:d>
                        </m:e>
                      </m:nary>
                    </m:oMath>
                  </m:oMathPara>
                </a14:m>
                <a:endParaRPr lang="ar-AE" b="0" dirty="0"/>
              </a:p>
              <a:p>
                <a:endParaRPr lang="en-US" dirty="0"/>
              </a:p>
            </p:txBody>
          </p:sp>
        </mc:Choice>
        <mc:Fallback xmlns="">
          <p:sp>
            <p:nvSpPr>
              <p:cNvPr id="3" name="Content Placeholder 2">
                <a:extLst>
                  <a:ext uri="{FF2B5EF4-FFF2-40B4-BE49-F238E27FC236}">
                    <a16:creationId xmlns:a16="http://schemas.microsoft.com/office/drawing/2014/main" id="{22302228-328C-2B64-F366-A842018E0D43}"/>
                  </a:ext>
                </a:extLst>
              </p:cNvPr>
              <p:cNvSpPr>
                <a:spLocks noGrp="1" noRot="1" noChangeAspect="1" noMove="1" noResize="1" noEditPoints="1" noAdjustHandles="1" noChangeArrowheads="1" noChangeShapeType="1" noTextEdit="1"/>
              </p:cNvSpPr>
              <p:nvPr>
                <p:ph idx="1"/>
              </p:nvPr>
            </p:nvSpPr>
            <p:spPr>
              <a:xfrm>
                <a:off x="700635" y="2221992"/>
                <a:ext cx="4660637" cy="3739896"/>
              </a:xfrm>
              <a:blipFill>
                <a:blip r:embed="rId2"/>
                <a:stretch>
                  <a:fillRect l="-916" t="-1305"/>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0B6EB1E7-F1D1-280E-76BB-DDEAC7A43428}"/>
              </a:ext>
            </a:extLst>
          </p:cNvPr>
          <p:cNvSpPr txBox="1">
            <a:spLocks/>
          </p:cNvSpPr>
          <p:nvPr/>
        </p:nvSpPr>
        <p:spPr>
          <a:xfrm>
            <a:off x="5887062" y="2230013"/>
            <a:ext cx="4660637" cy="373989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10" name="TextBox 9">
            <a:extLst>
              <a:ext uri="{FF2B5EF4-FFF2-40B4-BE49-F238E27FC236}">
                <a16:creationId xmlns:a16="http://schemas.microsoft.com/office/drawing/2014/main" id="{13553E58-B9F8-A3D2-3653-8EFC6626A0D6}"/>
              </a:ext>
            </a:extLst>
          </p:cNvPr>
          <p:cNvSpPr txBox="1"/>
          <p:nvPr/>
        </p:nvSpPr>
        <p:spPr>
          <a:xfrm>
            <a:off x="5081341" y="5593768"/>
            <a:ext cx="6097604" cy="1077218"/>
          </a:xfrm>
          <a:prstGeom prst="rect">
            <a:avLst/>
          </a:prstGeom>
          <a:noFill/>
        </p:spPr>
        <p:txBody>
          <a:bodyPr wrap="square">
            <a:spAutoFit/>
          </a:bodyPr>
          <a:lstStyle/>
          <a:p>
            <a:r>
              <a:rPr lang="en-US" sz="1600" dirty="0"/>
              <a:t>Permutation importance asks: How much does model accuracy drop when one feature is shuffled? Study hours causes the largest drop, so it is most important. The error bars show variation across repeats, which helps us separate stable signals from noise.</a:t>
            </a:r>
          </a:p>
        </p:txBody>
      </p:sp>
      <p:pic>
        <p:nvPicPr>
          <p:cNvPr id="12" name="Picture 11">
            <a:extLst>
              <a:ext uri="{FF2B5EF4-FFF2-40B4-BE49-F238E27FC236}">
                <a16:creationId xmlns:a16="http://schemas.microsoft.com/office/drawing/2014/main" id="{7F258455-42E9-8AC4-2F8D-3B9E4DEE35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9591" y="1617704"/>
            <a:ext cx="6818226" cy="3823760"/>
          </a:xfrm>
          <a:prstGeom prst="rect">
            <a:avLst/>
          </a:prstGeom>
        </p:spPr>
      </p:pic>
    </p:spTree>
    <p:extLst>
      <p:ext uri="{BB962C8B-B14F-4D97-AF65-F5344CB8AC3E}">
        <p14:creationId xmlns:p14="http://schemas.microsoft.com/office/powerpoint/2010/main" val="1818862622"/>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626</TotalTime>
  <Words>818</Words>
  <Application>Microsoft Office PowerPoint</Application>
  <PresentationFormat>Widescreen</PresentationFormat>
  <Paragraphs>129</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Calisto MT</vt:lpstr>
      <vt:lpstr>Cambria Math</vt:lpstr>
      <vt:lpstr>Univers Condensed</vt:lpstr>
      <vt:lpstr>ChronicleVTI</vt:lpstr>
      <vt:lpstr>Variable Importance</vt:lpstr>
      <vt:lpstr>Why do we need Variable Importance?</vt:lpstr>
      <vt:lpstr>Variable Importance Principles</vt:lpstr>
      <vt:lpstr>Linear Regression Example</vt:lpstr>
      <vt:lpstr>Feature Scaling</vt:lpstr>
      <vt:lpstr>Logistic Regression</vt:lpstr>
      <vt:lpstr>Correlated Features</vt:lpstr>
      <vt:lpstr>Logistic Regression Pitfalls</vt:lpstr>
      <vt:lpstr>Decision Tree Importance</vt:lpstr>
      <vt:lpstr>Impurity Functions</vt:lpstr>
      <vt:lpstr>Random Forests</vt:lpstr>
      <vt:lpstr>RF Importance Example</vt:lpstr>
      <vt:lpstr>DT and RF MDI Limitations</vt:lpstr>
      <vt:lpstr>Model Agnostic</vt:lpstr>
      <vt:lpstr>Permutation Importance</vt:lpstr>
      <vt:lpstr>Permutation Importance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Jake Rhodes</dc:creator>
  <cp:lastModifiedBy>Jake Rhodes</cp:lastModifiedBy>
  <cp:revision>38</cp:revision>
  <dcterms:created xsi:type="dcterms:W3CDTF">2025-10-28T15:32:43Z</dcterms:created>
  <dcterms:modified xsi:type="dcterms:W3CDTF">2026-03-24T17:02:50Z</dcterms:modified>
</cp:coreProperties>
</file>