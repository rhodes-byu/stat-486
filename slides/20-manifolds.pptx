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52"/>
  </p:notesMasterIdLst>
  <p:sldIdLst>
    <p:sldId id="256" r:id="rId2"/>
    <p:sldId id="410" r:id="rId3"/>
    <p:sldId id="411" r:id="rId4"/>
    <p:sldId id="412" r:id="rId5"/>
    <p:sldId id="413" r:id="rId6"/>
    <p:sldId id="414" r:id="rId7"/>
    <p:sldId id="415" r:id="rId8"/>
    <p:sldId id="418" r:id="rId9"/>
    <p:sldId id="420" r:id="rId10"/>
    <p:sldId id="423" r:id="rId11"/>
    <p:sldId id="416" r:id="rId12"/>
    <p:sldId id="417" r:id="rId13"/>
    <p:sldId id="402" r:id="rId14"/>
    <p:sldId id="403" r:id="rId15"/>
    <p:sldId id="425" r:id="rId16"/>
    <p:sldId id="426" r:id="rId17"/>
    <p:sldId id="424" r:id="rId18"/>
    <p:sldId id="427" r:id="rId19"/>
    <p:sldId id="428" r:id="rId20"/>
    <p:sldId id="429" r:id="rId21"/>
    <p:sldId id="508" r:id="rId22"/>
    <p:sldId id="507" r:id="rId23"/>
    <p:sldId id="509" r:id="rId24"/>
    <p:sldId id="510" r:id="rId25"/>
    <p:sldId id="512" r:id="rId26"/>
    <p:sldId id="431" r:id="rId27"/>
    <p:sldId id="513" r:id="rId28"/>
    <p:sldId id="514" r:id="rId29"/>
    <p:sldId id="432" r:id="rId30"/>
    <p:sldId id="517" r:id="rId31"/>
    <p:sldId id="441" r:id="rId32"/>
    <p:sldId id="515" r:id="rId33"/>
    <p:sldId id="516" r:id="rId34"/>
    <p:sldId id="443" r:id="rId35"/>
    <p:sldId id="444" r:id="rId36"/>
    <p:sldId id="446" r:id="rId37"/>
    <p:sldId id="447" r:id="rId38"/>
    <p:sldId id="448" r:id="rId39"/>
    <p:sldId id="449" r:id="rId40"/>
    <p:sldId id="454" r:id="rId41"/>
    <p:sldId id="455" r:id="rId42"/>
    <p:sldId id="456" r:id="rId43"/>
    <p:sldId id="457" r:id="rId44"/>
    <p:sldId id="460" r:id="rId45"/>
    <p:sldId id="461" r:id="rId46"/>
    <p:sldId id="462" r:id="rId47"/>
    <p:sldId id="463" r:id="rId48"/>
    <p:sldId id="464" r:id="rId49"/>
    <p:sldId id="465" r:id="rId50"/>
    <p:sldId id="46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3268AF-1F7B-44F4-B869-8A9630AA7A5C}" v="3" dt="2026-03-27T17:30:48.3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4660"/>
  </p:normalViewPr>
  <p:slideViewPr>
    <p:cSldViewPr snapToGrid="0">
      <p:cViewPr varScale="1">
        <p:scale>
          <a:sx n="66" d="100"/>
          <a:sy n="66" d="100"/>
        </p:scale>
        <p:origin x="632"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320152-7289-42ED-97D3-BBB411F9F8C0}"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0E3D6-3C77-45F1-B7E2-5B66F3D24A72}" type="slidenum">
              <a:rPr lang="en-US" smtClean="0"/>
              <a:t>‹#›</a:t>
            </a:fld>
            <a:endParaRPr lang="en-US"/>
          </a:p>
        </p:txBody>
      </p:sp>
    </p:spTree>
    <p:extLst>
      <p:ext uri="{BB962C8B-B14F-4D97-AF65-F5344CB8AC3E}">
        <p14:creationId xmlns:p14="http://schemas.microsoft.com/office/powerpoint/2010/main" val="3564873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Fewer dimensions means we have less space we need to characterize</a:t>
            </a:r>
          </a:p>
        </p:txBody>
      </p:sp>
      <p:sp>
        <p:nvSpPr>
          <p:cNvPr id="4" name="Slide Number Placeholder 3"/>
          <p:cNvSpPr>
            <a:spLocks noGrp="1"/>
          </p:cNvSpPr>
          <p:nvPr>
            <p:ph type="sldNum" sz="quarter" idx="10"/>
          </p:nvPr>
        </p:nvSpPr>
        <p:spPr/>
        <p:txBody>
          <a:bodyPr/>
          <a:lstStyle/>
          <a:p>
            <a:fld id="{BB0BDF8B-C338-49A2-B495-F87D8695459E}" type="slidenum">
              <a:rPr lang="en-US" smtClean="0"/>
              <a:t>2</a:t>
            </a:fld>
            <a:endParaRPr lang="en-US"/>
          </a:p>
        </p:txBody>
      </p:sp>
    </p:spTree>
    <p:extLst>
      <p:ext uri="{BB962C8B-B14F-4D97-AF65-F5344CB8AC3E}">
        <p14:creationId xmlns:p14="http://schemas.microsoft.com/office/powerpoint/2010/main" val="3150016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a:t>
            </a:r>
            <a:r>
              <a:rPr lang="en-US" baseline="0" dirty="0"/>
              <a:t> make similar arguments for language and sound.</a:t>
            </a:r>
            <a:endParaRPr lang="en-US" dirty="0"/>
          </a:p>
        </p:txBody>
      </p:sp>
      <p:sp>
        <p:nvSpPr>
          <p:cNvPr id="4" name="Slide Number Placeholder 3"/>
          <p:cNvSpPr>
            <a:spLocks noGrp="1"/>
          </p:cNvSpPr>
          <p:nvPr>
            <p:ph type="sldNum" sz="quarter" idx="10"/>
          </p:nvPr>
        </p:nvSpPr>
        <p:spPr/>
        <p:txBody>
          <a:bodyPr/>
          <a:lstStyle/>
          <a:p>
            <a:fld id="{BB0BDF8B-C338-49A2-B495-F87D8695459E}" type="slidenum">
              <a:rPr lang="en-US" smtClean="0"/>
              <a:t>4</a:t>
            </a:fld>
            <a:endParaRPr lang="en-US"/>
          </a:p>
        </p:txBody>
      </p:sp>
    </p:spTree>
    <p:extLst>
      <p:ext uri="{BB962C8B-B14F-4D97-AF65-F5344CB8AC3E}">
        <p14:creationId xmlns:p14="http://schemas.microsoft.com/office/powerpoint/2010/main" val="3069898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0BDF8B-C338-49A2-B495-F87D8695459E}" type="slidenum">
              <a:rPr lang="en-US" smtClean="0"/>
              <a:t>14</a:t>
            </a:fld>
            <a:endParaRPr lang="en-US"/>
          </a:p>
        </p:txBody>
      </p:sp>
    </p:spTree>
    <p:extLst>
      <p:ext uri="{BB962C8B-B14F-4D97-AF65-F5344CB8AC3E}">
        <p14:creationId xmlns:p14="http://schemas.microsoft.com/office/powerpoint/2010/main" val="2347140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we’re trying to learn the actual underlying structure. </a:t>
            </a:r>
          </a:p>
        </p:txBody>
      </p:sp>
      <p:sp>
        <p:nvSpPr>
          <p:cNvPr id="4" name="Slide Number Placeholder 3"/>
          <p:cNvSpPr>
            <a:spLocks noGrp="1"/>
          </p:cNvSpPr>
          <p:nvPr>
            <p:ph type="sldNum" sz="quarter" idx="10"/>
          </p:nvPr>
        </p:nvSpPr>
        <p:spPr/>
        <p:txBody>
          <a:bodyPr/>
          <a:lstStyle/>
          <a:p>
            <a:fld id="{B4EC59BA-587B-4008-8DA5-D1E1031EB129}" type="slidenum">
              <a:rPr lang="en-US" smtClean="0"/>
              <a:t>19</a:t>
            </a:fld>
            <a:endParaRPr lang="en-US"/>
          </a:p>
        </p:txBody>
      </p:sp>
    </p:spTree>
    <p:extLst>
      <p:ext uri="{BB962C8B-B14F-4D97-AF65-F5344CB8AC3E}">
        <p14:creationId xmlns:p14="http://schemas.microsoft.com/office/powerpoint/2010/main" val="3344330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diffusion, we are looking at all possible random walks. This like an ensemble approach where any given random walk may not encode the information well, but taking multiple random walks gives you more robust results, and </a:t>
            </a:r>
            <a:r>
              <a:rPr lang="en-US" baseline="0" dirty="0" err="1"/>
              <a:t>denoises</a:t>
            </a:r>
            <a:r>
              <a:rPr lang="en-US" baseline="0" dirty="0"/>
              <a:t> the data</a:t>
            </a:r>
            <a:endParaRPr lang="en-US" dirty="0"/>
          </a:p>
        </p:txBody>
      </p:sp>
      <p:sp>
        <p:nvSpPr>
          <p:cNvPr id="4" name="Slide Number Placeholder 3"/>
          <p:cNvSpPr>
            <a:spLocks noGrp="1"/>
          </p:cNvSpPr>
          <p:nvPr>
            <p:ph type="sldNum" sz="quarter" idx="10"/>
          </p:nvPr>
        </p:nvSpPr>
        <p:spPr/>
        <p:txBody>
          <a:bodyPr/>
          <a:lstStyle/>
          <a:p>
            <a:fld id="{B4EC59BA-587B-4008-8DA5-D1E1031EB129}" type="slidenum">
              <a:rPr lang="en-US" smtClean="0"/>
              <a:t>21</a:t>
            </a:fld>
            <a:endParaRPr lang="en-US"/>
          </a:p>
        </p:txBody>
      </p:sp>
    </p:spTree>
    <p:extLst>
      <p:ext uri="{BB962C8B-B14F-4D97-AF65-F5344CB8AC3E}">
        <p14:creationId xmlns:p14="http://schemas.microsoft.com/office/powerpoint/2010/main" val="1828717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Doesn’t work so well when</a:t>
            </a:r>
            <a:r>
              <a:rPr lang="en-US" baseline="0" dirty="0"/>
              <a:t> you don’t  have clusters</a:t>
            </a:r>
            <a:endParaRPr lang="en-US" dirty="0"/>
          </a:p>
        </p:txBody>
      </p:sp>
      <p:sp>
        <p:nvSpPr>
          <p:cNvPr id="4" name="Slide Number Placeholder 3"/>
          <p:cNvSpPr>
            <a:spLocks noGrp="1"/>
          </p:cNvSpPr>
          <p:nvPr>
            <p:ph type="sldNum" sz="quarter" idx="10"/>
          </p:nvPr>
        </p:nvSpPr>
        <p:spPr/>
        <p:txBody>
          <a:bodyPr/>
          <a:lstStyle/>
          <a:p>
            <a:fld id="{B4EC59BA-587B-4008-8DA5-D1E1031EB129}" type="slidenum">
              <a:rPr lang="en-US" smtClean="0"/>
              <a:t>31</a:t>
            </a:fld>
            <a:endParaRPr lang="en-US"/>
          </a:p>
        </p:txBody>
      </p:sp>
    </p:spTree>
    <p:extLst>
      <p:ext uri="{BB962C8B-B14F-4D97-AF65-F5344CB8AC3E}">
        <p14:creationId xmlns:p14="http://schemas.microsoft.com/office/powerpoint/2010/main" val="2884550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colors</a:t>
            </a:r>
            <a:r>
              <a:rPr lang="en-US" baseline="0" dirty="0"/>
              <a:t> have changed in this figure, but the structure is generally the same. UMAP still breaks things apart like t-SNE.</a:t>
            </a:r>
            <a:endParaRPr lang="en-US" dirty="0"/>
          </a:p>
        </p:txBody>
      </p:sp>
      <p:sp>
        <p:nvSpPr>
          <p:cNvPr id="4" name="Slide Number Placeholder 3"/>
          <p:cNvSpPr>
            <a:spLocks noGrp="1"/>
          </p:cNvSpPr>
          <p:nvPr>
            <p:ph type="sldNum" sz="quarter" idx="10"/>
          </p:nvPr>
        </p:nvSpPr>
        <p:spPr/>
        <p:txBody>
          <a:bodyPr/>
          <a:lstStyle/>
          <a:p>
            <a:fld id="{B4EC59BA-587B-4008-8DA5-D1E1031EB129}" type="slidenum">
              <a:rPr lang="en-US" smtClean="0"/>
              <a:t>32</a:t>
            </a:fld>
            <a:endParaRPr lang="en-US"/>
          </a:p>
        </p:txBody>
      </p:sp>
    </p:spTree>
    <p:extLst>
      <p:ext uri="{BB962C8B-B14F-4D97-AF65-F5344CB8AC3E}">
        <p14:creationId xmlns:p14="http://schemas.microsoft.com/office/powerpoint/2010/main" val="3909528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C59BA-587B-4008-8DA5-D1E1031EB129}" type="slidenum">
              <a:rPr lang="en-US" smtClean="0"/>
              <a:t>35</a:t>
            </a:fld>
            <a:endParaRPr lang="en-US"/>
          </a:p>
        </p:txBody>
      </p:sp>
    </p:spTree>
    <p:extLst>
      <p:ext uri="{BB962C8B-B14F-4D97-AF65-F5344CB8AC3E}">
        <p14:creationId xmlns:p14="http://schemas.microsoft.com/office/powerpoint/2010/main" val="2110072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EC59BA-587B-4008-8DA5-D1E1031EB129}" type="slidenum">
              <a:rPr lang="en-US" smtClean="0"/>
              <a:t>37</a:t>
            </a:fld>
            <a:endParaRPr lang="en-US"/>
          </a:p>
        </p:txBody>
      </p:sp>
    </p:spTree>
    <p:extLst>
      <p:ext uri="{BB962C8B-B14F-4D97-AF65-F5344CB8AC3E}">
        <p14:creationId xmlns:p14="http://schemas.microsoft.com/office/powerpoint/2010/main" val="3192842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PHATE captures the sequential ordering without including time as a direct input. Each branch</a:t>
            </a:r>
            <a:r>
              <a:rPr lang="en-US" baseline="0" dirty="0"/>
              <a:t> corresponds to different poses</a:t>
            </a:r>
            <a:endParaRPr lang="en-US" dirty="0"/>
          </a:p>
        </p:txBody>
      </p:sp>
      <p:sp>
        <p:nvSpPr>
          <p:cNvPr id="4" name="Slide Number Placeholder 3"/>
          <p:cNvSpPr>
            <a:spLocks noGrp="1"/>
          </p:cNvSpPr>
          <p:nvPr>
            <p:ph type="sldNum" sz="quarter" idx="10"/>
          </p:nvPr>
        </p:nvSpPr>
        <p:spPr/>
        <p:txBody>
          <a:bodyPr/>
          <a:lstStyle/>
          <a:p>
            <a:fld id="{B4EC59BA-587B-4008-8DA5-D1E1031EB129}" type="slidenum">
              <a:rPr lang="en-US" smtClean="0"/>
              <a:t>38</a:t>
            </a:fld>
            <a:endParaRPr lang="en-US"/>
          </a:p>
        </p:txBody>
      </p:sp>
    </p:spTree>
    <p:extLst>
      <p:ext uri="{BB962C8B-B14F-4D97-AF65-F5344CB8AC3E}">
        <p14:creationId xmlns:p14="http://schemas.microsoft.com/office/powerpoint/2010/main" val="508716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a:t>
            </a:r>
            <a:r>
              <a:rPr lang="en-US" baseline="0" dirty="0"/>
              <a:t> video, you can see how PHATE captures the transition to several different poses</a:t>
            </a:r>
            <a:endParaRPr lang="en-US" dirty="0"/>
          </a:p>
        </p:txBody>
      </p:sp>
      <p:sp>
        <p:nvSpPr>
          <p:cNvPr id="4" name="Slide Number Placeholder 3"/>
          <p:cNvSpPr>
            <a:spLocks noGrp="1"/>
          </p:cNvSpPr>
          <p:nvPr>
            <p:ph type="sldNum" sz="quarter" idx="10"/>
          </p:nvPr>
        </p:nvSpPr>
        <p:spPr/>
        <p:txBody>
          <a:bodyPr/>
          <a:lstStyle/>
          <a:p>
            <a:fld id="{B4EC59BA-587B-4008-8DA5-D1E1031EB129}" type="slidenum">
              <a:rPr lang="en-US" smtClean="0"/>
              <a:t>39</a:t>
            </a:fld>
            <a:endParaRPr lang="en-US"/>
          </a:p>
        </p:txBody>
      </p:sp>
    </p:spTree>
    <p:extLst>
      <p:ext uri="{BB962C8B-B14F-4D97-AF65-F5344CB8AC3E}">
        <p14:creationId xmlns:p14="http://schemas.microsoft.com/office/powerpoint/2010/main" val="3091344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we’re trying to learn the actual underlying structure. </a:t>
            </a:r>
          </a:p>
        </p:txBody>
      </p:sp>
      <p:sp>
        <p:nvSpPr>
          <p:cNvPr id="4" name="Slide Number Placeholder 3"/>
          <p:cNvSpPr>
            <a:spLocks noGrp="1"/>
          </p:cNvSpPr>
          <p:nvPr>
            <p:ph type="sldNum" sz="quarter" idx="10"/>
          </p:nvPr>
        </p:nvSpPr>
        <p:spPr/>
        <p:txBody>
          <a:bodyPr/>
          <a:lstStyle/>
          <a:p>
            <a:fld id="{B4EC59BA-587B-4008-8DA5-D1E1031EB129}" type="slidenum">
              <a:rPr lang="en-US" smtClean="0"/>
              <a:t>41</a:t>
            </a:fld>
            <a:endParaRPr lang="en-US"/>
          </a:p>
        </p:txBody>
      </p:sp>
    </p:spTree>
    <p:extLst>
      <p:ext uri="{BB962C8B-B14F-4D97-AF65-F5344CB8AC3E}">
        <p14:creationId xmlns:p14="http://schemas.microsoft.com/office/powerpoint/2010/main" val="20388507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so I do this by converting the distances to a local affinity (e.g. a kernel function)</a:t>
            </a:r>
          </a:p>
          <a:p>
            <a:endParaRPr lang="en-US" dirty="0"/>
          </a:p>
          <a:p>
            <a:r>
              <a:rPr lang="en-US" dirty="0"/>
              <a:t>Instead</a:t>
            </a:r>
            <a:r>
              <a:rPr lang="en-US" baseline="0" dirty="0"/>
              <a:t> of truncated Gaussians</a:t>
            </a:r>
            <a:endParaRPr lang="en-US" dirty="0"/>
          </a:p>
        </p:txBody>
      </p:sp>
      <p:sp>
        <p:nvSpPr>
          <p:cNvPr id="4" name="Slide Number Placeholder 3"/>
          <p:cNvSpPr>
            <a:spLocks noGrp="1"/>
          </p:cNvSpPr>
          <p:nvPr>
            <p:ph type="sldNum" sz="quarter" idx="10"/>
          </p:nvPr>
        </p:nvSpPr>
        <p:spPr/>
        <p:txBody>
          <a:bodyPr/>
          <a:lstStyle/>
          <a:p>
            <a:fld id="{B4EC59BA-587B-4008-8DA5-D1E1031EB129}" type="slidenum">
              <a:rPr lang="en-US" smtClean="0"/>
              <a:t>43</a:t>
            </a:fld>
            <a:endParaRPr lang="en-US"/>
          </a:p>
        </p:txBody>
      </p:sp>
    </p:spTree>
    <p:extLst>
      <p:ext uri="{BB962C8B-B14F-4D97-AF65-F5344CB8AC3E}">
        <p14:creationId xmlns:p14="http://schemas.microsoft.com/office/powerpoint/2010/main" val="3822342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diffusion, we are looking at all possible random walks. This like an ensemble approach where any given random walk may not encode the information well, but taking multiple random walks gives you more robust results, and </a:t>
            </a:r>
            <a:r>
              <a:rPr lang="en-US" baseline="0" dirty="0" err="1"/>
              <a:t>denoises</a:t>
            </a:r>
            <a:r>
              <a:rPr lang="en-US" baseline="0" dirty="0"/>
              <a:t> the data</a:t>
            </a:r>
            <a:endParaRPr lang="en-US" dirty="0"/>
          </a:p>
        </p:txBody>
      </p:sp>
      <p:sp>
        <p:nvSpPr>
          <p:cNvPr id="4" name="Slide Number Placeholder 3"/>
          <p:cNvSpPr>
            <a:spLocks noGrp="1"/>
          </p:cNvSpPr>
          <p:nvPr>
            <p:ph type="sldNum" sz="quarter" idx="10"/>
          </p:nvPr>
        </p:nvSpPr>
        <p:spPr/>
        <p:txBody>
          <a:bodyPr/>
          <a:lstStyle/>
          <a:p>
            <a:fld id="{B4EC59BA-587B-4008-8DA5-D1E1031EB129}" type="slidenum">
              <a:rPr lang="en-US" smtClean="0"/>
              <a:t>45</a:t>
            </a:fld>
            <a:endParaRPr lang="en-US"/>
          </a:p>
        </p:txBody>
      </p:sp>
    </p:spTree>
    <p:extLst>
      <p:ext uri="{BB962C8B-B14F-4D97-AF65-F5344CB8AC3E}">
        <p14:creationId xmlns:p14="http://schemas.microsoft.com/office/powerpoint/2010/main" val="2737008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3/27/2026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8143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3/27/2026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97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3/27/2026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96029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3/27/2026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9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3/27/2026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27209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3/27/2026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194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3/27/2026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040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3/27/2026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910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3/27/2026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766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3/27/2026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9836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3/27/2026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5788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3/27/2026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45446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3.png"/><Relationship Id="rId4" Type="http://schemas.openxmlformats.org/officeDocument/2006/relationships/notesSlide" Target="../notesSlides/notesSlide11.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1E46642-0DD4-D7C3-AC38-FB4637205E2E}"/>
              </a:ext>
            </a:extLst>
          </p:cNvPr>
          <p:cNvPicPr>
            <a:picLocks noChangeAspect="1"/>
          </p:cNvPicPr>
          <p:nvPr/>
        </p:nvPicPr>
        <p:blipFill>
          <a:blip r:embed="rId2"/>
          <a:srcRect t="4805" b="10926"/>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9F3EC0C-B664-18E2-FAA6-07592A24EF44}"/>
              </a:ext>
            </a:extLst>
          </p:cNvPr>
          <p:cNvSpPr>
            <a:spLocks noGrp="1"/>
          </p:cNvSpPr>
          <p:nvPr>
            <p:ph type="ctrTitle"/>
          </p:nvPr>
        </p:nvSpPr>
        <p:spPr>
          <a:xfrm>
            <a:off x="704088" y="871759"/>
            <a:ext cx="5067300" cy="3497042"/>
          </a:xfrm>
        </p:spPr>
        <p:txBody>
          <a:bodyPr anchor="t">
            <a:normAutofit/>
          </a:bodyPr>
          <a:lstStyle/>
          <a:p>
            <a:r>
              <a:rPr lang="en-US">
                <a:solidFill>
                  <a:srgbClr val="FFFFFF"/>
                </a:solidFill>
              </a:rPr>
              <a:t>Manifold Learning</a:t>
            </a:r>
          </a:p>
        </p:txBody>
      </p:sp>
      <p:sp>
        <p:nvSpPr>
          <p:cNvPr id="3" name="Subtitle 2">
            <a:extLst>
              <a:ext uri="{FF2B5EF4-FFF2-40B4-BE49-F238E27FC236}">
                <a16:creationId xmlns:a16="http://schemas.microsoft.com/office/drawing/2014/main" id="{A11A06C2-C984-559B-6247-4CE552425B27}"/>
              </a:ext>
            </a:extLst>
          </p:cNvPr>
          <p:cNvSpPr>
            <a:spLocks noGrp="1"/>
          </p:cNvSpPr>
          <p:nvPr>
            <p:ph type="subTitle" idx="1"/>
          </p:nvPr>
        </p:nvSpPr>
        <p:spPr>
          <a:xfrm>
            <a:off x="704088" y="5157694"/>
            <a:ext cx="5019676" cy="976406"/>
          </a:xfrm>
        </p:spPr>
        <p:txBody>
          <a:bodyPr anchor="t">
            <a:normAutofit/>
          </a:bodyPr>
          <a:lstStyle/>
          <a:p>
            <a:endParaRPr lang="en-US">
              <a:solidFill>
                <a:srgbClr val="FFFFFF"/>
              </a:solidFill>
            </a:endParaRPr>
          </a:p>
        </p:txBody>
      </p:sp>
      <p:cxnSp>
        <p:nvCxnSpPr>
          <p:cNvPr id="20" name="Straight Connector 19">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2478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50367" y="1742153"/>
            <a:ext cx="10691265" cy="3739896"/>
          </a:xfrm>
        </p:spPr>
        <p:txBody>
          <a:bodyPr/>
          <a:lstStyle/>
          <a:p>
            <a:r>
              <a:rPr lang="en-US" dirty="0"/>
              <a:t>Informally, a manifold in machine learning loosely means a connected set of points in high dimensions that can be approximated well by a small number of dimensions</a:t>
            </a:r>
          </a:p>
          <a:p>
            <a:pPr lvl="1"/>
            <a:r>
              <a:rPr lang="en-US" dirty="0"/>
              <a:t>Sometimes referred to as the </a:t>
            </a:r>
            <a:r>
              <a:rPr lang="en-US" b="1" dirty="0"/>
              <a:t>manifold assumption</a:t>
            </a:r>
          </a:p>
          <a:p>
            <a:pPr lvl="1"/>
            <a:r>
              <a:rPr lang="en-US" dirty="0"/>
              <a:t>Simplifies the learning problem greatly and helps with the curse of dimensionality</a:t>
            </a:r>
          </a:p>
          <a:p>
            <a:r>
              <a:rPr lang="en-US" dirty="0"/>
              <a:t>Is this a good assumption in machine learning?</a:t>
            </a:r>
          </a:p>
        </p:txBody>
      </p:sp>
      <p:sp>
        <p:nvSpPr>
          <p:cNvPr id="3" name="Title 2"/>
          <p:cNvSpPr>
            <a:spLocks noGrp="1"/>
          </p:cNvSpPr>
          <p:nvPr>
            <p:ph type="title"/>
          </p:nvPr>
        </p:nvSpPr>
        <p:spPr/>
        <p:txBody>
          <a:bodyPr/>
          <a:lstStyle/>
          <a:p>
            <a:r>
              <a:rPr lang="en-US" dirty="0"/>
              <a:t>Manifold learning</a:t>
            </a:r>
          </a:p>
        </p:txBody>
      </p:sp>
      <p:pic>
        <p:nvPicPr>
          <p:cNvPr id="4" name="Picture 3"/>
          <p:cNvPicPr>
            <a:picLocks noChangeAspect="1"/>
          </p:cNvPicPr>
          <p:nvPr/>
        </p:nvPicPr>
        <p:blipFill rotWithShape="1">
          <a:blip r:embed="rId3"/>
          <a:srcRect l="5644" t="48141" r="10713" b="8180"/>
          <a:stretch/>
        </p:blipFill>
        <p:spPr>
          <a:xfrm>
            <a:off x="2812923" y="3773037"/>
            <a:ext cx="5291014" cy="2825883"/>
          </a:xfrm>
          <a:prstGeom prst="rect">
            <a:avLst/>
          </a:prstGeom>
        </p:spPr>
      </p:pic>
      <p:sp>
        <p:nvSpPr>
          <p:cNvPr id="5" name="TextBox 4"/>
          <p:cNvSpPr txBox="1"/>
          <p:nvPr/>
        </p:nvSpPr>
        <p:spPr>
          <a:xfrm>
            <a:off x="7998328" y="5651212"/>
            <a:ext cx="2168165" cy="584775"/>
          </a:xfrm>
          <a:prstGeom prst="rect">
            <a:avLst/>
          </a:prstGeom>
          <a:noFill/>
        </p:spPr>
        <p:txBody>
          <a:bodyPr wrap="square" rtlCol="0">
            <a:spAutoFit/>
          </a:bodyPr>
          <a:lstStyle/>
          <a:p>
            <a:r>
              <a:rPr lang="en-US" sz="1600" dirty="0" err="1"/>
              <a:t>Goodfellow</a:t>
            </a:r>
            <a:r>
              <a:rPr lang="en-US" sz="1600" dirty="0"/>
              <a:t> et al., 2016</a:t>
            </a:r>
          </a:p>
        </p:txBody>
      </p:sp>
    </p:spTree>
    <p:extLst>
      <p:ext uri="{BB962C8B-B14F-4D97-AF65-F5344CB8AC3E}">
        <p14:creationId xmlns:p14="http://schemas.microsoft.com/office/powerpoint/2010/main" val="997795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32344" y="1064871"/>
            <a:ext cx="8821356" cy="5320689"/>
          </a:xfrm>
        </p:spPr>
        <p:txBody>
          <a:bodyPr>
            <a:normAutofit/>
          </a:bodyPr>
          <a:lstStyle/>
          <a:p>
            <a:r>
              <a:rPr lang="en-US" dirty="0"/>
              <a:t>The probability distribution over images, text strings, and sounds that occur in real life is highly concentrated</a:t>
            </a:r>
          </a:p>
          <a:p>
            <a:r>
              <a:rPr lang="en-US" b="1" dirty="0"/>
              <a:t>Example</a:t>
            </a:r>
            <a:r>
              <a:rPr lang="en-US" dirty="0"/>
              <a:t>: randomly generated </a:t>
            </a:r>
            <a:br>
              <a:rPr lang="en-US" dirty="0"/>
            </a:br>
            <a:r>
              <a:rPr lang="en-US" dirty="0"/>
              <a:t>images (right) rarely (never?) </a:t>
            </a:r>
            <a:br>
              <a:rPr lang="en-US" dirty="0"/>
            </a:br>
            <a:r>
              <a:rPr lang="en-US" dirty="0"/>
              <a:t>look like real objects</a:t>
            </a:r>
          </a:p>
          <a:p>
            <a:r>
              <a:rPr lang="en-US" b="1" dirty="0"/>
              <a:t>Example</a:t>
            </a:r>
            <a:r>
              <a:rPr lang="en-US" dirty="0"/>
              <a:t>: picking random letters</a:t>
            </a:r>
            <a:br>
              <a:rPr lang="en-US" dirty="0"/>
            </a:br>
            <a:r>
              <a:rPr lang="en-US" dirty="0"/>
              <a:t>unlikely to give real text</a:t>
            </a:r>
          </a:p>
          <a:p>
            <a:r>
              <a:rPr lang="en-US" dirty="0"/>
              <a:t>Is this sufficient for the </a:t>
            </a:r>
            <a:br>
              <a:rPr lang="en-US" dirty="0"/>
            </a:br>
            <a:r>
              <a:rPr lang="en-US" dirty="0"/>
              <a:t>manifold assumption?</a:t>
            </a:r>
          </a:p>
          <a:p>
            <a:r>
              <a:rPr lang="en-US" dirty="0"/>
              <a:t>No, also need to establish that </a:t>
            </a:r>
            <a:br>
              <a:rPr lang="en-US" dirty="0"/>
            </a:br>
            <a:r>
              <a:rPr lang="en-US" dirty="0"/>
              <a:t>the examples we encounter are </a:t>
            </a:r>
            <a:br>
              <a:rPr lang="en-US" dirty="0"/>
            </a:br>
            <a:r>
              <a:rPr lang="en-US" dirty="0"/>
              <a:t>connected to each other by</a:t>
            </a:r>
            <a:br>
              <a:rPr lang="en-US" dirty="0"/>
            </a:br>
            <a:r>
              <a:rPr lang="en-US" dirty="0"/>
              <a:t>other examples</a:t>
            </a:r>
          </a:p>
        </p:txBody>
      </p:sp>
      <p:sp>
        <p:nvSpPr>
          <p:cNvPr id="3" name="Title 2"/>
          <p:cNvSpPr>
            <a:spLocks noGrp="1"/>
          </p:cNvSpPr>
          <p:nvPr>
            <p:ph type="title"/>
          </p:nvPr>
        </p:nvSpPr>
        <p:spPr>
          <a:xfrm>
            <a:off x="797389" y="156455"/>
            <a:ext cx="10691265" cy="1307592"/>
          </a:xfrm>
        </p:spPr>
        <p:txBody>
          <a:bodyPr/>
          <a:lstStyle/>
          <a:p>
            <a:r>
              <a:rPr lang="en-US" dirty="0"/>
              <a:t>The manifold assumption in practice</a:t>
            </a:r>
          </a:p>
        </p:txBody>
      </p:sp>
      <p:pic>
        <p:nvPicPr>
          <p:cNvPr id="4" name="Picture 3"/>
          <p:cNvPicPr>
            <a:picLocks noChangeAspect="1"/>
          </p:cNvPicPr>
          <p:nvPr/>
        </p:nvPicPr>
        <p:blipFill rotWithShape="1">
          <a:blip r:embed="rId2"/>
          <a:srcRect l="33625" t="10457" r="34063" b="16857"/>
          <a:stretch/>
        </p:blipFill>
        <p:spPr>
          <a:xfrm>
            <a:off x="6759922" y="1728470"/>
            <a:ext cx="3877598" cy="4770120"/>
          </a:xfrm>
          <a:prstGeom prst="rect">
            <a:avLst/>
          </a:prstGeom>
        </p:spPr>
      </p:pic>
    </p:spTree>
    <p:extLst>
      <p:ext uri="{BB962C8B-B14F-4D97-AF65-F5344CB8AC3E}">
        <p14:creationId xmlns:p14="http://schemas.microsoft.com/office/powerpoint/2010/main" val="3108371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32344" y="1064871"/>
            <a:ext cx="8821356" cy="5320689"/>
          </a:xfrm>
        </p:spPr>
        <p:txBody>
          <a:bodyPr>
            <a:normAutofit/>
          </a:bodyPr>
          <a:lstStyle/>
          <a:p>
            <a:r>
              <a:rPr lang="en-US" dirty="0"/>
              <a:t>In images, we can think of many possible transformations that trace out a manifold</a:t>
            </a:r>
          </a:p>
          <a:p>
            <a:pPr lvl="1"/>
            <a:r>
              <a:rPr lang="en-US" dirty="0"/>
              <a:t>Dim or brighten the lights, gradually move or rotate objects, etc.</a:t>
            </a:r>
          </a:p>
          <a:p>
            <a:r>
              <a:rPr lang="en-US" dirty="0"/>
              <a:t>Multiple manifolds may be involved (e.g. human manifolds and cat manifolds)</a:t>
            </a:r>
          </a:p>
        </p:txBody>
      </p:sp>
      <p:sp>
        <p:nvSpPr>
          <p:cNvPr id="3" name="Title 2"/>
          <p:cNvSpPr>
            <a:spLocks noGrp="1"/>
          </p:cNvSpPr>
          <p:nvPr>
            <p:ph type="title"/>
          </p:nvPr>
        </p:nvSpPr>
        <p:spPr>
          <a:xfrm>
            <a:off x="700635" y="86627"/>
            <a:ext cx="10691265" cy="1307592"/>
          </a:xfrm>
        </p:spPr>
        <p:txBody>
          <a:bodyPr/>
          <a:lstStyle/>
          <a:p>
            <a:r>
              <a:rPr lang="en-US" dirty="0"/>
              <a:t>The manifold assumption in practice</a:t>
            </a:r>
          </a:p>
        </p:txBody>
      </p:sp>
      <p:pic>
        <p:nvPicPr>
          <p:cNvPr id="5" name="Picture 4"/>
          <p:cNvPicPr>
            <a:picLocks noChangeAspect="1"/>
          </p:cNvPicPr>
          <p:nvPr/>
        </p:nvPicPr>
        <p:blipFill rotWithShape="1">
          <a:blip r:embed="rId3"/>
          <a:srcRect l="22212" t="21473" r="23173" b="40901"/>
          <a:stretch/>
        </p:blipFill>
        <p:spPr>
          <a:xfrm>
            <a:off x="1732348" y="3155140"/>
            <a:ext cx="8704162" cy="3279384"/>
          </a:xfrm>
          <a:prstGeom prst="rect">
            <a:avLst/>
          </a:prstGeom>
        </p:spPr>
      </p:pic>
    </p:spTree>
    <p:extLst>
      <p:ext uri="{BB962C8B-B14F-4D97-AF65-F5344CB8AC3E}">
        <p14:creationId xmlns:p14="http://schemas.microsoft.com/office/powerpoint/2010/main" val="78464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Manifold learning</a:t>
            </a:r>
          </a:p>
        </p:txBody>
      </p:sp>
      <p:pic>
        <p:nvPicPr>
          <p:cNvPr id="9" name="Picture 8"/>
          <p:cNvPicPr>
            <a:picLocks noChangeAspect="1"/>
          </p:cNvPicPr>
          <p:nvPr/>
        </p:nvPicPr>
        <p:blipFill>
          <a:blip r:embed="rId2"/>
          <a:stretch>
            <a:fillRect/>
          </a:stretch>
        </p:blipFill>
        <p:spPr>
          <a:xfrm>
            <a:off x="4552749" y="1959094"/>
            <a:ext cx="2935705" cy="4071119"/>
          </a:xfrm>
          <a:prstGeom prst="rect">
            <a:avLst/>
          </a:prstGeom>
        </p:spPr>
      </p:pic>
    </p:spTree>
    <p:extLst>
      <p:ext uri="{BB962C8B-B14F-4D97-AF65-F5344CB8AC3E}">
        <p14:creationId xmlns:p14="http://schemas.microsoft.com/office/powerpoint/2010/main" val="3569625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858558" y="1617043"/>
            <a:ext cx="3416279" cy="4371959"/>
          </a:xfrm>
          <a:prstGeom prst="rect">
            <a:avLst/>
          </a:prstGeom>
        </p:spPr>
      </p:pic>
      <p:sp>
        <p:nvSpPr>
          <p:cNvPr id="3" name="Title 2"/>
          <p:cNvSpPr>
            <a:spLocks noGrp="1"/>
          </p:cNvSpPr>
          <p:nvPr>
            <p:ph type="title"/>
          </p:nvPr>
        </p:nvSpPr>
        <p:spPr/>
        <p:txBody>
          <a:bodyPr/>
          <a:lstStyle/>
          <a:p>
            <a:r>
              <a:rPr lang="en-US" dirty="0"/>
              <a:t>Manifold learning</a:t>
            </a:r>
          </a:p>
        </p:txBody>
      </p:sp>
    </p:spTree>
    <p:extLst>
      <p:ext uri="{BB962C8B-B14F-4D97-AF65-F5344CB8AC3E}">
        <p14:creationId xmlns:p14="http://schemas.microsoft.com/office/powerpoint/2010/main" val="949989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208179" y="1527493"/>
            <a:ext cx="5689530" cy="4248467"/>
          </a:xfrm>
          <a:prstGeom prst="rect">
            <a:avLst/>
          </a:prstGeom>
        </p:spPr>
      </p:pic>
      <p:sp>
        <p:nvSpPr>
          <p:cNvPr id="3" name="Title 2"/>
          <p:cNvSpPr>
            <a:spLocks noGrp="1"/>
          </p:cNvSpPr>
          <p:nvPr>
            <p:ph type="title"/>
          </p:nvPr>
        </p:nvSpPr>
        <p:spPr/>
        <p:txBody>
          <a:bodyPr/>
          <a:lstStyle/>
          <a:p>
            <a:r>
              <a:rPr lang="en-US" dirty="0"/>
              <a:t>Manifold learning</a:t>
            </a:r>
          </a:p>
        </p:txBody>
      </p:sp>
    </p:spTree>
    <p:extLst>
      <p:ext uri="{BB962C8B-B14F-4D97-AF65-F5344CB8AC3E}">
        <p14:creationId xmlns:p14="http://schemas.microsoft.com/office/powerpoint/2010/main" val="3699835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00635" y="2221992"/>
            <a:ext cx="4831883" cy="3739896"/>
          </a:xfrm>
        </p:spPr>
        <p:txBody>
          <a:bodyPr/>
          <a:lstStyle/>
          <a:p>
            <a:r>
              <a:rPr lang="en-US" dirty="0"/>
              <a:t>MDS is a class of dimensionality reduction methods</a:t>
            </a:r>
          </a:p>
          <a:p>
            <a:r>
              <a:rPr lang="en-US" b="1" dirty="0"/>
              <a:t>Goal</a:t>
            </a:r>
            <a:r>
              <a:rPr lang="en-US" dirty="0"/>
              <a:t>: minimize the “difference” between corresponding distances in the high and low dimensional spaces</a:t>
            </a:r>
          </a:p>
          <a:p>
            <a:r>
              <a:rPr lang="en-US" b="1" dirty="0"/>
              <a:t>Example</a:t>
            </a:r>
            <a:r>
              <a:rPr lang="en-US" dirty="0"/>
              <a:t>: projecting cities on a 3D Earth to a 2D map</a:t>
            </a:r>
          </a:p>
        </p:txBody>
      </p:sp>
      <p:sp>
        <p:nvSpPr>
          <p:cNvPr id="3" name="Title 2"/>
          <p:cNvSpPr>
            <a:spLocks noGrp="1"/>
          </p:cNvSpPr>
          <p:nvPr>
            <p:ph type="title"/>
          </p:nvPr>
        </p:nvSpPr>
        <p:spPr/>
        <p:txBody>
          <a:bodyPr/>
          <a:lstStyle/>
          <a:p>
            <a:r>
              <a:rPr lang="en-US" dirty="0"/>
              <a:t>Multidimensional Scaling (MDS)</a:t>
            </a:r>
          </a:p>
        </p:txBody>
      </p:sp>
      <p:pic>
        <p:nvPicPr>
          <p:cNvPr id="1026" name="Picture 2" descr="Image result for multidimensional scaling"/>
          <p:cNvPicPr>
            <a:picLocks noChangeAspect="1" noChangeArrowheads="1"/>
          </p:cNvPicPr>
          <p:nvPr/>
        </p:nvPicPr>
        <p:blipFill rotWithShape="1">
          <a:blip r:embed="rId2">
            <a:extLst>
              <a:ext uri="{28A0092B-C50C-407E-A947-70E740481C1C}">
                <a14:useLocalDpi xmlns:a14="http://schemas.microsoft.com/office/drawing/2010/main" val="0"/>
              </a:ext>
            </a:extLst>
          </a:blip>
          <a:srcRect t="10735" b="5450"/>
          <a:stretch/>
        </p:blipFill>
        <p:spPr bwMode="auto">
          <a:xfrm>
            <a:off x="5366485" y="1879265"/>
            <a:ext cx="6025415" cy="4293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546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732344" y="1064871"/>
                <a:ext cx="8821356" cy="5569011"/>
              </a:xfrm>
            </p:spPr>
            <p:txBody>
              <a:bodyPr/>
              <a:lstStyle/>
              <a:p>
                <a:r>
                  <a:rPr lang="en-US" dirty="0"/>
                  <a:t>Let </a:t>
                </a:r>
                <a14:m>
                  <m:oMath xmlns:m="http://schemas.openxmlformats.org/officeDocument/2006/math">
                    <m:r>
                      <a:rPr lang="en-US" b="0" i="1" smtClean="0">
                        <a:latin typeface="Cambria Math" panose="02040503050406030204" pitchFamily="18" charset="0"/>
                      </a:rPr>
                      <m:t>𝐷</m:t>
                    </m:r>
                  </m:oMath>
                </a14:m>
                <a:r>
                  <a:rPr lang="en-US" dirty="0"/>
                  <a:t> be a matrix of pairwise distances between </a:t>
                </a:r>
                <a14:m>
                  <m:oMath xmlns:m="http://schemas.openxmlformats.org/officeDocument/2006/math">
                    <m:r>
                      <a:rPr lang="en-US" i="1">
                        <a:latin typeface="Cambria Math" panose="02040503050406030204" pitchFamily="18" charset="0"/>
                      </a:rPr>
                      <m:t>𝑛</m:t>
                    </m:r>
                  </m:oMath>
                </a14:m>
                <a:r>
                  <a:rPr lang="en-US" dirty="0"/>
                  <a:t> points in the high-dimensional space</a:t>
                </a:r>
              </a:p>
              <a:p>
                <a:r>
                  <a:rPr lang="en-US" dirty="0"/>
                  <a:t>Metric MDS has a different “stress” function to minimize:</a:t>
                </a:r>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𝑆𝑡𝑟𝑒𝑠𝑠</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1" i="1">
                                      <a:latin typeface="Cambria Math" panose="02040503050406030204" pitchFamily="18" charset="0"/>
                                    </a:rPr>
                                    <m:t>𝒙</m:t>
                                  </m:r>
                                </m:e>
                              </m:acc>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1" i="1">
                                      <a:latin typeface="Cambria Math" panose="02040503050406030204" pitchFamily="18" charset="0"/>
                                    </a:rPr>
                                    <m:t>𝒙</m:t>
                                  </m:r>
                                </m:e>
                              </m:acc>
                            </m:e>
                            <m:sub>
                              <m:r>
                                <a:rPr lang="en-US" i="1">
                                  <a:latin typeface="Cambria Math" panose="02040503050406030204" pitchFamily="18" charset="0"/>
                                </a:rPr>
                                <m:t>𝑛</m:t>
                              </m:r>
                            </m:sub>
                          </m:sSub>
                        </m:e>
                      </m: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1" i="1">
                                                          <a:latin typeface="Cambria Math" panose="02040503050406030204" pitchFamily="18" charset="0"/>
                                                        </a:rPr>
                                                        <m:t>𝒙</m:t>
                                                      </m:r>
                                                    </m:e>
                                                  </m:acc>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1" i="1">
                                                          <a:latin typeface="Cambria Math" panose="02040503050406030204" pitchFamily="18" charset="0"/>
                                                        </a:rPr>
                                                        <m:t>𝒙</m:t>
                                                      </m:r>
                                                    </m:e>
                                                  </m:acc>
                                                </m:e>
                                                <m:sub>
                                                  <m:r>
                                                    <a:rPr lang="en-US" b="0" i="1" smtClean="0">
                                                      <a:latin typeface="Cambria Math" panose="02040503050406030204" pitchFamily="18" charset="0"/>
                                                    </a:rPr>
                                                    <m:t>𝑗</m:t>
                                                  </m:r>
                                                </m:sub>
                                              </m:sSub>
                                            </m:e>
                                          </m:d>
                                        </m:e>
                                      </m:d>
                                    </m:e>
                                    <m:sup>
                                      <m:r>
                                        <a:rPr lang="en-US" b="0" i="1" smtClean="0">
                                          <a:latin typeface="Cambria Math" panose="02040503050406030204" pitchFamily="18" charset="0"/>
                                        </a:rPr>
                                        <m:t>2</m:t>
                                      </m:r>
                                    </m:sup>
                                  </m:sSup>
                                </m:e>
                              </m:nary>
                            </m:num>
                            <m:den>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𝐷</m:t>
                                      </m:r>
                                    </m:e>
                                    <m:sub>
                                      <m:r>
                                        <a:rPr lang="en-US" b="0" i="1" smtClean="0">
                                          <a:latin typeface="Cambria Math" panose="02040503050406030204" pitchFamily="18" charset="0"/>
                                        </a:rPr>
                                        <m:t>𝑖𝑗</m:t>
                                      </m:r>
                                    </m:sub>
                                    <m:sup>
                                      <m:r>
                                        <a:rPr lang="en-US" b="0" i="1" smtClean="0">
                                          <a:latin typeface="Cambria Math" panose="02040503050406030204" pitchFamily="18" charset="0"/>
                                        </a:rPr>
                                        <m:t>2</m:t>
                                      </m:r>
                                    </m:sup>
                                  </m:sSubSup>
                                </m:e>
                              </m:nary>
                            </m:den>
                          </m:f>
                        </m:e>
                      </m:rad>
                    </m:oMath>
                  </m:oMathPara>
                </a14:m>
                <a:endParaRPr lang="en-US" dirty="0"/>
              </a:p>
              <a:p>
                <a:r>
                  <a:rPr lang="en-US" dirty="0"/>
                  <a:t>Solving this requires an iterative approach (like gradient descent)</a:t>
                </a:r>
              </a:p>
              <a:p>
                <a:r>
                  <a:rPr lang="en-US" dirty="0"/>
                  <a:t>Generally gives better visualization than CMDS for PHATE</a:t>
                </a:r>
              </a:p>
              <a:p>
                <a:r>
                  <a:rPr lang="en-US" dirty="0"/>
                  <a:t>Nonmetric MDS also exists</a:t>
                </a:r>
              </a:p>
              <a:p>
                <a:pPr lvl="1"/>
                <a:r>
                  <a:rPr lang="en-US" dirty="0"/>
                  <a:t>Input “distances” do not need to be a true distance</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732344" y="1064871"/>
                <a:ext cx="8821356" cy="5569011"/>
              </a:xfrm>
              <a:blipFill>
                <a:blip r:embed="rId2"/>
                <a:stretch>
                  <a:fillRect l="-622" t="-548"/>
                </a:stretch>
              </a:blipFill>
            </p:spPr>
            <p:txBody>
              <a:bodyPr/>
              <a:lstStyle/>
              <a:p>
                <a:r>
                  <a:rPr lang="en-US">
                    <a:noFill/>
                  </a:rPr>
                  <a:t> </a:t>
                </a:r>
              </a:p>
            </p:txBody>
          </p:sp>
        </mc:Fallback>
      </mc:AlternateContent>
      <p:sp>
        <p:nvSpPr>
          <p:cNvPr id="3" name="Title 2"/>
          <p:cNvSpPr>
            <a:spLocks noGrp="1"/>
          </p:cNvSpPr>
          <p:nvPr>
            <p:ph type="title"/>
          </p:nvPr>
        </p:nvSpPr>
        <p:spPr>
          <a:xfrm>
            <a:off x="797389" y="67377"/>
            <a:ext cx="10691265" cy="1307592"/>
          </a:xfrm>
        </p:spPr>
        <p:txBody>
          <a:bodyPr/>
          <a:lstStyle/>
          <a:p>
            <a:r>
              <a:rPr lang="en-US" dirty="0"/>
              <a:t>Metric MDS</a:t>
            </a:r>
          </a:p>
        </p:txBody>
      </p:sp>
    </p:spTree>
    <p:extLst>
      <p:ext uri="{BB962C8B-B14F-4D97-AF65-F5344CB8AC3E}">
        <p14:creationId xmlns:p14="http://schemas.microsoft.com/office/powerpoint/2010/main" val="410389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Large Euclidean distances often uninformative</a:t>
            </a:r>
          </a:p>
          <a:p>
            <a:pPr lvl="1"/>
            <a:r>
              <a:rPr lang="en-US" dirty="0"/>
              <a:t>Exit the manifold</a:t>
            </a:r>
          </a:p>
          <a:p>
            <a:pPr lvl="1"/>
            <a:r>
              <a:rPr lang="en-US" dirty="0"/>
              <a:t>Also likely to suffer from the curse of dimensionality</a:t>
            </a:r>
          </a:p>
          <a:p>
            <a:r>
              <a:rPr lang="en-US" dirty="0"/>
              <a:t>Thus MDS on Euclidean distances </a:t>
            </a:r>
            <a:br>
              <a:rPr lang="en-US" dirty="0"/>
            </a:br>
            <a:r>
              <a:rPr lang="en-US" dirty="0"/>
              <a:t>often isn’t great</a:t>
            </a:r>
          </a:p>
          <a:p>
            <a:r>
              <a:rPr lang="en-US" b="1" dirty="0"/>
              <a:t>Solution</a:t>
            </a:r>
            <a:r>
              <a:rPr lang="en-US" dirty="0"/>
              <a:t>: input “better” distances</a:t>
            </a:r>
          </a:p>
          <a:p>
            <a:r>
              <a:rPr lang="en-US" dirty="0"/>
              <a:t>We’ll construct distances from a graph</a:t>
            </a:r>
          </a:p>
        </p:txBody>
      </p:sp>
      <p:sp>
        <p:nvSpPr>
          <p:cNvPr id="3" name="Title 2"/>
          <p:cNvSpPr>
            <a:spLocks noGrp="1"/>
          </p:cNvSpPr>
          <p:nvPr>
            <p:ph type="title"/>
          </p:nvPr>
        </p:nvSpPr>
        <p:spPr/>
        <p:txBody>
          <a:bodyPr/>
          <a:lstStyle/>
          <a:p>
            <a:r>
              <a:rPr lang="en-US" dirty="0"/>
              <a:t>Manifold Learning</a:t>
            </a:r>
          </a:p>
        </p:txBody>
      </p:sp>
      <p:pic>
        <p:nvPicPr>
          <p:cNvPr id="4" name="Content Placeholder 4"/>
          <p:cNvPicPr>
            <a:picLocks noChangeAspect="1"/>
          </p:cNvPicPr>
          <p:nvPr/>
        </p:nvPicPr>
        <p:blipFill>
          <a:blip r:embed="rId2"/>
          <a:stretch>
            <a:fillRect/>
          </a:stretch>
        </p:blipFill>
        <p:spPr>
          <a:xfrm>
            <a:off x="7596877" y="2357408"/>
            <a:ext cx="2862230" cy="3662919"/>
          </a:xfrm>
          <a:prstGeom prst="rect">
            <a:avLst/>
          </a:prstGeom>
        </p:spPr>
      </p:pic>
    </p:spTree>
    <p:extLst>
      <p:ext uri="{BB962C8B-B14F-4D97-AF65-F5344CB8AC3E}">
        <p14:creationId xmlns:p14="http://schemas.microsoft.com/office/powerpoint/2010/main" val="3782731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l="37031" r="24502"/>
          <a:stretch/>
        </p:blipFill>
        <p:spPr>
          <a:xfrm>
            <a:off x="4998720" y="1357061"/>
            <a:ext cx="3393440" cy="4528054"/>
          </a:xfrm>
          <a:prstGeom prst="rect">
            <a:avLst/>
          </a:prstGeom>
        </p:spPr>
      </p:pic>
      <p:sp>
        <p:nvSpPr>
          <p:cNvPr id="3" name="Title 2"/>
          <p:cNvSpPr>
            <a:spLocks noGrp="1"/>
          </p:cNvSpPr>
          <p:nvPr>
            <p:ph type="title"/>
          </p:nvPr>
        </p:nvSpPr>
        <p:spPr/>
        <p:txBody>
          <a:bodyPr/>
          <a:lstStyle/>
          <a:p>
            <a:r>
              <a:rPr lang="en-US" dirty="0"/>
              <a:t>Manifold learning</a:t>
            </a:r>
          </a:p>
        </p:txBody>
      </p:sp>
    </p:spTree>
    <p:extLst>
      <p:ext uri="{BB962C8B-B14F-4D97-AF65-F5344CB8AC3E}">
        <p14:creationId xmlns:p14="http://schemas.microsoft.com/office/powerpoint/2010/main" val="1695378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731964" y="1357061"/>
            <a:ext cx="8821737" cy="4528054"/>
          </a:xfrm>
          <a:prstGeom prst="rect">
            <a:avLst/>
          </a:prstGeom>
        </p:spPr>
      </p:pic>
      <p:sp>
        <p:nvSpPr>
          <p:cNvPr id="3" name="Title 2"/>
          <p:cNvSpPr>
            <a:spLocks noGrp="1"/>
          </p:cNvSpPr>
          <p:nvPr>
            <p:ph type="title"/>
          </p:nvPr>
        </p:nvSpPr>
        <p:spPr/>
        <p:txBody>
          <a:bodyPr/>
          <a:lstStyle/>
          <a:p>
            <a:r>
              <a:rPr lang="en-US" dirty="0"/>
              <a:t>Manifold learning</a:t>
            </a:r>
          </a:p>
        </p:txBody>
      </p:sp>
    </p:spTree>
    <p:extLst>
      <p:ext uri="{BB962C8B-B14F-4D97-AF65-F5344CB8AC3E}">
        <p14:creationId xmlns:p14="http://schemas.microsoft.com/office/powerpoint/2010/main" val="253691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732344" y="1064871"/>
                <a:ext cx="8821356" cy="5522360"/>
              </a:xfrm>
            </p:spPr>
            <p:txBody>
              <a:bodyPr/>
              <a:lstStyle/>
              <a:p>
                <a:r>
                  <a:rPr lang="en-US" dirty="0"/>
                  <a:t>Unlabeled data to be analyzed: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𝑛</m:t>
                        </m:r>
                      </m:sub>
                    </m:sSub>
                  </m:oMath>
                </a14:m>
                <a:endParaRPr lang="en-US" dirty="0"/>
              </a:p>
              <a:p>
                <a:r>
                  <a:rPr lang="en-US" dirty="0"/>
                  <a:t>Assume relationships between data points are captured entirely by a </a:t>
                </a:r>
                <a:r>
                  <a:rPr lang="en-US" i="1" dirty="0"/>
                  <a:t>similarity graph</a:t>
                </a:r>
              </a:p>
              <a:p>
                <a:r>
                  <a:rPr lang="en-US" dirty="0"/>
                  <a:t>Similarity graphs are defined by an</a:t>
                </a:r>
                <a:r>
                  <a:rPr lang="en-US" i="1" dirty="0"/>
                  <a:t> affinity matrix</a:t>
                </a:r>
              </a:p>
              <a:p>
                <a:pPr marL="0" indent="0">
                  <a:buNone/>
                </a:pPr>
                <a:endParaRPr lang="en-US" i="1"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𝑤</m:t>
                                    </m:r>
                                  </m:e>
                                  <m:sub>
                                    <m:r>
                                      <m:rPr>
                                        <m:brk m:alnAt="7"/>
                                      </m:rPr>
                                      <a:rPr lang="en-US" b="0" i="1" smtClean="0">
                                        <a:latin typeface="Cambria Math" panose="02040503050406030204" pitchFamily="18" charset="0"/>
                                      </a:rPr>
                                      <m:t>1</m:t>
                                    </m:r>
                                    <m:r>
                                      <a:rPr lang="en-US" b="0" i="1" smtClean="0">
                                        <a:latin typeface="Cambria Math" panose="02040503050406030204" pitchFamily="18" charset="0"/>
                                      </a:rPr>
                                      <m:t>1</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r>
                                      <a:rPr lang="en-US" b="0" i="1" smtClean="0">
                                        <a:latin typeface="Cambria Math" panose="02040503050406030204" pitchFamily="18" charset="0"/>
                                      </a:rPr>
                                      <m:t>𝑛</m:t>
                                    </m:r>
                                  </m:sub>
                                </m:sSub>
                              </m:e>
                            </m:mr>
                            <m:mr>
                              <m:e>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e>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𝑛𝑛</m:t>
                                    </m:r>
                                  </m:sub>
                                </m:sSub>
                              </m:e>
                            </m:mr>
                          </m:m>
                        </m:e>
                      </m:d>
                    </m:oMath>
                  </m:oMathPara>
                </a14:m>
                <a:endParaRPr lang="en-US" dirty="0"/>
              </a:p>
              <a:p>
                <a:r>
                  <a:rPr lang="en-US" dirty="0"/>
                  <a:t>Weights are nonnegative, symmetric:</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𝑖𝑗</m:t>
                          </m:r>
                        </m:sub>
                      </m:sSub>
                      <m:r>
                        <a:rPr lang="en-US" b="0" i="1" smtClean="0">
                          <a:latin typeface="Cambria Math" panose="02040503050406030204" pitchFamily="18" charset="0"/>
                        </a:rPr>
                        <m: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𝑗𝑖</m:t>
                          </m:r>
                        </m:sub>
                      </m:sSub>
                    </m:oMath>
                  </m:oMathPara>
                </a14:m>
                <a:endParaRPr lang="en-US" dirty="0"/>
              </a:p>
              <a:p>
                <a:r>
                  <a:rPr lang="en-US" dirty="0"/>
                  <a:t>Associated graph: Nodes </a:t>
                </a:r>
                <a14:m>
                  <m:oMath xmlns:m="http://schemas.openxmlformats.org/officeDocument/2006/math">
                    <m:r>
                      <a:rPr lang="en-US" b="0" i="1" smtClean="0">
                        <a:latin typeface="Cambria Math" panose="02040503050406030204" pitchFamily="18" charset="0"/>
                      </a:rPr>
                      <m:t>𝑖</m:t>
                    </m:r>
                  </m:oMath>
                </a14:m>
                <a:r>
                  <a:rPr lang="en-US" dirty="0"/>
                  <a:t> and </a:t>
                </a:r>
                <a14:m>
                  <m:oMath xmlns:m="http://schemas.openxmlformats.org/officeDocument/2006/math">
                    <m:r>
                      <a:rPr lang="en-US" b="0" i="1" smtClean="0">
                        <a:latin typeface="Cambria Math" panose="02040503050406030204" pitchFamily="18" charset="0"/>
                      </a:rPr>
                      <m:t>𝑗</m:t>
                    </m:r>
                  </m:oMath>
                </a14:m>
                <a:r>
                  <a:rPr lang="en-US" dirty="0"/>
                  <a:t> are connected </a:t>
                </a:r>
                <a:r>
                  <a:rPr lang="en-US" dirty="0" err="1"/>
                  <a:t>iff</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𝑖𝑗</m:t>
                        </m:r>
                      </m:sub>
                    </m:sSub>
                    <m:r>
                      <a:rPr lang="en-US" b="0" i="1" smtClean="0">
                        <a:latin typeface="Cambria Math" panose="02040503050406030204" pitchFamily="18" charset="0"/>
                      </a:rPr>
                      <m:t>&gt;0</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𝑖𝑗</m:t>
                        </m:r>
                      </m:sub>
                    </m:sSub>
                  </m:oMath>
                </a14:m>
                <a:r>
                  <a:rPr lang="en-US" dirty="0"/>
                  <a:t> are the edge weights</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732344" y="1064871"/>
                <a:ext cx="8821356" cy="5522360"/>
              </a:xfrm>
              <a:blipFill>
                <a:blip r:embed="rId2"/>
                <a:stretch>
                  <a:fillRect l="-622" t="-552"/>
                </a:stretch>
              </a:blipFill>
            </p:spPr>
            <p:txBody>
              <a:bodyPr/>
              <a:lstStyle/>
              <a:p>
                <a:r>
                  <a:rPr lang="en-US">
                    <a:noFill/>
                  </a:rPr>
                  <a:t> </a:t>
                </a:r>
              </a:p>
            </p:txBody>
          </p:sp>
        </mc:Fallback>
      </mc:AlternateContent>
      <p:sp>
        <p:nvSpPr>
          <p:cNvPr id="3" name="Title 2"/>
          <p:cNvSpPr>
            <a:spLocks noGrp="1"/>
          </p:cNvSpPr>
          <p:nvPr>
            <p:ph type="title"/>
          </p:nvPr>
        </p:nvSpPr>
        <p:spPr>
          <a:xfrm>
            <a:off x="700635" y="11430"/>
            <a:ext cx="10691265" cy="1307592"/>
          </a:xfrm>
        </p:spPr>
        <p:txBody>
          <a:bodyPr/>
          <a:lstStyle/>
          <a:p>
            <a:r>
              <a:rPr lang="en-US" dirty="0"/>
              <a:t>Similarity Graphs</a:t>
            </a:r>
          </a:p>
        </p:txBody>
      </p:sp>
    </p:spTree>
    <p:extLst>
      <p:ext uri="{BB962C8B-B14F-4D97-AF65-F5344CB8AC3E}">
        <p14:creationId xmlns:p14="http://schemas.microsoft.com/office/powerpoint/2010/main" val="153213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p:cNvSpPr>
                <a:spLocks noGrp="1"/>
              </p:cNvSpPr>
              <p:nvPr>
                <p:ph idx="1"/>
              </p:nvPr>
            </p:nvSpPr>
            <p:spPr>
              <a:xfrm>
                <a:off x="1732344" y="1064871"/>
                <a:ext cx="8821356" cy="5566748"/>
              </a:xfrm>
            </p:spPr>
            <p:txBody>
              <a:bodyPr/>
              <a:lstStyle/>
              <a:p>
                <a:r>
                  <a:rPr lang="en-US" dirty="0"/>
                  <a:t>Similarity graphs are defined by two things</a:t>
                </a:r>
              </a:p>
              <a:p>
                <a:r>
                  <a:rPr lang="en-US" b="1" dirty="0"/>
                  <a:t>Graph structure </a:t>
                </a:r>
                <a:r>
                  <a:rPr lang="en-US" dirty="0"/>
                  <a:t>(which edges are connected)</a:t>
                </a:r>
              </a:p>
              <a:p>
                <a:pPr lvl="1"/>
                <a:r>
                  <a:rPr lang="en-US" dirty="0"/>
                  <a:t>Examples</a:t>
                </a:r>
              </a:p>
              <a:p>
                <a:pPr lvl="2"/>
                <a14:m>
                  <m:oMath xmlns:m="http://schemas.openxmlformats.org/officeDocument/2006/math">
                    <m:r>
                      <a:rPr lang="en-US" b="0" i="1" smtClean="0">
                        <a:latin typeface="Cambria Math" panose="02040503050406030204" pitchFamily="18" charset="0"/>
                      </a:rPr>
                      <m:t>𝑘</m:t>
                    </m:r>
                  </m:oMath>
                </a14:m>
                <a:r>
                  <a:rPr lang="en-US" dirty="0"/>
                  <a:t>-</a:t>
                </a:r>
                <a:r>
                  <a:rPr lang="en-US" dirty="0" err="1"/>
                  <a:t>nn</a:t>
                </a:r>
                <a:r>
                  <a:rPr lang="en-US" dirty="0"/>
                  <a:t> graph</a:t>
                </a:r>
              </a:p>
              <a:p>
                <a:pPr lvl="2"/>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oMath>
                </a14:m>
                <a:r>
                  <a:rPr lang="en-US" dirty="0"/>
                  <a:t>ball graph</a:t>
                </a:r>
              </a:p>
              <a:p>
                <a:pPr lvl="2"/>
                <a:r>
                  <a:rPr lang="en-US" dirty="0"/>
                  <a:t>Complete graph</a:t>
                </a:r>
              </a:p>
              <a:p>
                <a:r>
                  <a:rPr lang="en-US" b="1" dirty="0"/>
                  <a:t>Weights</a:t>
                </a:r>
              </a:p>
              <a:p>
                <a:pPr lvl="1"/>
                <a:r>
                  <a:rPr lang="en-US" dirty="0"/>
                  <a:t>Examples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den>
                            </m:f>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𝑗</m:t>
                                        </m:r>
                                      </m:sub>
                                    </m:sSub>
                                  </m:e>
                                </m:d>
                              </m:e>
                              <m:sup>
                                <m:r>
                                  <a:rPr lang="en-US" b="0" i="1" smtClean="0">
                                    <a:latin typeface="Cambria Math" panose="02040503050406030204" pitchFamily="18" charset="0"/>
                                  </a:rPr>
                                  <m:t>2</m:t>
                                </m:r>
                              </m:sup>
                            </m:sSup>
                          </m:e>
                        </m:d>
                      </m:e>
                    </m:func>
                  </m:oMath>
                </a14:m>
                <a:endParaRPr lang="en-US" b="0" i="1" dirty="0">
                  <a:latin typeface="Cambria Math" panose="02040503050406030204" pitchFamily="18" charset="0"/>
                </a:endParaRP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m:rPr>
                                  <m:nor/>
                                </m:rPr>
                                <a:rPr lang="en-US" b="0" i="0" smtClean="0">
                                  <a:latin typeface="Cambria Math" panose="02040503050406030204" pitchFamily="18" charset="0"/>
                                </a:rPr>
                                <m:t>if</m:t>
                              </m:r>
                              <m:r>
                                <a:rPr lang="en-US" b="0" i="1" smtClean="0">
                                  <a:latin typeface="Cambria Math" panose="02040503050406030204" pitchFamily="18" charset="0"/>
                                </a:rPr>
                                <m:t> ∃ </m:t>
                              </m:r>
                              <m:r>
                                <m:rPr>
                                  <m:nor/>
                                </m:rPr>
                                <a:rPr lang="en-US" b="0" i="0" smtClean="0">
                                  <a:latin typeface="Cambria Math" panose="02040503050406030204" pitchFamily="18" charset="0"/>
                                </a:rPr>
                                <m:t>an</m:t>
                              </m:r>
                              <m:r>
                                <m:rPr>
                                  <m:nor/>
                                </m:rPr>
                                <a:rPr lang="en-US" b="0" i="0" smtClean="0">
                                  <a:latin typeface="Cambria Math" panose="02040503050406030204" pitchFamily="18" charset="0"/>
                                </a:rPr>
                                <m:t> </m:t>
                              </m:r>
                              <m:r>
                                <m:rPr>
                                  <m:nor/>
                                </m:rPr>
                                <a:rPr lang="en-US" b="0" i="0" smtClean="0">
                                  <a:latin typeface="Cambria Math" panose="02040503050406030204" pitchFamily="18" charset="0"/>
                                </a:rPr>
                                <m:t>edge</m:t>
                              </m:r>
                              <m:r>
                                <m:rPr>
                                  <m:nor/>
                                </m:rPr>
                                <a:rPr lang="en-US" b="0" i="0" smtClean="0">
                                  <a:latin typeface="Cambria Math" panose="02040503050406030204" pitchFamily="18" charset="0"/>
                                </a:rPr>
                                <m:t> </m:t>
                              </m:r>
                              <m:r>
                                <m:rPr>
                                  <m:nor/>
                                </m:rPr>
                                <a:rPr lang="en-US" b="0" i="0" smtClean="0">
                                  <a:latin typeface="Cambria Math" panose="02040503050406030204" pitchFamily="18" charset="0"/>
                                </a:rPr>
                                <m:t>between</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nodes</m:t>
                              </m:r>
                              <m:r>
                                <m:rPr>
                                  <m:nor/>
                                </m:rPr>
                                <a:rPr lang="en-US" b="0" i="0"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a:rPr lang="en-US" b="0" i="1" smtClean="0">
                                  <a:latin typeface="Cambria Math" panose="02040503050406030204" pitchFamily="18" charset="0"/>
                                </a:rPr>
                                <m:t>𝑗</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otherwise</m:t>
                              </m:r>
                            </m:e>
                          </m:mr>
                        </m:m>
                      </m:e>
                    </m:d>
                  </m:oMath>
                </a14:m>
                <a:endParaRPr lang="en-US" dirty="0"/>
              </a:p>
            </p:txBody>
          </p:sp>
        </mc:Choice>
        <mc:Fallback>
          <p:sp>
            <p:nvSpPr>
              <p:cNvPr id="2" name="Content Placeholder 1"/>
              <p:cNvSpPr>
                <a:spLocks noGrp="1" noRot="1" noChangeAspect="1" noMove="1" noResize="1" noEditPoints="1" noAdjustHandles="1" noChangeArrowheads="1" noChangeShapeType="1" noTextEdit="1"/>
              </p:cNvSpPr>
              <p:nvPr>
                <p:ph idx="1"/>
              </p:nvPr>
            </p:nvSpPr>
            <p:spPr>
              <a:xfrm>
                <a:off x="1732344" y="1064871"/>
                <a:ext cx="8821356" cy="5566748"/>
              </a:xfrm>
              <a:blipFill>
                <a:blip r:embed="rId3"/>
                <a:stretch>
                  <a:fillRect l="-622" t="-548"/>
                </a:stretch>
              </a:blipFill>
            </p:spPr>
            <p:txBody>
              <a:bodyPr/>
              <a:lstStyle/>
              <a:p>
                <a:r>
                  <a:rPr lang="en-US">
                    <a:noFill/>
                  </a:rPr>
                  <a:t> </a:t>
                </a:r>
              </a:p>
            </p:txBody>
          </p:sp>
        </mc:Fallback>
      </mc:AlternateContent>
      <p:sp>
        <p:nvSpPr>
          <p:cNvPr id="3" name="Title 2"/>
          <p:cNvSpPr>
            <a:spLocks noGrp="1"/>
          </p:cNvSpPr>
          <p:nvPr>
            <p:ph type="title"/>
          </p:nvPr>
        </p:nvSpPr>
        <p:spPr>
          <a:xfrm>
            <a:off x="700635" y="125128"/>
            <a:ext cx="10691265" cy="1307592"/>
          </a:xfrm>
        </p:spPr>
        <p:txBody>
          <a:bodyPr/>
          <a:lstStyle/>
          <a:p>
            <a:r>
              <a:rPr lang="en-US" dirty="0"/>
              <a:t>Similarity Graphs</a:t>
            </a:r>
          </a:p>
        </p:txBody>
      </p:sp>
      <p:pic>
        <p:nvPicPr>
          <p:cNvPr id="4" name="Picture 3"/>
          <p:cNvPicPr>
            <a:picLocks noChangeAspect="1"/>
          </p:cNvPicPr>
          <p:nvPr/>
        </p:nvPicPr>
        <p:blipFill>
          <a:blip r:embed="rId4"/>
          <a:stretch>
            <a:fillRect/>
          </a:stretch>
        </p:blipFill>
        <p:spPr>
          <a:xfrm>
            <a:off x="7174264" y="1172810"/>
            <a:ext cx="3886200" cy="2964876"/>
          </a:xfrm>
          <a:prstGeom prst="rect">
            <a:avLst/>
          </a:prstGeom>
        </p:spPr>
      </p:pic>
      <p:sp>
        <p:nvSpPr>
          <p:cNvPr id="5" name="TextBox 4"/>
          <p:cNvSpPr txBox="1"/>
          <p:nvPr/>
        </p:nvSpPr>
        <p:spPr>
          <a:xfrm>
            <a:off x="7948827" y="4584338"/>
            <a:ext cx="2337073" cy="369332"/>
          </a:xfrm>
          <a:prstGeom prst="rect">
            <a:avLst/>
          </a:prstGeom>
          <a:noFill/>
        </p:spPr>
        <p:txBody>
          <a:bodyPr wrap="square" rtlCol="0">
            <a:spAutoFit/>
          </a:bodyPr>
          <a:lstStyle/>
          <a:p>
            <a:pPr algn="ctr"/>
            <a:r>
              <a:rPr lang="en-US" dirty="0"/>
              <a:t>11-nn graph</a:t>
            </a:r>
          </a:p>
        </p:txBody>
      </p:sp>
    </p:spTree>
    <p:extLst>
      <p:ext uri="{BB962C8B-B14F-4D97-AF65-F5344CB8AC3E}">
        <p14:creationId xmlns:p14="http://schemas.microsoft.com/office/powerpoint/2010/main" val="936738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p:cNvSpPr>
                <a:spLocks noGrp="1"/>
              </p:cNvSpPr>
              <p:nvPr>
                <p:ph idx="1"/>
              </p:nvPr>
            </p:nvSpPr>
            <p:spPr>
              <a:xfrm>
                <a:off x="1135578" y="1917581"/>
                <a:ext cx="5086032" cy="5112092"/>
              </a:xfrm>
            </p:spPr>
            <p:txBody>
              <a:bodyPr/>
              <a:lstStyle/>
              <a:p>
                <a:pPr marL="514350" indent="-514350">
                  <a:buFont typeface="+mj-lt"/>
                  <a:buAutoNum type="arabicPeriod"/>
                </a:pPr>
                <a:r>
                  <a:rPr lang="en-US" dirty="0"/>
                  <a:t>Construct a neighborhood graph on the data</a:t>
                </a:r>
              </a:p>
              <a:p>
                <a:pPr lvl="1"/>
                <a:r>
                  <a:rPr lang="en-US" dirty="0"/>
                  <a:t>E.g. </a:t>
                </a:r>
                <a14:m>
                  <m:oMath xmlns:m="http://schemas.openxmlformats.org/officeDocument/2006/math">
                    <m:r>
                      <a:rPr lang="en-US" b="0" i="1" smtClean="0">
                        <a:latin typeface="Cambria Math" panose="02040503050406030204" pitchFamily="18" charset="0"/>
                      </a:rPr>
                      <m:t>𝑘</m:t>
                    </m:r>
                  </m:oMath>
                </a14:m>
                <a:r>
                  <a:rPr lang="en-US" dirty="0"/>
                  <a:t>-</a:t>
                </a:r>
                <a:r>
                  <a:rPr lang="en-US" dirty="0" err="1"/>
                  <a:t>nn</a:t>
                </a:r>
                <a:r>
                  <a:rPr lang="en-US" dirty="0"/>
                  <a:t> or </a:t>
                </a:r>
                <a14:m>
                  <m:oMath xmlns:m="http://schemas.openxmlformats.org/officeDocument/2006/math">
                    <m:r>
                      <a:rPr lang="en-US" b="0" i="1" smtClean="0">
                        <a:latin typeface="Cambria Math" panose="02040503050406030204" pitchFamily="18" charset="0"/>
                      </a:rPr>
                      <m:t>𝜖</m:t>
                    </m:r>
                  </m:oMath>
                </a14:m>
                <a:r>
                  <a:rPr lang="en-US" dirty="0"/>
                  <a:t>-ball graph</a:t>
                </a:r>
              </a:p>
              <a:p>
                <a:pPr marL="514350" indent="-514350">
                  <a:buFont typeface="+mj-lt"/>
                  <a:buAutoNum type="arabicPeriod"/>
                </a:pPr>
                <a:r>
                  <a:rPr lang="en-US" dirty="0"/>
                  <a:t>Compute the shortest path along the graph between all pairs of points</a:t>
                </a:r>
              </a:p>
              <a:p>
                <a:pPr lvl="1"/>
                <a:r>
                  <a:rPr lang="en-US" dirty="0"/>
                  <a:t>The length of these paths is the geodesic distance</a:t>
                </a:r>
              </a:p>
              <a:p>
                <a:pPr marL="514350" indent="-514350">
                  <a:buFont typeface="+mj-lt"/>
                  <a:buAutoNum type="arabicPeriod"/>
                </a:pPr>
                <a:r>
                  <a:rPr lang="en-US" dirty="0"/>
                  <a:t>Embed the distances into low-dimensions using MDS</a:t>
                </a:r>
              </a:p>
            </p:txBody>
          </p:sp>
        </mc:Choice>
        <mc:Fallback>
          <p:sp>
            <p:nvSpPr>
              <p:cNvPr id="2" name="Content Placeholder 1"/>
              <p:cNvSpPr>
                <a:spLocks noGrp="1" noRot="1" noChangeAspect="1" noMove="1" noResize="1" noEditPoints="1" noAdjustHandles="1" noChangeArrowheads="1" noChangeShapeType="1" noTextEdit="1"/>
              </p:cNvSpPr>
              <p:nvPr>
                <p:ph idx="1"/>
              </p:nvPr>
            </p:nvSpPr>
            <p:spPr>
              <a:xfrm>
                <a:off x="1135578" y="1917581"/>
                <a:ext cx="5086032" cy="5112092"/>
              </a:xfrm>
              <a:blipFill>
                <a:blip r:embed="rId2"/>
                <a:stretch>
                  <a:fillRect l="-1198" t="-597"/>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ISOMAP</a:t>
            </a:r>
          </a:p>
        </p:txBody>
      </p:sp>
      <p:pic>
        <p:nvPicPr>
          <p:cNvPr id="1026" name="Picture 2" descr="https://www.deeplearningitalia.com/wp-content/uploads/2017/11/i1-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1362" y="1917581"/>
            <a:ext cx="3846639" cy="2955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530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b="1" dirty="0"/>
                  <a:t>Weakness</a:t>
                </a:r>
                <a:r>
                  <a:rPr lang="en-US" dirty="0"/>
                  <a:t>: ISOMAP is sensitive to spurious connections</a:t>
                </a:r>
              </a:p>
              <a:p>
                <a:pPr lvl="1"/>
                <a:r>
                  <a:rPr lang="en-US" dirty="0"/>
                  <a:t>Noise or too large of </a:t>
                </a:r>
                <a14:m>
                  <m:oMath xmlns:m="http://schemas.openxmlformats.org/officeDocument/2006/math">
                    <m:r>
                      <a:rPr lang="en-US" b="0" i="1" smtClean="0">
                        <a:latin typeface="Cambria Math" panose="02040503050406030204" pitchFamily="18" charset="0"/>
                      </a:rPr>
                      <m:t>𝑘</m:t>
                    </m:r>
                  </m:oMath>
                </a14:m>
                <a:r>
                  <a:rPr lang="en-US" dirty="0"/>
                  <a:t> may lead to exits from the manifold</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1244" t="-2029"/>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ISOMAP</a:t>
            </a:r>
          </a:p>
        </p:txBody>
      </p:sp>
      <p:pic>
        <p:nvPicPr>
          <p:cNvPr id="4" name="Picture 3"/>
          <p:cNvPicPr>
            <a:picLocks noChangeAspect="1"/>
          </p:cNvPicPr>
          <p:nvPr/>
        </p:nvPicPr>
        <p:blipFill>
          <a:blip r:embed="rId3"/>
          <a:stretch>
            <a:fillRect/>
          </a:stretch>
        </p:blipFill>
        <p:spPr>
          <a:xfrm>
            <a:off x="7732393" y="2978724"/>
            <a:ext cx="3886200" cy="2964876"/>
          </a:xfrm>
          <a:prstGeom prst="rect">
            <a:avLst/>
          </a:prstGeom>
        </p:spPr>
      </p:pic>
    </p:spTree>
    <p:extLst>
      <p:ext uri="{BB962C8B-B14F-4D97-AF65-F5344CB8AC3E}">
        <p14:creationId xmlns:p14="http://schemas.microsoft.com/office/powerpoint/2010/main" val="162654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00635" y="1856232"/>
            <a:ext cx="10691265" cy="3739896"/>
          </a:xfrm>
        </p:spPr>
        <p:txBody>
          <a:bodyPr/>
          <a:lstStyle/>
          <a:p>
            <a:r>
              <a:rPr lang="en-US" dirty="0"/>
              <a:t>Direct embedding of the graph structure</a:t>
            </a:r>
          </a:p>
          <a:p>
            <a:r>
              <a:rPr lang="en-US" dirty="0"/>
              <a:t>Based on an </a:t>
            </a:r>
            <a:r>
              <a:rPr lang="en-US" dirty="0" err="1"/>
              <a:t>eigendecomposition</a:t>
            </a:r>
            <a:r>
              <a:rPr lang="en-US" dirty="0"/>
              <a:t> of the (normalized) graph Laplacian</a:t>
            </a:r>
          </a:p>
          <a:p>
            <a:r>
              <a:rPr lang="en-US" dirty="0"/>
              <a:t>Works for clustering, but may not preserve local structure well</a:t>
            </a:r>
          </a:p>
          <a:p>
            <a:endParaRPr lang="en-US" dirty="0"/>
          </a:p>
        </p:txBody>
      </p:sp>
      <p:sp>
        <p:nvSpPr>
          <p:cNvPr id="3" name="Title 2"/>
          <p:cNvSpPr>
            <a:spLocks noGrp="1"/>
          </p:cNvSpPr>
          <p:nvPr>
            <p:ph type="title"/>
          </p:nvPr>
        </p:nvSpPr>
        <p:spPr/>
        <p:txBody>
          <a:bodyPr/>
          <a:lstStyle/>
          <a:p>
            <a:r>
              <a:rPr lang="en-US" dirty="0"/>
              <a:t>Laplacian </a:t>
            </a:r>
            <a:r>
              <a:rPr lang="en-US" dirty="0" err="1"/>
              <a:t>Eigenmaps</a:t>
            </a:r>
            <a:endParaRPr lang="en-US" dirty="0"/>
          </a:p>
        </p:txBody>
      </p:sp>
      <p:pic>
        <p:nvPicPr>
          <p:cNvPr id="4" name="Picture 3"/>
          <p:cNvPicPr>
            <a:picLocks noChangeAspect="1"/>
          </p:cNvPicPr>
          <p:nvPr/>
        </p:nvPicPr>
        <p:blipFill>
          <a:blip r:embed="rId2"/>
          <a:stretch>
            <a:fillRect/>
          </a:stretch>
        </p:blipFill>
        <p:spPr>
          <a:xfrm>
            <a:off x="6247764" y="3334673"/>
            <a:ext cx="5071727" cy="2848903"/>
          </a:xfrm>
          <a:prstGeom prst="rect">
            <a:avLst/>
          </a:prstGeom>
        </p:spPr>
      </p:pic>
      <p:pic>
        <p:nvPicPr>
          <p:cNvPr id="5" name="Picture 4"/>
          <p:cNvPicPr>
            <a:picLocks noChangeAspect="1"/>
          </p:cNvPicPr>
          <p:nvPr/>
        </p:nvPicPr>
        <p:blipFill>
          <a:blip r:embed="rId3"/>
          <a:stretch>
            <a:fillRect/>
          </a:stretch>
        </p:blipFill>
        <p:spPr>
          <a:xfrm>
            <a:off x="1039528" y="3332066"/>
            <a:ext cx="3737607" cy="2851511"/>
          </a:xfrm>
          <a:prstGeom prst="rect">
            <a:avLst/>
          </a:prstGeom>
        </p:spPr>
      </p:pic>
      <p:sp>
        <p:nvSpPr>
          <p:cNvPr id="6" name="Right Arrow 5"/>
          <p:cNvSpPr/>
          <p:nvPr/>
        </p:nvSpPr>
        <p:spPr>
          <a:xfrm>
            <a:off x="4627991" y="4762813"/>
            <a:ext cx="1232985" cy="5007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3334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idx="1"/>
          </p:nvPr>
        </p:nvSpPr>
        <p:spPr/>
        <p:txBody>
          <a:bodyPr/>
          <a:lstStyle/>
          <a:p>
            <a:r>
              <a:rPr lang="en-US" dirty="0"/>
              <a:t>More robust than ISOMAP</a:t>
            </a:r>
          </a:p>
        </p:txBody>
      </p:sp>
      <p:sp>
        <p:nvSpPr>
          <p:cNvPr id="3" name="Title 2"/>
          <p:cNvSpPr>
            <a:spLocks noGrp="1"/>
          </p:cNvSpPr>
          <p:nvPr>
            <p:ph type="title"/>
          </p:nvPr>
        </p:nvSpPr>
        <p:spPr/>
        <p:txBody>
          <a:bodyPr/>
          <a:lstStyle/>
          <a:p>
            <a:r>
              <a:rPr lang="en-US" dirty="0"/>
              <a:t>Diffusion Maps</a:t>
            </a:r>
          </a:p>
        </p:txBody>
      </p:sp>
    </p:spTree>
    <p:extLst>
      <p:ext uri="{BB962C8B-B14F-4D97-AF65-F5344CB8AC3E}">
        <p14:creationId xmlns:p14="http://schemas.microsoft.com/office/powerpoint/2010/main" val="3918004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Capturing local neighborhoods</a:t>
            </a:r>
          </a:p>
        </p:txBody>
      </p:sp>
      <p:pic>
        <p:nvPicPr>
          <p:cNvPr id="6" name="Content Placeholder 5"/>
          <p:cNvPicPr>
            <a:picLocks noChangeAspect="1"/>
          </p:cNvPicPr>
          <p:nvPr/>
        </p:nvPicPr>
        <p:blipFill>
          <a:blip r:embed="rId3"/>
          <a:srcRect l="-22636" r="-22636"/>
          <a:stretch>
            <a:fillRect/>
          </a:stretch>
        </p:blipFill>
        <p:spPr>
          <a:xfrm>
            <a:off x="1981200" y="996206"/>
            <a:ext cx="8229600" cy="4525963"/>
          </a:xfrm>
          <a:prstGeom prst="rect">
            <a:avLst/>
          </a:prstGeom>
        </p:spPr>
      </p:pic>
      <p:cxnSp>
        <p:nvCxnSpPr>
          <p:cNvPr id="7" name="Straight Arrow Connector 6"/>
          <p:cNvCxnSpPr/>
          <p:nvPr/>
        </p:nvCxnSpPr>
        <p:spPr>
          <a:xfrm>
            <a:off x="5939420" y="3161390"/>
            <a:ext cx="620888" cy="0"/>
          </a:xfrm>
          <a:prstGeom prst="straightConnector1">
            <a:avLst/>
          </a:prstGeom>
          <a:ln w="381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038199" y="2793282"/>
            <a:ext cx="397866" cy="584775"/>
          </a:xfrm>
          <a:prstGeom prst="rect">
            <a:avLst/>
          </a:prstGeom>
          <a:noFill/>
        </p:spPr>
        <p:txBody>
          <a:bodyPr wrap="none" rtlCol="0">
            <a:spAutoFit/>
          </a:bodyPr>
          <a:lstStyle/>
          <a:p>
            <a:r>
              <a:rPr lang="en-US" sz="3200" dirty="0"/>
              <a:t>x</a:t>
            </a:r>
          </a:p>
        </p:txBody>
      </p:sp>
      <p:cxnSp>
        <p:nvCxnSpPr>
          <p:cNvPr id="9" name="Straight Arrow Connector 8"/>
          <p:cNvCxnSpPr/>
          <p:nvPr/>
        </p:nvCxnSpPr>
        <p:spPr>
          <a:xfrm flipH="1">
            <a:off x="5502147" y="3191398"/>
            <a:ext cx="115342" cy="564968"/>
          </a:xfrm>
          <a:prstGeom prst="straightConnector1">
            <a:avLst/>
          </a:prstGeom>
          <a:ln w="38100" cmpd="sng">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51270" y="5296586"/>
            <a:ext cx="9408922" cy="461665"/>
          </a:xfrm>
          <a:prstGeom prst="rect">
            <a:avLst/>
          </a:prstGeom>
          <a:noFill/>
        </p:spPr>
        <p:txBody>
          <a:bodyPr wrap="none" rtlCol="0">
            <a:spAutoFit/>
          </a:bodyPr>
          <a:lstStyle/>
          <a:p>
            <a:pPr marL="285750" indent="-285750">
              <a:buFont typeface="Arial"/>
              <a:buChar char="•"/>
            </a:pPr>
            <a:r>
              <a:rPr lang="en-US" sz="2400" dirty="0"/>
              <a:t>Large Euclidean distance gives wrong global structure for visualizing</a:t>
            </a:r>
          </a:p>
        </p:txBody>
      </p:sp>
      <p:sp>
        <p:nvSpPr>
          <p:cNvPr id="11" name="Rectangle 10"/>
          <p:cNvSpPr/>
          <p:nvPr/>
        </p:nvSpPr>
        <p:spPr>
          <a:xfrm>
            <a:off x="1849744" y="5789643"/>
            <a:ext cx="4273927" cy="830997"/>
          </a:xfrm>
          <a:prstGeom prst="rect">
            <a:avLst/>
          </a:prstGeom>
        </p:spPr>
        <p:txBody>
          <a:bodyPr wrap="none">
            <a:spAutoFit/>
          </a:bodyPr>
          <a:lstStyle/>
          <a:p>
            <a:pPr marL="285750" indent="-285750">
              <a:buFont typeface="Arial"/>
              <a:buChar char="•"/>
            </a:pPr>
            <a:r>
              <a:rPr lang="en-US" sz="2400" dirty="0"/>
              <a:t>Small Euclidean distances ok</a:t>
            </a:r>
          </a:p>
          <a:p>
            <a:pPr marL="742950" lvl="1" indent="-285750">
              <a:buFont typeface="Arial"/>
              <a:buChar char="•"/>
            </a:pPr>
            <a:r>
              <a:rPr lang="en-US" sz="2400" dirty="0"/>
              <a:t>Encodes local structure</a:t>
            </a:r>
          </a:p>
        </p:txBody>
      </p:sp>
    </p:spTree>
    <p:extLst>
      <p:ext uri="{BB962C8B-B14F-4D97-AF65-F5344CB8AC3E}">
        <p14:creationId xmlns:p14="http://schemas.microsoft.com/office/powerpoint/2010/main" val="1189990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pPr marL="0" indent="0">
                  <a:buNone/>
                </a:pPr>
                <a:r>
                  <a:rPr lang="en-US" b="1" dirty="0"/>
                  <a:t>Affinity</a:t>
                </a:r>
                <a:r>
                  <a:rPr lang="en-US" dirty="0"/>
                  <a:t>: a measure of similarity between points</a:t>
                </a:r>
              </a:p>
              <a:p>
                <a:r>
                  <a:rPr lang="en-US" dirty="0"/>
                  <a:t>Step 1: Calculate all pairwise Euclidean distances</a:t>
                </a:r>
              </a:p>
              <a:p>
                <a:r>
                  <a:rPr lang="en-US" dirty="0"/>
                  <a:t>Step 2: Convert the distances to pairwise affinities using a kernel function</a:t>
                </a:r>
              </a:p>
              <a:p>
                <a:pPr lvl="1"/>
                <a:r>
                  <a:rPr lang="en-US" dirty="0"/>
                  <a:t>E.g. the Gaussian kernel: </a:t>
                </a:r>
                <a14:m>
                  <m:oMath xmlns:m="http://schemas.openxmlformats.org/officeDocument/2006/math">
                    <m:r>
                      <a:rPr lang="en-US" b="0" i="1" smtClean="0">
                        <a:latin typeface="Cambria Math" panose="02040503050406030204" pitchFamily="18" charset="0"/>
                      </a:rPr>
                      <m:t>𝑘</m:t>
                    </m:r>
                    <m:d>
                      <m:dPr>
                        <m:ctrlPr>
                          <a:rPr lang="en-US" b="0" i="1" smtClean="0">
                            <a:latin typeface="Cambria Math" panose="02040503050406030204" pitchFamily="18" charset="0"/>
                          </a:rPr>
                        </m:ctrlPr>
                      </m:dPr>
                      <m:e>
                        <m:r>
                          <a:rPr lang="en-US" b="1" i="1" smtClean="0">
                            <a:latin typeface="Cambria Math" panose="02040503050406030204" pitchFamily="18" charset="0"/>
                          </a:rPr>
                          <m:t>𝒙</m:t>
                        </m:r>
                        <m:r>
                          <a:rPr lang="en-US" b="0" i="1" smtClean="0">
                            <a:latin typeface="Cambria Math" panose="02040503050406030204" pitchFamily="18" charset="0"/>
                          </a:rPr>
                          <m:t>,</m:t>
                        </m:r>
                        <m:r>
                          <a:rPr lang="en-US" b="1" i="1" smtClean="0">
                            <a:latin typeface="Cambria Math" panose="02040503050406030204" pitchFamily="18" charset="0"/>
                          </a:rPr>
                          <m:t>𝒚</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1" i="1" smtClean="0">
                                            <a:latin typeface="Cambria Math" panose="02040503050406030204" pitchFamily="18" charset="0"/>
                                          </a:rPr>
                                          <m:t>𝒙</m:t>
                                        </m:r>
                                        <m:r>
                                          <a:rPr lang="en-US" b="0" i="1" smtClean="0">
                                            <a:latin typeface="Cambria Math" panose="02040503050406030204" pitchFamily="18" charset="0"/>
                                          </a:rPr>
                                          <m:t>−</m:t>
                                        </m:r>
                                        <m:r>
                                          <a:rPr lang="en-US" b="1" i="1" smtClean="0">
                                            <a:latin typeface="Cambria Math" panose="02040503050406030204" pitchFamily="18" charset="0"/>
                                          </a:rPr>
                                          <m:t>𝒚</m:t>
                                        </m:r>
                                      </m:e>
                                    </m:d>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den>
                            </m:f>
                          </m:e>
                        </m:d>
                      </m:e>
                    </m:func>
                  </m:oMath>
                </a14:m>
                <a:endParaRPr lang="en-US" dirty="0"/>
              </a:p>
              <a:p>
                <a:pPr lvl="1"/>
                <a:r>
                  <a:rPr lang="en-US" dirty="0"/>
                  <a:t>Kernel function must be near zero for large distances and nonzero for small distances</a:t>
                </a:r>
              </a:p>
              <a:p>
                <a:r>
                  <a:rPr lang="en-US" dirty="0"/>
                  <a:t>I.e. create a similarity graph</a:t>
                </a:r>
              </a:p>
              <a:p>
                <a:r>
                  <a:rPr lang="en-US" dirty="0"/>
                  <a:t>Assume we have data points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𝑛</m:t>
                        </m:r>
                      </m:sub>
                    </m:sSub>
                  </m:oMath>
                </a14:m>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1382" t="-2029" r="-1175"/>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From distances to affinities</a:t>
            </a:r>
          </a:p>
        </p:txBody>
      </p:sp>
    </p:spTree>
    <p:extLst>
      <p:ext uri="{BB962C8B-B14F-4D97-AF65-F5344CB8AC3E}">
        <p14:creationId xmlns:p14="http://schemas.microsoft.com/office/powerpoint/2010/main" val="347471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O:\work\simulations\trajectory_multi_dimensional_space\07112011\louvain_points.png"/>
          <p:cNvPicPr>
            <a:picLocks noChangeAspect="1" noChangeArrowheads="1"/>
          </p:cNvPicPr>
          <p:nvPr/>
        </p:nvPicPr>
        <p:blipFill>
          <a:blip r:embed="rId3" cstate="print"/>
          <a:srcRect t="-6034" b="-6034"/>
          <a:stretch>
            <a:fillRect/>
          </a:stretch>
        </p:blipFill>
        <p:spPr bwMode="auto">
          <a:xfrm>
            <a:off x="1981201" y="1600201"/>
            <a:ext cx="3617785" cy="4054366"/>
          </a:xfrm>
          <a:prstGeom prst="rect">
            <a:avLst/>
          </a:prstGeom>
          <a:noFill/>
          <a:ln w="9525">
            <a:noFill/>
            <a:miter lim="800000"/>
            <a:headEnd/>
            <a:tailEnd/>
          </a:ln>
        </p:spPr>
      </p:pic>
      <p:sp>
        <p:nvSpPr>
          <p:cNvPr id="4" name="Title 3"/>
          <p:cNvSpPr>
            <a:spLocks noGrp="1"/>
          </p:cNvSpPr>
          <p:nvPr>
            <p:ph type="title"/>
          </p:nvPr>
        </p:nvSpPr>
        <p:spPr/>
        <p:txBody>
          <a:bodyPr>
            <a:normAutofit/>
          </a:bodyPr>
          <a:lstStyle/>
          <a:p>
            <a:r>
              <a:rPr lang="en-US" sz="3600" dirty="0"/>
              <a:t>Diffusion Operator</a:t>
            </a:r>
            <a:endParaRPr lang="en-US" dirty="0"/>
          </a:p>
        </p:txBody>
      </p:sp>
      <p:pic>
        <p:nvPicPr>
          <p:cNvPr id="5" name="Picture 4"/>
          <p:cNvPicPr>
            <a:picLocks noChangeAspect="1"/>
          </p:cNvPicPr>
          <p:nvPr/>
        </p:nvPicPr>
        <p:blipFill>
          <a:blip r:embed="rId4"/>
          <a:stretch>
            <a:fillRect/>
          </a:stretch>
        </p:blipFill>
        <p:spPr>
          <a:xfrm>
            <a:off x="2764082" y="3753683"/>
            <a:ext cx="364537" cy="615800"/>
          </a:xfrm>
          <a:prstGeom prst="rect">
            <a:avLst/>
          </a:prstGeom>
        </p:spPr>
      </p:pic>
      <p:sp>
        <p:nvSpPr>
          <p:cNvPr id="7" name="Content Placeholder 3"/>
          <p:cNvSpPr>
            <a:spLocks noGrp="1"/>
          </p:cNvSpPr>
          <p:nvPr>
            <p:ph sz="half" idx="4294967295"/>
          </p:nvPr>
        </p:nvSpPr>
        <p:spPr>
          <a:xfrm>
            <a:off x="5822732" y="1282262"/>
            <a:ext cx="4923327" cy="5297214"/>
          </a:xfrm>
          <a:prstGeom prst="rect">
            <a:avLst/>
          </a:prstGeom>
        </p:spPr>
        <p:txBody>
          <a:bodyPr>
            <a:normAutofit/>
          </a:bodyPr>
          <a:lstStyle/>
          <a:p>
            <a:pPr marL="285750" indent="-285750"/>
            <a:r>
              <a:rPr lang="en-US" u="sng" dirty="0"/>
              <a:t>Big Euclidean steps bad</a:t>
            </a:r>
            <a:r>
              <a:rPr lang="en-US" dirty="0"/>
              <a:t>, likely to exit structure</a:t>
            </a:r>
          </a:p>
          <a:p>
            <a:pPr marL="285750" indent="-285750"/>
            <a:r>
              <a:rPr lang="en-US" u="sng" dirty="0"/>
              <a:t>Small steps good</a:t>
            </a:r>
            <a:r>
              <a:rPr lang="en-US" dirty="0"/>
              <a:t>, likely to stay within structure</a:t>
            </a:r>
          </a:p>
          <a:p>
            <a:pPr marL="285750" indent="-285750"/>
            <a:r>
              <a:rPr lang="en-US" dirty="0"/>
              <a:t>Shortest path (ISOMAP) is sensitive to outliers and spurious connections</a:t>
            </a:r>
          </a:p>
          <a:p>
            <a:pPr marL="285750" indent="-285750"/>
            <a:r>
              <a:rPr lang="en-US" b="1" dirty="0"/>
              <a:t>Solution</a:t>
            </a:r>
            <a:r>
              <a:rPr lang="en-US" dirty="0"/>
              <a:t>: consider all possible paths via random walks</a:t>
            </a:r>
          </a:p>
          <a:p>
            <a:pPr marL="285750" indent="-285750"/>
            <a:r>
              <a:rPr lang="en-US" dirty="0"/>
              <a:t>Can do this computationally cheaply using diffusion </a:t>
            </a:r>
          </a:p>
        </p:txBody>
      </p:sp>
    </p:spTree>
    <p:extLst>
      <p:ext uri="{BB962C8B-B14F-4D97-AF65-F5344CB8AC3E}">
        <p14:creationId xmlns:p14="http://schemas.microsoft.com/office/powerpoint/2010/main" val="3531272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20000"/>
              </a:bodyPr>
              <a:lstStyle/>
              <a:p>
                <a:r>
                  <a:rPr lang="en-US" dirty="0"/>
                  <a:t>Denote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sup>
                    </m:sSup>
                  </m:oMath>
                </a14:m>
                <a:r>
                  <a:rPr lang="en-US" dirty="0"/>
                  <a:t> as the pairwise affinity/kernel matrix</a:t>
                </a:r>
              </a:p>
              <a:p>
                <a:r>
                  <a:rPr lang="en-US" dirty="0"/>
                  <a:t>Construct the degree matrix </a:t>
                </a:r>
                <a14:m>
                  <m:oMath xmlns:m="http://schemas.openxmlformats.org/officeDocument/2006/math">
                    <m:r>
                      <a:rPr lang="en-US" b="0" i="1" smtClean="0">
                        <a:latin typeface="Cambria Math" panose="02040503050406030204" pitchFamily="18" charset="0"/>
                      </a:rPr>
                      <m:t>𝐷</m:t>
                    </m:r>
                  </m:oMath>
                </a14:m>
                <a:endParaRPr lang="en-US" dirty="0"/>
              </a:p>
              <a:p>
                <a:pPr lvl="1"/>
                <a:r>
                  <a:rPr lang="en-US" dirty="0"/>
                  <a:t>Sum the entries of each row and place along the diagonal</a:t>
                </a:r>
              </a:p>
              <a:p>
                <a:r>
                  <a:rPr lang="en-US" dirty="0"/>
                  <a:t>Normalize </a:t>
                </a:r>
                <a14:m>
                  <m:oMath xmlns:m="http://schemas.openxmlformats.org/officeDocument/2006/math">
                    <m:r>
                      <a:rPr lang="en-US" b="0" i="1" smtClean="0">
                        <a:latin typeface="Cambria Math" panose="02040503050406030204" pitchFamily="18" charset="0"/>
                      </a:rPr>
                      <m:t>𝐾</m:t>
                    </m:r>
                  </m:oMath>
                </a14:m>
                <a:r>
                  <a:rPr lang="en-US" dirty="0"/>
                  <a:t> by </a:t>
                </a:r>
                <a14:m>
                  <m:oMath xmlns:m="http://schemas.openxmlformats.org/officeDocument/2006/math">
                    <m:r>
                      <a:rPr lang="en-US" b="0" i="1" smtClean="0">
                        <a:latin typeface="Cambria Math" panose="02040503050406030204" pitchFamily="18" charset="0"/>
                      </a:rPr>
                      <m:t>𝐷</m:t>
                    </m:r>
                  </m:oMath>
                </a14:m>
                <a:r>
                  <a:rPr lang="en-US" dirty="0"/>
                  <a:t> to obtain the diffusion operator </a:t>
                </a:r>
                <a14:m>
                  <m:oMath xmlns:m="http://schemas.openxmlformats.org/officeDocument/2006/math">
                    <m:r>
                      <a:rPr lang="en-US" b="0" i="1" smtClean="0">
                        <a:latin typeface="Cambria Math" panose="02040503050406030204" pitchFamily="18" charset="0"/>
                      </a:rPr>
                      <m:t>𝑃</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𝐷</m:t>
                          </m:r>
                        </m:e>
                        <m:sup>
                          <m:r>
                            <a:rPr lang="en-US" b="0" i="1" smtClean="0">
                              <a:latin typeface="Cambria Math" panose="02040503050406030204" pitchFamily="18" charset="0"/>
                            </a:rPr>
                            <m:t>−1</m:t>
                          </m:r>
                        </m:sup>
                      </m:sSup>
                      <m:r>
                        <a:rPr lang="en-US" b="0" i="1" smtClean="0">
                          <a:latin typeface="Cambria Math" panose="02040503050406030204" pitchFamily="18" charset="0"/>
                        </a:rPr>
                        <m:t>𝐾</m:t>
                      </m:r>
                    </m:oMath>
                  </m:oMathPara>
                </a14:m>
                <a:endParaRPr lang="en-US" dirty="0"/>
              </a:p>
              <a:p>
                <a:r>
                  <a:rPr lang="en-US" dirty="0"/>
                  <a:t>Properties of </a:t>
                </a:r>
                <a14:m>
                  <m:oMath xmlns:m="http://schemas.openxmlformats.org/officeDocument/2006/math">
                    <m:r>
                      <a:rPr lang="en-US" b="0" i="1" smtClean="0">
                        <a:latin typeface="Cambria Math" panose="02040503050406030204" pitchFamily="18" charset="0"/>
                      </a:rPr>
                      <m:t>𝑃</m:t>
                    </m:r>
                  </m:oMath>
                </a14:m>
                <a:r>
                  <a:rPr lang="en-US" dirty="0"/>
                  <a:t>:</a:t>
                </a:r>
              </a:p>
              <a:p>
                <a:pPr lvl="1"/>
                <a:r>
                  <a:rPr lang="en-US" dirty="0"/>
                  <a:t>A normalized Graph Laplacian</a:t>
                </a:r>
              </a:p>
              <a:p>
                <a:pPr lvl="1"/>
                <a:r>
                  <a:rPr lang="en-US" dirty="0"/>
                  <a:t>All entries are nonnegative</a:t>
                </a:r>
              </a:p>
              <a:p>
                <a:pPr lvl="1"/>
                <a:r>
                  <a:rPr lang="en-US" dirty="0"/>
                  <a:t>Not symmetric</a:t>
                </a:r>
              </a:p>
              <a:p>
                <a:pPr lvl="1"/>
                <a:r>
                  <a:rPr lang="en-US" dirty="0"/>
                  <a:t>Row stochastic (each row sums to 1)</a:t>
                </a:r>
              </a:p>
              <a:p>
                <a:pPr lvl="1"/>
                <a:r>
                  <a:rPr lang="en-US" dirty="0"/>
                  <a:t>Forms a Markov transition matrix </a:t>
                </a:r>
              </a:p>
              <a:p>
                <a:pPr lvl="1"/>
                <a:endParaRPr lang="en-US" dirty="0"/>
              </a:p>
              <a:p>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456" t="-1794"/>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Diffusion Operator</a:t>
            </a:r>
          </a:p>
        </p:txBody>
      </p:sp>
    </p:spTree>
    <p:extLst>
      <p:ext uri="{BB962C8B-B14F-4D97-AF65-F5344CB8AC3E}">
        <p14:creationId xmlns:p14="http://schemas.microsoft.com/office/powerpoint/2010/main" val="328155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Used to model a system’s state over time</a:t>
            </a:r>
          </a:p>
          <a:p>
            <a:r>
              <a:rPr lang="en-US" dirty="0"/>
              <a:t>Consists of a set of possible states and transition probabilities</a:t>
            </a:r>
          </a:p>
          <a:p>
            <a:r>
              <a:rPr lang="en-US" b="1" dirty="0"/>
              <a:t>Example</a:t>
            </a:r>
            <a:r>
              <a:rPr lang="en-US" dirty="0"/>
              <a:t>: suppose the weather is either sunny or rainy</a:t>
            </a:r>
          </a:p>
          <a:p>
            <a:pPr lvl="1"/>
            <a:r>
              <a:rPr lang="en-US" dirty="0"/>
              <a:t>Two states: sunny (S) and rainy (R)</a:t>
            </a:r>
          </a:p>
          <a:p>
            <a:pPr lvl="1"/>
            <a:r>
              <a:rPr lang="en-US" dirty="0"/>
              <a:t>If states are independent, then we flip a coin each day</a:t>
            </a:r>
          </a:p>
          <a:p>
            <a:pPr lvl="1"/>
            <a:r>
              <a:rPr lang="en-US" dirty="0"/>
              <a:t>Weather is usually NOT independent</a:t>
            </a:r>
          </a:p>
          <a:p>
            <a:pPr lvl="1"/>
            <a:r>
              <a:rPr lang="en-US" dirty="0"/>
              <a:t>Suppose we live in an area where it’s uncommon for it to rain for multiple days</a:t>
            </a:r>
          </a:p>
          <a:p>
            <a:pPr lvl="1"/>
            <a:r>
              <a:rPr lang="en-US" dirty="0"/>
              <a:t>Model this with a Markov chain</a:t>
            </a:r>
          </a:p>
          <a:p>
            <a:pPr lvl="1"/>
            <a:r>
              <a:rPr lang="en-US" dirty="0"/>
              <a:t>Transition probabilities indicate how “sticky” each</a:t>
            </a:r>
            <a:br>
              <a:rPr lang="en-US" dirty="0"/>
            </a:br>
            <a:r>
              <a:rPr lang="en-US" dirty="0"/>
              <a:t>state is</a:t>
            </a:r>
          </a:p>
          <a:p>
            <a:pPr lvl="1"/>
            <a:endParaRPr lang="en-US" dirty="0"/>
          </a:p>
        </p:txBody>
      </p:sp>
      <p:sp>
        <p:nvSpPr>
          <p:cNvPr id="3" name="Title 2"/>
          <p:cNvSpPr>
            <a:spLocks noGrp="1"/>
          </p:cNvSpPr>
          <p:nvPr>
            <p:ph type="title"/>
          </p:nvPr>
        </p:nvSpPr>
        <p:spPr/>
        <p:txBody>
          <a:bodyPr/>
          <a:lstStyle/>
          <a:p>
            <a:r>
              <a:rPr lang="en-US" dirty="0"/>
              <a:t>Markov Processes</a:t>
            </a:r>
          </a:p>
        </p:txBody>
      </p:sp>
      <p:grpSp>
        <p:nvGrpSpPr>
          <p:cNvPr id="5" name="Group 4"/>
          <p:cNvGrpSpPr/>
          <p:nvPr/>
        </p:nvGrpSpPr>
        <p:grpSpPr>
          <a:xfrm>
            <a:off x="8739239" y="1441925"/>
            <a:ext cx="2523015" cy="2523015"/>
            <a:chOff x="6753225" y="4319878"/>
            <a:chExt cx="2523015" cy="2523015"/>
          </a:xfrm>
        </p:grpSpPr>
        <p:pic>
          <p:nvPicPr>
            <p:cNvPr id="1026" name="Picture 2"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53225" y="4319878"/>
              <a:ext cx="2523015" cy="25230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334252" y="4905371"/>
              <a:ext cx="219074" cy="400110"/>
            </a:xfrm>
            <a:prstGeom prst="rect">
              <a:avLst/>
            </a:prstGeom>
            <a:solidFill>
              <a:schemeClr val="bg1"/>
            </a:solidFill>
          </p:spPr>
          <p:txBody>
            <a:bodyPr wrap="square" rtlCol="0">
              <a:spAutoFit/>
            </a:bodyPr>
            <a:lstStyle/>
            <a:p>
              <a:pPr algn="ctr"/>
              <a:r>
                <a:rPr lang="en-US" sz="2000" b="1" dirty="0"/>
                <a:t>R</a:t>
              </a:r>
              <a:endParaRPr lang="en-US" b="1" dirty="0"/>
            </a:p>
          </p:txBody>
        </p:sp>
        <p:sp>
          <p:nvSpPr>
            <p:cNvPr id="6" name="TextBox 5"/>
            <p:cNvSpPr txBox="1"/>
            <p:nvPr/>
          </p:nvSpPr>
          <p:spPr>
            <a:xfrm>
              <a:off x="8343901" y="5910263"/>
              <a:ext cx="252411" cy="400110"/>
            </a:xfrm>
            <a:prstGeom prst="rect">
              <a:avLst/>
            </a:prstGeom>
            <a:solidFill>
              <a:schemeClr val="bg1"/>
            </a:solidFill>
          </p:spPr>
          <p:txBody>
            <a:bodyPr wrap="square" rtlCol="0">
              <a:spAutoFit/>
            </a:bodyPr>
            <a:lstStyle/>
            <a:p>
              <a:pPr algn="ctr"/>
              <a:r>
                <a:rPr lang="en-US" sz="2000" b="1" dirty="0"/>
                <a:t>S</a:t>
              </a:r>
              <a:endParaRPr lang="en-US" b="1" dirty="0"/>
            </a:p>
          </p:txBody>
        </p:sp>
      </p:grpSp>
    </p:spTree>
    <p:extLst>
      <p:ext uri="{BB962C8B-B14F-4D97-AF65-F5344CB8AC3E}">
        <p14:creationId xmlns:p14="http://schemas.microsoft.com/office/powerpoint/2010/main" val="388591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732344" y="1064871"/>
                <a:ext cx="8821356" cy="5632491"/>
              </a:xfrm>
            </p:spPr>
            <p:txBody>
              <a:bodyPr>
                <a:normAutofit/>
              </a:bodyPr>
              <a:lstStyle/>
              <a:p>
                <a:r>
                  <a:rPr lang="en-US" b="1" dirty="0"/>
                  <a:t>Example</a:t>
                </a:r>
                <a:r>
                  <a:rPr lang="en-US" dirty="0"/>
                  <a:t>: suppose the weather is either sunny or rainy</a:t>
                </a:r>
              </a:p>
              <a:p>
                <a:pPr lvl="1"/>
                <a:r>
                  <a:rPr lang="en-US" dirty="0"/>
                  <a:t>Two states: sunny (S) and rainy (R)</a:t>
                </a:r>
              </a:p>
              <a:p>
                <a:pPr lvl="1"/>
                <a:r>
                  <a:rPr lang="en-US" dirty="0"/>
                  <a:t>Probability transition matrix used to summarize the dynamics</a:t>
                </a:r>
              </a:p>
              <a:p>
                <a:pPr lvl="1"/>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   </m:t>
                      </m:r>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𝑅</m:t>
                            </m:r>
                          </m:e>
                        </m:mr>
                        <m:mr>
                          <m:e>
                            <m:r>
                              <a:rPr lang="en-US" b="0" i="1" smtClean="0">
                                <a:latin typeface="Cambria Math" panose="02040503050406030204" pitchFamily="18" charset="0"/>
                              </a:rPr>
                              <m:t>𝑆</m:t>
                            </m:r>
                          </m:e>
                        </m:mr>
                      </m:m>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.3</m:t>
                                </m:r>
                              </m:e>
                              <m:e>
                                <m:r>
                                  <a:rPr lang="en-US" b="0" i="1" smtClean="0">
                                    <a:latin typeface="Cambria Math" panose="02040503050406030204" pitchFamily="18" charset="0"/>
                                  </a:rPr>
                                  <m:t>0.7</m:t>
                                </m:r>
                              </m:e>
                            </m:mr>
                            <m:mr>
                              <m:e>
                                <m:r>
                                  <a:rPr lang="en-US" b="0" i="1" smtClean="0">
                                    <a:latin typeface="Cambria Math" panose="02040503050406030204" pitchFamily="18" charset="0"/>
                                  </a:rPr>
                                  <m:t>0.4</m:t>
                                </m:r>
                              </m:e>
                              <m:e>
                                <m:r>
                                  <a:rPr lang="en-US" b="0" i="1" smtClean="0">
                                    <a:latin typeface="Cambria Math" panose="02040503050406030204" pitchFamily="18" charset="0"/>
                                  </a:rPr>
                                  <m:t>0.6</m:t>
                                </m:r>
                              </m:e>
                            </m:mr>
                          </m:m>
                        </m:e>
                      </m:d>
                    </m:oMath>
                  </m:oMathPara>
                </a14:m>
                <a:endParaRPr lang="en-US" dirty="0"/>
              </a:p>
              <a:p>
                <a:pPr lvl="1"/>
                <a:endParaRPr lang="en-US" b="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𝑃</m:t>
                    </m:r>
                  </m:oMath>
                </a14:m>
                <a:r>
                  <a:rPr lang="en-US" dirty="0"/>
                  <a:t> gives the probability of transitioning from one</a:t>
                </a:r>
                <a:br>
                  <a:rPr lang="en-US" dirty="0"/>
                </a:br>
                <a:r>
                  <a:rPr lang="en-US" dirty="0"/>
                  <a:t>state to any other state in a single time step</a:t>
                </a:r>
              </a:p>
              <a:p>
                <a:pPr lvl="1"/>
                <a:r>
                  <a:rPr lang="en-US" dirty="0"/>
                  <a:t>Probability of transitioning from one state to any</a:t>
                </a:r>
                <a:br>
                  <a:rPr lang="en-US" dirty="0"/>
                </a:br>
                <a:r>
                  <a:rPr lang="en-US" dirty="0"/>
                  <a:t>other in </a:t>
                </a:r>
                <a14:m>
                  <m:oMath xmlns:m="http://schemas.openxmlformats.org/officeDocument/2006/math">
                    <m:r>
                      <a:rPr lang="en-US" b="0" i="1" smtClean="0">
                        <a:latin typeface="Cambria Math" panose="02040503050406030204" pitchFamily="18" charset="0"/>
                      </a:rPr>
                      <m:t>𝑡</m:t>
                    </m:r>
                  </m:oMath>
                </a14:m>
                <a:r>
                  <a:rPr lang="en-US" dirty="0"/>
                  <a:t> time steps is obtained from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𝑡</m:t>
                        </m:r>
                      </m:sup>
                    </m:sSup>
                  </m:oMath>
                </a14:m>
                <a:endParaRPr lang="en-US" dirty="0"/>
              </a:p>
              <a:p>
                <a:r>
                  <a:rPr lang="en-US" u="sng" dirty="0"/>
                  <a:t>Markov assumption</a:t>
                </a:r>
                <a:r>
                  <a:rPr lang="en-US" dirty="0"/>
                  <a:t>: future states depend only on the present state and are independent of past states</a:t>
                </a:r>
              </a:p>
              <a:p>
                <a:pPr lvl="1"/>
                <a:r>
                  <a:rPr lang="en-US" dirty="0"/>
                  <a:t>All the necessary “memory” is contained in the present state</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732344" y="1064871"/>
                <a:ext cx="8821356" cy="5632491"/>
              </a:xfrm>
              <a:blipFill>
                <a:blip r:embed="rId2"/>
                <a:stretch>
                  <a:fillRect l="-622" t="-541"/>
                </a:stretch>
              </a:blipFill>
            </p:spPr>
            <p:txBody>
              <a:bodyPr/>
              <a:lstStyle/>
              <a:p>
                <a:r>
                  <a:rPr lang="en-US">
                    <a:noFill/>
                  </a:rPr>
                  <a:t> </a:t>
                </a:r>
              </a:p>
            </p:txBody>
          </p:sp>
        </mc:Fallback>
      </mc:AlternateContent>
      <p:sp>
        <p:nvSpPr>
          <p:cNvPr id="3" name="Title 2"/>
          <p:cNvSpPr>
            <a:spLocks noGrp="1"/>
          </p:cNvSpPr>
          <p:nvPr>
            <p:ph type="title"/>
          </p:nvPr>
        </p:nvSpPr>
        <p:spPr>
          <a:xfrm>
            <a:off x="662134" y="23952"/>
            <a:ext cx="10691265" cy="1307592"/>
          </a:xfrm>
        </p:spPr>
        <p:txBody>
          <a:bodyPr/>
          <a:lstStyle/>
          <a:p>
            <a:r>
              <a:rPr lang="en-US" dirty="0"/>
              <a:t>Markov Processes</a:t>
            </a:r>
          </a:p>
        </p:txBody>
      </p:sp>
      <p:grpSp>
        <p:nvGrpSpPr>
          <p:cNvPr id="5" name="Group 4"/>
          <p:cNvGrpSpPr/>
          <p:nvPr/>
        </p:nvGrpSpPr>
        <p:grpSpPr>
          <a:xfrm>
            <a:off x="8277226" y="2359410"/>
            <a:ext cx="2523015" cy="2523015"/>
            <a:chOff x="6753225" y="4319878"/>
            <a:chExt cx="2523015" cy="2523015"/>
          </a:xfrm>
        </p:grpSpPr>
        <p:pic>
          <p:nvPicPr>
            <p:cNvPr id="1026" name="Picture 2" descr="undefin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53225" y="4319878"/>
              <a:ext cx="2523015" cy="25230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334252" y="4905371"/>
              <a:ext cx="219074" cy="400110"/>
            </a:xfrm>
            <a:prstGeom prst="rect">
              <a:avLst/>
            </a:prstGeom>
            <a:solidFill>
              <a:schemeClr val="bg1"/>
            </a:solidFill>
          </p:spPr>
          <p:txBody>
            <a:bodyPr wrap="square" rtlCol="0">
              <a:spAutoFit/>
            </a:bodyPr>
            <a:lstStyle/>
            <a:p>
              <a:pPr algn="ctr"/>
              <a:r>
                <a:rPr lang="en-US" sz="2000" b="1" dirty="0"/>
                <a:t>R</a:t>
              </a:r>
              <a:endParaRPr lang="en-US" b="1" dirty="0"/>
            </a:p>
          </p:txBody>
        </p:sp>
        <p:sp>
          <p:nvSpPr>
            <p:cNvPr id="6" name="TextBox 5"/>
            <p:cNvSpPr txBox="1"/>
            <p:nvPr/>
          </p:nvSpPr>
          <p:spPr>
            <a:xfrm>
              <a:off x="8343901" y="5910263"/>
              <a:ext cx="252411" cy="400110"/>
            </a:xfrm>
            <a:prstGeom prst="rect">
              <a:avLst/>
            </a:prstGeom>
            <a:solidFill>
              <a:schemeClr val="bg1"/>
            </a:solidFill>
          </p:spPr>
          <p:txBody>
            <a:bodyPr wrap="square" rtlCol="0">
              <a:spAutoFit/>
            </a:bodyPr>
            <a:lstStyle/>
            <a:p>
              <a:pPr algn="ctr"/>
              <a:r>
                <a:rPr lang="en-US" sz="2000" b="1" dirty="0"/>
                <a:t>S</a:t>
              </a:r>
              <a:endParaRPr lang="en-US" b="1" dirty="0"/>
            </a:p>
          </p:txBody>
        </p:sp>
      </p:grpSp>
      <mc:AlternateContent xmlns:mc="http://schemas.openxmlformats.org/markup-compatibility/2006" xmlns:a14="http://schemas.microsoft.com/office/drawing/2010/main">
        <mc:Choice Requires="a14">
          <p:sp>
            <p:nvSpPr>
              <p:cNvPr id="7" name="TextBox 6"/>
              <p:cNvSpPr txBox="1"/>
              <p:nvPr/>
            </p:nvSpPr>
            <p:spPr>
              <a:xfrm>
                <a:off x="5849112" y="2126736"/>
                <a:ext cx="185753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US" sz="2800" i="1">
                              <a:latin typeface="Cambria Math" panose="02040503050406030204" pitchFamily="18" charset="0"/>
                            </a:rPr>
                          </m:ctrlPr>
                        </m:mPr>
                        <m:mr>
                          <m:e>
                            <m:r>
                              <m:rPr>
                                <m:brk m:alnAt="7"/>
                              </m:rPr>
                              <a:rPr lang="en-US" sz="2800" i="1">
                                <a:latin typeface="Cambria Math" panose="02040503050406030204" pitchFamily="18" charset="0"/>
                              </a:rPr>
                              <m:t>𝑅</m:t>
                            </m:r>
                          </m:e>
                          <m:e>
                            <m:r>
                              <a:rPr lang="en-US" sz="2800" i="1">
                                <a:latin typeface="Cambria Math" panose="02040503050406030204" pitchFamily="18" charset="0"/>
                              </a:rPr>
                              <m:t>𝑆</m:t>
                            </m:r>
                          </m:e>
                        </m:mr>
                      </m:m>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5849112" y="2126736"/>
                <a:ext cx="1857534" cy="52322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25507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dirty="0"/>
                  <a:t>Consider a probability distribution </a:t>
                </a:r>
                <a14:m>
                  <m:oMath xmlns:m="http://schemas.openxmlformats.org/officeDocument/2006/math">
                    <m:r>
                      <a:rPr lang="en-US" b="0" i="1" smtClean="0">
                        <a:latin typeface="Cambria Math" panose="02040503050406030204" pitchFamily="18" charset="0"/>
                      </a:rPr>
                      <m:t>𝜋</m:t>
                    </m:r>
                  </m:oMath>
                </a14:m>
                <a:r>
                  <a:rPr lang="en-US" dirty="0"/>
                  <a:t> as a row vector</a:t>
                </a:r>
              </a:p>
              <a:p>
                <a:pPr lvl="1"/>
                <a:r>
                  <a:rPr lang="en-US" dirty="0"/>
                  <a:t>Nonnegative elements that sum to 1</a:t>
                </a:r>
              </a:p>
              <a:p>
                <a14:m>
                  <m:oMath xmlns:m="http://schemas.openxmlformats.org/officeDocument/2006/math">
                    <m:r>
                      <a:rPr lang="en-US" b="0" i="1" smtClean="0">
                        <a:latin typeface="Cambria Math" panose="02040503050406030204" pitchFamily="18" charset="0"/>
                      </a:rPr>
                      <m:t>𝜋</m:t>
                    </m:r>
                  </m:oMath>
                </a14:m>
                <a:r>
                  <a:rPr lang="en-US" dirty="0"/>
                  <a:t> is a </a:t>
                </a:r>
                <a:r>
                  <a:rPr lang="en-US" i="1" dirty="0"/>
                  <a:t>stationary distribution </a:t>
                </a:r>
                <a:r>
                  <a:rPr lang="en-US" dirty="0"/>
                  <a:t>of the Markov chain if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𝜋</m:t>
                      </m:r>
                    </m:oMath>
                  </m:oMathPara>
                </a14:m>
                <a:endParaRPr lang="en-US" dirty="0"/>
              </a:p>
              <a:p>
                <a:pPr lvl="1"/>
                <a14:m>
                  <m:oMath xmlns:m="http://schemas.openxmlformats.org/officeDocument/2006/math">
                    <m:r>
                      <a:rPr lang="en-US" b="0" i="1" smtClean="0">
                        <a:latin typeface="Cambria Math" panose="02040503050406030204" pitchFamily="18" charset="0"/>
                      </a:rPr>
                      <m:t>𝜋</m:t>
                    </m:r>
                  </m:oMath>
                </a14:m>
                <a:r>
                  <a:rPr lang="en-US" dirty="0"/>
                  <a:t> is unchanged by </a:t>
                </a:r>
                <a14:m>
                  <m:oMath xmlns:m="http://schemas.openxmlformats.org/officeDocument/2006/math">
                    <m:r>
                      <a:rPr lang="en-US" b="0" i="1" smtClean="0">
                        <a:latin typeface="Cambria Math" panose="02040503050406030204" pitchFamily="18" charset="0"/>
                      </a:rPr>
                      <m:t>𝑃</m:t>
                    </m:r>
                  </m:oMath>
                </a14:m>
                <a:endParaRPr lang="en-US" dirty="0"/>
              </a:p>
              <a:p>
                <a:r>
                  <a:rPr lang="en-US" dirty="0"/>
                  <a:t>A stationary distribution represents the steady state conditions of the Markov chain</a:t>
                </a:r>
              </a:p>
              <a:p>
                <a:pPr lvl="1"/>
                <a:r>
                  <a:rPr lang="en-US" dirty="0"/>
                  <a:t>The probability you end up in each corresponding state after a long time (subject to initial conditions)</a:t>
                </a:r>
              </a:p>
              <a:p>
                <a:r>
                  <a:rPr lang="en-US" b="1" dirty="0"/>
                  <a:t>Note</a:t>
                </a:r>
                <a:r>
                  <a:rPr lang="en-US" dirty="0"/>
                  <a:t>: </a:t>
                </a:r>
                <a14:m>
                  <m:oMath xmlns:m="http://schemas.openxmlformats.org/officeDocument/2006/math">
                    <m:r>
                      <a:rPr lang="en-US" b="0" i="1" smtClean="0">
                        <a:latin typeface="Cambria Math" panose="02040503050406030204" pitchFamily="18" charset="0"/>
                      </a:rPr>
                      <m:t>𝜋</m:t>
                    </m:r>
                  </m:oMath>
                </a14:m>
                <a:r>
                  <a:rPr lang="en-US" dirty="0"/>
                  <a:t> is an eigenvector of </a:t>
                </a:r>
                <a14:m>
                  <m:oMath xmlns:m="http://schemas.openxmlformats.org/officeDocument/2006/math">
                    <m:r>
                      <a:rPr lang="en-US" b="0" i="1" smtClean="0">
                        <a:latin typeface="Cambria Math" panose="02040503050406030204" pitchFamily="18" charset="0"/>
                      </a:rPr>
                      <m:t>𝑃</m:t>
                    </m:r>
                  </m:oMath>
                </a14:m>
                <a:r>
                  <a:rPr lang="en-US" dirty="0"/>
                  <a:t> with eigenvalue of 1</a:t>
                </a:r>
              </a:p>
              <a:p>
                <a:pPr lvl="1"/>
                <a:r>
                  <a:rPr lang="en-US" dirty="0"/>
                  <a:t>Can use the eigenvalue equation to find </a:t>
                </a:r>
                <a14:m>
                  <m:oMath xmlns:m="http://schemas.openxmlformats.org/officeDocument/2006/math">
                    <m:r>
                      <a:rPr lang="en-US" b="0" i="1" smtClean="0">
                        <a:latin typeface="Cambria Math" panose="02040503050406030204" pitchFamily="18" charset="0"/>
                      </a:rPr>
                      <m:t>𝜋</m:t>
                    </m:r>
                  </m:oMath>
                </a14:m>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1244" t="-2029"/>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Stationary Distribution</a:t>
            </a:r>
          </a:p>
        </p:txBody>
      </p:sp>
    </p:spTree>
    <p:extLst>
      <p:ext uri="{BB962C8B-B14F-4D97-AF65-F5344CB8AC3E}">
        <p14:creationId xmlns:p14="http://schemas.microsoft.com/office/powerpoint/2010/main" val="2910058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6459" y="822898"/>
            <a:ext cx="7821227" cy="5865921"/>
          </a:xfrm>
          <a:prstGeom prst="rect">
            <a:avLst/>
          </a:prstGeom>
        </p:spPr>
      </p:pic>
      <p:sp>
        <p:nvSpPr>
          <p:cNvPr id="3" name="Title 2"/>
          <p:cNvSpPr>
            <a:spLocks noGrp="1"/>
          </p:cNvSpPr>
          <p:nvPr>
            <p:ph type="title"/>
          </p:nvPr>
        </p:nvSpPr>
        <p:spPr/>
        <p:txBody>
          <a:bodyPr>
            <a:noAutofit/>
          </a:bodyPr>
          <a:lstStyle/>
          <a:p>
            <a:r>
              <a:rPr lang="en-US" sz="3200" dirty="0"/>
              <a:t>Diffusion </a:t>
            </a:r>
            <a:r>
              <a:rPr lang="en-US" sz="3200" dirty="0" err="1"/>
              <a:t>Denoises</a:t>
            </a:r>
            <a:r>
              <a:rPr lang="en-US" sz="3200" dirty="0"/>
              <a:t> and Recovers Global Structure</a:t>
            </a:r>
          </a:p>
        </p:txBody>
      </p:sp>
    </p:spTree>
    <p:extLst>
      <p:ext uri="{BB962C8B-B14F-4D97-AF65-F5344CB8AC3E}">
        <p14:creationId xmlns:p14="http://schemas.microsoft.com/office/powerpoint/2010/main" val="1480454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b="1" dirty="0"/>
                  <a:t>Remark</a:t>
                </a:r>
                <a:r>
                  <a:rPr lang="en-US" dirty="0"/>
                  <a:t>: all eigenvalues of </a:t>
                </a:r>
                <a14:m>
                  <m:oMath xmlns:m="http://schemas.openxmlformats.org/officeDocument/2006/math">
                    <m:r>
                      <a:rPr lang="en-US" i="1">
                        <a:latin typeface="Cambria Math" panose="02040503050406030204" pitchFamily="18" charset="0"/>
                      </a:rPr>
                      <m:t>𝑃</m:t>
                    </m:r>
                  </m:oMath>
                </a14:m>
                <a:r>
                  <a:rPr lang="en-US" b="1" dirty="0"/>
                  <a:t> </a:t>
                </a:r>
                <a:r>
                  <a:rPr lang="en-US" dirty="0"/>
                  <a:t>are between 1 and -1</a:t>
                </a:r>
              </a:p>
              <a:p>
                <a:r>
                  <a:rPr lang="en-US" dirty="0"/>
                  <a:t>Powering a matrix is equivalent to powering the eigenvalues:</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𝑡</m:t>
                          </m:r>
                        </m:sup>
                      </m:sSup>
                      <m:r>
                        <a:rPr lang="en-US" b="0" i="1" smtClean="0">
                          <a:latin typeface="Cambria Math" panose="02040503050406030204" pitchFamily="18" charset="0"/>
                        </a:rPr>
                        <m:t>=</m:t>
                      </m:r>
                      <m:r>
                        <a:rPr lang="en-US" b="0" i="1" smtClean="0">
                          <a:latin typeface="Cambria Math" panose="02040503050406030204" pitchFamily="18" charset="0"/>
                        </a:rPr>
                        <m:t>𝑈</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Λ</m:t>
                          </m:r>
                        </m:e>
                        <m:sup>
                          <m:r>
                            <a:rPr lang="en-US" b="0" i="1" smtClean="0">
                              <a:latin typeface="Cambria Math" panose="02040503050406030204" pitchFamily="18" charset="0"/>
                            </a:rPr>
                            <m:t>𝑡</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𝑈</m:t>
                          </m:r>
                        </m:e>
                        <m:sup>
                          <m:r>
                            <a:rPr lang="en-US" b="0" i="1" smtClean="0">
                              <a:latin typeface="Cambria Math" panose="02040503050406030204" pitchFamily="18" charset="0"/>
                            </a:rPr>
                            <m:t>−1</m:t>
                          </m:r>
                        </m:sup>
                      </m:sSup>
                    </m:oMath>
                  </m:oMathPara>
                </a14:m>
                <a:endParaRPr lang="en-US" dirty="0"/>
              </a:p>
              <a:p>
                <a:r>
                  <a:rPr lang="en-US" dirty="0"/>
                  <a:t>Only the stationary distribution eigenvalues remain after large </a:t>
                </a:r>
                <a14:m>
                  <m:oMath xmlns:m="http://schemas.openxmlformats.org/officeDocument/2006/math">
                    <m:r>
                      <a:rPr lang="en-US" b="0" i="1" smtClean="0">
                        <a:latin typeface="Cambria Math" panose="02040503050406030204" pitchFamily="18" charset="0"/>
                      </a:rPr>
                      <m:t>𝑡</m:t>
                    </m:r>
                  </m:oMath>
                </a14:m>
                <a:endParaRPr lang="en-US" dirty="0"/>
              </a:p>
              <a:p>
                <a:r>
                  <a:rPr lang="en-US" dirty="0"/>
                  <a:t>Thus too large of </a:t>
                </a:r>
                <a14:m>
                  <m:oMath xmlns:m="http://schemas.openxmlformats.org/officeDocument/2006/math">
                    <m:r>
                      <a:rPr lang="en-US" b="0" i="1" smtClean="0">
                        <a:latin typeface="Cambria Math" panose="02040503050406030204" pitchFamily="18" charset="0"/>
                      </a:rPr>
                      <m:t>𝑡</m:t>
                    </m:r>
                  </m:oMath>
                </a14:m>
                <a:r>
                  <a:rPr lang="en-US" dirty="0"/>
                  <a:t> can </a:t>
                </a:r>
                <a:r>
                  <a:rPr lang="en-US" dirty="0" err="1"/>
                  <a:t>oversmooth</a:t>
                </a:r>
                <a:r>
                  <a:rPr lang="en-US" dirty="0"/>
                  <a:t> the data</a:t>
                </a:r>
              </a:p>
              <a:p>
                <a:r>
                  <a:rPr lang="en-US" dirty="0"/>
                  <a:t>But too small of </a:t>
                </a:r>
                <a14:m>
                  <m:oMath xmlns:m="http://schemas.openxmlformats.org/officeDocument/2006/math">
                    <m:r>
                      <a:rPr lang="en-US" b="0" i="1" smtClean="0">
                        <a:latin typeface="Cambria Math" panose="02040503050406030204" pitchFamily="18" charset="0"/>
                      </a:rPr>
                      <m:t>𝑡</m:t>
                    </m:r>
                  </m:oMath>
                </a14:m>
                <a:r>
                  <a:rPr lang="en-US" dirty="0"/>
                  <a:t> doesn’t learn the global structure</a:t>
                </a:r>
              </a:p>
              <a:p>
                <a:r>
                  <a:rPr lang="en-US" dirty="0"/>
                  <a:t>We’ll see more on this when we talk about visualization and PHATE</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513" t="-8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itle 2"/>
              <p:cNvSpPr>
                <a:spLocks noGrp="1"/>
              </p:cNvSpPr>
              <p:nvPr>
                <p:ph type="title"/>
              </p:nvPr>
            </p:nvSpPr>
            <p:spPr/>
            <p:txBody>
              <a:bodyPr/>
              <a:lstStyle/>
              <a:p>
                <a:r>
                  <a:rPr lang="en-US" dirty="0"/>
                  <a:t>The time scale </a:t>
                </a:r>
                <a14:m>
                  <m:oMath xmlns:m="http://schemas.openxmlformats.org/officeDocument/2006/math">
                    <m:r>
                      <a:rPr lang="en-US" b="0" i="1" smtClean="0">
                        <a:latin typeface="Cambria Math" panose="02040503050406030204" pitchFamily="18" charset="0"/>
                      </a:rPr>
                      <m:t>𝑡</m:t>
                    </m:r>
                  </m:oMath>
                </a14:m>
                <a:endParaRPr lang="en-US" dirty="0"/>
              </a:p>
            </p:txBody>
          </p:sp>
        </mc:Choice>
        <mc:Fallback xmlns="">
          <p:sp>
            <p:nvSpPr>
              <p:cNvPr id="3" name="Title 2"/>
              <p:cNvSpPr>
                <a:spLocks noGrp="1" noRot="1" noChangeAspect="1" noMove="1" noResize="1" noEditPoints="1" noAdjustHandles="1" noChangeArrowheads="1" noChangeShapeType="1" noTextEdit="1"/>
              </p:cNvSpPr>
              <p:nvPr>
                <p:ph type="title"/>
              </p:nvPr>
            </p:nvSpPr>
            <p:spPr>
              <a:blipFill>
                <a:blip r:embed="rId3"/>
                <a:stretch>
                  <a:fillRect l="-2905" t="-17557" b="-30534"/>
                </a:stretch>
              </a:blipFill>
            </p:spPr>
            <p:txBody>
              <a:bodyPr/>
              <a:lstStyle/>
              <a:p>
                <a:r>
                  <a:rPr lang="en-US">
                    <a:noFill/>
                  </a:rPr>
                  <a:t> </a:t>
                </a:r>
              </a:p>
            </p:txBody>
          </p:sp>
        </mc:Fallback>
      </mc:AlternateContent>
    </p:spTree>
    <p:extLst>
      <p:ext uri="{BB962C8B-B14F-4D97-AF65-F5344CB8AC3E}">
        <p14:creationId xmlns:p14="http://schemas.microsoft.com/office/powerpoint/2010/main" val="155917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32240" t="17406" r="32462" b="12774"/>
          <a:stretch/>
        </p:blipFill>
        <p:spPr>
          <a:xfrm>
            <a:off x="1468804" y="1025611"/>
            <a:ext cx="5282100" cy="5659395"/>
          </a:xfrm>
          <a:prstGeom prst="rect">
            <a:avLst/>
          </a:prstGeom>
        </p:spPr>
      </p:pic>
      <mc:AlternateContent xmlns:mc="http://schemas.openxmlformats.org/markup-compatibility/2006">
        <mc:Choice xmlns:a14="http://schemas.microsoft.com/office/drawing/2010/main" Requires="a14">
          <p:sp>
            <p:nvSpPr>
              <p:cNvPr id="3" name="Title 2"/>
              <p:cNvSpPr>
                <a:spLocks noGrp="1"/>
              </p:cNvSpPr>
              <p:nvPr>
                <p:ph type="title"/>
              </p:nvPr>
            </p:nvSpPr>
            <p:spPr>
              <a:xfrm>
                <a:off x="662134" y="47410"/>
                <a:ext cx="10691265" cy="1307592"/>
              </a:xfrm>
            </p:spPr>
            <p:txBody>
              <a:bodyPr/>
              <a:lstStyle/>
              <a:p>
                <a:r>
                  <a:rPr lang="en-US" dirty="0"/>
                  <a:t>The time scale </a:t>
                </a:r>
                <a14:m>
                  <m:oMath xmlns:m="http://schemas.openxmlformats.org/officeDocument/2006/math">
                    <m:r>
                      <a:rPr lang="en-US" b="0" i="1" smtClean="0">
                        <a:latin typeface="Cambria Math" panose="02040503050406030204" pitchFamily="18" charset="0"/>
                      </a:rPr>
                      <m:t>𝑡</m:t>
                    </m:r>
                  </m:oMath>
                </a14:m>
                <a:endParaRPr lang="en-US" dirty="0"/>
              </a:p>
            </p:txBody>
          </p:sp>
        </mc:Choice>
        <mc:Fallback>
          <p:sp>
            <p:nvSpPr>
              <p:cNvPr id="3" name="Title 2"/>
              <p:cNvSpPr>
                <a:spLocks noGrp="1" noRot="1" noChangeAspect="1" noMove="1" noResize="1" noEditPoints="1" noAdjustHandles="1" noChangeArrowheads="1" noChangeShapeType="1" noTextEdit="1"/>
              </p:cNvSpPr>
              <p:nvPr>
                <p:ph type="title"/>
              </p:nvPr>
            </p:nvSpPr>
            <p:spPr>
              <a:xfrm>
                <a:off x="662134" y="47410"/>
                <a:ext cx="10691265" cy="1307592"/>
              </a:xfrm>
              <a:blipFill>
                <a:blip r:embed="rId3"/>
                <a:stretch>
                  <a:fillRect l="-2054" t="-8411"/>
                </a:stretch>
              </a:blipFill>
            </p:spPr>
            <p:txBody>
              <a:bodyPr/>
              <a:lstStyle/>
              <a:p>
                <a:r>
                  <a:rPr lang="en-US">
                    <a:noFill/>
                  </a:rPr>
                  <a:t> </a:t>
                </a:r>
              </a:p>
            </p:txBody>
          </p:sp>
        </mc:Fallback>
      </mc:AlternateContent>
      <p:pic>
        <p:nvPicPr>
          <p:cNvPr id="5" name="Picture 4"/>
          <p:cNvPicPr>
            <a:picLocks noChangeAspect="1"/>
          </p:cNvPicPr>
          <p:nvPr/>
        </p:nvPicPr>
        <p:blipFill rotWithShape="1">
          <a:blip r:embed="rId4"/>
          <a:srcRect l="32903" t="39802" r="33065" b="25955"/>
          <a:stretch/>
        </p:blipFill>
        <p:spPr>
          <a:xfrm>
            <a:off x="6614985" y="2591790"/>
            <a:ext cx="4041348" cy="2202632"/>
          </a:xfrm>
          <a:prstGeom prst="rect">
            <a:avLst/>
          </a:prstGeom>
        </p:spPr>
      </p:pic>
    </p:spTree>
    <p:extLst>
      <p:ext uri="{BB962C8B-B14F-4D97-AF65-F5344CB8AC3E}">
        <p14:creationId xmlns:p14="http://schemas.microsoft.com/office/powerpoint/2010/main" val="166319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700635" y="1924812"/>
                <a:ext cx="10691265" cy="3739896"/>
              </a:xfrm>
            </p:spPr>
            <p:txBody>
              <a:bodyPr>
                <a:normAutofit lnSpcReduction="10000"/>
              </a:bodyPr>
              <a:lstStyle/>
              <a:p>
                <a:pPr marL="0" indent="0">
                  <a:buNone/>
                </a:pPr>
                <a:r>
                  <a:rPr lang="en-US" dirty="0"/>
                  <a:t>Algorithm for Diffusion Maps</a:t>
                </a:r>
              </a:p>
              <a:p>
                <a:pPr marL="514350" indent="-514350">
                  <a:buFont typeface="+mj-lt"/>
                  <a:buAutoNum type="arabicPeriod"/>
                </a:pPr>
                <a:r>
                  <a:rPr lang="en-US" dirty="0"/>
                  <a:t>Compute Euclidean distances</a:t>
                </a:r>
              </a:p>
              <a:p>
                <a:pPr marL="514350" indent="-514350">
                  <a:buFont typeface="+mj-lt"/>
                  <a:buAutoNum type="arabicPeriod"/>
                </a:pPr>
                <a:r>
                  <a:rPr lang="en-US" dirty="0"/>
                  <a:t>Convert distances to local affinity matrix </a:t>
                </a:r>
                <a14:m>
                  <m:oMath xmlns:m="http://schemas.openxmlformats.org/officeDocument/2006/math">
                    <m:r>
                      <a:rPr lang="en-US" b="0" i="1" smtClean="0">
                        <a:latin typeface="Cambria Math" panose="02040503050406030204" pitchFamily="18" charset="0"/>
                      </a:rPr>
                      <m:t>𝐾</m:t>
                    </m:r>
                  </m:oMath>
                </a14:m>
                <a:endParaRPr lang="en-US" dirty="0"/>
              </a:p>
              <a:p>
                <a:pPr lvl="1"/>
                <a:r>
                  <a:rPr lang="en-US" dirty="0"/>
                  <a:t>Classically, the Gaussian kernel was used</a:t>
                </a:r>
              </a:p>
              <a:p>
                <a:pPr marL="514350" indent="-514350">
                  <a:buFont typeface="+mj-lt"/>
                  <a:buAutoNum type="arabicPeriod"/>
                </a:pPr>
                <a:r>
                  <a:rPr lang="en-US" dirty="0"/>
                  <a:t>Create degree matrix </a:t>
                </a:r>
                <a14:m>
                  <m:oMath xmlns:m="http://schemas.openxmlformats.org/officeDocument/2006/math">
                    <m:r>
                      <a:rPr lang="en-US" b="0" i="1" smtClean="0">
                        <a:latin typeface="Cambria Math" panose="02040503050406030204" pitchFamily="18" charset="0"/>
                      </a:rPr>
                      <m:t>𝐷</m:t>
                    </m:r>
                  </m:oMath>
                </a14:m>
                <a:r>
                  <a:rPr lang="en-US" dirty="0"/>
                  <a:t> from </a:t>
                </a:r>
                <a14:m>
                  <m:oMath xmlns:m="http://schemas.openxmlformats.org/officeDocument/2006/math">
                    <m:r>
                      <a:rPr lang="en-US" b="0" i="1" smtClean="0">
                        <a:latin typeface="Cambria Math" panose="02040503050406030204" pitchFamily="18" charset="0"/>
                      </a:rPr>
                      <m:t>𝐾</m:t>
                    </m:r>
                  </m:oMath>
                </a14:m>
                <a:r>
                  <a:rPr lang="en-US" dirty="0"/>
                  <a:t> (sum the rows of </a:t>
                </a:r>
                <a14:m>
                  <m:oMath xmlns:m="http://schemas.openxmlformats.org/officeDocument/2006/math">
                    <m:r>
                      <a:rPr lang="en-US" b="0" i="1" smtClean="0">
                        <a:latin typeface="Cambria Math" panose="02040503050406030204" pitchFamily="18" charset="0"/>
                      </a:rPr>
                      <m:t>𝐾</m:t>
                    </m:r>
                  </m:oMath>
                </a14:m>
                <a:r>
                  <a:rPr lang="en-US" dirty="0"/>
                  <a:t> and create a diagonal matrix </a:t>
                </a:r>
                <a14:m>
                  <m:oMath xmlns:m="http://schemas.openxmlformats.org/officeDocument/2006/math">
                    <m:r>
                      <a:rPr lang="en-US" b="0" i="1" smtClean="0">
                        <a:latin typeface="Cambria Math" panose="02040503050406030204" pitchFamily="18" charset="0"/>
                      </a:rPr>
                      <m:t>𝐷</m:t>
                    </m:r>
                  </m:oMath>
                </a14:m>
                <a:r>
                  <a:rPr lang="en-US" dirty="0"/>
                  <a:t> from the sums)</a:t>
                </a:r>
              </a:p>
              <a:p>
                <a:pPr marL="514350" indent="-514350">
                  <a:buFont typeface="+mj-lt"/>
                  <a:buAutoNum type="arabicPeriod"/>
                </a:pPr>
                <a:r>
                  <a:rPr lang="en-US" dirty="0"/>
                  <a:t>Normalize: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𝐷</m:t>
                        </m:r>
                      </m:e>
                      <m:sup>
                        <m:r>
                          <a:rPr lang="en-US" b="0" i="1" smtClean="0">
                            <a:latin typeface="Cambria Math" panose="02040503050406030204" pitchFamily="18" charset="0"/>
                          </a:rPr>
                          <m:t>−1/2</m:t>
                        </m:r>
                      </m:sup>
                    </m:sSup>
                    <m:r>
                      <a:rPr lang="en-US" b="0" i="1" smtClean="0">
                        <a:latin typeface="Cambria Math" panose="02040503050406030204" pitchFamily="18" charset="0"/>
                      </a:rPr>
                      <m:t>𝐾</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𝐷</m:t>
                        </m:r>
                      </m:e>
                      <m:sup>
                        <m:r>
                          <a:rPr lang="en-US" b="0" i="1" smtClean="0">
                            <a:latin typeface="Cambria Math" panose="02040503050406030204" pitchFamily="18" charset="0"/>
                          </a:rPr>
                          <m:t>−1/2</m:t>
                        </m:r>
                      </m:sup>
                    </m:sSup>
                  </m:oMath>
                </a14:m>
                <a:endParaRPr lang="en-US" dirty="0"/>
              </a:p>
              <a:p>
                <a:pPr marL="514350" indent="-514350">
                  <a:buFont typeface="+mj-lt"/>
                  <a:buAutoNum type="arabicPeriod"/>
                </a:pPr>
                <a:r>
                  <a:rPr lang="en-US" dirty="0"/>
                  <a:t>Diffuse: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𝑡</m:t>
                        </m:r>
                      </m:sup>
                    </m:sSup>
                  </m:oMath>
                </a14:m>
                <a:endParaRPr lang="en-US" dirty="0"/>
              </a:p>
              <a:p>
                <a:pPr marL="514350" indent="-514350">
                  <a:buFont typeface="+mj-lt"/>
                  <a:buAutoNum type="arabicPeriod"/>
                </a:pPr>
                <a:r>
                  <a:rPr lang="en-US" dirty="0"/>
                  <a:t>Obtain diffusion coordinates by performing eigenvalue decomposition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𝑡</m:t>
                        </m:r>
                      </m:sup>
                    </m:sSup>
                  </m:oMath>
                </a14:m>
                <a:endParaRPr lang="en-US" dirty="0"/>
              </a:p>
              <a:p>
                <a:pPr marL="514350" indent="-514350">
                  <a:buFont typeface="+mj-lt"/>
                  <a:buAutoNum type="arabicPeriod"/>
                </a:pPr>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700635" y="1924812"/>
                <a:ext cx="10691265" cy="3739896"/>
              </a:xfrm>
              <a:blipFill>
                <a:blip r:embed="rId2"/>
                <a:stretch>
                  <a:fillRect l="-627" t="-979" b="-326"/>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Diffusion Maps</a:t>
            </a:r>
          </a:p>
        </p:txBody>
      </p:sp>
    </p:spTree>
    <p:extLst>
      <p:ext uri="{BB962C8B-B14F-4D97-AF65-F5344CB8AC3E}">
        <p14:creationId xmlns:p14="http://schemas.microsoft.com/office/powerpoint/2010/main" val="2671067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C3071-08BD-52F3-9F51-398E9A6103EE}"/>
              </a:ext>
            </a:extLst>
          </p:cNvPr>
          <p:cNvSpPr>
            <a:spLocks noGrp="1"/>
          </p:cNvSpPr>
          <p:nvPr>
            <p:ph type="title"/>
          </p:nvPr>
        </p:nvSpPr>
        <p:spPr/>
        <p:txBody>
          <a:bodyPr/>
          <a:lstStyle/>
          <a:p>
            <a:r>
              <a:rPr lang="en-US" dirty="0"/>
              <a:t>Visualizing </a:t>
            </a:r>
            <a:r>
              <a:rPr lang="en-US" dirty="0" err="1"/>
              <a:t>Stucture</a:t>
            </a:r>
            <a:r>
              <a:rPr lang="en-US" dirty="0"/>
              <a:t> with Manifolds</a:t>
            </a:r>
          </a:p>
        </p:txBody>
      </p:sp>
      <p:sp>
        <p:nvSpPr>
          <p:cNvPr id="3" name="Content Placeholder 2">
            <a:extLst>
              <a:ext uri="{FF2B5EF4-FFF2-40B4-BE49-F238E27FC236}">
                <a16:creationId xmlns:a16="http://schemas.microsoft.com/office/drawing/2014/main" id="{2FA5C3E3-F3A8-C434-9EEC-6168DFAA61D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35704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6800187" y="2044701"/>
            <a:ext cx="3239164" cy="3048000"/>
          </a:xfrm>
          <a:prstGeom prst="rect">
            <a:avLst/>
          </a:prstGeom>
        </p:spPr>
      </p:pic>
      <p:sp>
        <p:nvSpPr>
          <p:cNvPr id="4" name="Title 3"/>
          <p:cNvSpPr>
            <a:spLocks noGrp="1"/>
          </p:cNvSpPr>
          <p:nvPr>
            <p:ph type="title"/>
          </p:nvPr>
        </p:nvSpPr>
        <p:spPr>
          <a:xfrm>
            <a:off x="700635" y="811530"/>
            <a:ext cx="10691265" cy="1307592"/>
          </a:xfrm>
        </p:spPr>
        <p:txBody>
          <a:bodyPr>
            <a:noAutofit/>
          </a:bodyPr>
          <a:lstStyle/>
          <a:p>
            <a:r>
              <a:rPr lang="en-US" dirty="0"/>
              <a:t>Visualization with t-SNE</a:t>
            </a:r>
            <a:endParaRPr lang="en-US" sz="2400" dirty="0"/>
          </a:p>
        </p:txBody>
      </p:sp>
      <p:pic>
        <p:nvPicPr>
          <p:cNvPr id="9" name="Content Placeholder 4"/>
          <p:cNvPicPr>
            <a:picLocks noChangeAspect="1"/>
          </p:cNvPicPr>
          <p:nvPr/>
        </p:nvPicPr>
        <p:blipFill>
          <a:blip r:embed="rId4"/>
          <a:stretch>
            <a:fillRect/>
          </a:stretch>
        </p:blipFill>
        <p:spPr>
          <a:xfrm>
            <a:off x="2179285" y="2044700"/>
            <a:ext cx="3286125" cy="3048000"/>
          </a:xfrm>
          <a:prstGeom prst="rect">
            <a:avLst/>
          </a:prstGeom>
        </p:spPr>
      </p:pic>
      <p:sp>
        <p:nvSpPr>
          <p:cNvPr id="10" name="TextBox 9"/>
          <p:cNvSpPr txBox="1"/>
          <p:nvPr/>
        </p:nvSpPr>
        <p:spPr>
          <a:xfrm>
            <a:off x="2597891" y="1353409"/>
            <a:ext cx="2448910" cy="369332"/>
          </a:xfrm>
          <a:prstGeom prst="rect">
            <a:avLst/>
          </a:prstGeom>
          <a:noFill/>
        </p:spPr>
        <p:txBody>
          <a:bodyPr wrap="square" rtlCol="0">
            <a:spAutoFit/>
          </a:bodyPr>
          <a:lstStyle/>
          <a:p>
            <a:pPr algn="ctr"/>
            <a:r>
              <a:rPr lang="en-US" dirty="0"/>
              <a:t>Artificial Tree Data</a:t>
            </a:r>
          </a:p>
        </p:txBody>
      </p:sp>
      <p:sp>
        <p:nvSpPr>
          <p:cNvPr id="11" name="TextBox 10"/>
          <p:cNvSpPr txBox="1"/>
          <p:nvPr/>
        </p:nvSpPr>
        <p:spPr>
          <a:xfrm>
            <a:off x="7001696" y="1353409"/>
            <a:ext cx="2448910" cy="369332"/>
          </a:xfrm>
          <a:prstGeom prst="rect">
            <a:avLst/>
          </a:prstGeom>
          <a:noFill/>
        </p:spPr>
        <p:txBody>
          <a:bodyPr wrap="square" rtlCol="0">
            <a:spAutoFit/>
          </a:bodyPr>
          <a:lstStyle/>
          <a:p>
            <a:pPr algn="ctr"/>
            <a:r>
              <a:rPr lang="en-US" dirty="0"/>
              <a:t>t-SNE</a:t>
            </a:r>
          </a:p>
        </p:txBody>
      </p:sp>
      <p:sp>
        <p:nvSpPr>
          <p:cNvPr id="8" name="TextBox 7"/>
          <p:cNvSpPr txBox="1"/>
          <p:nvPr/>
        </p:nvSpPr>
        <p:spPr>
          <a:xfrm>
            <a:off x="2388587" y="5414659"/>
            <a:ext cx="2867518" cy="369332"/>
          </a:xfrm>
          <a:prstGeom prst="rect">
            <a:avLst/>
          </a:prstGeom>
          <a:noFill/>
        </p:spPr>
        <p:txBody>
          <a:bodyPr wrap="square" rtlCol="0">
            <a:spAutoFit/>
          </a:bodyPr>
          <a:lstStyle/>
          <a:p>
            <a:pPr algn="ctr"/>
            <a:r>
              <a:rPr lang="en-US" dirty="0"/>
              <a:t>1400 points, 60 dimensions</a:t>
            </a:r>
          </a:p>
        </p:txBody>
      </p:sp>
    </p:spTree>
    <p:extLst>
      <p:ext uri="{BB962C8B-B14F-4D97-AF65-F5344CB8AC3E}">
        <p14:creationId xmlns:p14="http://schemas.microsoft.com/office/powerpoint/2010/main" val="22303848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00635" y="651510"/>
            <a:ext cx="10691265" cy="1307592"/>
          </a:xfrm>
        </p:spPr>
        <p:txBody>
          <a:bodyPr>
            <a:noAutofit/>
          </a:bodyPr>
          <a:lstStyle/>
          <a:p>
            <a:r>
              <a:rPr lang="en-US" dirty="0"/>
              <a:t>UMAP still fails at global structure</a:t>
            </a:r>
            <a:endParaRPr lang="en-US" sz="2400" dirty="0"/>
          </a:p>
        </p:txBody>
      </p:sp>
      <p:pic>
        <p:nvPicPr>
          <p:cNvPr id="9" name="Content Placeholder 4"/>
          <p:cNvPicPr>
            <a:picLocks noChangeAspect="1"/>
          </p:cNvPicPr>
          <p:nvPr/>
        </p:nvPicPr>
        <p:blipFill>
          <a:blip r:embed="rId3"/>
          <a:stretch>
            <a:fillRect/>
          </a:stretch>
        </p:blipFill>
        <p:spPr>
          <a:xfrm>
            <a:off x="2179285" y="2044700"/>
            <a:ext cx="3286125" cy="3048000"/>
          </a:xfrm>
          <a:prstGeom prst="rect">
            <a:avLst/>
          </a:prstGeom>
        </p:spPr>
      </p:pic>
      <p:sp>
        <p:nvSpPr>
          <p:cNvPr id="10" name="TextBox 9"/>
          <p:cNvSpPr txBox="1"/>
          <p:nvPr/>
        </p:nvSpPr>
        <p:spPr>
          <a:xfrm>
            <a:off x="2597891" y="1353409"/>
            <a:ext cx="2448910" cy="369332"/>
          </a:xfrm>
          <a:prstGeom prst="rect">
            <a:avLst/>
          </a:prstGeom>
          <a:noFill/>
        </p:spPr>
        <p:txBody>
          <a:bodyPr wrap="square" rtlCol="0">
            <a:spAutoFit/>
          </a:bodyPr>
          <a:lstStyle/>
          <a:p>
            <a:pPr algn="ctr"/>
            <a:r>
              <a:rPr lang="en-US" dirty="0"/>
              <a:t>Artificial Tree Data</a:t>
            </a:r>
          </a:p>
        </p:txBody>
      </p:sp>
      <p:sp>
        <p:nvSpPr>
          <p:cNvPr id="11" name="TextBox 10"/>
          <p:cNvSpPr txBox="1"/>
          <p:nvPr/>
        </p:nvSpPr>
        <p:spPr>
          <a:xfrm>
            <a:off x="7001696" y="1353409"/>
            <a:ext cx="2448910" cy="369332"/>
          </a:xfrm>
          <a:prstGeom prst="rect">
            <a:avLst/>
          </a:prstGeom>
          <a:noFill/>
        </p:spPr>
        <p:txBody>
          <a:bodyPr wrap="square" rtlCol="0">
            <a:spAutoFit/>
          </a:bodyPr>
          <a:lstStyle/>
          <a:p>
            <a:pPr algn="ctr"/>
            <a:r>
              <a:rPr lang="en-US" dirty="0"/>
              <a:t>UMAP</a:t>
            </a:r>
          </a:p>
        </p:txBody>
      </p:sp>
      <p:sp>
        <p:nvSpPr>
          <p:cNvPr id="8" name="TextBox 7"/>
          <p:cNvSpPr txBox="1"/>
          <p:nvPr/>
        </p:nvSpPr>
        <p:spPr>
          <a:xfrm>
            <a:off x="2388587" y="5414659"/>
            <a:ext cx="2867518" cy="369332"/>
          </a:xfrm>
          <a:prstGeom prst="rect">
            <a:avLst/>
          </a:prstGeom>
          <a:noFill/>
        </p:spPr>
        <p:txBody>
          <a:bodyPr wrap="square" rtlCol="0">
            <a:spAutoFit/>
          </a:bodyPr>
          <a:lstStyle/>
          <a:p>
            <a:pPr algn="ctr"/>
            <a:r>
              <a:rPr lang="en-US" dirty="0"/>
              <a:t>1400 points, 60 dimensions</a:t>
            </a:r>
          </a:p>
        </p:txBody>
      </p:sp>
      <p:pic>
        <p:nvPicPr>
          <p:cNvPr id="2050" name="Picture 2" descr="Supplementary Figure 3"/>
          <p:cNvPicPr>
            <a:picLocks noChangeAspect="1" noChangeArrowheads="1"/>
          </p:cNvPicPr>
          <p:nvPr/>
        </p:nvPicPr>
        <p:blipFill rotWithShape="1">
          <a:blip r:embed="rId4">
            <a:extLst>
              <a:ext uri="{28A0092B-C50C-407E-A947-70E740481C1C}">
                <a14:useLocalDpi xmlns:a14="http://schemas.microsoft.com/office/drawing/2010/main" val="0"/>
              </a:ext>
            </a:extLst>
          </a:blip>
          <a:srcRect l="88240" t="76491" r="1032" b="15982"/>
          <a:stretch/>
        </p:blipFill>
        <p:spPr bwMode="auto">
          <a:xfrm>
            <a:off x="6935897" y="1919732"/>
            <a:ext cx="3286125" cy="3696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4421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00635" y="1684782"/>
            <a:ext cx="10691265" cy="3739896"/>
          </a:xfrm>
        </p:spPr>
        <p:txBody>
          <a:bodyPr/>
          <a:lstStyle/>
          <a:p>
            <a:r>
              <a:rPr lang="en-US" dirty="0"/>
              <a:t>T-SNE and UMAP are good for local structure</a:t>
            </a:r>
          </a:p>
          <a:p>
            <a:r>
              <a:rPr lang="en-US" dirty="0"/>
              <a:t>PCA is good for global structure</a:t>
            </a:r>
          </a:p>
          <a:p>
            <a:r>
              <a:rPr lang="en-US" dirty="0"/>
              <a:t>Diffusion maps (DM) does well at capturing both</a:t>
            </a:r>
          </a:p>
          <a:p>
            <a:r>
              <a:rPr lang="en-US" b="1" dirty="0"/>
              <a:t>Idea</a:t>
            </a:r>
            <a:r>
              <a:rPr lang="en-US" dirty="0"/>
              <a:t>: use DM to visualize data</a:t>
            </a:r>
          </a:p>
        </p:txBody>
      </p:sp>
      <p:sp>
        <p:nvSpPr>
          <p:cNvPr id="3" name="Title 2"/>
          <p:cNvSpPr>
            <a:spLocks noGrp="1"/>
          </p:cNvSpPr>
          <p:nvPr>
            <p:ph type="title"/>
          </p:nvPr>
        </p:nvSpPr>
        <p:spPr/>
        <p:txBody>
          <a:bodyPr>
            <a:normAutofit/>
          </a:bodyPr>
          <a:lstStyle/>
          <a:p>
            <a:r>
              <a:rPr lang="en-US" dirty="0"/>
              <a:t>Balancing local and global information</a:t>
            </a:r>
          </a:p>
        </p:txBody>
      </p:sp>
      <p:pic>
        <p:nvPicPr>
          <p:cNvPr id="4" name="Content Placeholder 5"/>
          <p:cNvPicPr>
            <a:picLocks noChangeAspect="1"/>
          </p:cNvPicPr>
          <p:nvPr/>
        </p:nvPicPr>
        <p:blipFill>
          <a:blip r:embed="rId2"/>
          <a:stretch>
            <a:fillRect/>
          </a:stretch>
        </p:blipFill>
        <p:spPr>
          <a:xfrm>
            <a:off x="1893406" y="3847100"/>
            <a:ext cx="2758542" cy="2595743"/>
          </a:xfrm>
          <a:prstGeom prst="rect">
            <a:avLst/>
          </a:prstGeom>
        </p:spPr>
      </p:pic>
      <p:sp>
        <p:nvSpPr>
          <p:cNvPr id="5" name="TextBox 4"/>
          <p:cNvSpPr txBox="1"/>
          <p:nvPr/>
        </p:nvSpPr>
        <p:spPr>
          <a:xfrm>
            <a:off x="1893406" y="3396553"/>
            <a:ext cx="2448910" cy="369332"/>
          </a:xfrm>
          <a:prstGeom prst="rect">
            <a:avLst/>
          </a:prstGeom>
          <a:noFill/>
        </p:spPr>
        <p:txBody>
          <a:bodyPr wrap="square" rtlCol="0">
            <a:spAutoFit/>
          </a:bodyPr>
          <a:lstStyle/>
          <a:p>
            <a:pPr algn="ctr"/>
            <a:r>
              <a:rPr lang="en-US" dirty="0"/>
              <a:t>t-SNE</a:t>
            </a:r>
          </a:p>
        </p:txBody>
      </p:sp>
      <p:sp>
        <p:nvSpPr>
          <p:cNvPr id="6" name="TextBox 5"/>
          <p:cNvSpPr txBox="1"/>
          <p:nvPr/>
        </p:nvSpPr>
        <p:spPr>
          <a:xfrm>
            <a:off x="4999098" y="3359366"/>
            <a:ext cx="2448910" cy="369332"/>
          </a:xfrm>
          <a:prstGeom prst="rect">
            <a:avLst/>
          </a:prstGeom>
          <a:noFill/>
        </p:spPr>
        <p:txBody>
          <a:bodyPr wrap="square" rtlCol="0">
            <a:spAutoFit/>
          </a:bodyPr>
          <a:lstStyle/>
          <a:p>
            <a:pPr algn="ctr"/>
            <a:r>
              <a:rPr lang="en-US" dirty="0"/>
              <a:t>UMAP</a:t>
            </a:r>
          </a:p>
        </p:txBody>
      </p:sp>
      <p:pic>
        <p:nvPicPr>
          <p:cNvPr id="7" name="Picture 2" descr="Supplementary Figure 3"/>
          <p:cNvPicPr>
            <a:picLocks noChangeAspect="1" noChangeArrowheads="1"/>
          </p:cNvPicPr>
          <p:nvPr/>
        </p:nvPicPr>
        <p:blipFill rotWithShape="1">
          <a:blip r:embed="rId3">
            <a:extLst>
              <a:ext uri="{28A0092B-C50C-407E-A947-70E740481C1C}">
                <a14:useLocalDpi xmlns:a14="http://schemas.microsoft.com/office/drawing/2010/main" val="0"/>
              </a:ext>
            </a:extLst>
          </a:blip>
          <a:srcRect l="88240" t="76491" r="1032" b="15982"/>
          <a:stretch/>
        </p:blipFill>
        <p:spPr bwMode="auto">
          <a:xfrm>
            <a:off x="5119219" y="3625247"/>
            <a:ext cx="2448910" cy="27550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stretch>
            <a:fillRect/>
          </a:stretch>
        </p:blipFill>
        <p:spPr>
          <a:xfrm>
            <a:off x="7722748" y="3762339"/>
            <a:ext cx="2847515" cy="2680505"/>
          </a:xfrm>
          <a:prstGeom prst="rect">
            <a:avLst/>
          </a:prstGeom>
        </p:spPr>
      </p:pic>
      <p:sp>
        <p:nvSpPr>
          <p:cNvPr id="9" name="TextBox 8"/>
          <p:cNvSpPr txBox="1"/>
          <p:nvPr/>
        </p:nvSpPr>
        <p:spPr>
          <a:xfrm>
            <a:off x="7915279" y="3359366"/>
            <a:ext cx="2448910" cy="369332"/>
          </a:xfrm>
          <a:prstGeom prst="rect">
            <a:avLst/>
          </a:prstGeom>
          <a:noFill/>
        </p:spPr>
        <p:txBody>
          <a:bodyPr wrap="square" rtlCol="0">
            <a:spAutoFit/>
          </a:bodyPr>
          <a:lstStyle/>
          <a:p>
            <a:pPr algn="ctr"/>
            <a:r>
              <a:rPr lang="en-US" dirty="0"/>
              <a:t>PCA</a:t>
            </a:r>
          </a:p>
        </p:txBody>
      </p:sp>
    </p:spTree>
    <p:extLst>
      <p:ext uri="{BB962C8B-B14F-4D97-AF65-F5344CB8AC3E}">
        <p14:creationId xmlns:p14="http://schemas.microsoft.com/office/powerpoint/2010/main" val="3891248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32344" y="1064872"/>
            <a:ext cx="8821356" cy="1623365"/>
          </a:xfrm>
        </p:spPr>
        <p:txBody>
          <a:bodyPr>
            <a:normAutofit/>
          </a:bodyPr>
          <a:lstStyle/>
          <a:p>
            <a:r>
              <a:rPr lang="en-US" dirty="0"/>
              <a:t>DM captures the information accurately and robustly, but not for visualization</a:t>
            </a:r>
          </a:p>
          <a:p>
            <a:r>
              <a:rPr lang="en-US" dirty="0"/>
              <a:t>DM tends to place the structure in higher dimensions</a:t>
            </a:r>
          </a:p>
          <a:p>
            <a:r>
              <a:rPr lang="en-US" dirty="0"/>
              <a:t>DM can also be unstable with boundaries and intersections</a:t>
            </a:r>
          </a:p>
          <a:p>
            <a:pPr lvl="1"/>
            <a:endParaRPr lang="en-US" dirty="0"/>
          </a:p>
        </p:txBody>
      </p:sp>
      <p:sp>
        <p:nvSpPr>
          <p:cNvPr id="3" name="Title 2"/>
          <p:cNvSpPr>
            <a:spLocks noGrp="1"/>
          </p:cNvSpPr>
          <p:nvPr>
            <p:ph type="title"/>
          </p:nvPr>
        </p:nvSpPr>
        <p:spPr>
          <a:xfrm>
            <a:off x="700635" y="125730"/>
            <a:ext cx="10691265" cy="1307592"/>
          </a:xfrm>
        </p:spPr>
        <p:txBody>
          <a:bodyPr/>
          <a:lstStyle/>
          <a:p>
            <a:r>
              <a:rPr lang="en-US" dirty="0"/>
              <a:t>Visualization with Diffusion Maps</a:t>
            </a:r>
          </a:p>
        </p:txBody>
      </p:sp>
      <p:pic>
        <p:nvPicPr>
          <p:cNvPr id="4" name="Picture 3"/>
          <p:cNvPicPr>
            <a:picLocks noChangeAspect="1"/>
          </p:cNvPicPr>
          <p:nvPr/>
        </p:nvPicPr>
        <p:blipFill rotWithShape="1">
          <a:blip r:embed="rId2"/>
          <a:srcRect l="54511" t="37022" r="25498" b="26393"/>
          <a:stretch/>
        </p:blipFill>
        <p:spPr>
          <a:xfrm>
            <a:off x="6753726" y="3096124"/>
            <a:ext cx="3625516" cy="3561349"/>
          </a:xfrm>
          <a:prstGeom prst="rect">
            <a:avLst/>
          </a:prstGeom>
        </p:spPr>
      </p:pic>
      <p:sp>
        <p:nvSpPr>
          <p:cNvPr id="5" name="TextBox 4"/>
          <p:cNvSpPr txBox="1"/>
          <p:nvPr/>
        </p:nvSpPr>
        <p:spPr>
          <a:xfrm>
            <a:off x="6982646" y="2637299"/>
            <a:ext cx="2448910" cy="369332"/>
          </a:xfrm>
          <a:prstGeom prst="rect">
            <a:avLst/>
          </a:prstGeom>
          <a:noFill/>
        </p:spPr>
        <p:txBody>
          <a:bodyPr wrap="square" rtlCol="0">
            <a:spAutoFit/>
          </a:bodyPr>
          <a:lstStyle/>
          <a:p>
            <a:pPr algn="ctr"/>
            <a:r>
              <a:rPr lang="en-US" dirty="0"/>
              <a:t>Diffusion Maps</a:t>
            </a:r>
          </a:p>
        </p:txBody>
      </p:sp>
      <p:pic>
        <p:nvPicPr>
          <p:cNvPr id="6" name="Content Placeholder 4"/>
          <p:cNvPicPr>
            <a:picLocks noChangeAspect="1"/>
          </p:cNvPicPr>
          <p:nvPr/>
        </p:nvPicPr>
        <p:blipFill>
          <a:blip r:embed="rId3"/>
          <a:stretch>
            <a:fillRect/>
          </a:stretch>
        </p:blipFill>
        <p:spPr>
          <a:xfrm>
            <a:off x="2150710" y="2816225"/>
            <a:ext cx="3286125" cy="3048000"/>
          </a:xfrm>
          <a:prstGeom prst="rect">
            <a:avLst/>
          </a:prstGeom>
        </p:spPr>
      </p:pic>
      <p:sp>
        <p:nvSpPr>
          <p:cNvPr id="7" name="TextBox 6"/>
          <p:cNvSpPr txBox="1"/>
          <p:nvPr/>
        </p:nvSpPr>
        <p:spPr>
          <a:xfrm>
            <a:off x="1524000" y="2991709"/>
            <a:ext cx="2448910" cy="369332"/>
          </a:xfrm>
          <a:prstGeom prst="rect">
            <a:avLst/>
          </a:prstGeom>
          <a:noFill/>
        </p:spPr>
        <p:txBody>
          <a:bodyPr wrap="square" rtlCol="0">
            <a:spAutoFit/>
          </a:bodyPr>
          <a:lstStyle/>
          <a:p>
            <a:pPr algn="ctr"/>
            <a:r>
              <a:rPr lang="en-US" dirty="0"/>
              <a:t>Artificial Tree Data</a:t>
            </a:r>
          </a:p>
        </p:txBody>
      </p:sp>
      <p:sp>
        <p:nvSpPr>
          <p:cNvPr id="8" name="TextBox 7"/>
          <p:cNvSpPr txBox="1"/>
          <p:nvPr/>
        </p:nvSpPr>
        <p:spPr>
          <a:xfrm>
            <a:off x="2360012" y="6186184"/>
            <a:ext cx="2867518" cy="369332"/>
          </a:xfrm>
          <a:prstGeom prst="rect">
            <a:avLst/>
          </a:prstGeom>
          <a:noFill/>
        </p:spPr>
        <p:txBody>
          <a:bodyPr wrap="square" rtlCol="0">
            <a:spAutoFit/>
          </a:bodyPr>
          <a:lstStyle/>
          <a:p>
            <a:pPr algn="ctr"/>
            <a:r>
              <a:rPr lang="en-US" dirty="0"/>
              <a:t>1400 points, 60 dimensions</a:t>
            </a:r>
          </a:p>
        </p:txBody>
      </p:sp>
    </p:spTree>
    <p:extLst>
      <p:ext uri="{BB962C8B-B14F-4D97-AF65-F5344CB8AC3E}">
        <p14:creationId xmlns:p14="http://schemas.microsoft.com/office/powerpoint/2010/main" val="3300210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5" grpId="0"/>
      <p:bldP spid="7"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00635" y="914400"/>
            <a:ext cx="11792355" cy="1307592"/>
          </a:xfrm>
        </p:spPr>
        <p:txBody>
          <a:bodyPr>
            <a:normAutofit/>
          </a:bodyPr>
          <a:lstStyle/>
          <a:p>
            <a:r>
              <a:rPr lang="en-US" sz="4400" dirty="0"/>
              <a:t>PHATE</a:t>
            </a:r>
            <a:br>
              <a:rPr lang="en-US" sz="4400" dirty="0"/>
            </a:br>
            <a:r>
              <a:rPr lang="en-US" sz="2200" dirty="0"/>
              <a:t>(Potential of Heat-diffusion for Affinity-based Transition Embedding)</a:t>
            </a:r>
            <a:endParaRPr lang="en-US" dirty="0"/>
          </a:p>
        </p:txBody>
      </p:sp>
      <p:sp>
        <p:nvSpPr>
          <p:cNvPr id="3" name="Content Placeholder 2"/>
          <p:cNvSpPr>
            <a:spLocks noGrp="1"/>
          </p:cNvSpPr>
          <p:nvPr>
            <p:ph idx="1"/>
          </p:nvPr>
        </p:nvSpPr>
        <p:spPr>
          <a:xfrm>
            <a:off x="700635" y="2016252"/>
            <a:ext cx="10691265" cy="3739896"/>
          </a:xfrm>
        </p:spPr>
        <p:txBody>
          <a:bodyPr/>
          <a:lstStyle/>
          <a:p>
            <a:pPr marL="0" indent="0">
              <a:buNone/>
            </a:pPr>
            <a:r>
              <a:rPr lang="en-US" b="1" dirty="0"/>
              <a:t>Visualizing Structure and Transitions in High-Dimensional Biological Data </a:t>
            </a:r>
            <a:r>
              <a:rPr lang="en-US" dirty="0"/>
              <a:t>(Nature Biotechnology, 2019)</a:t>
            </a:r>
          </a:p>
          <a:p>
            <a:r>
              <a:rPr lang="en-US" dirty="0"/>
              <a:t>A method for visualizing data built off of the diffusion framework</a:t>
            </a:r>
          </a:p>
        </p:txBody>
      </p:sp>
      <p:pic>
        <p:nvPicPr>
          <p:cNvPr id="10" name="Content Placeholder 4"/>
          <p:cNvPicPr>
            <a:picLocks noChangeAspect="1"/>
          </p:cNvPicPr>
          <p:nvPr/>
        </p:nvPicPr>
        <p:blipFill>
          <a:blip r:embed="rId3"/>
          <a:stretch>
            <a:fillRect/>
          </a:stretch>
        </p:blipFill>
        <p:spPr>
          <a:xfrm>
            <a:off x="1562065" y="3436112"/>
            <a:ext cx="3286125" cy="3048000"/>
          </a:xfrm>
          <a:prstGeom prst="rect">
            <a:avLst/>
          </a:prstGeom>
        </p:spPr>
      </p:pic>
      <p:sp>
        <p:nvSpPr>
          <p:cNvPr id="11" name="TextBox 10"/>
          <p:cNvSpPr txBox="1"/>
          <p:nvPr/>
        </p:nvSpPr>
        <p:spPr>
          <a:xfrm>
            <a:off x="460975" y="3701534"/>
            <a:ext cx="2448910" cy="369332"/>
          </a:xfrm>
          <a:prstGeom prst="rect">
            <a:avLst/>
          </a:prstGeom>
          <a:noFill/>
        </p:spPr>
        <p:txBody>
          <a:bodyPr wrap="square" rtlCol="0">
            <a:spAutoFit/>
          </a:bodyPr>
          <a:lstStyle/>
          <a:p>
            <a:pPr algn="ctr"/>
            <a:r>
              <a:rPr lang="en-US" dirty="0"/>
              <a:t>Artificial Tree Data</a:t>
            </a:r>
          </a:p>
        </p:txBody>
      </p:sp>
      <p:pic>
        <p:nvPicPr>
          <p:cNvPr id="12" name="Content Placeholder 10"/>
          <p:cNvPicPr>
            <a:picLocks noChangeAspect="1"/>
          </p:cNvPicPr>
          <p:nvPr/>
        </p:nvPicPr>
        <p:blipFill>
          <a:blip r:embed="rId4"/>
          <a:stretch>
            <a:fillRect/>
          </a:stretch>
        </p:blipFill>
        <p:spPr>
          <a:xfrm>
            <a:off x="7674785" y="3335028"/>
            <a:ext cx="3543300" cy="3333750"/>
          </a:xfrm>
          <a:prstGeom prst="rect">
            <a:avLst/>
          </a:prstGeom>
        </p:spPr>
      </p:pic>
      <p:sp>
        <p:nvSpPr>
          <p:cNvPr id="13" name="TextBox 12"/>
          <p:cNvSpPr txBox="1"/>
          <p:nvPr/>
        </p:nvSpPr>
        <p:spPr>
          <a:xfrm>
            <a:off x="8094805" y="2777097"/>
            <a:ext cx="2448910" cy="369332"/>
          </a:xfrm>
          <a:prstGeom prst="rect">
            <a:avLst/>
          </a:prstGeom>
          <a:noFill/>
        </p:spPr>
        <p:txBody>
          <a:bodyPr wrap="square" rtlCol="0">
            <a:spAutoFit/>
          </a:bodyPr>
          <a:lstStyle/>
          <a:p>
            <a:pPr algn="ctr"/>
            <a:r>
              <a:rPr lang="en-US" b="1" dirty="0"/>
              <a:t>PHATE</a:t>
            </a:r>
          </a:p>
        </p:txBody>
      </p:sp>
      <p:sp>
        <p:nvSpPr>
          <p:cNvPr id="14" name="TextBox 13"/>
          <p:cNvSpPr txBox="1"/>
          <p:nvPr/>
        </p:nvSpPr>
        <p:spPr>
          <a:xfrm>
            <a:off x="1885667" y="6484112"/>
            <a:ext cx="2867518" cy="369332"/>
          </a:xfrm>
          <a:prstGeom prst="rect">
            <a:avLst/>
          </a:prstGeom>
          <a:noFill/>
        </p:spPr>
        <p:txBody>
          <a:bodyPr wrap="square" rtlCol="0">
            <a:spAutoFit/>
          </a:bodyPr>
          <a:lstStyle/>
          <a:p>
            <a:pPr algn="ctr"/>
            <a:r>
              <a:rPr lang="en-US" dirty="0"/>
              <a:t>1400 points, 60 dimensions</a:t>
            </a:r>
          </a:p>
        </p:txBody>
      </p:sp>
    </p:spTree>
    <p:extLst>
      <p:ext uri="{BB962C8B-B14F-4D97-AF65-F5344CB8AC3E}">
        <p14:creationId xmlns:p14="http://schemas.microsoft.com/office/powerpoint/2010/main" val="427905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7934" y="1112520"/>
            <a:ext cx="8926990" cy="5044440"/>
          </a:xfrm>
        </p:spPr>
      </p:pic>
      <p:sp>
        <p:nvSpPr>
          <p:cNvPr id="4" name="Title 3"/>
          <p:cNvSpPr>
            <a:spLocks noGrp="1"/>
          </p:cNvSpPr>
          <p:nvPr>
            <p:ph type="title"/>
          </p:nvPr>
        </p:nvSpPr>
        <p:spPr>
          <a:xfrm>
            <a:off x="750367" y="16911"/>
            <a:ext cx="10691265" cy="1307592"/>
          </a:xfrm>
        </p:spPr>
        <p:txBody>
          <a:bodyPr/>
          <a:lstStyle/>
          <a:p>
            <a:r>
              <a:rPr lang="en-US" dirty="0"/>
              <a:t>The PHATE Algorithm</a:t>
            </a:r>
          </a:p>
        </p:txBody>
      </p:sp>
      <p:sp>
        <p:nvSpPr>
          <p:cNvPr id="6" name="Rounded Rectangle 5"/>
          <p:cNvSpPr/>
          <p:nvPr/>
        </p:nvSpPr>
        <p:spPr>
          <a:xfrm>
            <a:off x="1657934" y="1278467"/>
            <a:ext cx="6556426" cy="2181013"/>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8732520" y="1112520"/>
            <a:ext cx="1852404" cy="4785360"/>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657934" y="3634740"/>
            <a:ext cx="6556426" cy="2346960"/>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633127" y="865656"/>
            <a:ext cx="2606040" cy="646331"/>
          </a:xfrm>
          <a:prstGeom prst="rect">
            <a:avLst/>
          </a:prstGeom>
          <a:noFill/>
        </p:spPr>
        <p:txBody>
          <a:bodyPr wrap="square" rtlCol="0">
            <a:spAutoFit/>
          </a:bodyPr>
          <a:lstStyle/>
          <a:p>
            <a:r>
              <a:rPr lang="en-US" dirty="0">
                <a:solidFill>
                  <a:srgbClr val="FF0000"/>
                </a:solidFill>
              </a:rPr>
              <a:t>Encode local information</a:t>
            </a:r>
          </a:p>
        </p:txBody>
      </p:sp>
      <p:sp>
        <p:nvSpPr>
          <p:cNvPr id="10" name="TextBox 9"/>
          <p:cNvSpPr txBox="1"/>
          <p:nvPr/>
        </p:nvSpPr>
        <p:spPr>
          <a:xfrm>
            <a:off x="8619067" y="5841390"/>
            <a:ext cx="2048933" cy="923330"/>
          </a:xfrm>
          <a:prstGeom prst="rect">
            <a:avLst/>
          </a:prstGeom>
          <a:noFill/>
        </p:spPr>
        <p:txBody>
          <a:bodyPr wrap="square" rtlCol="0">
            <a:spAutoFit/>
          </a:bodyPr>
          <a:lstStyle/>
          <a:p>
            <a:pPr algn="ctr"/>
            <a:r>
              <a:rPr lang="en-US" dirty="0">
                <a:solidFill>
                  <a:srgbClr val="FF0000"/>
                </a:solidFill>
              </a:rPr>
              <a:t>Learn global information and </a:t>
            </a:r>
            <a:r>
              <a:rPr lang="en-US" dirty="0" err="1">
                <a:solidFill>
                  <a:srgbClr val="FF0000"/>
                </a:solidFill>
              </a:rPr>
              <a:t>denoise</a:t>
            </a:r>
            <a:endParaRPr lang="en-US" dirty="0">
              <a:solidFill>
                <a:srgbClr val="FF0000"/>
              </a:solidFill>
            </a:endParaRPr>
          </a:p>
        </p:txBody>
      </p:sp>
      <p:sp>
        <p:nvSpPr>
          <p:cNvPr id="11" name="TextBox 10"/>
          <p:cNvSpPr txBox="1"/>
          <p:nvPr/>
        </p:nvSpPr>
        <p:spPr>
          <a:xfrm>
            <a:off x="3488810" y="6091509"/>
            <a:ext cx="2894674" cy="646331"/>
          </a:xfrm>
          <a:prstGeom prst="rect">
            <a:avLst/>
          </a:prstGeom>
          <a:noFill/>
        </p:spPr>
        <p:txBody>
          <a:bodyPr wrap="square" rtlCol="0">
            <a:spAutoFit/>
          </a:bodyPr>
          <a:lstStyle/>
          <a:p>
            <a:r>
              <a:rPr lang="en-US" dirty="0">
                <a:solidFill>
                  <a:srgbClr val="FF0000"/>
                </a:solidFill>
              </a:rPr>
              <a:t>Transform to low dimensions</a:t>
            </a:r>
          </a:p>
        </p:txBody>
      </p:sp>
    </p:spTree>
    <p:extLst>
      <p:ext uri="{BB962C8B-B14F-4D97-AF65-F5344CB8AC3E}">
        <p14:creationId xmlns:p14="http://schemas.microsoft.com/office/powerpoint/2010/main" val="142575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6"/>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7"/>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0"/>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9" grpId="0"/>
      <p:bldP spid="9" grpId="1"/>
      <p:bldP spid="10" grpId="0"/>
      <p:bldP spid="10" grpId="1"/>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86144" y="1921174"/>
            <a:ext cx="4814656" cy="5215911"/>
          </a:xfrm>
        </p:spPr>
        <p:txBody>
          <a:bodyPr/>
          <a:lstStyle/>
          <a:p>
            <a:r>
              <a:rPr lang="en-US" dirty="0"/>
              <a:t>Frey Faces dataset</a:t>
            </a:r>
          </a:p>
          <a:p>
            <a:pPr lvl="1"/>
            <a:r>
              <a:rPr lang="en-US" dirty="0"/>
              <a:t>1965 frames taken from a video of Brendan Frey making various faces in front of a camera</a:t>
            </a:r>
          </a:p>
          <a:p>
            <a:pPr lvl="1"/>
            <a:r>
              <a:rPr lang="en-US" dirty="0"/>
              <a:t>Resolution: 20x28</a:t>
            </a:r>
          </a:p>
          <a:p>
            <a:r>
              <a:rPr lang="en-US" dirty="0"/>
              <a:t>Frames are given out of order to PHATE w/o information about sequential ordering</a:t>
            </a:r>
          </a:p>
        </p:txBody>
      </p:sp>
      <p:sp>
        <p:nvSpPr>
          <p:cNvPr id="4" name="Title 3"/>
          <p:cNvSpPr>
            <a:spLocks noGrp="1"/>
          </p:cNvSpPr>
          <p:nvPr>
            <p:ph type="title"/>
          </p:nvPr>
        </p:nvSpPr>
        <p:spPr/>
        <p:txBody>
          <a:bodyPr/>
          <a:lstStyle/>
          <a:p>
            <a:r>
              <a:rPr lang="en-US" dirty="0"/>
              <a:t>PHATE on Frey Faces</a:t>
            </a:r>
          </a:p>
        </p:txBody>
      </p:sp>
      <p:pic>
        <p:nvPicPr>
          <p:cNvPr id="5" name="Picture 4"/>
          <p:cNvPicPr>
            <a:picLocks noChangeAspect="1"/>
          </p:cNvPicPr>
          <p:nvPr/>
        </p:nvPicPr>
        <p:blipFill rotWithShape="1">
          <a:blip r:embed="rId3"/>
          <a:srcRect l="24872" t="21004" r="7009" b="2636"/>
          <a:stretch/>
        </p:blipFill>
        <p:spPr>
          <a:xfrm>
            <a:off x="6919518" y="1630682"/>
            <a:ext cx="3748483" cy="4297679"/>
          </a:xfrm>
          <a:prstGeom prst="rect">
            <a:avLst/>
          </a:prstGeom>
        </p:spPr>
      </p:pic>
    </p:spTree>
    <p:extLst>
      <p:ext uri="{BB962C8B-B14F-4D97-AF65-F5344CB8AC3E}">
        <p14:creationId xmlns:p14="http://schemas.microsoft.com/office/powerpoint/2010/main" val="26111650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2938464" y="1258889"/>
            <a:ext cx="6315075" cy="4619625"/>
          </a:xfrm>
          <a:prstGeom prst="rect">
            <a:avLst/>
          </a:prstGeom>
        </p:spPr>
      </p:pic>
      <p:sp>
        <p:nvSpPr>
          <p:cNvPr id="4" name="Title 3"/>
          <p:cNvSpPr>
            <a:spLocks noGrp="1"/>
          </p:cNvSpPr>
          <p:nvPr>
            <p:ph type="title"/>
          </p:nvPr>
        </p:nvSpPr>
        <p:spPr/>
        <p:txBody>
          <a:bodyPr/>
          <a:lstStyle/>
          <a:p>
            <a:r>
              <a:rPr lang="en-US" dirty="0"/>
              <a:t>PHATE on Frey Faces</a:t>
            </a:r>
          </a:p>
        </p:txBody>
      </p:sp>
    </p:spTree>
    <p:extLst>
      <p:ext uri="{BB962C8B-B14F-4D97-AF65-F5344CB8AC3E}">
        <p14:creationId xmlns:p14="http://schemas.microsoft.com/office/powerpoint/2010/main" val="40016114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PHATE on Frey Faces</a:t>
            </a:r>
          </a:p>
        </p:txBody>
      </p:sp>
      <p:pic>
        <p:nvPicPr>
          <p:cNvPr id="8" name="FreyVideoTongue">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2300438" y="1874953"/>
            <a:ext cx="7177289" cy="4068647"/>
          </a:xfrm>
        </p:spPr>
      </p:pic>
    </p:spTree>
    <p:extLst>
      <p:ext uri="{BB962C8B-B14F-4D97-AF65-F5344CB8AC3E}">
        <p14:creationId xmlns:p14="http://schemas.microsoft.com/office/powerpoint/2010/main" val="254191178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8"/>
                                        </p:tgtEl>
                                      </p:cBhvr>
                                    </p:cmd>
                                  </p:childTnLst>
                                </p:cTn>
                              </p:par>
                            </p:childTnLst>
                          </p:cTn>
                        </p:par>
                      </p:childTnLst>
                    </p:cTn>
                  </p:par>
                </p:childTnLst>
              </p:cTn>
              <p:nextCondLst>
                <p:cond evt="onClick" delay="0">
                  <p:tgtEl>
                    <p:spTgt spid="8"/>
                  </p:tgtEl>
                </p:cond>
              </p:nextCondLst>
            </p:seq>
            <p:video>
              <p:cMediaNode vol="80000">
                <p:cTn id="7" fill="hold" display="0">
                  <p:stCondLst>
                    <p:cond delay="indefinite"/>
                  </p:stCondLst>
                </p:cTn>
                <p:tgtEl>
                  <p:spTgt spid="8"/>
                </p:tgtEl>
              </p:cMediaNode>
            </p:vide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7934" y="1112520"/>
            <a:ext cx="8926990" cy="5044440"/>
          </a:xfrm>
        </p:spPr>
      </p:pic>
      <p:sp>
        <p:nvSpPr>
          <p:cNvPr id="4" name="Title 3"/>
          <p:cNvSpPr>
            <a:spLocks noGrp="1"/>
          </p:cNvSpPr>
          <p:nvPr>
            <p:ph type="title"/>
          </p:nvPr>
        </p:nvSpPr>
        <p:spPr>
          <a:xfrm>
            <a:off x="681384" y="47244"/>
            <a:ext cx="10691265" cy="1307592"/>
          </a:xfrm>
        </p:spPr>
        <p:txBody>
          <a:bodyPr/>
          <a:lstStyle/>
          <a:p>
            <a:r>
              <a:rPr lang="en-US" dirty="0"/>
              <a:t>The PHATE Algorithm</a:t>
            </a:r>
          </a:p>
        </p:txBody>
      </p:sp>
      <p:sp>
        <p:nvSpPr>
          <p:cNvPr id="6" name="Rounded Rectangle 5"/>
          <p:cNvSpPr/>
          <p:nvPr/>
        </p:nvSpPr>
        <p:spPr>
          <a:xfrm>
            <a:off x="1657934" y="1278467"/>
            <a:ext cx="6556426" cy="2181013"/>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350925" y="865172"/>
            <a:ext cx="3170444" cy="646331"/>
          </a:xfrm>
          <a:prstGeom prst="rect">
            <a:avLst/>
          </a:prstGeom>
          <a:noFill/>
        </p:spPr>
        <p:txBody>
          <a:bodyPr wrap="square" rtlCol="0">
            <a:spAutoFit/>
          </a:bodyPr>
          <a:lstStyle/>
          <a:p>
            <a:r>
              <a:rPr lang="en-US" dirty="0">
                <a:solidFill>
                  <a:srgbClr val="FF0000"/>
                </a:solidFill>
              </a:rPr>
              <a:t>Capturing Local Neighborhoods</a:t>
            </a:r>
          </a:p>
        </p:txBody>
      </p:sp>
    </p:spTree>
    <p:extLst>
      <p:ext uri="{BB962C8B-B14F-4D97-AF65-F5344CB8AC3E}">
        <p14:creationId xmlns:p14="http://schemas.microsoft.com/office/powerpoint/2010/main" val="42820981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Capturing local neighborhoods</a:t>
            </a:r>
          </a:p>
        </p:txBody>
      </p:sp>
      <p:pic>
        <p:nvPicPr>
          <p:cNvPr id="6" name="Content Placeholder 5"/>
          <p:cNvPicPr>
            <a:picLocks noChangeAspect="1"/>
          </p:cNvPicPr>
          <p:nvPr/>
        </p:nvPicPr>
        <p:blipFill>
          <a:blip r:embed="rId3"/>
          <a:srcRect l="-22636" r="-22636"/>
          <a:stretch>
            <a:fillRect/>
          </a:stretch>
        </p:blipFill>
        <p:spPr>
          <a:xfrm>
            <a:off x="1981200" y="996206"/>
            <a:ext cx="8229600" cy="4525963"/>
          </a:xfrm>
          <a:prstGeom prst="rect">
            <a:avLst/>
          </a:prstGeom>
        </p:spPr>
      </p:pic>
      <p:cxnSp>
        <p:nvCxnSpPr>
          <p:cNvPr id="7" name="Straight Arrow Connector 6"/>
          <p:cNvCxnSpPr/>
          <p:nvPr/>
        </p:nvCxnSpPr>
        <p:spPr>
          <a:xfrm>
            <a:off x="5939420" y="3161390"/>
            <a:ext cx="620888" cy="0"/>
          </a:xfrm>
          <a:prstGeom prst="straightConnector1">
            <a:avLst/>
          </a:prstGeom>
          <a:ln w="381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038199" y="2793282"/>
            <a:ext cx="397866" cy="584775"/>
          </a:xfrm>
          <a:prstGeom prst="rect">
            <a:avLst/>
          </a:prstGeom>
          <a:noFill/>
        </p:spPr>
        <p:txBody>
          <a:bodyPr wrap="none" rtlCol="0">
            <a:spAutoFit/>
          </a:bodyPr>
          <a:lstStyle/>
          <a:p>
            <a:r>
              <a:rPr lang="en-US" sz="3200" dirty="0"/>
              <a:t>x</a:t>
            </a:r>
          </a:p>
        </p:txBody>
      </p:sp>
      <p:cxnSp>
        <p:nvCxnSpPr>
          <p:cNvPr id="9" name="Straight Arrow Connector 8"/>
          <p:cNvCxnSpPr/>
          <p:nvPr/>
        </p:nvCxnSpPr>
        <p:spPr>
          <a:xfrm flipH="1">
            <a:off x="5502147" y="3191398"/>
            <a:ext cx="115342" cy="564968"/>
          </a:xfrm>
          <a:prstGeom prst="straightConnector1">
            <a:avLst/>
          </a:prstGeom>
          <a:ln w="38100" cmpd="sng">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51270" y="5296586"/>
            <a:ext cx="9408922" cy="461665"/>
          </a:xfrm>
          <a:prstGeom prst="rect">
            <a:avLst/>
          </a:prstGeom>
          <a:noFill/>
        </p:spPr>
        <p:txBody>
          <a:bodyPr wrap="none" rtlCol="0">
            <a:spAutoFit/>
          </a:bodyPr>
          <a:lstStyle/>
          <a:p>
            <a:pPr marL="285750" indent="-285750">
              <a:buFont typeface="Arial"/>
              <a:buChar char="•"/>
            </a:pPr>
            <a:r>
              <a:rPr lang="en-US" sz="2400" dirty="0"/>
              <a:t>Large Euclidean distance gives wrong global structure for visualizing</a:t>
            </a:r>
          </a:p>
        </p:txBody>
      </p:sp>
      <p:sp>
        <p:nvSpPr>
          <p:cNvPr id="11" name="Rectangle 10"/>
          <p:cNvSpPr/>
          <p:nvPr/>
        </p:nvSpPr>
        <p:spPr>
          <a:xfrm>
            <a:off x="1849744" y="5789643"/>
            <a:ext cx="4273927" cy="830997"/>
          </a:xfrm>
          <a:prstGeom prst="rect">
            <a:avLst/>
          </a:prstGeom>
        </p:spPr>
        <p:txBody>
          <a:bodyPr wrap="none">
            <a:spAutoFit/>
          </a:bodyPr>
          <a:lstStyle/>
          <a:p>
            <a:pPr marL="285750" indent="-285750">
              <a:buFont typeface="Arial"/>
              <a:buChar char="•"/>
            </a:pPr>
            <a:r>
              <a:rPr lang="en-US" sz="2400" dirty="0"/>
              <a:t>Small Euclidean distances ok</a:t>
            </a:r>
          </a:p>
          <a:p>
            <a:pPr marL="742950" lvl="1" indent="-285750">
              <a:buFont typeface="Arial"/>
              <a:buChar char="•"/>
            </a:pPr>
            <a:r>
              <a:rPr lang="en-US" sz="2400" dirty="0"/>
              <a:t>Encodes local structure</a:t>
            </a:r>
          </a:p>
        </p:txBody>
      </p:sp>
    </p:spTree>
    <p:extLst>
      <p:ext uri="{BB962C8B-B14F-4D97-AF65-F5344CB8AC3E}">
        <p14:creationId xmlns:p14="http://schemas.microsoft.com/office/powerpoint/2010/main" val="38419444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Step 1: Calculate all pairwise Euclidean distances</a:t>
            </a:r>
          </a:p>
          <a:p>
            <a:r>
              <a:rPr lang="en-US" dirty="0"/>
              <a:t>Step 2: Convert the distances to pairwise affinities using a kernel function</a:t>
            </a:r>
          </a:p>
          <a:p>
            <a:pPr lvl="1"/>
            <a:r>
              <a:rPr lang="en-US" dirty="0"/>
              <a:t>E.g. the Gaussian kernel</a:t>
            </a:r>
          </a:p>
          <a:p>
            <a:pPr lvl="1"/>
            <a:r>
              <a:rPr lang="en-US" dirty="0"/>
              <a:t>Kernel function must be near zero for large distances and nonzero for small distances</a:t>
            </a:r>
          </a:p>
          <a:p>
            <a:pPr lvl="1"/>
            <a:r>
              <a:rPr lang="en-US" dirty="0"/>
              <a:t>Affinity: a measure of similarity between points</a:t>
            </a:r>
          </a:p>
          <a:p>
            <a:r>
              <a:rPr lang="en-US" b="1" dirty="0"/>
              <a:t>Problem</a:t>
            </a:r>
            <a:r>
              <a:rPr lang="en-US" dirty="0"/>
              <a:t>: many data have both dense and sparse regions</a:t>
            </a:r>
          </a:p>
          <a:p>
            <a:r>
              <a:rPr lang="en-US" dirty="0"/>
              <a:t>A kernel bandwidth fixed for dense regions doesn’t work well for sparse regions and vice versa</a:t>
            </a:r>
          </a:p>
          <a:p>
            <a:r>
              <a:rPr lang="en-US" dirty="0"/>
              <a:t>Idea: use locally adaptive bandwidth</a:t>
            </a:r>
          </a:p>
        </p:txBody>
      </p:sp>
      <p:sp>
        <p:nvSpPr>
          <p:cNvPr id="3" name="Title 2"/>
          <p:cNvSpPr>
            <a:spLocks noGrp="1"/>
          </p:cNvSpPr>
          <p:nvPr>
            <p:ph type="title"/>
          </p:nvPr>
        </p:nvSpPr>
        <p:spPr/>
        <p:txBody>
          <a:bodyPr/>
          <a:lstStyle/>
          <a:p>
            <a:r>
              <a:rPr lang="en-US" dirty="0"/>
              <a:t>From distances to affinities</a:t>
            </a:r>
          </a:p>
        </p:txBody>
      </p:sp>
    </p:spTree>
    <p:extLst>
      <p:ext uri="{BB962C8B-B14F-4D97-AF65-F5344CB8AC3E}">
        <p14:creationId xmlns:p14="http://schemas.microsoft.com/office/powerpoint/2010/main" val="154312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p:cNvSpPr>
                <a:spLocks noGrp="1"/>
              </p:cNvSpPr>
              <p:nvPr>
                <p:ph idx="1"/>
              </p:nvPr>
            </p:nvSpPr>
            <p:spPr/>
            <p:txBody>
              <a:bodyPr>
                <a:normAutofit/>
              </a:bodyPr>
              <a:lstStyle/>
              <a:p>
                <a:r>
                  <a:rPr lang="en-US" b="1" dirty="0"/>
                  <a:t>Adaptive </a:t>
                </a:r>
                <a14:m>
                  <m:oMath xmlns:m="http://schemas.openxmlformats.org/officeDocument/2006/math">
                    <m:r>
                      <a:rPr lang="en-US" b="1" i="1" smtClean="0">
                        <a:latin typeface="Cambria Math" panose="02040503050406030204" pitchFamily="18" charset="0"/>
                      </a:rPr>
                      <m:t>𝜶</m:t>
                    </m:r>
                  </m:oMath>
                </a14:m>
                <a:r>
                  <a:rPr lang="en-US" b="1" dirty="0"/>
                  <a:t>-decaying kernel</a:t>
                </a:r>
              </a:p>
              <a:p>
                <a:pPr marL="0" indent="0">
                  <a:buNone/>
                </a:pPr>
                <a14:m>
                  <m:oMathPara xmlns:m="http://schemas.openxmlformats.org/officeDocument/2006/math">
                    <m:oMathParaPr>
                      <m:jc m:val="centerGroup"/>
                    </m:oMathParaPr>
                    <m:oMath xmlns:m="http://schemas.openxmlformats.org/officeDocument/2006/math">
                      <m:acc>
                        <m:accPr>
                          <m:chr m:val="̃"/>
                          <m:ctrlPr>
                            <a:rPr lang="en-US" sz="2400" i="1" dirty="0">
                              <a:latin typeface="Cambria Math" panose="02040503050406030204" pitchFamily="18" charset="0"/>
                              <a:cs typeface="Helvetica"/>
                            </a:rPr>
                          </m:ctrlPr>
                        </m:accPr>
                        <m:e>
                          <m:r>
                            <a:rPr lang="en-US" sz="2400" i="1" dirty="0">
                              <a:latin typeface="Cambria Math" panose="02040503050406030204" pitchFamily="18" charset="0"/>
                              <a:cs typeface="Helvetica"/>
                            </a:rPr>
                            <m:t>𝑔</m:t>
                          </m:r>
                        </m:e>
                      </m:acc>
                      <m:d>
                        <m:dPr>
                          <m:ctrlPr>
                            <a:rPr lang="en-US" sz="2400" i="1" dirty="0">
                              <a:latin typeface="Cambria Math" panose="02040503050406030204" pitchFamily="18" charset="0"/>
                            </a:rPr>
                          </m:ctrlPr>
                        </m:dPr>
                        <m:e>
                          <m:r>
                            <a:rPr lang="en-US" sz="2400" i="1" dirty="0">
                              <a:latin typeface="Cambria Math" panose="02040503050406030204" pitchFamily="18" charset="0"/>
                            </a:rPr>
                            <m:t>𝑥</m:t>
                          </m:r>
                          <m:r>
                            <a:rPr lang="en-US" sz="2400" i="1" dirty="0">
                              <a:latin typeface="Cambria Math" panose="02040503050406030204" pitchFamily="18" charset="0"/>
                            </a:rPr>
                            <m:t>,</m:t>
                          </m:r>
                          <m:r>
                            <a:rPr lang="en-US" sz="2400" i="1" dirty="0">
                              <a:latin typeface="Cambria Math" panose="02040503050406030204" pitchFamily="18" charset="0"/>
                            </a:rPr>
                            <m:t>𝑦</m:t>
                          </m:r>
                        </m:e>
                      </m:d>
                      <m:r>
                        <a:rPr lang="en-US" sz="2400" i="1" dirty="0">
                          <a:latin typeface="Cambria Math" panose="02040503050406030204" pitchFamily="18" charset="0"/>
                        </a:rPr>
                        <m:t>=</m:t>
                      </m:r>
                      <m:func>
                        <m:funcPr>
                          <m:ctrlPr>
                            <a:rPr lang="en-US" sz="2400" i="1">
                              <a:latin typeface="Cambria Math" panose="02040503050406030204" pitchFamily="18" charset="0"/>
                              <a:cs typeface="Helvetica"/>
                            </a:rPr>
                          </m:ctrlPr>
                        </m:funcPr>
                        <m:fName>
                          <m:r>
                            <m:rPr>
                              <m:sty m:val="p"/>
                            </m:rPr>
                            <a:rPr lang="en-US" sz="2400">
                              <a:latin typeface="Cambria Math" panose="02040503050406030204" pitchFamily="18" charset="0"/>
                              <a:cs typeface="Helvetica"/>
                            </a:rPr>
                            <m:t>exp</m:t>
                          </m:r>
                        </m:fName>
                        <m:e>
                          <m:d>
                            <m:dPr>
                              <m:ctrlPr>
                                <a:rPr lang="en-US" sz="2400" i="1">
                                  <a:latin typeface="Cambria Math" panose="02040503050406030204" pitchFamily="18" charset="0"/>
                                  <a:cs typeface="Helvetica"/>
                                </a:rPr>
                              </m:ctrlPr>
                            </m:dPr>
                            <m:e>
                              <m:r>
                                <a:rPr lang="en-US" sz="2400" i="1">
                                  <a:latin typeface="Cambria Math" panose="02040503050406030204" pitchFamily="18" charset="0"/>
                                  <a:cs typeface="Helvetica"/>
                                </a:rPr>
                                <m:t>−</m:t>
                              </m:r>
                              <m:sSup>
                                <m:sSupPr>
                                  <m:ctrlPr>
                                    <a:rPr lang="en-US" sz="2400" i="1">
                                      <a:latin typeface="Cambria Math" panose="02040503050406030204" pitchFamily="18" charset="0"/>
                                      <a:cs typeface="Helvetica"/>
                                    </a:rPr>
                                  </m:ctrlPr>
                                </m:sSupPr>
                                <m:e>
                                  <m:d>
                                    <m:dPr>
                                      <m:ctrlPr>
                                        <a:rPr lang="en-US" sz="2400" i="1">
                                          <a:latin typeface="Cambria Math" panose="02040503050406030204" pitchFamily="18" charset="0"/>
                                          <a:cs typeface="Helvetica"/>
                                        </a:rPr>
                                      </m:ctrlPr>
                                    </m:dPr>
                                    <m:e>
                                      <m:f>
                                        <m:fPr>
                                          <m:ctrlPr>
                                            <a:rPr lang="en-US" sz="2400" i="1">
                                              <a:latin typeface="Cambria Math" panose="02040503050406030204" pitchFamily="18" charset="0"/>
                                              <a:cs typeface="Helvetica"/>
                                            </a:rPr>
                                          </m:ctrlPr>
                                        </m:fPr>
                                        <m:num>
                                          <m:r>
                                            <a:rPr lang="en-US" sz="2400" i="1">
                                              <a:latin typeface="Cambria Math" panose="02040503050406030204" pitchFamily="18" charset="0"/>
                                              <a:cs typeface="Helvetica"/>
                                            </a:rPr>
                                            <m:t>|</m:t>
                                          </m:r>
                                          <m:d>
                                            <m:dPr>
                                              <m:begChr m:val="|"/>
                                              <m:endChr m:val="|"/>
                                              <m:ctrlPr>
                                                <a:rPr lang="en-US" sz="2400" i="1">
                                                  <a:latin typeface="Cambria Math" panose="02040503050406030204" pitchFamily="18" charset="0"/>
                                                  <a:cs typeface="Helvetica"/>
                                                </a:rPr>
                                              </m:ctrlPr>
                                            </m:dPr>
                                            <m:e>
                                              <m:r>
                                                <a:rPr lang="en-US" sz="2400" i="1">
                                                  <a:latin typeface="Cambria Math" panose="02040503050406030204" pitchFamily="18" charset="0"/>
                                                  <a:cs typeface="Helvetica"/>
                                                </a:rPr>
                                                <m:t>𝑥</m:t>
                                              </m:r>
                                              <m:r>
                                                <a:rPr lang="en-US" sz="2400" i="1">
                                                  <a:latin typeface="Cambria Math" panose="02040503050406030204" pitchFamily="18" charset="0"/>
                                                  <a:cs typeface="Helvetica"/>
                                                </a:rPr>
                                                <m:t>−</m:t>
                                              </m:r>
                                              <m:r>
                                                <a:rPr lang="en-US" sz="2400" i="1">
                                                  <a:latin typeface="Cambria Math" panose="02040503050406030204" pitchFamily="18" charset="0"/>
                                                  <a:cs typeface="Helvetica"/>
                                                </a:rPr>
                                                <m:t>𝑦</m:t>
                                              </m:r>
                                            </m:e>
                                          </m:d>
                                          <m:r>
                                            <a:rPr lang="en-US" sz="2400" i="1">
                                              <a:latin typeface="Cambria Math" panose="02040503050406030204" pitchFamily="18" charset="0"/>
                                              <a:cs typeface="Helvetica"/>
                                            </a:rPr>
                                            <m:t>|</m:t>
                                          </m:r>
                                        </m:num>
                                        <m:den>
                                          <m:sSub>
                                            <m:sSubPr>
                                              <m:ctrlPr>
                                                <a:rPr lang="en-US" sz="2400" b="1" i="1">
                                                  <a:solidFill>
                                                    <a:srgbClr val="FF0000"/>
                                                  </a:solidFill>
                                                  <a:latin typeface="Cambria Math" panose="02040503050406030204" pitchFamily="18" charset="0"/>
                                                  <a:cs typeface="Helvetica"/>
                                                </a:rPr>
                                              </m:ctrlPr>
                                            </m:sSubPr>
                                            <m:e>
                                              <m:r>
                                                <a:rPr lang="en-US" sz="2400" b="1" i="1">
                                                  <a:solidFill>
                                                    <a:srgbClr val="FF0000"/>
                                                  </a:solidFill>
                                                  <a:latin typeface="Cambria Math" panose="02040503050406030204" pitchFamily="18" charset="0"/>
                                                  <a:cs typeface="Helvetica"/>
                                                </a:rPr>
                                                <m:t>𝝐</m:t>
                                              </m:r>
                                            </m:e>
                                            <m:sub>
                                              <m:r>
                                                <a:rPr lang="en-US" sz="2400" b="1" i="1">
                                                  <a:solidFill>
                                                    <a:srgbClr val="FF0000"/>
                                                  </a:solidFill>
                                                  <a:latin typeface="Cambria Math" panose="02040503050406030204" pitchFamily="18" charset="0"/>
                                                  <a:cs typeface="Helvetica"/>
                                                </a:rPr>
                                                <m:t>𝒙</m:t>
                                              </m:r>
                                            </m:sub>
                                          </m:sSub>
                                        </m:den>
                                      </m:f>
                                    </m:e>
                                  </m:d>
                                </m:e>
                                <m:sup>
                                  <m:r>
                                    <a:rPr lang="en-US" sz="2400" b="1" i="1">
                                      <a:solidFill>
                                        <a:schemeClr val="accent6"/>
                                      </a:solidFill>
                                      <a:latin typeface="Cambria Math" panose="02040503050406030204" pitchFamily="18" charset="0"/>
                                      <a:cs typeface="Helvetica"/>
                                    </a:rPr>
                                    <m:t>𝜶</m:t>
                                  </m:r>
                                </m:sup>
                              </m:sSup>
                            </m:e>
                          </m:d>
                        </m:e>
                      </m:func>
                      <m:r>
                        <a:rPr lang="en-US" sz="2400" i="1">
                          <a:latin typeface="Cambria Math" panose="02040503050406030204" pitchFamily="18" charset="0"/>
                          <a:cs typeface="Helvetica"/>
                        </a:rPr>
                        <m:t>, →</m:t>
                      </m:r>
                      <m:r>
                        <a:rPr lang="en-US" sz="2400" i="1">
                          <a:latin typeface="Cambria Math" panose="02040503050406030204" pitchFamily="18" charset="0"/>
                          <a:cs typeface="Helvetica"/>
                        </a:rPr>
                        <m:t>𝑔</m:t>
                      </m:r>
                      <m:d>
                        <m:dPr>
                          <m:ctrlPr>
                            <a:rPr lang="en-US" sz="2400" i="1">
                              <a:latin typeface="Cambria Math" panose="02040503050406030204" pitchFamily="18" charset="0"/>
                              <a:cs typeface="Helvetica"/>
                            </a:rPr>
                          </m:ctrlPr>
                        </m:dPr>
                        <m:e>
                          <m:r>
                            <a:rPr lang="en-US" sz="2400" i="1">
                              <a:latin typeface="Cambria Math" panose="02040503050406030204" pitchFamily="18" charset="0"/>
                              <a:cs typeface="Helvetica"/>
                            </a:rPr>
                            <m:t>𝑥</m:t>
                          </m:r>
                          <m:r>
                            <a:rPr lang="en-US" sz="2400" i="1">
                              <a:latin typeface="Cambria Math" panose="02040503050406030204" pitchFamily="18" charset="0"/>
                              <a:cs typeface="Helvetica"/>
                            </a:rPr>
                            <m:t>,</m:t>
                          </m:r>
                          <m:r>
                            <a:rPr lang="en-US" sz="2400" i="1">
                              <a:latin typeface="Cambria Math" panose="02040503050406030204" pitchFamily="18" charset="0"/>
                              <a:cs typeface="Helvetica"/>
                            </a:rPr>
                            <m:t>𝑦</m:t>
                          </m:r>
                        </m:e>
                      </m:d>
                      <m:r>
                        <a:rPr lang="en-US" sz="2400" i="1">
                          <a:latin typeface="Cambria Math" panose="02040503050406030204" pitchFamily="18" charset="0"/>
                          <a:cs typeface="Helvetica"/>
                        </a:rPr>
                        <m:t>=</m:t>
                      </m:r>
                      <m:f>
                        <m:fPr>
                          <m:ctrlPr>
                            <a:rPr lang="en-US" sz="2400" i="1" dirty="0">
                              <a:latin typeface="Cambria Math" panose="02040503050406030204" pitchFamily="18" charset="0"/>
                              <a:cs typeface="Helvetica"/>
                            </a:rPr>
                          </m:ctrlPr>
                        </m:fPr>
                        <m:num>
                          <m:acc>
                            <m:accPr>
                              <m:chr m:val="̃"/>
                              <m:ctrlPr>
                                <a:rPr lang="en-US" sz="2400" i="1" dirty="0">
                                  <a:latin typeface="Cambria Math" panose="02040503050406030204" pitchFamily="18" charset="0"/>
                                  <a:cs typeface="Helvetica"/>
                                </a:rPr>
                              </m:ctrlPr>
                            </m:accPr>
                            <m:e>
                              <m:r>
                                <a:rPr lang="en-US" sz="2400" i="1" dirty="0">
                                  <a:latin typeface="Cambria Math" panose="02040503050406030204" pitchFamily="18" charset="0"/>
                                  <a:cs typeface="Helvetica"/>
                                </a:rPr>
                                <m:t>𝑔</m:t>
                              </m:r>
                            </m:e>
                          </m:acc>
                          <m:d>
                            <m:dPr>
                              <m:ctrlPr>
                                <a:rPr lang="en-US" sz="2400" i="1" dirty="0">
                                  <a:latin typeface="Cambria Math" panose="02040503050406030204" pitchFamily="18" charset="0"/>
                                </a:rPr>
                              </m:ctrlPr>
                            </m:dPr>
                            <m:e>
                              <m:r>
                                <a:rPr lang="en-US" sz="2400" i="1" dirty="0">
                                  <a:latin typeface="Cambria Math" panose="02040503050406030204" pitchFamily="18" charset="0"/>
                                </a:rPr>
                                <m:t>𝑥</m:t>
                              </m:r>
                              <m:r>
                                <a:rPr lang="en-US" sz="2400" i="1" dirty="0">
                                  <a:latin typeface="Cambria Math" panose="02040503050406030204" pitchFamily="18" charset="0"/>
                                </a:rPr>
                                <m:t>,</m:t>
                              </m:r>
                              <m:r>
                                <a:rPr lang="en-US" sz="2400" i="1" dirty="0">
                                  <a:latin typeface="Cambria Math" panose="02040503050406030204" pitchFamily="18" charset="0"/>
                                </a:rPr>
                                <m:t>𝑦</m:t>
                              </m:r>
                            </m:e>
                          </m:d>
                          <m:r>
                            <a:rPr lang="en-US" sz="2400" i="1" dirty="0">
                              <a:latin typeface="Cambria Math" panose="02040503050406030204" pitchFamily="18" charset="0"/>
                            </a:rPr>
                            <m:t>+</m:t>
                          </m:r>
                          <m:acc>
                            <m:accPr>
                              <m:chr m:val="̃"/>
                              <m:ctrlPr>
                                <a:rPr lang="en-US" sz="2400" i="1" dirty="0">
                                  <a:latin typeface="Cambria Math" panose="02040503050406030204" pitchFamily="18" charset="0"/>
                                  <a:cs typeface="Helvetica"/>
                                </a:rPr>
                              </m:ctrlPr>
                            </m:accPr>
                            <m:e>
                              <m:r>
                                <a:rPr lang="en-US" sz="2400" i="1" dirty="0">
                                  <a:latin typeface="Cambria Math" panose="02040503050406030204" pitchFamily="18" charset="0"/>
                                  <a:cs typeface="Helvetica"/>
                                </a:rPr>
                                <m:t>𝑔</m:t>
                              </m:r>
                            </m:e>
                          </m:acc>
                          <m:d>
                            <m:dPr>
                              <m:ctrlPr>
                                <a:rPr lang="en-US" sz="2400" i="1" dirty="0">
                                  <a:latin typeface="Cambria Math" panose="02040503050406030204" pitchFamily="18" charset="0"/>
                                </a:rPr>
                              </m:ctrlPr>
                            </m:dPr>
                            <m:e>
                              <m:r>
                                <a:rPr lang="en-US" sz="2400" i="1" dirty="0">
                                  <a:latin typeface="Cambria Math" panose="02040503050406030204" pitchFamily="18" charset="0"/>
                                </a:rPr>
                                <m:t>𝑦</m:t>
                              </m:r>
                              <m:r>
                                <a:rPr lang="en-US" sz="2400" i="1" dirty="0">
                                  <a:latin typeface="Cambria Math" panose="02040503050406030204" pitchFamily="18" charset="0"/>
                                </a:rPr>
                                <m:t>,</m:t>
                              </m:r>
                              <m:r>
                                <a:rPr lang="en-US" sz="2400" i="1" dirty="0">
                                  <a:latin typeface="Cambria Math" panose="02040503050406030204" pitchFamily="18" charset="0"/>
                                </a:rPr>
                                <m:t>𝑥</m:t>
                              </m:r>
                            </m:e>
                          </m:d>
                        </m:num>
                        <m:den>
                          <m:r>
                            <a:rPr lang="en-US" sz="2400" i="1" dirty="0">
                              <a:latin typeface="Cambria Math" panose="02040503050406030204" pitchFamily="18" charset="0"/>
                            </a:rPr>
                            <m:t>2</m:t>
                          </m:r>
                        </m:den>
                      </m:f>
                    </m:oMath>
                  </m:oMathPara>
                </a14:m>
                <a:endParaRPr lang="en-US" dirty="0"/>
              </a:p>
              <a:p>
                <a:pPr marL="0" indent="0">
                  <a:buNone/>
                </a:pPr>
                <a:r>
                  <a:rPr lang="en-US" dirty="0"/>
                  <a:t>Where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𝑥</m:t>
                        </m:r>
                      </m:sub>
                    </m:sSub>
                    <m:r>
                      <a:rPr lang="en-US" b="0" i="1" smtClean="0">
                        <a:latin typeface="Cambria Math" panose="02040503050406030204" pitchFamily="18" charset="0"/>
                      </a:rPr>
                      <m:t>=</m:t>
                    </m:r>
                  </m:oMath>
                </a14:m>
                <a:r>
                  <a:rPr lang="en-US" dirty="0">
                    <a:solidFill>
                      <a:srgbClr val="FF0000"/>
                    </a:solidFill>
                  </a:rPr>
                  <a:t> distance</a:t>
                </a:r>
                <a:r>
                  <a:rPr lang="en-US" dirty="0"/>
                  <a:t> from </a:t>
                </a:r>
                <a14:m>
                  <m:oMath xmlns:m="http://schemas.openxmlformats.org/officeDocument/2006/math">
                    <m:r>
                      <a:rPr lang="en-US" b="0" i="1" smtClean="0">
                        <a:latin typeface="Cambria Math" panose="02040503050406030204" pitchFamily="18" charset="0"/>
                      </a:rPr>
                      <m:t>𝑥</m:t>
                    </m:r>
                  </m:oMath>
                </a14:m>
                <a:r>
                  <a:rPr lang="en-US" dirty="0"/>
                  <a:t> to its </a:t>
                </a:r>
                <a14:m>
                  <m:oMath xmlns:m="http://schemas.openxmlformats.org/officeDocument/2006/math">
                    <m:r>
                      <a:rPr lang="en-US" b="0" i="1" smtClean="0">
                        <a:solidFill>
                          <a:srgbClr val="FF0000"/>
                        </a:solidFill>
                        <a:latin typeface="Cambria Math" panose="02040503050406030204" pitchFamily="18" charset="0"/>
                      </a:rPr>
                      <m:t>𝑘</m:t>
                    </m:r>
                  </m:oMath>
                </a14:m>
                <a:r>
                  <a:rPr lang="en-US" dirty="0" err="1">
                    <a:solidFill>
                      <a:srgbClr val="FF0000"/>
                    </a:solidFill>
                  </a:rPr>
                  <a:t>th</a:t>
                </a:r>
                <a:r>
                  <a:rPr lang="en-US" dirty="0">
                    <a:solidFill>
                      <a:srgbClr val="FF0000"/>
                    </a:solidFill>
                  </a:rPr>
                  <a:t> nearest neighbor</a:t>
                </a:r>
                <a:endParaRPr lang="en-US" dirty="0"/>
              </a:p>
              <a:p>
                <a14:m>
                  <m:oMath xmlns:m="http://schemas.openxmlformats.org/officeDocument/2006/math">
                    <m:r>
                      <a:rPr lang="en-US" b="0" i="1" smtClean="0">
                        <a:latin typeface="Cambria Math" panose="02040503050406030204" pitchFamily="18" charset="0"/>
                      </a:rPr>
                      <m:t>𝛼</m:t>
                    </m:r>
                  </m:oMath>
                </a14:m>
                <a:r>
                  <a:rPr lang="en-US" dirty="0"/>
                  <a:t> controls the </a:t>
                </a:r>
                <a:r>
                  <a:rPr lang="en-US" dirty="0">
                    <a:solidFill>
                      <a:schemeClr val="accent6"/>
                    </a:solidFill>
                  </a:rPr>
                  <a:t>decay rate </a:t>
                </a:r>
                <a:r>
                  <a:rPr lang="en-US" dirty="0"/>
                  <a:t>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𝑔</m:t>
                        </m:r>
                      </m:e>
                    </m:acc>
                  </m:oMath>
                </a14:m>
                <a:r>
                  <a:rPr lang="en-US" dirty="0"/>
                  <a:t> </a:t>
                </a:r>
              </a:p>
              <a:p>
                <a:r>
                  <a:rPr lang="en-US" dirty="0"/>
                  <a:t>Provides a robust notion of adaptive locality</a:t>
                </a:r>
              </a:p>
            </p:txBody>
          </p:sp>
        </mc:Choice>
        <mc:Fallback>
          <p:sp>
            <p:nvSpPr>
              <p:cNvPr id="2" name="Content Placeholder 1"/>
              <p:cNvSpPr>
                <a:spLocks noGrp="1" noRot="1" noChangeAspect="1" noMove="1" noResize="1" noEditPoints="1" noAdjustHandles="1" noChangeArrowheads="1" noChangeShapeType="1" noTextEdit="1"/>
              </p:cNvSpPr>
              <p:nvPr>
                <p:ph idx="1"/>
              </p:nvPr>
            </p:nvSpPr>
            <p:spPr>
              <a:blipFill>
                <a:blip r:embed="rId3"/>
                <a:stretch>
                  <a:fillRect l="-627" t="-816"/>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Capturing Local Neighborhoods</a:t>
            </a:r>
          </a:p>
        </p:txBody>
      </p:sp>
      <p:sp>
        <p:nvSpPr>
          <p:cNvPr id="5" name="Oval 4"/>
          <p:cNvSpPr/>
          <p:nvPr/>
        </p:nvSpPr>
        <p:spPr>
          <a:xfrm>
            <a:off x="4846943" y="3205843"/>
            <a:ext cx="402771" cy="4463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697925" y="2602269"/>
            <a:ext cx="348342" cy="380999"/>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5762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5"/>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7934" y="1112520"/>
            <a:ext cx="8926990" cy="5044440"/>
          </a:xfrm>
        </p:spPr>
      </p:pic>
      <p:sp>
        <p:nvSpPr>
          <p:cNvPr id="4" name="Title 3"/>
          <p:cNvSpPr>
            <a:spLocks noGrp="1"/>
          </p:cNvSpPr>
          <p:nvPr>
            <p:ph type="title"/>
          </p:nvPr>
        </p:nvSpPr>
        <p:spPr>
          <a:xfrm>
            <a:off x="750367" y="0"/>
            <a:ext cx="10691265" cy="1307592"/>
          </a:xfrm>
        </p:spPr>
        <p:txBody>
          <a:bodyPr/>
          <a:lstStyle/>
          <a:p>
            <a:r>
              <a:rPr lang="en-US" dirty="0"/>
              <a:t>The PHATE Algorithm</a:t>
            </a:r>
          </a:p>
        </p:txBody>
      </p:sp>
      <p:sp>
        <p:nvSpPr>
          <p:cNvPr id="7" name="Rounded Rectangle 6"/>
          <p:cNvSpPr/>
          <p:nvPr/>
        </p:nvSpPr>
        <p:spPr>
          <a:xfrm>
            <a:off x="8732520" y="1112520"/>
            <a:ext cx="1852404" cy="4785360"/>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8619067" y="5841390"/>
            <a:ext cx="2048933" cy="923330"/>
          </a:xfrm>
          <a:prstGeom prst="rect">
            <a:avLst/>
          </a:prstGeom>
          <a:noFill/>
        </p:spPr>
        <p:txBody>
          <a:bodyPr wrap="square" rtlCol="0">
            <a:spAutoFit/>
          </a:bodyPr>
          <a:lstStyle/>
          <a:p>
            <a:pPr algn="ctr"/>
            <a:r>
              <a:rPr lang="en-US" dirty="0">
                <a:solidFill>
                  <a:srgbClr val="FF0000"/>
                </a:solidFill>
              </a:rPr>
              <a:t>Learn global information and </a:t>
            </a:r>
            <a:r>
              <a:rPr lang="en-US" dirty="0" err="1">
                <a:solidFill>
                  <a:srgbClr val="FF0000"/>
                </a:solidFill>
              </a:rPr>
              <a:t>denoise</a:t>
            </a:r>
            <a:endParaRPr lang="en-US" dirty="0">
              <a:solidFill>
                <a:srgbClr val="FF0000"/>
              </a:solidFill>
            </a:endParaRPr>
          </a:p>
        </p:txBody>
      </p:sp>
    </p:spTree>
    <p:extLst>
      <p:ext uri="{BB962C8B-B14F-4D97-AF65-F5344CB8AC3E}">
        <p14:creationId xmlns:p14="http://schemas.microsoft.com/office/powerpoint/2010/main" val="23454667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O:\work\simulations\trajectory_multi_dimensional_space\07112011\louvain_points.png"/>
          <p:cNvPicPr>
            <a:picLocks noChangeAspect="1" noChangeArrowheads="1"/>
          </p:cNvPicPr>
          <p:nvPr/>
        </p:nvPicPr>
        <p:blipFill>
          <a:blip r:embed="rId3" cstate="print"/>
          <a:srcRect t="-6034" b="-6034"/>
          <a:stretch>
            <a:fillRect/>
          </a:stretch>
        </p:blipFill>
        <p:spPr bwMode="auto">
          <a:xfrm>
            <a:off x="1981201" y="1600201"/>
            <a:ext cx="3617785" cy="4054366"/>
          </a:xfrm>
          <a:prstGeom prst="rect">
            <a:avLst/>
          </a:prstGeom>
          <a:noFill/>
          <a:ln w="9525">
            <a:noFill/>
            <a:miter lim="800000"/>
            <a:headEnd/>
            <a:tailEnd/>
          </a:ln>
        </p:spPr>
      </p:pic>
      <p:sp>
        <p:nvSpPr>
          <p:cNvPr id="4" name="Title 3"/>
          <p:cNvSpPr>
            <a:spLocks noGrp="1"/>
          </p:cNvSpPr>
          <p:nvPr>
            <p:ph type="title"/>
          </p:nvPr>
        </p:nvSpPr>
        <p:spPr>
          <a:xfrm>
            <a:off x="477099" y="115503"/>
            <a:ext cx="10691265" cy="1307592"/>
          </a:xfrm>
        </p:spPr>
        <p:txBody>
          <a:bodyPr>
            <a:normAutofit/>
          </a:bodyPr>
          <a:lstStyle/>
          <a:p>
            <a:r>
              <a:rPr lang="en-US" sz="3600" dirty="0"/>
              <a:t>Diffusion </a:t>
            </a:r>
            <a:r>
              <a:rPr lang="en-US" sz="3600" dirty="0" err="1"/>
              <a:t>Denoises</a:t>
            </a:r>
            <a:r>
              <a:rPr lang="en-US" sz="3600" dirty="0"/>
              <a:t> and Recovers Global Structure</a:t>
            </a:r>
            <a:endParaRPr lang="en-US" dirty="0"/>
          </a:p>
        </p:txBody>
      </p:sp>
      <p:pic>
        <p:nvPicPr>
          <p:cNvPr id="5" name="Picture 4"/>
          <p:cNvPicPr>
            <a:picLocks noChangeAspect="1"/>
          </p:cNvPicPr>
          <p:nvPr/>
        </p:nvPicPr>
        <p:blipFill>
          <a:blip r:embed="rId4"/>
          <a:stretch>
            <a:fillRect/>
          </a:stretch>
        </p:blipFill>
        <p:spPr>
          <a:xfrm>
            <a:off x="2764082" y="3753683"/>
            <a:ext cx="364537" cy="615800"/>
          </a:xfrm>
          <a:prstGeom prst="rect">
            <a:avLst/>
          </a:prstGeom>
        </p:spPr>
      </p:pic>
      <mc:AlternateContent xmlns:mc="http://schemas.openxmlformats.org/markup-compatibility/2006" xmlns:a14="http://schemas.microsoft.com/office/drawing/2010/main">
        <mc:Choice Requires="a14">
          <p:sp>
            <p:nvSpPr>
              <p:cNvPr id="7" name="Content Placeholder 3"/>
              <p:cNvSpPr>
                <a:spLocks noGrp="1"/>
              </p:cNvSpPr>
              <p:nvPr>
                <p:ph sz="half" idx="4294967295"/>
              </p:nvPr>
            </p:nvSpPr>
            <p:spPr>
              <a:xfrm>
                <a:off x="5822732" y="1282262"/>
                <a:ext cx="4923327" cy="5297214"/>
              </a:xfrm>
              <a:prstGeom prst="rect">
                <a:avLst/>
              </a:prstGeom>
            </p:spPr>
            <p:txBody>
              <a:bodyPr>
                <a:normAutofit/>
              </a:bodyPr>
              <a:lstStyle/>
              <a:p>
                <a:pPr marL="285750" indent="-285750"/>
                <a:r>
                  <a:rPr lang="en-US" u="sng" dirty="0"/>
                  <a:t>Big Euclidean steps bad</a:t>
                </a:r>
                <a:r>
                  <a:rPr lang="en-US" dirty="0"/>
                  <a:t>, likely to exit structure</a:t>
                </a:r>
              </a:p>
              <a:p>
                <a:pPr marL="285750" indent="-285750"/>
                <a:r>
                  <a:rPr lang="en-US" u="sng" dirty="0"/>
                  <a:t>Small steps good</a:t>
                </a:r>
                <a:r>
                  <a:rPr lang="en-US" dirty="0"/>
                  <a:t>, likely to stay within structure</a:t>
                </a:r>
              </a:p>
              <a:p>
                <a:pPr marL="285750" indent="-285750"/>
                <a:r>
                  <a:rPr lang="en-US" dirty="0"/>
                  <a:t>To learn  global structure via small local steps we use random walk (diffusion)</a:t>
                </a:r>
              </a:p>
              <a:p>
                <a:pPr marL="742950" lvl="1" indent="-285750"/>
                <a:r>
                  <a:rPr lang="en-US" dirty="0"/>
                  <a:t>Normalize affinity matrix to create Markov transition matrix (the </a:t>
                </a:r>
                <a:r>
                  <a:rPr lang="en-US" u="sng" dirty="0"/>
                  <a:t>diffusion operator</a:t>
                </a:r>
                <a:r>
                  <a:rPr lang="en-US" dirty="0"/>
                  <a:t>) </a:t>
                </a:r>
                <a14:m>
                  <m:oMath xmlns:m="http://schemas.openxmlformats.org/officeDocument/2006/math">
                    <m:r>
                      <a:rPr lang="en-US" b="0" i="1" smtClean="0">
                        <a:latin typeface="Cambria Math" panose="02040503050406030204" pitchFamily="18" charset="0"/>
                      </a:rPr>
                      <m:t>𝑃</m:t>
                    </m:r>
                  </m:oMath>
                </a14:m>
                <a:r>
                  <a:rPr lang="en-US" dirty="0"/>
                  <a:t> (Coifman &amp; </a:t>
                </a:r>
                <a:r>
                  <a:rPr lang="en-US" dirty="0" err="1"/>
                  <a:t>Lafon</a:t>
                </a:r>
                <a:r>
                  <a:rPr lang="en-US" dirty="0"/>
                  <a:t>, </a:t>
                </a:r>
                <a:r>
                  <a:rPr lang="en-US" i="1" dirty="0"/>
                  <a:t>ACHA</a:t>
                </a:r>
                <a:r>
                  <a:rPr lang="en-US" dirty="0"/>
                  <a:t>, 2006)</a:t>
                </a:r>
              </a:p>
              <a:p>
                <a:pPr marL="742950" lvl="1" indent="-285750"/>
                <a:r>
                  <a:rPr lang="en-US" dirty="0"/>
                  <a:t>Power </a:t>
                </a:r>
                <a14:m>
                  <m:oMath xmlns:m="http://schemas.openxmlformats.org/officeDocument/2006/math">
                    <m:r>
                      <a:rPr lang="en-US" b="0" i="1" smtClean="0">
                        <a:latin typeface="Cambria Math" panose="02040503050406030204" pitchFamily="18" charset="0"/>
                      </a:rPr>
                      <m:t>𝑃</m:t>
                    </m:r>
                  </m:oMath>
                </a14:m>
                <a:r>
                  <a:rPr lang="en-US" dirty="0"/>
                  <a:t> by time step </a:t>
                </a:r>
                <a14:m>
                  <m:oMath xmlns:m="http://schemas.openxmlformats.org/officeDocument/2006/math">
                    <m:r>
                      <a:rPr lang="en-US" b="0" i="1" smtClean="0">
                        <a:latin typeface="Cambria Math" panose="02040503050406030204" pitchFamily="18" charset="0"/>
                      </a:rPr>
                      <m:t>𝑡</m:t>
                    </m:r>
                  </m:oMath>
                </a14:m>
                <a:endParaRPr lang="en-US" dirty="0"/>
              </a:p>
            </p:txBody>
          </p:sp>
        </mc:Choice>
        <mc:Fallback xmlns="">
          <p:sp>
            <p:nvSpPr>
              <p:cNvPr id="7" name="Content Placeholder 3"/>
              <p:cNvSpPr>
                <a:spLocks noGrp="1" noRot="1" noChangeAspect="1" noMove="1" noResize="1" noEditPoints="1" noAdjustHandles="1" noChangeArrowheads="1" noChangeShapeType="1" noTextEdit="1"/>
              </p:cNvSpPr>
              <p:nvPr>
                <p:ph sz="half" idx="4294967295"/>
              </p:nvPr>
            </p:nvSpPr>
            <p:spPr>
              <a:xfrm>
                <a:off x="5822732" y="1282262"/>
                <a:ext cx="4923327" cy="5297214"/>
              </a:xfrm>
              <a:prstGeom prst="rect">
                <a:avLst/>
              </a:prstGeom>
              <a:blipFill>
                <a:blip r:embed="rId5"/>
                <a:stretch>
                  <a:fillRect l="-1114" t="-460"/>
                </a:stretch>
              </a:blipFill>
            </p:spPr>
            <p:txBody>
              <a:bodyPr/>
              <a:lstStyle/>
              <a:p>
                <a:r>
                  <a:rPr lang="en-US">
                    <a:noFill/>
                  </a:rPr>
                  <a:t> </a:t>
                </a:r>
              </a:p>
            </p:txBody>
          </p:sp>
        </mc:Fallback>
      </mc:AlternateContent>
    </p:spTree>
    <p:extLst>
      <p:ext uri="{BB962C8B-B14F-4D97-AF65-F5344CB8AC3E}">
        <p14:creationId xmlns:p14="http://schemas.microsoft.com/office/powerpoint/2010/main" val="19263539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586144" y="1276740"/>
                <a:ext cx="9019712" cy="5215911"/>
              </a:xfrm>
            </p:spPr>
            <p:txBody>
              <a:bodyPr/>
              <a:lstStyle/>
              <a:p>
                <a:r>
                  <a:rPr lang="en-US" dirty="0"/>
                  <a:t>Von Neumann entropy (von Neumann, 1932) of diffused operator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𝑡</m:t>
                        </m:r>
                      </m:sup>
                    </m:sSup>
                  </m:oMath>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𝑉𝑁𝐸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𝑡</m:t>
                              </m:r>
                            </m:sup>
                          </m:sSup>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sub>
                        <m:sup/>
                        <m:e>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a:rPr lang="en-US" b="0" i="1" smtClean="0">
                                      <a:latin typeface="Cambria Math" panose="02040503050406030204" pitchFamily="18" charset="0"/>
                                    </a:rPr>
                                    <m:t>𝜂</m:t>
                                  </m:r>
                                </m:e>
                                <m:sub>
                                  <m:r>
                                    <a:rPr lang="en-US" b="0" i="1" smtClean="0">
                                      <a:latin typeface="Cambria Math" panose="02040503050406030204" pitchFamily="18" charset="0"/>
                                    </a:rPr>
                                    <m:t>𝑗</m:t>
                                  </m:r>
                                </m:sub>
                              </m:sSub>
                              <m:r>
                                <m:rPr>
                                  <m:sty m:val="p"/>
                                </m:rPr>
                                <a:rPr lang="en-US" b="0" i="0" smtClean="0">
                                  <a:latin typeface="Cambria Math" panose="02040503050406030204" pitchFamily="18" charset="0"/>
                                </a:rPr>
                                <m:t>log</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𝜂</m:t>
                                  </m:r>
                                </m:e>
                                <m:sub>
                                  <m:r>
                                    <a:rPr lang="en-US" b="0" i="1" smtClean="0">
                                      <a:latin typeface="Cambria Math" panose="02040503050406030204" pitchFamily="18" charset="0"/>
                                    </a:rPr>
                                    <m:t>𝑗</m:t>
                                  </m:r>
                                </m:sub>
                              </m:sSub>
                            </m:e>
                          </m:func>
                        </m:e>
                      </m:nary>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𝜂</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b="0" i="1" smtClean="0">
                              <a:latin typeface="Cambria Math" panose="02040503050406030204" pitchFamily="18" charset="0"/>
                            </a:rPr>
                            <m:t>𝑗</m:t>
                          </m:r>
                        </m:sub>
                        <m:sup>
                          <m:r>
                            <a:rPr lang="en-US" b="0" i="1" smtClean="0">
                              <a:latin typeface="Cambria Math" panose="02040503050406030204" pitchFamily="18" charset="0"/>
                            </a:rPr>
                            <m:t>𝑡</m:t>
                          </m:r>
                        </m:sup>
                      </m:sSubSup>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𝝀</m:t>
                                      </m:r>
                                    </m:e>
                                    <m:sup>
                                      <m:r>
                                        <a:rPr lang="en-US" b="0" i="1" smtClean="0">
                                          <a:latin typeface="Cambria Math" panose="02040503050406030204" pitchFamily="18" charset="0"/>
                                        </a:rPr>
                                        <m:t>𝑡</m:t>
                                      </m:r>
                                    </m:sup>
                                  </m:sSup>
                                </m:e>
                              </m:d>
                            </m:e>
                          </m:d>
                        </m:e>
                        <m:sub>
                          <m:r>
                            <a:rPr lang="en-US" b="0" i="1" smtClean="0">
                              <a:latin typeface="Cambria Math" panose="02040503050406030204" pitchFamily="18" charset="0"/>
                            </a:rPr>
                            <m:t>1</m:t>
                          </m:r>
                        </m:sub>
                      </m:sSub>
                    </m:oMath>
                  </m:oMathPara>
                </a14:m>
                <a:endParaRPr lang="en-US" b="1" dirty="0"/>
              </a:p>
              <a:p>
                <a:pPr marL="0" indent="0">
                  <a:buNone/>
                </a:pPr>
                <a:r>
                  <a:rPr lang="en-US" dirty="0"/>
                  <a:t>Where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𝝀</m:t>
                        </m:r>
                      </m:e>
                      <m:sup>
                        <m:r>
                          <a:rPr lang="en-US" b="0" i="1" smtClean="0">
                            <a:latin typeface="Cambria Math" panose="02040503050406030204" pitchFamily="18" charset="0"/>
                          </a:rPr>
                          <m:t>𝑡</m:t>
                        </m:r>
                      </m:sup>
                    </m:sSup>
                    <m:r>
                      <a:rPr lang="en-US" b="1"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b="0" i="1" smtClean="0">
                                <a:latin typeface="Cambria Math" panose="02040503050406030204" pitchFamily="18" charset="0"/>
                              </a:rPr>
                              <m:t>0</m:t>
                            </m:r>
                          </m:sub>
                          <m:sup>
                            <m:r>
                              <a:rPr lang="en-US" b="0" i="1" smtClean="0">
                                <a:latin typeface="Cambria Math" panose="02040503050406030204" pitchFamily="18" charset="0"/>
                              </a:rPr>
                              <m:t>𝑡</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𝜆</m:t>
                            </m:r>
                          </m:e>
                          <m:sub>
                            <m:r>
                              <a:rPr lang="en-US" b="0" i="1" smtClean="0">
                                <a:latin typeface="Cambria Math" panose="02040503050406030204" pitchFamily="18" charset="0"/>
                              </a:rPr>
                              <m:t>1</m:t>
                            </m:r>
                          </m:sub>
                          <m:sup>
                            <m:r>
                              <a:rPr lang="en-US" b="0" i="1" smtClean="0">
                                <a:latin typeface="Cambria Math" panose="02040503050406030204" pitchFamily="18" charset="0"/>
                              </a:rPr>
                              <m:t>𝑡</m:t>
                            </m:r>
                          </m:sup>
                        </m:sSubSup>
                        <m:r>
                          <a:rPr lang="en-US" b="0" i="1" smtClean="0">
                            <a:latin typeface="Cambria Math" panose="02040503050406030204" pitchFamily="18" charset="0"/>
                          </a:rPr>
                          <m:t>,…</m:t>
                        </m:r>
                      </m:e>
                    </m:d>
                  </m:oMath>
                </a14:m>
                <a:r>
                  <a:rPr lang="en-US" dirty="0"/>
                  <a:t> are the eigenvalues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𝑡</m:t>
                        </m:r>
                      </m:sup>
                    </m:sSup>
                  </m:oMath>
                </a14:m>
                <a:endParaRPr lang="en-US" dirty="0"/>
              </a:p>
              <a:p>
                <a:pPr marL="0" indent="0">
                  <a:buNone/>
                </a:pPr>
                <a:endParaRPr lang="en-US" dirty="0"/>
              </a:p>
              <a:p>
                <a:r>
                  <a:rPr lang="en-US" dirty="0"/>
                  <a:t>VNE is a soft proxy of numerical rank</a:t>
                </a:r>
              </a:p>
              <a:p>
                <a:r>
                  <a:rPr lang="en-US" dirty="0"/>
                  <a:t>Decays as diffusion time increases, </a:t>
                </a:r>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𝑡</m:t>
                            </m:r>
                            <m:r>
                              <a:rPr lang="en-US" b="0" i="1" smtClean="0">
                                <a:latin typeface="Cambria Math" panose="02040503050406030204" pitchFamily="18" charset="0"/>
                              </a:rPr>
                              <m:t>→∞</m:t>
                            </m:r>
                          </m:lim>
                        </m:limLow>
                      </m:fName>
                      <m:e>
                        <m:r>
                          <a:rPr lang="en-US" b="0" i="1" smtClean="0">
                            <a:latin typeface="Cambria Math" panose="02040503050406030204" pitchFamily="18" charset="0"/>
                          </a:rPr>
                          <m:t>𝑉𝑁𝐸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𝑡</m:t>
                                </m:r>
                              </m:sup>
                            </m:sSup>
                          </m:e>
                        </m:d>
                        <m:r>
                          <a:rPr lang="en-US" b="0" i="1" smtClean="0">
                            <a:latin typeface="Cambria Math" panose="02040503050406030204" pitchFamily="18" charset="0"/>
                          </a:rPr>
                          <m:t>=0</m:t>
                        </m:r>
                      </m:e>
                    </m:func>
                  </m:oMath>
                </a14:m>
                <a:endParaRPr lang="en-US" dirty="0"/>
              </a:p>
              <a:p>
                <a:r>
                  <a:rPr lang="en-US" dirty="0"/>
                  <a:t>Use rate of decay to choose time scale</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586144" y="1276740"/>
                <a:ext cx="9019712" cy="5215911"/>
              </a:xfrm>
              <a:blipFill>
                <a:blip r:embed="rId2"/>
                <a:stretch>
                  <a:fillRect l="-676" t="-467"/>
                </a:stretch>
              </a:blipFill>
            </p:spPr>
            <p:txBody>
              <a:bodyPr/>
              <a:lstStyle/>
              <a:p>
                <a:r>
                  <a:rPr lang="en-US">
                    <a:noFill/>
                  </a:rPr>
                  <a:t> </a:t>
                </a:r>
              </a:p>
            </p:txBody>
          </p:sp>
        </mc:Fallback>
      </mc:AlternateContent>
      <p:sp>
        <p:nvSpPr>
          <p:cNvPr id="4" name="Title 3"/>
          <p:cNvSpPr>
            <a:spLocks noGrp="1"/>
          </p:cNvSpPr>
          <p:nvPr>
            <p:ph type="title"/>
          </p:nvPr>
        </p:nvSpPr>
        <p:spPr>
          <a:xfrm>
            <a:off x="460004" y="0"/>
            <a:ext cx="10691265" cy="1307592"/>
          </a:xfrm>
        </p:spPr>
        <p:txBody>
          <a:bodyPr/>
          <a:lstStyle/>
          <a:p>
            <a:r>
              <a:rPr lang="en-US" dirty="0"/>
              <a:t>How much diffusion?</a:t>
            </a:r>
          </a:p>
        </p:txBody>
      </p:sp>
    </p:spTree>
    <p:extLst>
      <p:ext uri="{BB962C8B-B14F-4D97-AF65-F5344CB8AC3E}">
        <p14:creationId xmlns:p14="http://schemas.microsoft.com/office/powerpoint/2010/main" val="1319553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How much diffusion?</a:t>
            </a:r>
          </a:p>
        </p:txBody>
      </p:sp>
      <p:grpSp>
        <p:nvGrpSpPr>
          <p:cNvPr id="2" name="Group 1"/>
          <p:cNvGrpSpPr/>
          <p:nvPr/>
        </p:nvGrpSpPr>
        <p:grpSpPr>
          <a:xfrm>
            <a:off x="1965903" y="1005006"/>
            <a:ext cx="6453039" cy="5442351"/>
            <a:chOff x="441902" y="1005005"/>
            <a:chExt cx="6453039" cy="5442351"/>
          </a:xfrm>
        </p:grpSpPr>
        <p:pic>
          <p:nvPicPr>
            <p:cNvPr id="8" name="Picture 7"/>
            <p:cNvPicPr>
              <a:picLocks noChangeAspect="1"/>
            </p:cNvPicPr>
            <p:nvPr/>
          </p:nvPicPr>
          <p:blipFill>
            <a:blip r:embed="rId2"/>
            <a:stretch>
              <a:fillRect/>
            </a:stretch>
          </p:blipFill>
          <p:spPr>
            <a:xfrm>
              <a:off x="642623" y="1005005"/>
              <a:ext cx="6252318" cy="5073019"/>
            </a:xfrm>
            <a:prstGeom prst="rect">
              <a:avLst/>
            </a:prstGeom>
          </p:spPr>
        </p:pic>
        <p:sp>
          <p:nvSpPr>
            <p:cNvPr id="9" name="TextBox 8"/>
            <p:cNvSpPr txBox="1"/>
            <p:nvPr/>
          </p:nvSpPr>
          <p:spPr>
            <a:xfrm>
              <a:off x="3033210" y="6078024"/>
              <a:ext cx="1955022" cy="369332"/>
            </a:xfrm>
            <a:prstGeom prst="rect">
              <a:avLst/>
            </a:prstGeom>
            <a:noFill/>
          </p:spPr>
          <p:txBody>
            <a:bodyPr wrap="none" rtlCol="0">
              <a:spAutoFit/>
            </a:bodyPr>
            <a:lstStyle/>
            <a:p>
              <a:r>
                <a:rPr lang="en-US" dirty="0"/>
                <a:t>Time of diffusion </a:t>
              </a:r>
            </a:p>
          </p:txBody>
        </p:sp>
        <p:sp>
          <p:nvSpPr>
            <p:cNvPr id="10" name="TextBox 9"/>
            <p:cNvSpPr txBox="1"/>
            <p:nvPr/>
          </p:nvSpPr>
          <p:spPr>
            <a:xfrm rot="16200000">
              <a:off x="-611720" y="3344600"/>
              <a:ext cx="2476575" cy="369332"/>
            </a:xfrm>
            <a:prstGeom prst="rect">
              <a:avLst/>
            </a:prstGeom>
            <a:noFill/>
          </p:spPr>
          <p:txBody>
            <a:bodyPr wrap="none" rtlCol="0">
              <a:spAutoFit/>
            </a:bodyPr>
            <a:lstStyle/>
            <a:p>
              <a:r>
                <a:rPr lang="en-US" dirty="0"/>
                <a:t>Von Neumann Entropy</a:t>
              </a:r>
            </a:p>
          </p:txBody>
        </p:sp>
      </p:grpSp>
      <p:sp>
        <p:nvSpPr>
          <p:cNvPr id="11" name="Right Brace 10"/>
          <p:cNvSpPr/>
          <p:nvPr/>
        </p:nvSpPr>
        <p:spPr>
          <a:xfrm>
            <a:off x="2977554" y="1514654"/>
            <a:ext cx="887432" cy="3105798"/>
          </a:xfrm>
          <a:prstGeom prst="righ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2" name="TextBox 11"/>
          <p:cNvSpPr txBox="1"/>
          <p:nvPr/>
        </p:nvSpPr>
        <p:spPr>
          <a:xfrm>
            <a:off x="3711379" y="4090433"/>
            <a:ext cx="4746877" cy="369332"/>
          </a:xfrm>
          <a:prstGeom prst="rect">
            <a:avLst/>
          </a:prstGeom>
          <a:noFill/>
        </p:spPr>
        <p:txBody>
          <a:bodyPr wrap="none" rtlCol="0">
            <a:spAutoFit/>
          </a:bodyPr>
          <a:lstStyle/>
          <a:p>
            <a:r>
              <a:rPr lang="en-US" dirty="0"/>
              <a:t>Flatter region corresponds to losing real signal </a:t>
            </a:r>
          </a:p>
        </p:txBody>
      </p:sp>
      <p:sp>
        <p:nvSpPr>
          <p:cNvPr id="13" name="Right Brace 12"/>
          <p:cNvSpPr/>
          <p:nvPr/>
        </p:nvSpPr>
        <p:spPr>
          <a:xfrm rot="16200000">
            <a:off x="4729489" y="3327523"/>
            <a:ext cx="818564" cy="308305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 name="TextBox 13"/>
          <p:cNvSpPr txBox="1"/>
          <p:nvPr/>
        </p:nvSpPr>
        <p:spPr>
          <a:xfrm>
            <a:off x="4061910" y="2823384"/>
            <a:ext cx="4017510" cy="369332"/>
          </a:xfrm>
          <a:prstGeom prst="rect">
            <a:avLst/>
          </a:prstGeom>
          <a:noFill/>
        </p:spPr>
        <p:txBody>
          <a:bodyPr wrap="none" rtlCol="0">
            <a:spAutoFit/>
          </a:bodyPr>
          <a:lstStyle/>
          <a:p>
            <a:r>
              <a:rPr lang="en-US" dirty="0"/>
              <a:t>Rapid decline corresponds to </a:t>
            </a:r>
            <a:r>
              <a:rPr lang="en-US" dirty="0" err="1"/>
              <a:t>denoising</a:t>
            </a:r>
            <a:endParaRPr lang="en-US" dirty="0"/>
          </a:p>
        </p:txBody>
      </p:sp>
      <p:sp>
        <p:nvSpPr>
          <p:cNvPr id="15" name="Title 5"/>
          <p:cNvSpPr txBox="1">
            <a:spLocks/>
          </p:cNvSpPr>
          <p:nvPr/>
        </p:nvSpPr>
        <p:spPr>
          <a:xfrm>
            <a:off x="8224265" y="2480502"/>
            <a:ext cx="2316119" cy="185892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dirty="0">
                <a:latin typeface="+mn-lt"/>
              </a:rPr>
              <a:t>Embedding is visually robust in the flatter region</a:t>
            </a:r>
          </a:p>
        </p:txBody>
      </p:sp>
    </p:spTree>
    <p:extLst>
      <p:ext uri="{BB962C8B-B14F-4D97-AF65-F5344CB8AC3E}">
        <p14:creationId xmlns:p14="http://schemas.microsoft.com/office/powerpoint/2010/main" val="1950324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p:bldP spid="1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7934" y="1112520"/>
            <a:ext cx="8926990" cy="5044440"/>
          </a:xfrm>
        </p:spPr>
      </p:pic>
      <p:sp>
        <p:nvSpPr>
          <p:cNvPr id="4" name="Title 3"/>
          <p:cNvSpPr>
            <a:spLocks noGrp="1"/>
          </p:cNvSpPr>
          <p:nvPr>
            <p:ph type="title"/>
          </p:nvPr>
        </p:nvSpPr>
        <p:spPr>
          <a:xfrm>
            <a:off x="662134" y="120160"/>
            <a:ext cx="10691265" cy="1307592"/>
          </a:xfrm>
        </p:spPr>
        <p:txBody>
          <a:bodyPr/>
          <a:lstStyle/>
          <a:p>
            <a:r>
              <a:rPr lang="en-US" dirty="0"/>
              <a:t>The PHATE Algorithm</a:t>
            </a:r>
          </a:p>
        </p:txBody>
      </p:sp>
      <p:sp>
        <p:nvSpPr>
          <p:cNvPr id="8" name="Rounded Rectangle 7"/>
          <p:cNvSpPr/>
          <p:nvPr/>
        </p:nvSpPr>
        <p:spPr>
          <a:xfrm>
            <a:off x="1657934" y="3634740"/>
            <a:ext cx="6556426" cy="2346960"/>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488810" y="6091509"/>
            <a:ext cx="2894674" cy="646331"/>
          </a:xfrm>
          <a:prstGeom prst="rect">
            <a:avLst/>
          </a:prstGeom>
          <a:noFill/>
        </p:spPr>
        <p:txBody>
          <a:bodyPr wrap="square" rtlCol="0">
            <a:spAutoFit/>
          </a:bodyPr>
          <a:lstStyle/>
          <a:p>
            <a:r>
              <a:rPr lang="en-US" dirty="0">
                <a:solidFill>
                  <a:srgbClr val="FF0000"/>
                </a:solidFill>
              </a:rPr>
              <a:t>Transform to low dimensions</a:t>
            </a:r>
          </a:p>
        </p:txBody>
      </p:sp>
    </p:spTree>
    <p:extLst>
      <p:ext uri="{BB962C8B-B14F-4D97-AF65-F5344CB8AC3E}">
        <p14:creationId xmlns:p14="http://schemas.microsoft.com/office/powerpoint/2010/main" val="13362638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p:cNvPicPr>
            <a:picLocks noChangeAspect="1"/>
          </p:cNvPicPr>
          <p:nvPr/>
        </p:nvPicPr>
        <p:blipFill>
          <a:blip r:embed="rId2"/>
          <a:stretch>
            <a:fillRect/>
          </a:stretch>
        </p:blipFill>
        <p:spPr>
          <a:xfrm>
            <a:off x="1588952" y="1764862"/>
            <a:ext cx="2538499" cy="2354550"/>
          </a:xfrm>
          <a:prstGeom prst="rect">
            <a:avLst/>
          </a:prstGeom>
        </p:spPr>
      </p:pic>
      <p:pic>
        <p:nvPicPr>
          <p:cNvPr id="5" name="Picture 4"/>
          <p:cNvPicPr>
            <a:picLocks noChangeAspect="1"/>
          </p:cNvPicPr>
          <p:nvPr/>
        </p:nvPicPr>
        <p:blipFill>
          <a:blip r:embed="rId3"/>
          <a:stretch>
            <a:fillRect/>
          </a:stretch>
        </p:blipFill>
        <p:spPr>
          <a:xfrm>
            <a:off x="4183122" y="1764861"/>
            <a:ext cx="3200974" cy="2397236"/>
          </a:xfrm>
          <a:prstGeom prst="rect">
            <a:avLst/>
          </a:prstGeom>
        </p:spPr>
      </p:pic>
      <p:pic>
        <p:nvPicPr>
          <p:cNvPr id="7" name="Picture 6"/>
          <p:cNvPicPr>
            <a:picLocks noChangeAspect="1"/>
          </p:cNvPicPr>
          <p:nvPr/>
        </p:nvPicPr>
        <p:blipFill>
          <a:blip r:embed="rId4"/>
          <a:stretch>
            <a:fillRect/>
          </a:stretch>
        </p:blipFill>
        <p:spPr>
          <a:xfrm>
            <a:off x="7367035" y="1764861"/>
            <a:ext cx="3196315" cy="2397236"/>
          </a:xfrm>
          <a:prstGeom prst="rect">
            <a:avLst/>
          </a:prstGeom>
        </p:spPr>
      </p:pic>
      <p:sp>
        <p:nvSpPr>
          <p:cNvPr id="2" name="Content Placeholder 1"/>
          <p:cNvSpPr>
            <a:spLocks noGrp="1"/>
          </p:cNvSpPr>
          <p:nvPr>
            <p:ph idx="1"/>
          </p:nvPr>
        </p:nvSpPr>
        <p:spPr>
          <a:xfrm>
            <a:off x="1599461" y="982450"/>
            <a:ext cx="9019712" cy="3463427"/>
          </a:xfrm>
        </p:spPr>
        <p:txBody>
          <a:bodyPr/>
          <a:lstStyle/>
          <a:p>
            <a:r>
              <a:rPr lang="en-US" dirty="0"/>
              <a:t>Diffusion operator contains global and local structure</a:t>
            </a:r>
          </a:p>
          <a:p>
            <a:pPr lvl="1"/>
            <a:r>
              <a:rPr lang="en-US" dirty="0"/>
              <a:t>Encoded in multiple dimensions</a:t>
            </a:r>
          </a:p>
        </p:txBody>
      </p:sp>
      <p:sp>
        <p:nvSpPr>
          <p:cNvPr id="4" name="Title 3"/>
          <p:cNvSpPr>
            <a:spLocks noGrp="1"/>
          </p:cNvSpPr>
          <p:nvPr>
            <p:ph type="title"/>
          </p:nvPr>
        </p:nvSpPr>
        <p:spPr>
          <a:xfrm>
            <a:off x="757484" y="148590"/>
            <a:ext cx="10691265" cy="1307592"/>
          </a:xfrm>
        </p:spPr>
        <p:txBody>
          <a:bodyPr/>
          <a:lstStyle/>
          <a:p>
            <a:r>
              <a:rPr lang="en-US" dirty="0"/>
              <a:t>Potential Distances</a:t>
            </a:r>
          </a:p>
        </p:txBody>
      </p:sp>
      <p:pic>
        <p:nvPicPr>
          <p:cNvPr id="8" name="Picture 7"/>
          <p:cNvPicPr>
            <a:picLocks noChangeAspect="1"/>
          </p:cNvPicPr>
          <p:nvPr/>
        </p:nvPicPr>
        <p:blipFill>
          <a:blip r:embed="rId5"/>
          <a:stretch>
            <a:fillRect/>
          </a:stretch>
        </p:blipFill>
        <p:spPr>
          <a:xfrm>
            <a:off x="1555531" y="4230178"/>
            <a:ext cx="9095173" cy="2182309"/>
          </a:xfrm>
          <a:prstGeom prst="rect">
            <a:avLst/>
          </a:prstGeom>
        </p:spPr>
      </p:pic>
    </p:spTree>
    <p:extLst>
      <p:ext uri="{BB962C8B-B14F-4D97-AF65-F5344CB8AC3E}">
        <p14:creationId xmlns:p14="http://schemas.microsoft.com/office/powerpoint/2010/main" val="772635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4193632" y="4298087"/>
            <a:ext cx="3200974" cy="2397236"/>
          </a:xfrm>
          <a:prstGeom prst="rect">
            <a:avLst/>
          </a:prstGeom>
        </p:spPr>
      </p:pic>
      <p:pic>
        <p:nvPicPr>
          <p:cNvPr id="10" name="Content Placeholder 4"/>
          <p:cNvPicPr>
            <a:picLocks noChangeAspect="1"/>
          </p:cNvPicPr>
          <p:nvPr/>
        </p:nvPicPr>
        <p:blipFill>
          <a:blip r:embed="rId3"/>
          <a:stretch>
            <a:fillRect/>
          </a:stretch>
        </p:blipFill>
        <p:spPr>
          <a:xfrm>
            <a:off x="1599462" y="4340128"/>
            <a:ext cx="2538499" cy="2354550"/>
          </a:xfrm>
          <a:prstGeom prst="rect">
            <a:avLst/>
          </a:prstGeom>
        </p:spPr>
      </p:pic>
      <p:pic>
        <p:nvPicPr>
          <p:cNvPr id="11" name="Picture 10"/>
          <p:cNvPicPr>
            <a:picLocks noChangeAspect="1"/>
          </p:cNvPicPr>
          <p:nvPr/>
        </p:nvPicPr>
        <p:blipFill>
          <a:blip r:embed="rId4"/>
          <a:stretch>
            <a:fillRect/>
          </a:stretch>
        </p:blipFill>
        <p:spPr>
          <a:xfrm>
            <a:off x="7439769" y="4246181"/>
            <a:ext cx="3272743" cy="2452527"/>
          </a:xfrm>
          <a:prstGeom prst="rect">
            <a:avLst/>
          </a:prstGeom>
        </p:spPr>
      </p:pic>
      <p:sp>
        <p:nvSpPr>
          <p:cNvPr id="2" name="Content Placeholder 1"/>
          <p:cNvSpPr>
            <a:spLocks noGrp="1"/>
          </p:cNvSpPr>
          <p:nvPr>
            <p:ph idx="1"/>
          </p:nvPr>
        </p:nvSpPr>
        <p:spPr>
          <a:xfrm>
            <a:off x="1599461" y="982450"/>
            <a:ext cx="9019712" cy="3463427"/>
          </a:xfrm>
        </p:spPr>
        <p:txBody>
          <a:bodyPr/>
          <a:lstStyle/>
          <a:p>
            <a:r>
              <a:rPr lang="en-US" dirty="0"/>
              <a:t>Diffusion operator contains global and local structure</a:t>
            </a:r>
          </a:p>
          <a:p>
            <a:pPr lvl="1"/>
            <a:r>
              <a:rPr lang="en-US" dirty="0"/>
              <a:t>Encoded in multiple dimensions</a:t>
            </a:r>
          </a:p>
          <a:p>
            <a:r>
              <a:rPr lang="en-US" dirty="0"/>
              <a:t>To extract this information, we transform diffused probabilities using a </a:t>
            </a:r>
            <a:r>
              <a:rPr lang="en-US" b="1" i="1" dirty="0"/>
              <a:t>potential transformation</a:t>
            </a:r>
          </a:p>
          <a:p>
            <a:pPr lvl="1"/>
            <a:r>
              <a:rPr lang="en-US" dirty="0"/>
              <a:t>Forms an information distance between diffused probabilities</a:t>
            </a:r>
          </a:p>
          <a:p>
            <a:pPr lvl="1"/>
            <a:r>
              <a:rPr lang="en-US" dirty="0"/>
              <a:t>Connected to heat potential</a:t>
            </a:r>
          </a:p>
          <a:p>
            <a:r>
              <a:rPr lang="en-US" dirty="0"/>
              <a:t>Embed for visualization using multidimensional scaling (MDS)</a:t>
            </a:r>
          </a:p>
          <a:p>
            <a:endParaRPr lang="en-US" dirty="0"/>
          </a:p>
        </p:txBody>
      </p:sp>
      <p:sp>
        <p:nvSpPr>
          <p:cNvPr id="4" name="Title 3"/>
          <p:cNvSpPr>
            <a:spLocks noGrp="1"/>
          </p:cNvSpPr>
          <p:nvPr>
            <p:ph type="title"/>
          </p:nvPr>
        </p:nvSpPr>
        <p:spPr>
          <a:xfrm>
            <a:off x="671759" y="0"/>
            <a:ext cx="10691265" cy="1307592"/>
          </a:xfrm>
        </p:spPr>
        <p:txBody>
          <a:bodyPr/>
          <a:lstStyle/>
          <a:p>
            <a:r>
              <a:rPr lang="en-US" dirty="0"/>
              <a:t>Potential Distances</a:t>
            </a:r>
          </a:p>
        </p:txBody>
      </p:sp>
    </p:spTree>
    <p:extLst>
      <p:ext uri="{BB962C8B-B14F-4D97-AF65-F5344CB8AC3E}">
        <p14:creationId xmlns:p14="http://schemas.microsoft.com/office/powerpoint/2010/main" val="142463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518</TotalTime>
  <Words>2066</Words>
  <Application>Microsoft Office PowerPoint</Application>
  <PresentationFormat>Widescreen</PresentationFormat>
  <Paragraphs>289</Paragraphs>
  <Slides>50</Slides>
  <Notes>14</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Aptos</vt:lpstr>
      <vt:lpstr>Arial</vt:lpstr>
      <vt:lpstr>Calisto MT</vt:lpstr>
      <vt:lpstr>Cambria Math</vt:lpstr>
      <vt:lpstr>Univers Condensed</vt:lpstr>
      <vt:lpstr>ChronicleVTI</vt:lpstr>
      <vt:lpstr>Manifold Learning</vt:lpstr>
      <vt:lpstr>Manifold learning</vt:lpstr>
      <vt:lpstr>The manifold assumption in practice</vt:lpstr>
      <vt:lpstr>The manifold assumption in practice</vt:lpstr>
      <vt:lpstr>Manifold learning</vt:lpstr>
      <vt:lpstr>Manifold learning</vt:lpstr>
      <vt:lpstr>Manifold learning</vt:lpstr>
      <vt:lpstr>Multidimensional Scaling (MDS)</vt:lpstr>
      <vt:lpstr>Metric MDS</vt:lpstr>
      <vt:lpstr>Manifold Learning</vt:lpstr>
      <vt:lpstr>Manifold learning</vt:lpstr>
      <vt:lpstr>Manifold learning</vt:lpstr>
      <vt:lpstr>Similarity Graphs</vt:lpstr>
      <vt:lpstr>Similarity Graphs</vt:lpstr>
      <vt:lpstr>ISOMAP</vt:lpstr>
      <vt:lpstr>ISOMAP</vt:lpstr>
      <vt:lpstr>Laplacian Eigenmaps</vt:lpstr>
      <vt:lpstr>Diffusion Maps</vt:lpstr>
      <vt:lpstr>Capturing local neighborhoods</vt:lpstr>
      <vt:lpstr>From distances to affinities</vt:lpstr>
      <vt:lpstr>Diffusion Operator</vt:lpstr>
      <vt:lpstr>Diffusion Operator</vt:lpstr>
      <vt:lpstr>Markov Processes</vt:lpstr>
      <vt:lpstr>Markov Processes</vt:lpstr>
      <vt:lpstr>Stationary Distribution</vt:lpstr>
      <vt:lpstr>Diffusion Denoises and Recovers Global Structure</vt:lpstr>
      <vt:lpstr>The time scale t</vt:lpstr>
      <vt:lpstr>The time scale t</vt:lpstr>
      <vt:lpstr>Diffusion Maps</vt:lpstr>
      <vt:lpstr>Visualizing Stucture with Manifolds</vt:lpstr>
      <vt:lpstr>Visualization with t-SNE</vt:lpstr>
      <vt:lpstr>UMAP still fails at global structure</vt:lpstr>
      <vt:lpstr>Balancing local and global information</vt:lpstr>
      <vt:lpstr>Visualization with Diffusion Maps</vt:lpstr>
      <vt:lpstr>PHATE (Potential of Heat-diffusion for Affinity-based Transition Embedding)</vt:lpstr>
      <vt:lpstr>The PHATE Algorithm</vt:lpstr>
      <vt:lpstr>PHATE on Frey Faces</vt:lpstr>
      <vt:lpstr>PHATE on Frey Faces</vt:lpstr>
      <vt:lpstr>PHATE on Frey Faces</vt:lpstr>
      <vt:lpstr>The PHATE Algorithm</vt:lpstr>
      <vt:lpstr>Capturing local neighborhoods</vt:lpstr>
      <vt:lpstr>From distances to affinities</vt:lpstr>
      <vt:lpstr>Capturing Local Neighborhoods</vt:lpstr>
      <vt:lpstr>The PHATE Algorithm</vt:lpstr>
      <vt:lpstr>Diffusion Denoises and Recovers Global Structure</vt:lpstr>
      <vt:lpstr>How much diffusion?</vt:lpstr>
      <vt:lpstr>How much diffusion?</vt:lpstr>
      <vt:lpstr>The PHATE Algorithm</vt:lpstr>
      <vt:lpstr>Potential Distances</vt:lpstr>
      <vt:lpstr>Potential Distances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Rhodes</dc:creator>
  <cp:lastModifiedBy>Jake Rhodes</cp:lastModifiedBy>
  <cp:revision>28</cp:revision>
  <dcterms:created xsi:type="dcterms:W3CDTF">2025-10-28T15:32:43Z</dcterms:created>
  <dcterms:modified xsi:type="dcterms:W3CDTF">2026-03-27T17:50:12Z</dcterms:modified>
</cp:coreProperties>
</file>