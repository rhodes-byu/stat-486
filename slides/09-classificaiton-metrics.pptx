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6"/>
  </p:notesMasterIdLst>
  <p:sldIdLst>
    <p:sldId id="256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precision is most important when </a:t>
            </a:r>
            <a:r>
              <a:rPr lang="en-US" b="1" dirty="0"/>
              <a:t>false positives are costly, harmful, or difficult to reverse</a:t>
            </a:r>
            <a:r>
              <a:rPr lang="en-US" dirty="0"/>
              <a:t>, even if some true cases are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97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recall is most important when </a:t>
            </a:r>
            <a:r>
              <a:rPr lang="en-US" b="1" dirty="0"/>
              <a:t>missing true positives is costly or dangerous</a:t>
            </a:r>
            <a:r>
              <a:rPr lang="en-US" dirty="0"/>
              <a:t>, and false positives can be tolerated or corrected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94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32217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54844" y="2196703"/>
            <a:ext cx="10882313" cy="2321719"/>
          </a:xfrm>
          <a:prstGeom prst="rect">
            <a:avLst/>
          </a:prstGeom>
        </p:spPr>
        <p:txBody>
          <a:bodyPr anchor="ctr"/>
          <a:lstStyle>
            <a:lvl1pPr defTabSz="250022">
              <a:defRPr sz="5906" spc="-59"/>
            </a:lvl1pPr>
          </a:lstStyle>
          <a:p>
            <a:r>
              <a:t>Section Title</a:t>
            </a:r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4493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api/sklearn.metrics.html" TargetMode="Externa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67C21-567A-C926-3F40-F6A0BFFE6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158" y="5528235"/>
            <a:ext cx="10696574" cy="77096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Classification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81" y="4392705"/>
            <a:ext cx="5795251" cy="1063813"/>
          </a:xfrm>
        </p:spPr>
        <p:txBody>
          <a:bodyPr anchor="b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gression vs Classification (Review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31140">
              <a:defRPr sz="5460" spc="-54"/>
            </a:lvl1pPr>
          </a:lstStyle>
          <a:p>
            <a:r>
              <a:rPr sz="4000" dirty="0"/>
              <a:t>Regression vs Classification (Review)</a:t>
            </a:r>
          </a:p>
        </p:txBody>
      </p:sp>
      <p:sp>
        <p:nvSpPr>
          <p:cNvPr id="403" name="Regression and Classification are both supervised learning methods…"/>
          <p:cNvSpPr txBox="1">
            <a:spLocks noGrp="1"/>
          </p:cNvSpPr>
          <p:nvPr>
            <p:ph type="body" idx="1"/>
          </p:nvPr>
        </p:nvSpPr>
        <p:spPr>
          <a:xfrm>
            <a:off x="700634" y="2221992"/>
            <a:ext cx="10691265" cy="3739896"/>
          </a:xfrm>
          <a:prstGeom prst="rect">
            <a:avLst/>
          </a:prstGeom>
        </p:spPr>
        <p:txBody>
          <a:bodyPr/>
          <a:lstStyle/>
          <a:p>
            <a:r>
              <a:rPr dirty="0"/>
              <a:t>Regression and Classification are both supervised learning methods</a:t>
            </a:r>
          </a:p>
          <a:p>
            <a:r>
              <a:rPr dirty="0"/>
              <a:t>Regression</a:t>
            </a:r>
          </a:p>
          <a:p>
            <a:pPr lvl="1"/>
            <a:r>
              <a:rPr dirty="0"/>
              <a:t>The target or response variable (y) is numeric </a:t>
            </a:r>
          </a:p>
          <a:p>
            <a:pPr lvl="1"/>
            <a:r>
              <a:rPr dirty="0"/>
              <a:t>Model predicts the </a:t>
            </a:r>
            <a:r>
              <a:rPr i="1" dirty="0">
                <a:latin typeface="Graphik"/>
                <a:ea typeface="Graphik"/>
                <a:cs typeface="Graphik"/>
                <a:sym typeface="Graphik"/>
              </a:rPr>
              <a:t>value</a:t>
            </a:r>
            <a:r>
              <a:rPr dirty="0"/>
              <a:t> of y</a:t>
            </a:r>
          </a:p>
          <a:p>
            <a:pPr lvl="1"/>
            <a:r>
              <a:rPr dirty="0"/>
              <a:t>Prediction accuracy is measured by how close the predicted value is to the truth</a:t>
            </a:r>
            <a:r>
              <a:rPr lang="en-US" dirty="0"/>
              <a:t>, such as</a:t>
            </a:r>
          </a:p>
          <a:p>
            <a:pPr marL="3200400" lvl="7" indent="0">
              <a:buNone/>
            </a:pPr>
            <a:endParaRPr lang="en-US" dirty="0"/>
          </a:p>
          <a:p>
            <a:pPr marL="3200400" lvl="7" indent="0">
              <a:buNone/>
            </a:pPr>
            <a:r>
              <a:rPr sz="4200" dirty="0"/>
              <a:t>or</a:t>
            </a:r>
            <a:endParaRPr sz="4200" dirty="0">
              <a:solidFill>
                <a:srgbClr val="53585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CAEA6E-CC99-6450-FD0A-DBB3981E7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230" y="4502127"/>
            <a:ext cx="1919147" cy="652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D06C95-46DA-86AE-AB7B-A3FB62531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973" y="4461835"/>
            <a:ext cx="1919147" cy="69302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gression vs Classification (Review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31140">
              <a:defRPr sz="5460" spc="-54"/>
            </a:lvl1pPr>
          </a:lstStyle>
          <a:p>
            <a:r>
              <a:rPr sz="4000" dirty="0"/>
              <a:t>Regression vs Classification (Review)</a:t>
            </a:r>
          </a:p>
        </p:txBody>
      </p:sp>
      <p:sp>
        <p:nvSpPr>
          <p:cNvPr id="407" name="Regression and Classification are both supervised learning method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Regression and Classification are both supervised learning methods</a:t>
            </a:r>
          </a:p>
          <a:p>
            <a:r>
              <a:rPr dirty="0"/>
              <a:t>Classification</a:t>
            </a:r>
          </a:p>
          <a:p>
            <a:pPr lvl="1"/>
            <a:r>
              <a:rPr dirty="0"/>
              <a:t>The target or response variable (y) is categorical </a:t>
            </a:r>
          </a:p>
          <a:p>
            <a:pPr lvl="1"/>
            <a:r>
              <a:rPr dirty="0"/>
              <a:t>Model predicts category of y (or in some cases the probability of being in a particular class, given the features)</a:t>
            </a:r>
          </a:p>
          <a:p>
            <a:pPr lvl="1"/>
            <a:r>
              <a:rPr dirty="0"/>
              <a:t>Prediction accuracy can be measured by the error rate</a:t>
            </a:r>
            <a:r>
              <a:rPr lang="en-US" dirty="0"/>
              <a:t>,</a:t>
            </a:r>
            <a:r>
              <a:rPr dirty="0"/>
              <a:t> </a:t>
            </a:r>
            <a:endParaRPr dirty="0">
              <a:solidFill>
                <a:srgbClr val="53585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96D34-F348-0198-F8BA-4F54E9D9D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737" y="4633866"/>
            <a:ext cx="6229626" cy="130973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Accura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Accuracy</a:t>
            </a:r>
          </a:p>
        </p:txBody>
      </p:sp>
      <p:sp>
        <p:nvSpPr>
          <p:cNvPr id="411" name="Accuracy assumes equal costs for all types of errors…"/>
          <p:cNvSpPr txBox="1">
            <a:spLocks noGrp="1"/>
          </p:cNvSpPr>
          <p:nvPr>
            <p:ph type="body" sz="half" idx="1"/>
          </p:nvPr>
        </p:nvSpPr>
        <p:spPr>
          <a:xfrm>
            <a:off x="2015133" y="3383341"/>
            <a:ext cx="8161734" cy="2901940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Accuracy assumes equal costs for all types of errors</a:t>
            </a:r>
            <a:endParaRPr lang="en-US" dirty="0"/>
          </a:p>
          <a:p>
            <a:pPr>
              <a:buClr>
                <a:srgbClr val="000000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dirty="0"/>
              <a:t>When is accuracy not a good fitness metric?</a:t>
            </a:r>
            <a:endParaRPr dirty="0"/>
          </a:p>
          <a:p>
            <a:pPr lvl="1">
              <a:buClr>
                <a:srgbClr val="000000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dirty="0"/>
              <a:t>When t</a:t>
            </a:r>
            <a:r>
              <a:rPr dirty="0"/>
              <a:t>here is class skew</a:t>
            </a:r>
            <a:r>
              <a:rPr lang="en-US" dirty="0"/>
              <a:t> (e.g., imbalance)</a:t>
            </a:r>
          </a:p>
          <a:p>
            <a:pPr lvl="1">
              <a:buClr>
                <a:srgbClr val="000000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dirty="0"/>
              <a:t>In these cases good accuracy could mean always predicting the majority class!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2" name="equation.pdf"/>
              <p:cNvSpPr txBox="1"/>
              <p:nvPr/>
            </p:nvSpPr>
            <p:spPr>
              <a:xfrm>
                <a:off x="2238841" y="1857075"/>
                <a:ext cx="6978898" cy="78130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sz="2672" i="1">
                          <a:solidFill>
                            <a:srgbClr val="FF7D78"/>
                          </a:solidFill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sz="2672" i="1">
                          <a:solidFill>
                            <a:srgbClr val="FF7D7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correct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descisions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made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decisions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sz="2672" i="1">
                              <a:solidFill>
                                <a:srgbClr val="FF7D78"/>
                              </a:solidFill>
                              <a:latin typeface="Cambria Math" panose="02040503050406030204" pitchFamily="18" charset="0"/>
                            </a:rPr>
                            <m:t>made</m:t>
                          </m:r>
                        </m:den>
                      </m:f>
                    </m:oMath>
                  </m:oMathPara>
                </a14:m>
                <a:endParaRPr sz="2672" dirty="0">
                  <a:solidFill>
                    <a:srgbClr val="FF7E79"/>
                  </a:solidFill>
                </a:endParaRPr>
              </a:p>
            </p:txBody>
          </p:sp>
        </mc:Choice>
        <mc:Fallback>
          <p:sp>
            <p:nvSpPr>
              <p:cNvPr id="41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841" y="1857075"/>
                <a:ext cx="6978898" cy="7813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15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721" y="906826"/>
            <a:ext cx="7568558" cy="5907520"/>
          </a:xfrm>
          <a:prstGeom prst="rect">
            <a:avLst/>
          </a:prstGeom>
          <a:ln w="3175">
            <a:miter lim="400000"/>
          </a:ln>
        </p:spPr>
      </p:pic>
      <p:pic>
        <p:nvPicPr>
          <p:cNvPr id="416" name="pasted-image.png" descr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927" y="-96753"/>
            <a:ext cx="3571876" cy="1053704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onfusion Matrix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Confusion Matrix</a:t>
            </a:r>
          </a:p>
        </p:txBody>
      </p:sp>
      <p:sp>
        <p:nvSpPr>
          <p:cNvPr id="420" name="True Positives TP"/>
          <p:cNvSpPr/>
          <p:nvPr/>
        </p:nvSpPr>
        <p:spPr>
          <a:xfrm>
            <a:off x="4399331" y="2777677"/>
            <a:ext cx="2121289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Positives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TP</a:t>
            </a:r>
          </a:p>
        </p:txBody>
      </p:sp>
      <p:sp>
        <p:nvSpPr>
          <p:cNvPr id="421" name="False Negatives FN"/>
          <p:cNvSpPr/>
          <p:nvPr/>
        </p:nvSpPr>
        <p:spPr>
          <a:xfrm>
            <a:off x="6578174" y="2777677"/>
            <a:ext cx="2121290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Negatives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FN</a:t>
            </a:r>
          </a:p>
        </p:txBody>
      </p:sp>
      <p:sp>
        <p:nvSpPr>
          <p:cNvPr id="422" name="False Positives FP"/>
          <p:cNvSpPr/>
          <p:nvPr/>
        </p:nvSpPr>
        <p:spPr>
          <a:xfrm>
            <a:off x="4399331" y="4340372"/>
            <a:ext cx="2121289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Positives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FP</a:t>
            </a:r>
          </a:p>
        </p:txBody>
      </p:sp>
      <p:sp>
        <p:nvSpPr>
          <p:cNvPr id="423" name="True Negatives TN"/>
          <p:cNvSpPr/>
          <p:nvPr/>
        </p:nvSpPr>
        <p:spPr>
          <a:xfrm>
            <a:off x="6578174" y="4340372"/>
            <a:ext cx="2121290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Negatives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TN</a:t>
            </a:r>
          </a:p>
        </p:txBody>
      </p:sp>
      <p:sp>
        <p:nvSpPr>
          <p:cNvPr id="424" name="Predicted Output"/>
          <p:cNvSpPr txBox="1"/>
          <p:nvPr/>
        </p:nvSpPr>
        <p:spPr>
          <a:xfrm>
            <a:off x="5425547" y="1964508"/>
            <a:ext cx="2641750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Predicted Output</a:t>
            </a:r>
          </a:p>
        </p:txBody>
      </p:sp>
      <p:sp>
        <p:nvSpPr>
          <p:cNvPr id="425" name="True Values"/>
          <p:cNvSpPr txBox="1"/>
          <p:nvPr/>
        </p:nvSpPr>
        <p:spPr>
          <a:xfrm>
            <a:off x="2089912" y="3993780"/>
            <a:ext cx="1920399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True Values</a:t>
            </a:r>
          </a:p>
        </p:txBody>
      </p:sp>
      <p:sp>
        <p:nvSpPr>
          <p:cNvPr id="426" name="Positive (PP)"/>
          <p:cNvSpPr txBox="1"/>
          <p:nvPr/>
        </p:nvSpPr>
        <p:spPr>
          <a:xfrm>
            <a:off x="4668359" y="2391797"/>
            <a:ext cx="163506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(PP)</a:t>
            </a:r>
          </a:p>
        </p:txBody>
      </p:sp>
      <p:sp>
        <p:nvSpPr>
          <p:cNvPr id="427" name="Negative (PN)"/>
          <p:cNvSpPr txBox="1"/>
          <p:nvPr/>
        </p:nvSpPr>
        <p:spPr>
          <a:xfrm>
            <a:off x="6780229" y="2391797"/>
            <a:ext cx="1771319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(PN)</a:t>
            </a:r>
          </a:p>
        </p:txBody>
      </p:sp>
      <p:sp>
        <p:nvSpPr>
          <p:cNvPr id="428" name="Positive (P)"/>
          <p:cNvSpPr txBox="1"/>
          <p:nvPr/>
        </p:nvSpPr>
        <p:spPr>
          <a:xfrm rot="16200000">
            <a:off x="3422113" y="3333879"/>
            <a:ext cx="145392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(P)</a:t>
            </a:r>
          </a:p>
        </p:txBody>
      </p:sp>
      <p:sp>
        <p:nvSpPr>
          <p:cNvPr id="429" name="Negative (N)"/>
          <p:cNvSpPr txBox="1"/>
          <p:nvPr/>
        </p:nvSpPr>
        <p:spPr>
          <a:xfrm rot="16200000">
            <a:off x="3353984" y="4896575"/>
            <a:ext cx="1590180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(N)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reci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Precision</a:t>
            </a:r>
          </a:p>
        </p:txBody>
      </p:sp>
      <p:sp>
        <p:nvSpPr>
          <p:cNvPr id="433" name="True Positives TP"/>
          <p:cNvSpPr/>
          <p:nvPr/>
        </p:nvSpPr>
        <p:spPr>
          <a:xfrm>
            <a:off x="3516018" y="2232422"/>
            <a:ext cx="2121289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Positives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TP</a:t>
            </a:r>
          </a:p>
        </p:txBody>
      </p:sp>
      <p:sp>
        <p:nvSpPr>
          <p:cNvPr id="434" name="False Negatives FN"/>
          <p:cNvSpPr/>
          <p:nvPr/>
        </p:nvSpPr>
        <p:spPr>
          <a:xfrm>
            <a:off x="5694862" y="2232422"/>
            <a:ext cx="2121289" cy="1509117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Negatives</a:t>
            </a:r>
            <a:br>
              <a:rPr sz="2109"/>
            </a:br>
            <a:r>
              <a:rPr sz="2109"/>
              <a:t>FN</a:t>
            </a:r>
          </a:p>
        </p:txBody>
      </p:sp>
      <p:sp>
        <p:nvSpPr>
          <p:cNvPr id="435" name="False Positives FP"/>
          <p:cNvSpPr/>
          <p:nvPr/>
        </p:nvSpPr>
        <p:spPr>
          <a:xfrm>
            <a:off x="3516018" y="3795117"/>
            <a:ext cx="2121289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Positives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FP</a:t>
            </a:r>
          </a:p>
        </p:txBody>
      </p:sp>
      <p:sp>
        <p:nvSpPr>
          <p:cNvPr id="436" name="True Negatives TN"/>
          <p:cNvSpPr/>
          <p:nvPr/>
        </p:nvSpPr>
        <p:spPr>
          <a:xfrm>
            <a:off x="5695404" y="3795117"/>
            <a:ext cx="2121290" cy="1509117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Negatives</a:t>
            </a:r>
            <a:br>
              <a:rPr sz="2109"/>
            </a:br>
            <a:r>
              <a:rPr sz="2109"/>
              <a:t>TN</a:t>
            </a:r>
          </a:p>
        </p:txBody>
      </p:sp>
      <p:sp>
        <p:nvSpPr>
          <p:cNvPr id="437" name="Predicted Output"/>
          <p:cNvSpPr txBox="1"/>
          <p:nvPr/>
        </p:nvSpPr>
        <p:spPr>
          <a:xfrm>
            <a:off x="4465898" y="1266305"/>
            <a:ext cx="2641750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Predicted Output</a:t>
            </a:r>
          </a:p>
        </p:txBody>
      </p:sp>
      <p:sp>
        <p:nvSpPr>
          <p:cNvPr id="438" name="True Values"/>
          <p:cNvSpPr txBox="1"/>
          <p:nvPr/>
        </p:nvSpPr>
        <p:spPr>
          <a:xfrm>
            <a:off x="1703541" y="3242924"/>
            <a:ext cx="1130702" cy="8945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True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9" name="equation.pdf"/>
              <p:cNvSpPr txBox="1"/>
              <p:nvPr/>
            </p:nvSpPr>
            <p:spPr>
              <a:xfrm>
                <a:off x="4185630" y="5357812"/>
                <a:ext cx="2922018" cy="6948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sz="2391" dirty="0">
                  <a:solidFill>
                    <a:srgbClr val="4F8F00"/>
                  </a:solidFill>
                </a:endParaRPr>
              </a:p>
            </p:txBody>
          </p:sp>
        </mc:Choice>
        <mc:Fallback>
          <p:sp>
            <p:nvSpPr>
              <p:cNvPr id="439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630" y="5357812"/>
                <a:ext cx="2922018" cy="6948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" name="Of those that are predicted to be positive, the percent that are actually positive…"/>
          <p:cNvSpPr txBox="1"/>
          <p:nvPr/>
        </p:nvSpPr>
        <p:spPr>
          <a:xfrm>
            <a:off x="7960507" y="3028966"/>
            <a:ext cx="2683015" cy="182530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 dirty="0"/>
              <a:t>Of those that are </a:t>
            </a:r>
            <a:r>
              <a:rPr sz="1266" b="1" dirty="0"/>
              <a:t>predicted to be positive</a:t>
            </a:r>
            <a:r>
              <a:rPr sz="1266" dirty="0"/>
              <a:t>, the percent that are actually positive</a:t>
            </a:r>
            <a:endParaRPr lang="en-US" sz="1266" dirty="0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 dirty="0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 dirty="0"/>
              <a:t>Describes how good the model is at predicting the positive class </a:t>
            </a:r>
            <a:endParaRPr lang="en-US" sz="1266" dirty="0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 dirty="0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 dirty="0"/>
              <a:t>Also call </a:t>
            </a:r>
            <a:r>
              <a:rPr sz="1266" b="1" dirty="0">
                <a:latin typeface="Helvetica Neue"/>
                <a:ea typeface="Helvetica Neue"/>
                <a:cs typeface="Helvetica Neue"/>
                <a:sym typeface="Helvetica Neue"/>
              </a:rPr>
              <a:t>positive predictive value</a:t>
            </a:r>
          </a:p>
        </p:txBody>
      </p:sp>
      <p:sp>
        <p:nvSpPr>
          <p:cNvPr id="441" name="Positive (P)"/>
          <p:cNvSpPr txBox="1"/>
          <p:nvPr/>
        </p:nvSpPr>
        <p:spPr>
          <a:xfrm rot="16200000">
            <a:off x="2538257" y="2698813"/>
            <a:ext cx="145392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(P)</a:t>
            </a:r>
          </a:p>
        </p:txBody>
      </p:sp>
      <p:sp>
        <p:nvSpPr>
          <p:cNvPr id="442" name="Negative (N)"/>
          <p:cNvSpPr txBox="1"/>
          <p:nvPr/>
        </p:nvSpPr>
        <p:spPr>
          <a:xfrm rot="16200000">
            <a:off x="2470127" y="4351320"/>
            <a:ext cx="1590180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(N)</a:t>
            </a:r>
          </a:p>
        </p:txBody>
      </p:sp>
      <p:sp>
        <p:nvSpPr>
          <p:cNvPr id="443" name="Positive (PP)"/>
          <p:cNvSpPr txBox="1"/>
          <p:nvPr/>
        </p:nvSpPr>
        <p:spPr>
          <a:xfrm>
            <a:off x="3717132" y="1787786"/>
            <a:ext cx="163506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(PP)</a:t>
            </a:r>
          </a:p>
        </p:txBody>
      </p:sp>
      <p:sp>
        <p:nvSpPr>
          <p:cNvPr id="444" name="Negative (PN)"/>
          <p:cNvSpPr txBox="1"/>
          <p:nvPr/>
        </p:nvSpPr>
        <p:spPr>
          <a:xfrm>
            <a:off x="5829002" y="1787786"/>
            <a:ext cx="1771319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(PN)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AC98D-0566-D212-790E-C48EA0A4B96C}"/>
              </a:ext>
            </a:extLst>
          </p:cNvPr>
          <p:cNvSpPr txBox="1"/>
          <p:nvPr/>
        </p:nvSpPr>
        <p:spPr>
          <a:xfrm>
            <a:off x="574480" y="6285881"/>
            <a:ext cx="10943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 what conditions is high </a:t>
            </a:r>
            <a:r>
              <a:rPr lang="en-US" b="1" dirty="0"/>
              <a:t>precision</a:t>
            </a:r>
            <a:r>
              <a:rPr lang="en-US" dirty="0"/>
              <a:t> the most appropriate performance objective for a classification model?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a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Recall</a:t>
            </a:r>
          </a:p>
        </p:txBody>
      </p:sp>
      <p:sp>
        <p:nvSpPr>
          <p:cNvPr id="448" name="True Positives TP"/>
          <p:cNvSpPr/>
          <p:nvPr/>
        </p:nvSpPr>
        <p:spPr>
          <a:xfrm>
            <a:off x="3516018" y="2232422"/>
            <a:ext cx="2121289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Positives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TP</a:t>
            </a:r>
          </a:p>
        </p:txBody>
      </p:sp>
      <p:sp>
        <p:nvSpPr>
          <p:cNvPr id="449" name="False Positives FP"/>
          <p:cNvSpPr/>
          <p:nvPr/>
        </p:nvSpPr>
        <p:spPr>
          <a:xfrm>
            <a:off x="3498159" y="3792536"/>
            <a:ext cx="2121289" cy="1509118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Positives</a:t>
            </a:r>
            <a:br>
              <a:rPr sz="2109"/>
            </a:br>
            <a:r>
              <a:rPr sz="2109"/>
              <a:t>FP</a:t>
            </a:r>
          </a:p>
        </p:txBody>
      </p:sp>
      <p:sp>
        <p:nvSpPr>
          <p:cNvPr id="450" name="False Negatives FN"/>
          <p:cNvSpPr/>
          <p:nvPr/>
        </p:nvSpPr>
        <p:spPr>
          <a:xfrm>
            <a:off x="5695404" y="2232422"/>
            <a:ext cx="2121290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Negatives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FN</a:t>
            </a:r>
          </a:p>
        </p:txBody>
      </p:sp>
      <p:sp>
        <p:nvSpPr>
          <p:cNvPr id="451" name="True Negatives TN"/>
          <p:cNvSpPr/>
          <p:nvPr/>
        </p:nvSpPr>
        <p:spPr>
          <a:xfrm>
            <a:off x="5695404" y="3795117"/>
            <a:ext cx="2121290" cy="1509117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Negatives</a:t>
            </a:r>
            <a:br>
              <a:rPr sz="2109"/>
            </a:br>
            <a:r>
              <a:rPr sz="2109"/>
              <a:t>TN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2" name="equation.pdf"/>
              <p:cNvSpPr txBox="1"/>
              <p:nvPr/>
            </p:nvSpPr>
            <p:spPr>
              <a:xfrm>
                <a:off x="4208141" y="5438337"/>
                <a:ext cx="2506520" cy="6948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sz="2391" dirty="0">
                  <a:solidFill>
                    <a:srgbClr val="4F8F00"/>
                  </a:solidFill>
                </a:endParaRPr>
              </a:p>
            </p:txBody>
          </p:sp>
        </mc:Choice>
        <mc:Fallback>
          <p:sp>
            <p:nvSpPr>
              <p:cNvPr id="45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141" y="5438337"/>
                <a:ext cx="2506520" cy="6948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3" name="Of those that are actually positive, the percent that are predicted to be positive…"/>
          <p:cNvSpPr txBox="1"/>
          <p:nvPr/>
        </p:nvSpPr>
        <p:spPr>
          <a:xfrm>
            <a:off x="7964088" y="2777541"/>
            <a:ext cx="2683014" cy="182530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 dirty="0"/>
              <a:t>Of those that are </a:t>
            </a:r>
            <a:r>
              <a:rPr sz="1266" b="1" dirty="0"/>
              <a:t>actually positive</a:t>
            </a:r>
            <a:r>
              <a:rPr sz="1266" dirty="0"/>
              <a:t>, the percent that are predicted to be positive</a:t>
            </a:r>
            <a:endParaRPr lang="en-US" sz="1266" dirty="0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 dirty="0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 dirty="0"/>
              <a:t>The proportion of positives that are correctly identified </a:t>
            </a:r>
            <a:endParaRPr lang="en-US" sz="1266" dirty="0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 dirty="0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 dirty="0"/>
              <a:t>Also called </a:t>
            </a:r>
            <a:r>
              <a:rPr sz="1266" b="1" dirty="0">
                <a:latin typeface="Helvetica Neue"/>
                <a:ea typeface="Helvetica Neue"/>
                <a:cs typeface="Helvetica Neue"/>
                <a:sym typeface="Helvetica Neue"/>
              </a:rPr>
              <a:t>sensitivity</a:t>
            </a:r>
            <a:r>
              <a:rPr sz="1266" dirty="0"/>
              <a:t> or </a:t>
            </a:r>
            <a:br>
              <a:rPr sz="1266" dirty="0"/>
            </a:br>
            <a:r>
              <a:rPr sz="1266" b="1" dirty="0">
                <a:latin typeface="Helvetica Neue"/>
                <a:ea typeface="Helvetica Neue"/>
                <a:cs typeface="Helvetica Neue"/>
                <a:sym typeface="Helvetica Neue"/>
              </a:rPr>
              <a:t>true positive rate</a:t>
            </a:r>
          </a:p>
        </p:txBody>
      </p:sp>
      <p:sp>
        <p:nvSpPr>
          <p:cNvPr id="454" name="Predicted Output"/>
          <p:cNvSpPr txBox="1"/>
          <p:nvPr/>
        </p:nvSpPr>
        <p:spPr>
          <a:xfrm>
            <a:off x="4465898" y="1266305"/>
            <a:ext cx="2641750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Predicted Output</a:t>
            </a:r>
          </a:p>
        </p:txBody>
      </p:sp>
      <p:sp>
        <p:nvSpPr>
          <p:cNvPr id="455" name="True Values"/>
          <p:cNvSpPr txBox="1"/>
          <p:nvPr/>
        </p:nvSpPr>
        <p:spPr>
          <a:xfrm>
            <a:off x="1703541" y="3242924"/>
            <a:ext cx="1130702" cy="8945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True Values</a:t>
            </a:r>
          </a:p>
        </p:txBody>
      </p:sp>
      <p:sp>
        <p:nvSpPr>
          <p:cNvPr id="456" name="Positive (P)"/>
          <p:cNvSpPr txBox="1"/>
          <p:nvPr/>
        </p:nvSpPr>
        <p:spPr>
          <a:xfrm rot="16200000">
            <a:off x="2538257" y="2698813"/>
            <a:ext cx="145392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(P)</a:t>
            </a:r>
          </a:p>
        </p:txBody>
      </p:sp>
      <p:sp>
        <p:nvSpPr>
          <p:cNvPr id="457" name="Negative (N)"/>
          <p:cNvSpPr txBox="1"/>
          <p:nvPr/>
        </p:nvSpPr>
        <p:spPr>
          <a:xfrm rot="16200000">
            <a:off x="2470127" y="4351320"/>
            <a:ext cx="1590180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(N)</a:t>
            </a:r>
          </a:p>
        </p:txBody>
      </p:sp>
      <p:sp>
        <p:nvSpPr>
          <p:cNvPr id="458" name="Positive (PP)"/>
          <p:cNvSpPr txBox="1"/>
          <p:nvPr/>
        </p:nvSpPr>
        <p:spPr>
          <a:xfrm>
            <a:off x="3717132" y="1787786"/>
            <a:ext cx="163506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(PP)</a:t>
            </a:r>
          </a:p>
        </p:txBody>
      </p:sp>
      <p:sp>
        <p:nvSpPr>
          <p:cNvPr id="459" name="Negative (PN)"/>
          <p:cNvSpPr txBox="1"/>
          <p:nvPr/>
        </p:nvSpPr>
        <p:spPr>
          <a:xfrm>
            <a:off x="5829002" y="1787786"/>
            <a:ext cx="1771319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(PN)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9D6DB-E281-10E7-D80E-D8A607D5E640}"/>
              </a:ext>
            </a:extLst>
          </p:cNvPr>
          <p:cNvSpPr txBox="1"/>
          <p:nvPr/>
        </p:nvSpPr>
        <p:spPr>
          <a:xfrm>
            <a:off x="574480" y="6285881"/>
            <a:ext cx="10592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 what conditions is high </a:t>
            </a:r>
            <a:r>
              <a:rPr lang="en-US" b="1" dirty="0"/>
              <a:t>recall</a:t>
            </a:r>
            <a:r>
              <a:rPr lang="en-US" dirty="0"/>
              <a:t> the most appropriate performance objective for a classification model?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F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F1</a:t>
            </a:r>
            <a:r>
              <a:rPr lang="en-US" dirty="0"/>
              <a:t> Score</a:t>
            </a:r>
            <a:endParaRPr dirty="0"/>
          </a:p>
        </p:txBody>
      </p:sp>
      <p:sp>
        <p:nvSpPr>
          <p:cNvPr id="463" name="The precision &amp; recall are often combined into one metric called F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 precision &amp; recall are often combined into one metric called F</a:t>
            </a:r>
            <a:r>
              <a:rPr baseline="-5999" dirty="0"/>
              <a:t>1</a:t>
            </a:r>
          </a:p>
          <a:p>
            <a:r>
              <a:rPr dirty="0"/>
              <a:t>F</a:t>
            </a:r>
            <a:r>
              <a:rPr baseline="-5999" dirty="0"/>
              <a:t>1</a:t>
            </a:r>
            <a:r>
              <a:rPr dirty="0"/>
              <a:t> is the </a:t>
            </a:r>
            <a:r>
              <a:rPr b="1" dirty="0"/>
              <a:t>harmonic mean</a:t>
            </a:r>
            <a:r>
              <a:rPr dirty="0"/>
              <a:t> of the precision and recall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4" name="equation.pdf"/>
              <p:cNvSpPr txBox="1"/>
              <p:nvPr/>
            </p:nvSpPr>
            <p:spPr>
              <a:xfrm>
                <a:off x="1630186" y="3612478"/>
                <a:ext cx="8832161" cy="14422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164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164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</m:den>
                          </m:f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den>
                          </m:f>
                        </m:den>
                      </m:f>
                      <m:r>
                        <a:rPr sz="3164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num>
                            <m:den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3164">
                  <a:solidFill>
                    <a:srgbClr val="4F8F00"/>
                  </a:solidFill>
                </a:endParaRPr>
              </a:p>
            </p:txBody>
          </p:sp>
        </mc:Choice>
        <mc:Fallback>
          <p:sp>
            <p:nvSpPr>
              <p:cNvPr id="464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186" y="3612478"/>
                <a:ext cx="8832161" cy="1442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5" name="The  F1 score favors classifiers with similar precision and recall scores"/>
          <p:cNvSpPr txBox="1"/>
          <p:nvPr/>
        </p:nvSpPr>
        <p:spPr>
          <a:xfrm>
            <a:off x="1952587" y="5054732"/>
            <a:ext cx="7804547" cy="146460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normAutofit/>
          </a:bodyPr>
          <a:lstStyle/>
          <a:p>
            <a:pPr marL="223234" indent="-223234">
              <a:buClr>
                <a:srgbClr val="009193"/>
              </a:buClr>
              <a:buSzPct val="100000"/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000" dirty="0"/>
              <a:t>The  F</a:t>
            </a:r>
            <a:r>
              <a:rPr sz="2000" baseline="-5999" dirty="0"/>
              <a:t>1 </a:t>
            </a:r>
            <a:r>
              <a:rPr sz="2000" dirty="0"/>
              <a:t>score favors classifiers with similar precision and recall scores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F𝛽 Sco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</a:t>
            </a:r>
            <a:r>
              <a:rPr baseline="-5999" dirty="0"/>
              <a:t>𝛽</a:t>
            </a:r>
            <a:r>
              <a:rPr dirty="0"/>
              <a:t> Score</a:t>
            </a:r>
          </a:p>
        </p:txBody>
      </p:sp>
      <p:sp>
        <p:nvSpPr>
          <p:cNvPr id="469" name="The F1 score can be generalized to give more weight to either the precision or recall"/>
          <p:cNvSpPr txBox="1">
            <a:spLocks noGrp="1"/>
          </p:cNvSpPr>
          <p:nvPr>
            <p:ph type="body" idx="1"/>
          </p:nvPr>
        </p:nvSpPr>
        <p:spPr>
          <a:xfrm>
            <a:off x="700634" y="1852763"/>
            <a:ext cx="10691265" cy="3739896"/>
          </a:xfrm>
          <a:prstGeom prst="rect">
            <a:avLst/>
          </a:prstGeom>
        </p:spPr>
        <p:txBody>
          <a:bodyPr/>
          <a:lstStyle/>
          <a:p>
            <a:r>
              <a:rPr dirty="0"/>
              <a:t>The F</a:t>
            </a:r>
            <a:r>
              <a:rPr baseline="-5999" dirty="0"/>
              <a:t>1</a:t>
            </a:r>
            <a:r>
              <a:rPr dirty="0"/>
              <a:t> score can be generalized to give more weight to either the precision or recall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0" name="equation.pdf"/>
              <p:cNvSpPr txBox="1"/>
              <p:nvPr/>
            </p:nvSpPr>
            <p:spPr>
              <a:xfrm>
                <a:off x="2421234" y="2912755"/>
                <a:ext cx="6266331" cy="923843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672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sz="2672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=(1+</m:t>
                      </m:r>
                      <m:sSup>
                        <m:sSupPr>
                          <m:ctrlP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2672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num>
                            <m:den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sz="2672" i="1">
                                      <a:solidFill>
                                        <a:srgbClr val="4E8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672" i="1">
                                      <a:solidFill>
                                        <a:srgbClr val="4E8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sz="2672" i="1">
                                      <a:solidFill>
                                        <a:srgbClr val="4E8F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2672" dirty="0">
                  <a:solidFill>
                    <a:srgbClr val="4F8F00"/>
                  </a:solidFill>
                </a:endParaRPr>
              </a:p>
            </p:txBody>
          </p:sp>
        </mc:Choice>
        <mc:Fallback>
          <p:sp>
            <p:nvSpPr>
              <p:cNvPr id="470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234" y="2912755"/>
                <a:ext cx="6266331" cy="9238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" name="0 &lt; 𝛽 &lt; 1 ⟹ More weight given to the precision       𝛽 &gt; 1 ⟹ More weight given to the recall…"/>
          <p:cNvSpPr txBox="1"/>
          <p:nvPr/>
        </p:nvSpPr>
        <p:spPr>
          <a:xfrm>
            <a:off x="1711281" y="4706841"/>
            <a:ext cx="8669969" cy="117589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3400">
                <a:solidFill>
                  <a:srgbClr val="42424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2391" dirty="0"/>
              <a:t>0 &lt; 𝛽 &lt; 1 </a:t>
            </a:r>
            <a:r>
              <a:rPr sz="2391" dirty="0">
                <a:latin typeface="Gill Sans"/>
                <a:ea typeface="Gill Sans"/>
                <a:cs typeface="Gill Sans"/>
                <a:sym typeface="Gill Sans"/>
              </a:rPr>
              <a:t>⟹ </a:t>
            </a:r>
            <a:r>
              <a:rPr sz="2391" dirty="0"/>
              <a:t>More weight given to the precision</a:t>
            </a:r>
            <a:br>
              <a:rPr sz="2391" dirty="0"/>
            </a:br>
            <a:r>
              <a:rPr sz="2391" dirty="0"/>
              <a:t>      𝛽 &gt; 1 </a:t>
            </a:r>
            <a:r>
              <a:rPr sz="2391" dirty="0">
                <a:latin typeface="Gill Sans"/>
                <a:ea typeface="Gill Sans"/>
                <a:cs typeface="Gill Sans"/>
                <a:sym typeface="Gill Sans"/>
              </a:rPr>
              <a:t>⟹</a:t>
            </a:r>
            <a:r>
              <a:rPr sz="2391" dirty="0"/>
              <a:t> More weight given to the recall</a:t>
            </a:r>
          </a:p>
          <a:p>
            <a:pPr>
              <a:defRPr sz="3400">
                <a:solidFill>
                  <a:srgbClr val="42424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2391" dirty="0"/>
              <a:t>      𝛽 = 1 </a:t>
            </a:r>
            <a:r>
              <a:rPr sz="2391" dirty="0">
                <a:latin typeface="Gill Sans"/>
                <a:ea typeface="Gill Sans"/>
                <a:cs typeface="Gill Sans"/>
                <a:sym typeface="Gill Sans"/>
              </a:rPr>
              <a:t>⟹ </a:t>
            </a:r>
            <a:r>
              <a:rPr sz="2250" dirty="0"/>
              <a:t>Equal weight given to precision and recall (F</a:t>
            </a:r>
            <a:r>
              <a:rPr sz="2250" baseline="-5999" dirty="0"/>
              <a:t>1</a:t>
            </a:r>
            <a:r>
              <a:rPr sz="2250" dirty="0"/>
              <a:t>)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Other Measures"/>
          <p:cNvSpPr txBox="1">
            <a:spLocks noGrp="1"/>
          </p:cNvSpPr>
          <p:nvPr>
            <p:ph type="title"/>
          </p:nvPr>
        </p:nvSpPr>
        <p:spPr>
          <a:xfrm>
            <a:off x="855238" y="77288"/>
            <a:ext cx="10691265" cy="1307592"/>
          </a:xfrm>
          <a:prstGeom prst="rect">
            <a:avLst/>
          </a:prstGeom>
        </p:spPr>
        <p:txBody>
          <a:bodyPr/>
          <a:lstStyle/>
          <a:p>
            <a:r>
              <a:rPr dirty="0"/>
              <a:t>Other Measures</a:t>
            </a:r>
          </a:p>
        </p:txBody>
      </p:sp>
      <p:sp>
        <p:nvSpPr>
          <p:cNvPr id="474" name="TP"/>
          <p:cNvSpPr/>
          <p:nvPr/>
        </p:nvSpPr>
        <p:spPr>
          <a:xfrm>
            <a:off x="1791136" y="2084070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TP</a:t>
            </a:r>
          </a:p>
        </p:txBody>
      </p:sp>
      <p:sp>
        <p:nvSpPr>
          <p:cNvPr id="475" name="FN"/>
          <p:cNvSpPr/>
          <p:nvPr/>
        </p:nvSpPr>
        <p:spPr>
          <a:xfrm>
            <a:off x="2447289" y="2084070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FN</a:t>
            </a:r>
          </a:p>
        </p:txBody>
      </p:sp>
      <p:sp>
        <p:nvSpPr>
          <p:cNvPr id="476" name="FP"/>
          <p:cNvSpPr/>
          <p:nvPr/>
        </p:nvSpPr>
        <p:spPr>
          <a:xfrm>
            <a:off x="1791136" y="273593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FP</a:t>
            </a:r>
          </a:p>
        </p:txBody>
      </p:sp>
      <p:sp>
        <p:nvSpPr>
          <p:cNvPr id="477" name="TN"/>
          <p:cNvSpPr/>
          <p:nvPr/>
        </p:nvSpPr>
        <p:spPr>
          <a:xfrm>
            <a:off x="2447289" y="273593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TN</a:t>
            </a:r>
          </a:p>
        </p:txBody>
      </p:sp>
      <p:sp>
        <p:nvSpPr>
          <p:cNvPr id="478" name="Recall / Sensitivity / True Positive Rate"/>
          <p:cNvSpPr txBox="1"/>
          <p:nvPr/>
        </p:nvSpPr>
        <p:spPr>
          <a:xfrm>
            <a:off x="1449699" y="1080258"/>
            <a:ext cx="2053080" cy="5645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200">
                <a:solidFill>
                  <a:srgbClr val="94175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1600" dirty="0"/>
              <a:t>Recall / Sensitivity / True Positive Rate</a:t>
            </a:r>
          </a:p>
        </p:txBody>
      </p:sp>
      <p:sp>
        <p:nvSpPr>
          <p:cNvPr id="479" name="Precision /  Positive Predictive Rate"/>
          <p:cNvSpPr txBox="1"/>
          <p:nvPr/>
        </p:nvSpPr>
        <p:spPr>
          <a:xfrm>
            <a:off x="6780751" y="1083471"/>
            <a:ext cx="2710891" cy="5645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defRPr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600" dirty="0"/>
              <a:t>Precision / </a:t>
            </a:r>
            <a:br>
              <a:rPr sz="1600" dirty="0"/>
            </a:br>
            <a:r>
              <a:rPr sz="1600" dirty="0"/>
              <a:t>Positive Predictive Rate </a:t>
            </a:r>
          </a:p>
        </p:txBody>
      </p:sp>
      <p:sp>
        <p:nvSpPr>
          <p:cNvPr id="480" name="Specificity /  True Negative Rate"/>
          <p:cNvSpPr txBox="1"/>
          <p:nvPr/>
        </p:nvSpPr>
        <p:spPr>
          <a:xfrm>
            <a:off x="6871756" y="3757943"/>
            <a:ext cx="1843080" cy="5645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100">
                <a:solidFill>
                  <a:srgbClr val="FF9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600" dirty="0"/>
              <a:t>Specificity / </a:t>
            </a:r>
            <a:br>
              <a:rPr sz="1600" dirty="0"/>
            </a:br>
            <a:r>
              <a:rPr sz="1600" dirty="0"/>
              <a:t>True Negative Rate</a:t>
            </a:r>
          </a:p>
        </p:txBody>
      </p:sp>
      <p:sp>
        <p:nvSpPr>
          <p:cNvPr id="481" name="FN"/>
          <p:cNvSpPr/>
          <p:nvPr/>
        </p:nvSpPr>
        <p:spPr>
          <a:xfrm>
            <a:off x="2478481" y="4934059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FN</a:t>
            </a:r>
          </a:p>
        </p:txBody>
      </p:sp>
      <p:sp>
        <p:nvSpPr>
          <p:cNvPr id="482" name="TP"/>
          <p:cNvSpPr/>
          <p:nvPr/>
        </p:nvSpPr>
        <p:spPr>
          <a:xfrm>
            <a:off x="7091571" y="1992352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TP</a:t>
            </a:r>
          </a:p>
        </p:txBody>
      </p:sp>
      <p:sp>
        <p:nvSpPr>
          <p:cNvPr id="483" name="FP"/>
          <p:cNvSpPr/>
          <p:nvPr/>
        </p:nvSpPr>
        <p:spPr>
          <a:xfrm>
            <a:off x="7091571" y="2644219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FP</a:t>
            </a:r>
          </a:p>
        </p:txBody>
      </p:sp>
      <p:sp>
        <p:nvSpPr>
          <p:cNvPr id="484" name="FP"/>
          <p:cNvSpPr/>
          <p:nvPr/>
        </p:nvSpPr>
        <p:spPr>
          <a:xfrm>
            <a:off x="7049003" y="5557611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FP</a:t>
            </a:r>
          </a:p>
        </p:txBody>
      </p:sp>
      <p:sp>
        <p:nvSpPr>
          <p:cNvPr id="485" name="TN"/>
          <p:cNvSpPr/>
          <p:nvPr/>
        </p:nvSpPr>
        <p:spPr>
          <a:xfrm>
            <a:off x="7705156" y="5557611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TN</a:t>
            </a:r>
          </a:p>
        </p:txBody>
      </p:sp>
      <p:sp>
        <p:nvSpPr>
          <p:cNvPr id="486" name="Negative Predictive Value"/>
          <p:cNvSpPr txBox="1"/>
          <p:nvPr/>
        </p:nvSpPr>
        <p:spPr>
          <a:xfrm>
            <a:off x="1271033" y="4075838"/>
            <a:ext cx="3164389" cy="3183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1600" dirty="0"/>
              <a:t>Negative Predictive Value </a:t>
            </a:r>
          </a:p>
        </p:txBody>
      </p:sp>
      <p:sp>
        <p:nvSpPr>
          <p:cNvPr id="487" name="TN"/>
          <p:cNvSpPr/>
          <p:nvPr/>
        </p:nvSpPr>
        <p:spPr>
          <a:xfrm>
            <a:off x="2478481" y="5584397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TN</a:t>
            </a:r>
          </a:p>
        </p:txBody>
      </p:sp>
      <p:sp>
        <p:nvSpPr>
          <p:cNvPr id="488" name="FN"/>
          <p:cNvSpPr/>
          <p:nvPr/>
        </p:nvSpPr>
        <p:spPr>
          <a:xfrm>
            <a:off x="7747724" y="1992352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 dirty="0"/>
              <a:t>FN</a:t>
            </a:r>
          </a:p>
        </p:txBody>
      </p:sp>
      <p:sp>
        <p:nvSpPr>
          <p:cNvPr id="489" name="TN"/>
          <p:cNvSpPr/>
          <p:nvPr/>
        </p:nvSpPr>
        <p:spPr>
          <a:xfrm>
            <a:off x="7747724" y="2644219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TN</a:t>
            </a:r>
          </a:p>
        </p:txBody>
      </p:sp>
      <p:sp>
        <p:nvSpPr>
          <p:cNvPr id="490" name="TP"/>
          <p:cNvSpPr/>
          <p:nvPr/>
        </p:nvSpPr>
        <p:spPr>
          <a:xfrm>
            <a:off x="7055797" y="489370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TP</a:t>
            </a:r>
          </a:p>
        </p:txBody>
      </p:sp>
      <p:sp>
        <p:nvSpPr>
          <p:cNvPr id="491" name="FN"/>
          <p:cNvSpPr/>
          <p:nvPr/>
        </p:nvSpPr>
        <p:spPr>
          <a:xfrm>
            <a:off x="7711950" y="489370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FN</a:t>
            </a:r>
          </a:p>
        </p:txBody>
      </p:sp>
      <p:sp>
        <p:nvSpPr>
          <p:cNvPr id="492" name="TP"/>
          <p:cNvSpPr/>
          <p:nvPr/>
        </p:nvSpPr>
        <p:spPr>
          <a:xfrm>
            <a:off x="1813288" y="4934322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TP</a:t>
            </a:r>
          </a:p>
        </p:txBody>
      </p:sp>
      <p:sp>
        <p:nvSpPr>
          <p:cNvPr id="493" name="FP"/>
          <p:cNvSpPr/>
          <p:nvPr/>
        </p:nvSpPr>
        <p:spPr>
          <a:xfrm>
            <a:off x="1813288" y="5586189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4" name="equation.pdf"/>
              <p:cNvSpPr txBox="1"/>
              <p:nvPr/>
            </p:nvSpPr>
            <p:spPr>
              <a:xfrm>
                <a:off x="3201099" y="2269887"/>
                <a:ext cx="876009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941751"/>
                  </a:solidFill>
                </a:endParaRPr>
              </a:p>
            </p:txBody>
          </p:sp>
        </mc:Choice>
        <mc:Fallback>
          <p:sp>
            <p:nvSpPr>
              <p:cNvPr id="494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099" y="2269887"/>
                <a:ext cx="876009" cy="4900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equation.pdf"/>
              <p:cNvSpPr txBox="1"/>
              <p:nvPr/>
            </p:nvSpPr>
            <p:spPr>
              <a:xfrm>
                <a:off x="8658201" y="2029141"/>
                <a:ext cx="851965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005493"/>
                  </a:solidFill>
                </a:endParaRPr>
              </a:p>
            </p:txBody>
          </p:sp>
        </mc:Choice>
        <mc:Fallback>
          <p:sp>
            <p:nvSpPr>
              <p:cNvPr id="495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8201" y="2029141"/>
                <a:ext cx="851965" cy="4900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6" name="equation.pdf"/>
              <p:cNvSpPr txBox="1"/>
              <p:nvPr/>
            </p:nvSpPr>
            <p:spPr>
              <a:xfrm>
                <a:off x="3267865" y="5016213"/>
                <a:ext cx="900055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4F8F00"/>
                  </a:solidFill>
                </a:endParaRPr>
              </a:p>
            </p:txBody>
          </p:sp>
        </mc:Choice>
        <mc:Fallback>
          <p:sp>
            <p:nvSpPr>
              <p:cNvPr id="496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865" y="5016213"/>
                <a:ext cx="900055" cy="4900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7" name="equation.pdf"/>
              <p:cNvSpPr txBox="1"/>
              <p:nvPr/>
            </p:nvSpPr>
            <p:spPr>
              <a:xfrm>
                <a:off x="8615633" y="5013152"/>
                <a:ext cx="876009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497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633" y="5013152"/>
                <a:ext cx="876009" cy="4900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8" name="Predicted Output"/>
          <p:cNvSpPr txBox="1"/>
          <p:nvPr/>
        </p:nvSpPr>
        <p:spPr>
          <a:xfrm>
            <a:off x="1882375" y="1684843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499" name="True Values"/>
          <p:cNvSpPr txBox="1"/>
          <p:nvPr/>
        </p:nvSpPr>
        <p:spPr>
          <a:xfrm>
            <a:off x="1022526" y="2435668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 dirty="0"/>
              <a:t>True Values</a:t>
            </a:r>
          </a:p>
        </p:txBody>
      </p:sp>
      <p:sp>
        <p:nvSpPr>
          <p:cNvPr id="500" name="Positive (P)"/>
          <p:cNvSpPr txBox="1"/>
          <p:nvPr/>
        </p:nvSpPr>
        <p:spPr>
          <a:xfrm rot="16200000">
            <a:off x="1297749" y="2248788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01" name="Negative (N)"/>
          <p:cNvSpPr txBox="1"/>
          <p:nvPr/>
        </p:nvSpPr>
        <p:spPr>
          <a:xfrm rot="16200000">
            <a:off x="1265688" y="3002248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02" name="Positive (PP)"/>
          <p:cNvSpPr txBox="1"/>
          <p:nvPr/>
        </p:nvSpPr>
        <p:spPr>
          <a:xfrm>
            <a:off x="1588752" y="1837080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03" name="Negative (PN)"/>
          <p:cNvSpPr txBox="1"/>
          <p:nvPr/>
        </p:nvSpPr>
        <p:spPr>
          <a:xfrm>
            <a:off x="2365865" y="1847487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sp>
        <p:nvSpPr>
          <p:cNvPr id="504" name="Predicted Output"/>
          <p:cNvSpPr txBox="1"/>
          <p:nvPr/>
        </p:nvSpPr>
        <p:spPr>
          <a:xfrm>
            <a:off x="7186434" y="1595475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505" name="True Values"/>
          <p:cNvSpPr txBox="1"/>
          <p:nvPr/>
        </p:nvSpPr>
        <p:spPr>
          <a:xfrm>
            <a:off x="6326584" y="2346300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06" name="Positive (P)"/>
          <p:cNvSpPr txBox="1"/>
          <p:nvPr/>
        </p:nvSpPr>
        <p:spPr>
          <a:xfrm rot="16200000">
            <a:off x="6601808" y="2159420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07" name="Negative (N)"/>
          <p:cNvSpPr txBox="1"/>
          <p:nvPr/>
        </p:nvSpPr>
        <p:spPr>
          <a:xfrm rot="16200000">
            <a:off x="6569747" y="2912881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08" name="Positive (PP)"/>
          <p:cNvSpPr txBox="1"/>
          <p:nvPr/>
        </p:nvSpPr>
        <p:spPr>
          <a:xfrm>
            <a:off x="6892810" y="1747712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09" name="Negative (PN)"/>
          <p:cNvSpPr txBox="1"/>
          <p:nvPr/>
        </p:nvSpPr>
        <p:spPr>
          <a:xfrm>
            <a:off x="7713544" y="1747712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sp>
        <p:nvSpPr>
          <p:cNvPr id="510" name="Predicted Output"/>
          <p:cNvSpPr txBox="1"/>
          <p:nvPr/>
        </p:nvSpPr>
        <p:spPr>
          <a:xfrm>
            <a:off x="1891900" y="4469026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511" name="True Values"/>
          <p:cNvSpPr txBox="1"/>
          <p:nvPr/>
        </p:nvSpPr>
        <p:spPr>
          <a:xfrm>
            <a:off x="1032051" y="5253675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12" name="Positive (P)"/>
          <p:cNvSpPr txBox="1"/>
          <p:nvPr/>
        </p:nvSpPr>
        <p:spPr>
          <a:xfrm rot="16200000">
            <a:off x="1307274" y="5066796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13" name="Negative (N)"/>
          <p:cNvSpPr txBox="1"/>
          <p:nvPr/>
        </p:nvSpPr>
        <p:spPr>
          <a:xfrm rot="16200000">
            <a:off x="1284739" y="5820256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14" name="Positive (PP)"/>
          <p:cNvSpPr txBox="1"/>
          <p:nvPr/>
        </p:nvSpPr>
        <p:spPr>
          <a:xfrm>
            <a:off x="1598277" y="4655087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15" name="Negative (PN)"/>
          <p:cNvSpPr txBox="1"/>
          <p:nvPr/>
        </p:nvSpPr>
        <p:spPr>
          <a:xfrm>
            <a:off x="2375390" y="4665495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sp>
        <p:nvSpPr>
          <p:cNvPr id="516" name="Predicted Output"/>
          <p:cNvSpPr txBox="1"/>
          <p:nvPr/>
        </p:nvSpPr>
        <p:spPr>
          <a:xfrm>
            <a:off x="7134410" y="4356914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517" name="True Values"/>
          <p:cNvSpPr txBox="1"/>
          <p:nvPr/>
        </p:nvSpPr>
        <p:spPr>
          <a:xfrm>
            <a:off x="6274560" y="5250614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18" name="Positive (P)"/>
          <p:cNvSpPr txBox="1"/>
          <p:nvPr/>
        </p:nvSpPr>
        <p:spPr>
          <a:xfrm rot="16200000">
            <a:off x="6549784" y="5063735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19" name="Negative (N)"/>
          <p:cNvSpPr txBox="1"/>
          <p:nvPr/>
        </p:nvSpPr>
        <p:spPr>
          <a:xfrm rot="16200000">
            <a:off x="6517724" y="5817195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20" name="Positive (PP)"/>
          <p:cNvSpPr txBox="1"/>
          <p:nvPr/>
        </p:nvSpPr>
        <p:spPr>
          <a:xfrm>
            <a:off x="6840787" y="4652026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21" name="Negative (PN)"/>
          <p:cNvSpPr txBox="1"/>
          <p:nvPr/>
        </p:nvSpPr>
        <p:spPr>
          <a:xfrm>
            <a:off x="7617900" y="4662434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grpSp>
        <p:nvGrpSpPr>
          <p:cNvPr id="2" name="Group">
            <a:extLst>
              <a:ext uri="{FF2B5EF4-FFF2-40B4-BE49-F238E27FC236}">
                <a16:creationId xmlns:a16="http://schemas.microsoft.com/office/drawing/2014/main" id="{4E5FBC4C-5DE1-9E0D-B3C7-AAD63E0C586F}"/>
              </a:ext>
            </a:extLst>
          </p:cNvPr>
          <p:cNvGrpSpPr/>
          <p:nvPr/>
        </p:nvGrpSpPr>
        <p:grpSpPr>
          <a:xfrm>
            <a:off x="4437956" y="1751538"/>
            <a:ext cx="1871475" cy="609165"/>
            <a:chOff x="-50800" y="79029"/>
            <a:chExt cx="2661652" cy="866368"/>
          </a:xfrm>
        </p:grpSpPr>
        <p:pic>
          <p:nvPicPr>
            <p:cNvPr id="3" name="Line Line" descr="Line Line">
              <a:extLst>
                <a:ext uri="{FF2B5EF4-FFF2-40B4-BE49-F238E27FC236}">
                  <a16:creationId xmlns:a16="http://schemas.microsoft.com/office/drawing/2014/main" id="{A0F4A8CA-2402-1C63-3358-85364B82B3FE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50800" y="486841"/>
              <a:ext cx="2661652" cy="458556"/>
            </a:xfrm>
            <a:prstGeom prst="rect">
              <a:avLst/>
            </a:prstGeom>
            <a:effectLst/>
          </p:spPr>
        </p:pic>
        <p:sp>
          <p:nvSpPr>
            <p:cNvPr id="4" name="F1">
              <a:extLst>
                <a:ext uri="{FF2B5EF4-FFF2-40B4-BE49-F238E27FC236}">
                  <a16:creationId xmlns:a16="http://schemas.microsoft.com/office/drawing/2014/main" id="{9A5DBCF4-4210-8CC1-EF9F-3AE506986677}"/>
                </a:ext>
              </a:extLst>
            </p:cNvPr>
            <p:cNvSpPr txBox="1"/>
            <p:nvPr/>
          </p:nvSpPr>
          <p:spPr>
            <a:xfrm>
              <a:off x="1280025" y="79029"/>
              <a:ext cx="440007" cy="61035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>
                <a:defRPr sz="3300">
                  <a:solidFill>
                    <a:srgbClr val="009193"/>
                  </a:solidFill>
                  <a:latin typeface="Noteworthy Light"/>
                  <a:ea typeface="Noteworthy Light"/>
                  <a:cs typeface="Noteworthy Light"/>
                  <a:sym typeface="Noteworthy Light"/>
                </a:defRPr>
              </a:pPr>
              <a:r>
                <a:rPr sz="2320"/>
                <a:t>F</a:t>
              </a:r>
              <a:r>
                <a:rPr sz="2320" baseline="-5999"/>
                <a:t>1</a:t>
              </a:r>
            </a:p>
          </p:txBody>
        </p:sp>
      </p:grpSp>
      <p:grpSp>
        <p:nvGrpSpPr>
          <p:cNvPr id="5" name="Group">
            <a:extLst>
              <a:ext uri="{FF2B5EF4-FFF2-40B4-BE49-F238E27FC236}">
                <a16:creationId xmlns:a16="http://schemas.microsoft.com/office/drawing/2014/main" id="{776D1503-AD0E-5D61-9CF0-4160CAD1A5B0}"/>
              </a:ext>
            </a:extLst>
          </p:cNvPr>
          <p:cNvGrpSpPr/>
          <p:nvPr/>
        </p:nvGrpSpPr>
        <p:grpSpPr>
          <a:xfrm>
            <a:off x="5233298" y="1910105"/>
            <a:ext cx="1030076" cy="3603690"/>
            <a:chOff x="1466006" y="-709176"/>
            <a:chExt cx="1464997" cy="5125247"/>
          </a:xfrm>
        </p:grpSpPr>
        <p:pic>
          <p:nvPicPr>
            <p:cNvPr id="6" name="Line Line" descr="Line Line">
              <a:extLst>
                <a:ext uri="{FF2B5EF4-FFF2-40B4-BE49-F238E27FC236}">
                  <a16:creationId xmlns:a16="http://schemas.microsoft.com/office/drawing/2014/main" id="{CEDF20D0-BB6D-D742-9C29-0656DC7C724C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853116">
              <a:off x="-867340" y="1624170"/>
              <a:ext cx="5125247" cy="458555"/>
            </a:xfrm>
            <a:prstGeom prst="rect">
              <a:avLst/>
            </a:prstGeom>
            <a:effectLst/>
          </p:spPr>
        </p:pic>
        <p:sp>
          <p:nvSpPr>
            <p:cNvPr id="7" name="ROC Curve &amp; AUC">
              <a:extLst>
                <a:ext uri="{FF2B5EF4-FFF2-40B4-BE49-F238E27FC236}">
                  <a16:creationId xmlns:a16="http://schemas.microsoft.com/office/drawing/2014/main" id="{BF3D2932-1632-5FCD-813F-8E2597F5E2CC}"/>
                </a:ext>
              </a:extLst>
            </p:cNvPr>
            <p:cNvSpPr txBox="1"/>
            <p:nvPr/>
          </p:nvSpPr>
          <p:spPr>
            <a:xfrm rot="2816071">
              <a:off x="1410541" y="2084923"/>
              <a:ext cx="2045734" cy="995190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>
                <a:defRPr sz="2900">
                  <a:solidFill>
                    <a:srgbClr val="009193"/>
                  </a:solidFill>
                  <a:latin typeface="Noteworthy Light"/>
                  <a:ea typeface="Noteworthy Light"/>
                  <a:cs typeface="Noteworthy Light"/>
                  <a:sym typeface="Noteworthy Light"/>
                </a:defRPr>
              </a:pPr>
              <a:r>
                <a:rPr sz="2039" dirty="0"/>
                <a:t>ROC Curve &amp;</a:t>
              </a:r>
              <a:br>
                <a:rPr sz="2039" dirty="0"/>
              </a:br>
              <a:r>
                <a:rPr sz="2039" dirty="0"/>
                <a:t>AUC</a:t>
              </a:r>
            </a:p>
          </p:txBody>
        </p:sp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ROC Curve and AU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ROC Curve and AUC</a:t>
            </a:r>
          </a:p>
        </p:txBody>
      </p:sp>
      <p:sp>
        <p:nvSpPr>
          <p:cNvPr id="584" name="ROC stands for Receiver Operating Curv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196446" indent="-196446" defTabSz="156458">
              <a:spcBef>
                <a:spcPts val="2039"/>
              </a:spcBef>
              <a:defRPr sz="2464"/>
            </a:pPr>
            <a:r>
              <a:t>ROC stands for Receiver Operating Curve</a:t>
            </a:r>
          </a:p>
          <a:p>
            <a:pPr marL="394464" lvl="1" indent="-198018" defTabSz="156458">
              <a:spcBef>
                <a:spcPts val="2039"/>
              </a:spcBef>
              <a:defRPr sz="2464"/>
            </a:pPr>
            <a:r>
              <a:t>Developed in WWII to model false positive and false negative detections of radar operators</a:t>
            </a:r>
          </a:p>
          <a:p>
            <a:pPr marL="394464" lvl="1" indent="-198018" defTabSz="156458">
              <a:spcBef>
                <a:spcPts val="2039"/>
              </a:spcBef>
              <a:defRPr sz="2464"/>
            </a:pPr>
            <a:r>
              <a:t>It plots the True Positive Rate (sensitivity) versus the False Positive Rate (1 - specificity) for different classification thresholds </a:t>
            </a:r>
          </a:p>
          <a:p>
            <a:pPr marL="196446" indent="-196446" defTabSz="156458">
              <a:spcBef>
                <a:spcPts val="2039"/>
              </a:spcBef>
              <a:defRPr sz="2464"/>
            </a:pPr>
            <a:r>
              <a:t>AUC stands for Area Under the (ROC) Curve</a:t>
            </a:r>
          </a:p>
          <a:p>
            <a:pPr marL="394464" lvl="1" indent="-198018" defTabSz="156458">
              <a:spcBef>
                <a:spcPts val="2039"/>
              </a:spcBef>
              <a:defRPr sz="2464"/>
            </a:pPr>
            <a:r>
              <a:t>It is a single measure for summarizing the ROC curve</a:t>
            </a:r>
          </a:p>
          <a:p>
            <a:pPr marL="590910" lvl="2" indent="-198018" defTabSz="156458">
              <a:spcBef>
                <a:spcPts val="2039"/>
              </a:spcBef>
              <a:defRPr sz="2464"/>
            </a:pPr>
            <a:r>
              <a:t>AUC =1 ⟹ perfect model</a:t>
            </a:r>
          </a:p>
          <a:p>
            <a:pPr marL="590910" lvl="2" indent="-198018" defTabSz="156458">
              <a:spcBef>
                <a:spcPts val="2039"/>
              </a:spcBef>
              <a:defRPr sz="2464"/>
            </a:pPr>
            <a:r>
              <a:t>AUC = 0.5 ⟹ random model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Building the ROC Curv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Building the ROC Curve</a:t>
            </a:r>
          </a:p>
        </p:txBody>
      </p:sp>
      <p:sp>
        <p:nvSpPr>
          <p:cNvPr id="588" name="Many classifier actually predict a probability or score rather than a classific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Many classifier actually predict a probability or score rather than a classification</a:t>
            </a:r>
          </a:p>
          <a:p>
            <a:r>
              <a:t>Then the classification is made by setting a threshold</a:t>
            </a:r>
          </a:p>
          <a:p>
            <a:pPr lvl="1"/>
            <a:r>
              <a:t>For example: if </a:t>
            </a:r>
            <a:r>
              <a:rPr i="1">
                <a:latin typeface="Graphik"/>
                <a:ea typeface="Graphik"/>
                <a:cs typeface="Graphik"/>
                <a:sym typeface="Graphik"/>
              </a:rPr>
              <a:t>P(y</a:t>
            </a:r>
            <a:r>
              <a:rPr i="1" baseline="-5999">
                <a:latin typeface="Graphik"/>
                <a:ea typeface="Graphik"/>
                <a:cs typeface="Graphik"/>
                <a:sym typeface="Graphik"/>
              </a:rPr>
              <a:t>i </a:t>
            </a:r>
            <a:r>
              <a:rPr i="1">
                <a:latin typeface="Graphik"/>
                <a:ea typeface="Graphik"/>
                <a:cs typeface="Graphik"/>
                <a:sym typeface="Graphik"/>
              </a:rPr>
              <a:t>= positive) &gt; p</a:t>
            </a:r>
            <a:r>
              <a:t> then classify </a:t>
            </a:r>
            <a:r>
              <a:rPr i="1">
                <a:latin typeface="Graphik"/>
                <a:ea typeface="Graphik"/>
                <a:cs typeface="Graphik"/>
                <a:sym typeface="Graphik"/>
              </a:rPr>
              <a:t>y</a:t>
            </a:r>
            <a:r>
              <a:rPr i="1" baseline="-5999">
                <a:latin typeface="Graphik"/>
                <a:ea typeface="Graphik"/>
                <a:cs typeface="Graphik"/>
                <a:sym typeface="Graphik"/>
              </a:rPr>
              <a:t>i</a:t>
            </a:r>
            <a:r>
              <a:t> as positive (for </a:t>
            </a:r>
            <a:r>
              <a:rPr i="1">
                <a:latin typeface="Graphik"/>
                <a:ea typeface="Graphik"/>
                <a:cs typeface="Graphik"/>
                <a:sym typeface="Graphik"/>
              </a:rPr>
              <a:t>0 &lt; p &lt; 1)</a:t>
            </a:r>
          </a:p>
          <a:p>
            <a:r>
              <a:t>The ROC curve looks at the true positive rate versus the false positive rate for a range of thresholds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Example ROC Curv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ROC Curve</a:t>
            </a:r>
          </a:p>
        </p:txBody>
      </p:sp>
      <p:pic>
        <p:nvPicPr>
          <p:cNvPr id="592" name="unknown.png" descr="unkn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996" y="1447150"/>
            <a:ext cx="6944008" cy="5001125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Metrics in Scikit-Lear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Metrics in Scikit-Learn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Function names"/>
          <p:cNvSpPr txBox="1">
            <a:spLocks noGrp="1"/>
          </p:cNvSpPr>
          <p:nvPr>
            <p:ph type="title"/>
          </p:nvPr>
        </p:nvSpPr>
        <p:spPr>
          <a:xfrm>
            <a:off x="767358" y="776403"/>
            <a:ext cx="8161734" cy="803673"/>
          </a:xfrm>
          <a:prstGeom prst="rect">
            <a:avLst/>
          </a:prstGeom>
        </p:spPr>
        <p:txBody>
          <a:bodyPr/>
          <a:lstStyle/>
          <a:p>
            <a:r>
              <a:rPr dirty="0"/>
              <a:t>Function names</a:t>
            </a:r>
          </a:p>
        </p:txBody>
      </p:sp>
      <p:sp>
        <p:nvSpPr>
          <p:cNvPr id="597" name="accuracy_score(y_true, y_pred)  (default for many functions)…"/>
          <p:cNvSpPr txBox="1">
            <a:spLocks noGrp="1"/>
          </p:cNvSpPr>
          <p:nvPr>
            <p:ph type="body" idx="1"/>
          </p:nvPr>
        </p:nvSpPr>
        <p:spPr>
          <a:xfrm>
            <a:off x="1757958" y="1580076"/>
            <a:ext cx="8161734" cy="4672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accuracy_score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 </a:t>
            </a:r>
            <a:br>
              <a:rPr dirty="0"/>
            </a:br>
            <a:r>
              <a:rPr dirty="0">
                <a:latin typeface="Graphik"/>
                <a:ea typeface="Graphik"/>
                <a:cs typeface="Graphik"/>
                <a:sym typeface="Graphik"/>
              </a:rPr>
              <a:t>(default for many functions)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classification_report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confusion_matrix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f1_score(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precision_score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recall_score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roc_auc_score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b="1" dirty="0" err="1"/>
              <a:t>y_score</a:t>
            </a:r>
            <a:r>
              <a:rPr lang="en-US" b="1" dirty="0"/>
              <a:t>) Note:(</a:t>
            </a:r>
            <a:r>
              <a:rPr lang="en-US" dirty="0"/>
              <a:t>The </a:t>
            </a:r>
            <a:r>
              <a:rPr lang="en-US" dirty="0">
                <a:latin typeface="Graphik"/>
                <a:sym typeface="Graphik"/>
              </a:rPr>
              <a:t>s</a:t>
            </a:r>
            <a:r>
              <a:rPr lang="en-US" dirty="0">
                <a:latin typeface="Graphik"/>
                <a:ea typeface="Graphik"/>
                <a:cs typeface="Graphik"/>
                <a:sym typeface="Graphik"/>
              </a:rPr>
              <a:t>econ</a:t>
            </a:r>
            <a:r>
              <a:rPr dirty="0">
                <a:latin typeface="Graphik"/>
                <a:ea typeface="Graphik"/>
                <a:cs typeface="Graphik"/>
                <a:sym typeface="Graphik"/>
              </a:rPr>
              <a:t>d argument must be a score (e.g. probability) and not a class prediction</a:t>
            </a:r>
            <a:br>
              <a:rPr dirty="0"/>
            </a:br>
            <a:endParaRPr dirty="0"/>
          </a:p>
        </p:txBody>
      </p:sp>
      <p:sp>
        <p:nvSpPr>
          <p:cNvPr id="598" name="https://scikit-learn.org/stable/api/sklearn.metrics.html#"/>
          <p:cNvSpPr txBox="1"/>
          <p:nvPr/>
        </p:nvSpPr>
        <p:spPr>
          <a:xfrm>
            <a:off x="2022259" y="1313143"/>
            <a:ext cx="4026616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>
                <a:hlinkClick r:id="rId2"/>
              </a:rPr>
              <a:t>https://scikit-learn.org/stable/api/sklearn.metrics.html#</a:t>
            </a:r>
            <a:endParaRPr sz="1266" dirty="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.predict() vs .predict_proba(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160729">
              <a:defRPr sz="5400" spc="-53"/>
            </a:pP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.predict()</a:t>
            </a:r>
            <a:r>
              <a:rPr dirty="0"/>
              <a:t> vs </a:t>
            </a: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dirty="0" err="1">
                <a:latin typeface="Courier New"/>
                <a:ea typeface="Courier New"/>
                <a:cs typeface="Courier New"/>
                <a:sym typeface="Courier New"/>
              </a:rPr>
              <a:t>predict_proba</a:t>
            </a: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</p:txBody>
      </p:sp>
      <p:sp>
        <p:nvSpPr>
          <p:cNvPr id="602" name="For classification estimators, there are two ways to product predic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221002" indent="-221002" defTabSz="176015">
              <a:spcBef>
                <a:spcPts val="2250"/>
              </a:spcBef>
              <a:defRPr sz="2772"/>
            </a:pPr>
            <a:r>
              <a:t>For classification estimators, there are two ways to product predictions</a:t>
            </a:r>
          </a:p>
          <a:p>
            <a:pPr marL="221002" indent="-221002" defTabSz="176015">
              <a:spcBef>
                <a:spcPts val="2250"/>
              </a:spcBef>
              <a:defRPr sz="2772"/>
            </a:pPr>
            <a:r>
              <a:rPr>
                <a:latin typeface="Courier New"/>
                <a:ea typeface="Courier New"/>
                <a:cs typeface="Courier New"/>
                <a:sym typeface="Courier New"/>
              </a:rPr>
              <a:t>.predict() </a:t>
            </a:r>
            <a:r>
              <a:t>will produce an 1D array with n rows with the class prediction</a:t>
            </a:r>
          </a:p>
          <a:p>
            <a:pPr marL="885775" lvl="3" indent="-222770" defTabSz="176015">
              <a:spcBef>
                <a:spcPts val="2250"/>
              </a:spcBef>
              <a:defRPr sz="2772"/>
            </a:pPr>
            <a:r>
              <a:t>Class with the highest probability </a:t>
            </a:r>
          </a:p>
          <a:p>
            <a:pPr marL="221002" indent="-221002" defTabSz="176015">
              <a:spcBef>
                <a:spcPts val="2250"/>
              </a:spcBef>
              <a:defRPr sz="2772"/>
            </a:pPr>
            <a:r>
              <a:t>.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predict_proba() </a:t>
            </a:r>
            <a:r>
              <a:t>will produce a 2D array with n rows and n-class columns </a:t>
            </a:r>
          </a:p>
          <a:p>
            <a:pPr marL="885775" lvl="3" indent="-222770" defTabSz="176015">
              <a:spcBef>
                <a:spcPts val="2250"/>
              </a:spcBef>
              <a:defRPr sz="2772"/>
            </a:pPr>
            <a:r>
              <a:t>Each column is the probability of the row observation being in class 0 to n-class 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Classification Repor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Classification Report</a:t>
            </a:r>
          </a:p>
        </p:txBody>
      </p:sp>
      <p:sp>
        <p:nvSpPr>
          <p:cNvPr id="605" name="This special function will show precision, recall, f1, and accuracy for all class (treat each class as positive class)"/>
          <p:cNvSpPr txBox="1">
            <a:spLocks noGrp="1"/>
          </p:cNvSpPr>
          <p:nvPr>
            <p:ph type="body" sz="quarter" idx="1"/>
          </p:nvPr>
        </p:nvSpPr>
        <p:spPr>
          <a:xfrm>
            <a:off x="2015133" y="1398985"/>
            <a:ext cx="8161734" cy="1033507"/>
          </a:xfrm>
          <a:prstGeom prst="rect">
            <a:avLst/>
          </a:prstGeom>
        </p:spPr>
        <p:txBody>
          <a:bodyPr/>
          <a:lstStyle/>
          <a:p>
            <a:r>
              <a:rPr dirty="0"/>
              <a:t>This special function will show precision, recall, f1, and accuracy for all class (treat each class as positive class) </a:t>
            </a:r>
          </a:p>
        </p:txBody>
      </p:sp>
      <p:pic>
        <p:nvPicPr>
          <p:cNvPr id="60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737" y="2276886"/>
            <a:ext cx="4430613" cy="3666714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Multi-class Class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Multi-class Classification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Multi-class Strateg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Multi-class Strategies </a:t>
            </a:r>
          </a:p>
        </p:txBody>
      </p:sp>
      <p:sp>
        <p:nvSpPr>
          <p:cNvPr id="612" name="Some classifiers (e.g., Random Forest, Naive Bayes, KNN) are capable of handling multiple classes directl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Some classifiers (e.g., Naive Bayes, KNN) are capable of handling multiple classes directly</a:t>
            </a:r>
          </a:p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Other classifiers (e.g.,</a:t>
            </a:r>
            <a:r>
              <a:rPr lang="en-US" sz="2600" dirty="0"/>
              <a:t> </a:t>
            </a:r>
            <a:r>
              <a:rPr sz="2600" dirty="0"/>
              <a:t>binary logistic regression) are binary classifiers</a:t>
            </a:r>
          </a:p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For binary classifiers, there are two strategies for extending to multiple classes: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One-versus-all (</a:t>
            </a:r>
            <a:r>
              <a:rPr sz="2600" dirty="0" err="1"/>
              <a:t>OvA</a:t>
            </a:r>
            <a:r>
              <a:rPr sz="2600" dirty="0"/>
              <a:t>) </a:t>
            </a:r>
            <a:r>
              <a:rPr lang="en-US" sz="2600" dirty="0"/>
              <a:t>(sometimes called </a:t>
            </a:r>
            <a:r>
              <a:rPr sz="2600" dirty="0"/>
              <a:t>One-versus-rest (</a:t>
            </a:r>
            <a:r>
              <a:rPr sz="2600" dirty="0" err="1"/>
              <a:t>OvR</a:t>
            </a:r>
            <a:r>
              <a:rPr sz="2600" dirty="0"/>
              <a:t>)</a:t>
            </a:r>
            <a:r>
              <a:rPr lang="en-US" sz="2600" dirty="0"/>
              <a:t>)</a:t>
            </a:r>
            <a:endParaRPr sz="2600" dirty="0"/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One-versus-one (</a:t>
            </a:r>
            <a:r>
              <a:rPr sz="2600" dirty="0" err="1"/>
              <a:t>OvO</a:t>
            </a:r>
            <a:r>
              <a:rPr sz="2600" dirty="0"/>
              <a:t>)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One Versus All (OvA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 Versus All (OvA)</a:t>
            </a:r>
          </a:p>
        </p:txBody>
      </p:sp>
      <p:sp>
        <p:nvSpPr>
          <p:cNvPr id="616" name="For each class, train a model that classify that class versus all the res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For each class, train a model that classify that class versus all the rest: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Classify </a:t>
            </a:r>
            <a:r>
              <a:rPr sz="2600" b="1" dirty="0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sz="2600" dirty="0"/>
              <a:t> versus </a:t>
            </a:r>
            <a:r>
              <a:rPr sz="2600" b="1" dirty="0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1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Classify </a:t>
            </a:r>
            <a:r>
              <a:rPr sz="2600" b="1" dirty="0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sz="2600" dirty="0"/>
              <a:t> versus </a:t>
            </a:r>
            <a:r>
              <a:rPr sz="2600" b="1" dirty="0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2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etc.</a:t>
            </a:r>
          </a:p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Classify a value into the classier whose classifier outputs the highest score</a:t>
            </a:r>
            <a:r>
              <a:rPr lang="en-US" sz="2600" dirty="0"/>
              <a:t> (e.g., predictive probabilities)</a:t>
            </a:r>
            <a:endParaRPr sz="2600"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One Versus One (OvO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 Versus One (OvO)</a:t>
            </a:r>
          </a:p>
        </p:txBody>
      </p:sp>
      <p:sp>
        <p:nvSpPr>
          <p:cNvPr id="620" name="Train a binary classifier for every pair of class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27145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Train a binary classifier for every pair of classes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t> vs</a:t>
            </a:r>
            <a:r>
              <a:rPr b="1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t> vs</a:t>
            </a:r>
            <a:r>
              <a:rPr b="1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t> vs</a:t>
            </a:r>
            <a:r>
              <a:rPr b="1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t> vs</a:t>
            </a:r>
            <a:r>
              <a:rPr b="1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5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etc</a:t>
            </a:r>
          </a:p>
          <a:p>
            <a:pPr marL="27145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Classify value into the class that wins the most duels 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OvA Versus Ov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OvA Versus OvO</a:t>
            </a:r>
          </a:p>
        </p:txBody>
      </p:sp>
      <p:sp>
        <p:nvSpPr>
          <p:cNvPr id="624" name="Suppose there are q class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Suppose there are q classes</a:t>
            </a:r>
          </a:p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 err="1"/>
              <a:t>OvO</a:t>
            </a:r>
            <a:r>
              <a:rPr dirty="0"/>
              <a:t> requires training q(q-1)/2 classifiers </a:t>
            </a:r>
          </a:p>
          <a:p>
            <a:pPr marL="788641" lvl="2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For the MNIST example this means 10(10-1)/2 = 45 classifiers</a:t>
            </a:r>
          </a:p>
          <a:p>
            <a:pPr marL="788641" lvl="2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However, each classifier needs only use a small subset of the data</a:t>
            </a:r>
          </a:p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In general </a:t>
            </a:r>
            <a:r>
              <a:rPr dirty="0" err="1"/>
              <a:t>OvA</a:t>
            </a:r>
            <a:r>
              <a:rPr dirty="0"/>
              <a:t> is the preferred strategy</a:t>
            </a:r>
            <a:r>
              <a:rPr lang="en-US" dirty="0"/>
              <a:t> (only trains q classifiers)</a:t>
            </a:r>
          </a:p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dirty="0"/>
              <a:t>B</a:t>
            </a:r>
            <a:r>
              <a:rPr dirty="0"/>
              <a:t>ut for classifiers that scale poorly with the size of the training set (e.g., SVM) </a:t>
            </a:r>
            <a:r>
              <a:rPr dirty="0" err="1"/>
              <a:t>OvO</a:t>
            </a:r>
            <a:r>
              <a:rPr dirty="0"/>
              <a:t> is preferred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oftmax fun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Softmax</a:t>
            </a:r>
            <a:r>
              <a:rPr dirty="0"/>
              <a:t> function</a:t>
            </a:r>
          </a:p>
        </p:txBody>
      </p:sp>
      <p:sp>
        <p:nvSpPr>
          <p:cNvPr id="628" name="A mathematical function that converts a vector of real-valued scores into a probability distribution…"/>
          <p:cNvSpPr txBox="1">
            <a:spLocks noGrp="1"/>
          </p:cNvSpPr>
          <p:nvPr>
            <p:ph type="body" sz="half" idx="1"/>
          </p:nvPr>
        </p:nvSpPr>
        <p:spPr>
          <a:xfrm>
            <a:off x="1338858" y="1825415"/>
            <a:ext cx="8161734" cy="2236294"/>
          </a:xfrm>
          <a:prstGeom prst="rect">
            <a:avLst/>
          </a:prstGeom>
        </p:spPr>
        <p:txBody>
          <a:bodyPr/>
          <a:lstStyle/>
          <a:p>
            <a:r>
              <a:rPr dirty="0"/>
              <a:t>A mathematical function that converts a vector of real-valued scores into a probability distribution</a:t>
            </a:r>
            <a:endParaRPr lang="en-US" dirty="0"/>
          </a:p>
          <a:p>
            <a:r>
              <a:rPr lang="en-US" dirty="0"/>
              <a:t>Used to convert real-valued outputs to “probabilities”</a:t>
            </a:r>
            <a:endParaRPr dirty="0"/>
          </a:p>
          <a:p>
            <a:r>
              <a:rPr dirty="0"/>
              <a:t>Can be used as a way to extend logistic regression</a:t>
            </a:r>
          </a:p>
          <a:p>
            <a:r>
              <a:rPr dirty="0"/>
              <a:t>Often used in multi-class NN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equation.pdf"/>
              <p:cNvSpPr txBox="1"/>
              <p:nvPr/>
            </p:nvSpPr>
            <p:spPr>
              <a:xfrm>
                <a:off x="4649120" y="4508795"/>
                <a:ext cx="2608278" cy="9930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12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812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812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sz="2812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812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sz="2812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sz="2812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629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120" y="4508795"/>
                <a:ext cx="2608278" cy="9930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0" name="Probability of class"/>
              <p:cNvSpPr txBox="1"/>
              <p:nvPr/>
            </p:nvSpPr>
            <p:spPr>
              <a:xfrm>
                <a:off x="3037725" y="5923597"/>
                <a:ext cx="1915333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500" dirty="0"/>
                  <a:t>Probability of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9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sz="1266" dirty="0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630" name="Probability of clas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725" y="5923597"/>
                <a:ext cx="1915333" cy="440057"/>
              </a:xfrm>
              <a:prstGeom prst="rect">
                <a:avLst/>
              </a:prstGeom>
              <a:blipFill>
                <a:blip r:embed="rId3"/>
                <a:stretch>
                  <a:fillRect l="-4127" r="-317" b="-11111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1" name="Sum over all classes"/>
          <p:cNvSpPr txBox="1"/>
          <p:nvPr/>
        </p:nvSpPr>
        <p:spPr>
          <a:xfrm>
            <a:off x="6597694" y="6176513"/>
            <a:ext cx="1684628" cy="30296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500" dirty="0"/>
              <a:t>Sum over all classes</a:t>
            </a:r>
          </a:p>
        </p:txBody>
      </p:sp>
      <p:pic>
        <p:nvPicPr>
          <p:cNvPr id="632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7979901">
            <a:off x="4138659" y="5461751"/>
            <a:ext cx="851308" cy="234094"/>
          </a:xfrm>
          <a:prstGeom prst="rect">
            <a:avLst/>
          </a:prstGeom>
        </p:spPr>
      </p:pic>
      <p:pic>
        <p:nvPicPr>
          <p:cNvPr id="634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2343661">
            <a:off x="6323434" y="5760363"/>
            <a:ext cx="1244331" cy="2340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36" name="is a raw score for the class (for example the class logit)"/>
              <p:cNvSpPr txBox="1"/>
              <p:nvPr/>
            </p:nvSpPr>
            <p:spPr>
              <a:xfrm>
                <a:off x="8007989" y="4328131"/>
                <a:ext cx="2670449" cy="66229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sz="239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266" dirty="0"/>
                  <a:t> </a:t>
                </a:r>
                <a:r>
                  <a:rPr sz="1500" dirty="0"/>
                  <a:t>is a raw score for the class (for example the class logit)</a:t>
                </a:r>
                <a:endParaRPr sz="1500" dirty="0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636" name="is a raw score for the class (for example the class logi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989" y="4328131"/>
                <a:ext cx="2670449" cy="662297"/>
              </a:xfrm>
              <a:prstGeom prst="rect">
                <a:avLst/>
              </a:prstGeom>
              <a:blipFill>
                <a:blip r:embed="rId6"/>
                <a:stretch>
                  <a:fillRect l="-2968" b="-10092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7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6945599" y="4542231"/>
            <a:ext cx="955201" cy="23409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1348</Words>
  <Application>Microsoft Office PowerPoint</Application>
  <PresentationFormat>Widescreen</PresentationFormat>
  <Paragraphs>202</Paragraphs>
  <Slides>24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Aptos</vt:lpstr>
      <vt:lpstr>Arial</vt:lpstr>
      <vt:lpstr>Calisto MT</vt:lpstr>
      <vt:lpstr>Cambria Math</vt:lpstr>
      <vt:lpstr>Courier New</vt:lpstr>
      <vt:lpstr>Gill Sans</vt:lpstr>
      <vt:lpstr>Graphik</vt:lpstr>
      <vt:lpstr>Helvetica Neue</vt:lpstr>
      <vt:lpstr>Univers Condensed</vt:lpstr>
      <vt:lpstr>ChronicleVTI</vt:lpstr>
      <vt:lpstr>Classification Metrics</vt:lpstr>
      <vt:lpstr>Regression vs Classification (Review)</vt:lpstr>
      <vt:lpstr>Regression vs Classification (Review)</vt:lpstr>
      <vt:lpstr>Accuracy</vt:lpstr>
      <vt:lpstr>PowerPoint Presentation</vt:lpstr>
      <vt:lpstr>Confusion Matrix</vt:lpstr>
      <vt:lpstr>Precision</vt:lpstr>
      <vt:lpstr>Recall</vt:lpstr>
      <vt:lpstr>F1 Score</vt:lpstr>
      <vt:lpstr>F𝛽 Score</vt:lpstr>
      <vt:lpstr>Other Measures</vt:lpstr>
      <vt:lpstr>ROC Curve and AUC</vt:lpstr>
      <vt:lpstr>Building the ROC Curve</vt:lpstr>
      <vt:lpstr>Example ROC Curve</vt:lpstr>
      <vt:lpstr>Metrics in Scikit-Learn</vt:lpstr>
      <vt:lpstr>Function names</vt:lpstr>
      <vt:lpstr>.predict() vs .predict_proba()</vt:lpstr>
      <vt:lpstr>Classification Report</vt:lpstr>
      <vt:lpstr>Multi-class Classification</vt:lpstr>
      <vt:lpstr>Multi-class Strategies </vt:lpstr>
      <vt:lpstr>One Versus All (OvA)</vt:lpstr>
      <vt:lpstr>One Versus One (OvO)</vt:lpstr>
      <vt:lpstr>OvA Versus OvO</vt:lpstr>
      <vt:lpstr>Softmax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23</cp:revision>
  <dcterms:created xsi:type="dcterms:W3CDTF">2025-10-28T15:32:43Z</dcterms:created>
  <dcterms:modified xsi:type="dcterms:W3CDTF">2026-01-30T18:05:57Z</dcterms:modified>
</cp:coreProperties>
</file>