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1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2.xml" ContentType="application/inkml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1"/>
  </p:notesMasterIdLst>
  <p:sldIdLst>
    <p:sldId id="256" r:id="rId2"/>
    <p:sldId id="310" r:id="rId3"/>
    <p:sldId id="309" r:id="rId4"/>
    <p:sldId id="311" r:id="rId5"/>
    <p:sldId id="312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35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51" r:id="rId28"/>
    <p:sldId id="352" r:id="rId29"/>
    <p:sldId id="33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472" units="cm"/>
          <inkml:channel name="Y" type="integer" max="13203" units="cm"/>
          <inkml:channel name="F" type="integer" max="1023" units="dev"/>
        </inkml:traceFormat>
        <inkml:channelProperties>
          <inkml:channelProperty channel="X" name="resolution" value="1111.89014" units="1/cm"/>
          <inkml:channelProperty channel="Y" name="resolution" value="1000.22729" units="1/cm"/>
          <inkml:channelProperty channel="F" name="resolution" value="0" units="1/dev"/>
        </inkml:channelProperties>
      </inkml:inkSource>
      <inkml:timestamp xml:id="ts0" timeString="2018-10-23T18:15:34.5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5099 5689 189,'-7'-14'121,"7"14"0,-9-14-3,9 14-83,0 0-4,0 0-4,-2 23-10,6 1-2,1 9-8,1 10 2,0 11 0,3 16-2,0 10-2,5 7-1,-5 9 5,6 7-7,-2 4 7,3 2-6,-2 1 2,-1-1-3,3-4 9,-3-2-3,2-5-2,1 0 2,-4-5-2,1-2-3,-1-6 7,-2-1 2,1-3-6,-2-1 1,-2-4-1,-1-2 2,0-3-2,3-1 0,-4-3-3,1-1 1,0-2-3,1-1 3,0-3-2,0-1 0,2 1 0,-6-3 6,5 3-7,-2-1-1,1-1-4,-2 0 4,1 1-4,0 0 3,-3-2-4,0 3 5,3-4-5,-3-1 8,1 1 0,-2-1-4,1-1 4,2-1-6,-4-1 5,5 1-4,-4-2 4,1 0-5,1 0 3,-2-1 0,0 0 0,2 1 8,-3-2-6,0-1 3,0 1-3,1-2 4,-1 2-4,2-2 3,-2 0-3,0-1-3,-1-1 1,3 1 1,0-1 1,0 0-1,-1-3 2,1 0-4,1-2 4,-3 0-2,1-3 1,1 1-1,0-1-1,-3-3 0,1-1 0,-1 0 2,0-1-2,0-1 1,0-2-2,-1-2 1,1-1 0,-1 0 1,-1-2-5,1-1 3,1 1-2,0-2-1,1 0 1,1-1-1,-1-1 1,-1-2-1,0-1 4,1-2-2,-2-1 2,1-1 0,0-1-1,-1 1 2,-1 0-2,1 0 2,1-2-3,-2 0 2,2-1 0,0-10 0,-2 13 0,2-13-2,0 0-3,0 0-3,0 0-6,-9-3-18,9 3-66,-8-20-41,4 5-5,-11-14 1,6 3 1</inkml:trace>
  <inkml:trace contextRef="#ctx0" brushRef="#br0" timeOffset="1">4281 10726 243,'-16'6'114,"-1"-6"1,17 0 3,-19 0-79,19 0-15,0 0 0,0 0-2,0 0-3,0 0-3,19-11-2,-2 5-2,5-1 0,5 1-1,7-3 1,7 0-4,8 0 1,7-1-2,5 2-1,9-3-1,6 3-1,3-1-1,9-1 0,5 1-1,3-2 0,3 1-1,3-2-1,3 2 1,1 0 0,3-1 2,-4 0-2,1 3 2,1-2 0,2 2 0,-5 0-1,2 2 3,-4-1-3,1 1 0,3 1 0,-2 0-1,0 1 1,-4 1 0,4-2 0,0 1-1,0 1 1,-1-1-1,2 0 0,-3-1 0,3 0 0,-4 0-1,3 1 1,-5-2 0,-2-2-2,2 2 4,-5-2-3,1 1 4,-3 2-5,-2-2 4,-2 3-4,-3 0 4,0 2-3,0-1 0,-3 1-1,-2 2 0,1-2 1,-3 1 0,4-1-1,-1 0 1,0 0 0,0 0 1,4 0-2,-3 1 2,3 0-1,0 2-1,3-1 1,-1 1 0,1 0-1,0 1-1,0-2 1,1 1-1,2-1 1,1-2-1,-3 1 0,1-1-1,0 1 0,1-2 1,-1 1 0,2-1 0,-3 2 0,-2 0 0,1 0 0,-1 0 0,-2 1 0,-1-2 0,-1 0-1,-1 1 1,-2-2-1,-2 0 2,-2-1 0,-2 1-1,-3-1 1,-1 0-1,-6 1 2,-2-1-2,-7 2 2,-4 2-1,-4-1 0,-6 0 0,-7 0 1,-6 1 0,-5 0 0,-6-1-1,-5-1 1,-12 2-1,12-2 1,-12 2 0,0 0 0,0 0-1,-9-5-1,9 5-3,-10 0-8,10 0-23,-9-2-96,1-3-7,8 5-1,-18-5-8</inkml:trace>
  <inkml:trace contextRef="#ctx0" brushRef="#br0" timeOffset="2">12536 10907 287,'0'0'133,"-8"-11"0,8 11-1,-5-15-88,5 15-16,2-20-3,2 8-4,1-1-10,2 0-6,-2-2-1,4 0-3,-1 3 1,1-3-1,0 4 0,0 1-1,1 3 0,3 5 0,-3 6 0,2 6 1,2 6-1,1 6 1,2 7-4,1 5 0,0 5 0,3 0-1,-1 1 0,3-4-1,-3-1-2,1-6-3,0-4 0,-6-7-4,2-5-11,-8-11-13,5 6-32,-14-8-55,7-10-1,-13-3 0,6 13 3</inkml:trace>
  <inkml:trace contextRef="#ctx0" brushRef="#br0" timeOffset="3">12818 10807 335,'1'-15'136,"-7"-3"1,6 18-1,-6-13-107,6 13-6,-14 11-7,4 4-7,-5 9-10,-5 4-8,-3 8-7,-7 0-18,7 10-63,-9-9-37,5 4-1,-4-13-5,10 0 3</inkml:trace>
  <inkml:trace contextRef="#ctx0" brushRef="#br0" timeOffset="4">3941 5306 290,'-10'-19'136,"1"7"-1,-9-7-7,-2 7-112,-3-1-4,1 3 2,-5 1-8,0 4 0,1 5-2,2 8-1,1 8-3,6 9 2,4 10-1,5 11-3,7 10 1,4 10-2,4 6 0,3 4-1,3 5 0,-1-1-8,2 1-1,-4-7-11,2-2-16,-12-17-38,7-4-50,-12-13-4,1-11 4,-6-12 4</inkml:trace>
  <inkml:trace contextRef="#ctx0" brushRef="#br0" timeOffset="5">3623 6039 212,'-12'-20'128,"12"20"0,-5-11 1,5 11-80,10-4-26,1 1-4,2-4-10,7-4-8,3-2-12,2-6-6,6 2-26,-3-10-29,8 5-55,-6-7 1,3 4-3,-8-4 5</inkml:trace>
  <inkml:trace contextRef="#ctx0" brushRef="#br0" timeOffset="6">4086 5492 198,'10'-21'126,"-6"-4"4,2 12-1,-11-3-82,5 16-17,0 0-4,-13 10-10,-2 11-8,0 11-3,-2 12-3,0 11-3,-1 10 1,6 5-5,3 6-3,6-2-6,6-3-7,5-11-10,10-7-9,-5-20-21,15-8-31,-7-19-31,3-10 1,-4-12 6</inkml:trace>
  <inkml:trace contextRef="#ctx0" brushRef="#br0" timeOffset="7">4169 5787 267,'0'0'133,"0"0"-3,-1 16 0,1-16-106,9 16-1,0-8-9,6 1-6,3-1-2,3-1-5,3-1-7,1-2-5,3 0-11,-5-5-16,7 7-36,-11-10-58,5 8 0,-12-8-1,3 6 6</inkml:trace>
  <inkml:trace contextRef="#ctx0" brushRef="#br0" timeOffset="8">4363 5744 249,'-16'-10'130,"16"10"2,-14 10-2,12 3-103,-6 1-8,1 8-6,-1 6-11,1 0-12,-1 5-11,-1-6-27,9 5-48,-5-11-32,7-4 0,-2-17 0</inkml:trace>
  <inkml:trace contextRef="#ctx0" brushRef="#br0" timeOffset="9">4440 5497 231,'0'0'130,"0"0"2,0 0 1,12 13-88,-6 1-26,7 6 4,1 4-10,3 5-4,0 5-4,0 3-1,-2 5-6,-4 0-4,-1 7-14,-8-6-37,2 10-76,-14-9-2,1 5-2,-12-9-3</inkml:trace>
  <inkml:trace contextRef="#ctx0" brushRef="#br1" timeOffset="10">5627 5735 119,'0'0'102,"-10"-2"-1,10 2 0,-8 13-76,8 2-8,0 0 1,6 8 0,-3 3-3,5 9-3,-2 1 1,6 9 0,-3 6-1,6 5 0,-1 1 0,3 6 0,-1 0-4,5 3-1,-1-2 4,1 0-5,0-5 3,1 2-6,0-2 4,1 0-5,2-2 3,2 3-1,-2 0 1,2 4 0,0-1 0,2 2 0,2 1 1,0 1 0,2-2 0,2 2 1,2-3-2,3 1 2,-3-2-2,1-1 1,3-1-3,-4-1 3,2-2-2,-1 1-1,-1 0-3,0-1-2,5 2 4,-1-1 2,3 1-2,-3 0 1,6-1-1,-2-1 1,-1-2 0,-1 0 5,-2-6-8,1-3 4,0-4-4,-5-2-3,3-5 2,-3-5 0,0-3 0,0-3 0,1-3-1,0-2 0,-3-2-1,0-5 7,0 0-4,-2-3 0,-2-1 0,0-1 1,-2-5-1,-2 0 1,-1-2 0,0-2 1,0-3-2,-1 0 1,-1-3-1,0-2 1,1-1 0,0-3-3,-1 1 2,0-3 0,2-3 2,1 0-1,1-2 2,1 2-2,-1-2 2,-3 0-1,2 0 0,0-1-2,-1 2 0,0 0 0,-5-2 0,3 2-1,1-2 3,-4-1-2,3 1 1,-3-1-1,1 1 1,0-3-2,1 2 2,-1 1-2,-1-1 1,-1 2-1,-1 1 1,3 1-1,-3 0 2,1 3-2,1-3 2,-1 2-7,-1 0 3,2 3 1,0-1-2,1 1 4,1 0-4,-3 2 3,4 3-3,-2-1 8,2 2-3,0 0-1,-1 0 1,0 1-3,2 1 3,-3 1-1,-1 2 1,5 0-1,-6 3 0,3 0 0,-2 3 0,3 0 0,-5 3 0,6 1 0,-4 1 0,3 0-3,0 1 6,-3 1-5,3 4 5,-3-2-2,2 1 4,-3 2-3,1 2 3,0 2 1,-2-1-4,3 4 5,0-2-6,0 2 1,0 1-2,2-2 1,2 2 0,-2 1 0,3 0-2,-1 2 3,1-1-1,3 1 2,-1-1-2,4 3 2,-1 2-2,-2-2 1,3 1-2,-3 0 2,3 0-2,-2 0 0,0 2 0,1 0 0,-2 0-1,4 0 3,-4 1-2,3 0 2,0 1-2,3 0 1,-1-1 0,0 1 1,0-2-2,2 0 1,1 0 1,-2 0-3,-1-1 2,1 0-2,-1-1 3,0 0-4,-1-1 5,1 0-3,1-2 1,1 1 1,0-2-2,6 1 2,-1-2-2,2 0 2,3-2-1,-2-2 0,2-2-1,2-3 0,-3-1 0,2-5-1,-1-2 1,3-4-1,1-3 0,3-1 1,2-3 0,-2-3 0,2-2 2,2-1-3,0-3 1,2-1-2,0-2 2,0-2-3,2-2 1,1 0 0,1-3-1,1 0 1,0-3 1,-2-1-1,3-2 1,0-3 0,0-2 0,0-3 2,2-2-3,-1-5 2,-2-3-1,1-3 1,-1-4-1,-2-4 1,1-1 3,-2-3-5,4-3 4,-6-4-1,-1-1 1,2-6-1,-1-1 1,0-2-1,-2-4-3,-1 0 0,3-5 1,-3-1-2,4-2 3,-2-2-3,2-4 2,-1-2-2,-1-3 4,1-4-3,2 1-1,3-4 7,-2 3-5,2 1-1,-1 2 3,2 4-4,-2 3-2,-1 6 8,-1 2-5,-2 7-6,-1 3 5,0 7 2,-6 7-3,-4 5 3,-2 7 3,-7 8-8,-6 6 7,-8 8-2,-5 9 1,-6 3-2,-4 7-3,-11 10-6,13-8-14,-13 8-54,0 0-58,0 0-1,0 0-5,-9 0-2</inkml:trace>
  <inkml:trace contextRef="#ctx0" brushRef="#br2" timeOffset="11">7634 10464 315,'8'-12'127,"-10"1"2,2 11-3,-6-19-52,6 19-47,-7-9-3,7 9-8,-4-9-5,4 9-4,-13-4-1,13 4-2,-13-5-1,5 2-3,8 3 2,-18-10-1,18 10 0,-17-11 0,17 11-1,-10-3 2,10 3-2,0 0 2,-7 18-2,9-10-2,-1 6 3,4 0-2,2-1 1,-3-4-2,5-1 2,4-3 0,-2-2 0,1-4 0,1-2 0,-1-2 0,2 0-1,-5-2 1,0-2 1,-6-4-2,-3-1 1,-1 0 2,-2 0-1,-3 1 2,-3 0-1,0 2 1,-1 2-1,1 8 2,9 1-2,-15 10-1,11 2 1,-2 4-2,5 1 1,0 3-2,2 1 2,2-3-2,2-1 2,0-5-2,-5-12 0,16 11 1,-7-13-1,2-3 1,-2-4 0,-2-2-1,1-2 0,-2-1 1,-5-1 0,-2 5 1,-5-1-1,6 11 2,-16-9-2,4 12 0,1 3 0,-1 4 0,1 6 0,4-1-2,4 3 1,1-3-3,4-1 1,5-6-3,3-3-3,-2-7-4,6-1-11,-2-8-14,1 9-46,-5-10-43,7 8-4,-13-5 2,-2 9-1</inkml:trace>
  <inkml:trace contextRef="#ctx0" brushRef="#br2" timeOffset="12">11160 10317 245,'-3'-10'114,"3"10"9,-1-15-7,1 15-73,1-17-9,-1 17 4,2-15-14,-2 15-1,-3-12-4,3 12-4,0 0-2,-5-10-3,5 10-3,0 0-3,-13 6 0,13-6-1,-12 13-1,6-2-1,-1 2 1,1 2 0,1 2 0,3-2-3,-3 1 3,5-1-5,1-1 4,4-4-3,-5-10 2,15 13-3,-3-12 2,-1-3 1,1-2 0,3-4 0,-4-2 0,-1-1 3,-5-2-5,0 1 5,-3-3-4,-2 4 3,-4-2-3,-3 3 3,7 10-3,-14-13 0,14 13 2,-14-2-2,14 2 2,-16 12 1,11-3-1,0 5 1,-1 2 0,3 0-4,0 1 3,3-3-4,3-1 4,1-3-4,-4-10 3,14 10-4,-6-12 3,3-4-1,-1-4 2,1-1 3,-7-2-3,3-2 2,-6 2-3,-2 1 5,1 12-4,-11-14 4,1 10-3,1 4-2,9 0-5,-14 4-6,14-4-18,0 0-72,0 0-31,0 0-5,10 1-2,-10-1-4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472" units="cm"/>
          <inkml:channel name="Y" type="integer" max="13203" units="cm"/>
          <inkml:channel name="F" type="integer" max="1023" units="dev"/>
        </inkml:traceFormat>
        <inkml:channelProperties>
          <inkml:channelProperty channel="X" name="resolution" value="1111.89014" units="1/cm"/>
          <inkml:channelProperty channel="Y" name="resolution" value="1000.22729" units="1/cm"/>
          <inkml:channelProperty channel="F" name="resolution" value="0" units="1/dev"/>
        </inkml:channelProperties>
      </inkml:inkSource>
      <inkml:timestamp xml:id="ts0" timeString="2018-10-24T03:09:24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2109 9207 125,'0'0'111,"0"0"-1,0 0 0,0 0-54,-1 16-29,1-16 3,0 0-3,7 17-8,4 2-3,-2 2 0,8 13 0,-3 5-1,6 14-5,0 8-2,2 6-2,1 10 1,0 5-1,-1 2 1,0 4-1,-1-5-3,0 3 3,2-8-4,-2-3 2,0-5-3,1-3 2,-2-1-2,2 2 0,-2 3-1,1 1 2,2 4-1,-2 3 2,0 8 0,2 3-2,0 0 2,1 1-2,0-1 3,2 1-2,-1-2 2,1 1-2,0-5 0,0-2 3,1 4-1,-1-2 0,-1 0-2,1 2 2,-1-1-1,-1 5 0,2 2-1,-4 0 0,3 1 0,-4 1-2,2-1 2,-2 1-2,0-4 2,1-1-2,1-1 2,3-1-1,-1 0-2,3 0 3,1-1-2,3 1 0,0-2 0,3 1 1,-3 0-1,2-2 0,1 1 1,-1-2-1,1 0 0,0-1 1,-3 0 0,-1-3-3,1-2 3,1 0-1,0 0 1,-1-6 0,-2 0-1,0-4 1,4-1-1,-3-2 3,4-2-3,0-2-2,-4-5 1,6 2-1,0-5 3,5 0-4,-1-2 4,3 1-3,1-5 3,3 1 0,0-3-1,0-2 1,5-1-2,-4-2 1,2-2-2,1-4 3,0-2-4,4-3 3,0-2-1,5-2 1,-2-5 0,5-1 1,0-2-1,1-4 0,1-1 0,1-2 0,-1-3 0,-4-3-2,-1 2 1,1-3 0,-2-3 1,1 0-1,2-3 1,0-1 0,3-2 0,0-3 1,3-4-1,-2 2 1,0-6-1,-1-4 1,0-2 0,-2-1-2,2-8 3,0 0-2,6-8 2,-4-2-2,6-4 2,2-3-2,-5-5 1,5-2 0,1-2 1,-1-5 4,-1 2-5,-1-4 5,-1-1-4,2-3 4,2-3-4,-1-2 2,0-2-3,-4-1-3,4-4 7,-2-2 0,0-2-2,-5-5 1,-1 1 1,5-5-1,1-1 0,-2-2 2,2-3-5,1 1 1,-2-4 1,3 1 0,0-2 1,-2-1-2,-3-1 2,3 0-2,0-1-1,4-3-2,0 1 0,-2-3-1,2-3-1,-2 2 1,2 1-1,-7-6-1,2 1 3,-4-2-2,1 1 2,-3-3-3,2 3 4,2-5-4,-4 2 1,-1 4 4,0 0-4,-2 0 4,-2 3-4,-5 0 4,0 3 0,-5 4 0,-6 1 3,1-1-6,-3 1 6,1 5-5,-5 3 5,-2 3-6,-2 6 2,1 2 0,-5 6 0,3 8-8,-5 8 3,-3 10 0,-2 10-4,-2 9-4,-4 10-8,-9 0-16,8 23-53,-18 3-49,0 0-2,0 0-5,-2 22 2</inkml:trace>
  <inkml:trace contextRef="#ctx0" brushRef="#br0" timeOffset="1">5571 15854 216,'0'0'125,"0"0"-1,-10-14 1,-2 1-75,12 13-18,-13-19-4,13 19-8,-10-17-6,10 17-4,-17-13-2,17 13-3,-19-9-1,19 9-2,-20-3 1,20 3 0,-24 4-1,24-4-1,-20 21 0,9-1 1,6 4-1,-3 8 1,7 4-3,6 2-2,0-1 5,7-2-5,-2-5 6,6-8-7,2-9 8,3-9-7,0-8 3,-3-6 6,3-11-9,-5-2 5,-1-3-6,-2 0 7,-8 2-7,1-1 6,-6 4 0,-7 2-5,-2 6 4,9 13 1,-25-14 0,8 11 0,0 4 0,4 6-1,-5 3-1,4 6 1,3 7-1,5 0 2,3 3 1,6 0-6,2-1 3,4-3-3,7-7 2,3-7-1,1-8 1,0-6 2,4-10-5,-6 2 6,3-10-2,-7 1 3,-4 0-2,-3 0 2,-7 3-1,-5 3-5,-6 4 3,-2 1 1,-2 6-1,-6 4 0,3 6 0,1 5-1,-1 3 0,3 10 1,5 1 0,5 5-3,1-2 6,7-3-6,-1-5 3,9-3-3,-11-15 3,24 0 3,-8-13-3,-2-9 1,0-2-4,-3-2 6,-2 0-2,-5-2 1,-4 4-1,-5 2-3,-3 8 2,-5 4 1,-2 2-1,-1 8 0,-1 5-1,1 2 0,3 6-4,1-1-3,6 6-13,6-18-17,-1 36-54,1-36-37,9 22-2,-9-22-3,21 12 2</inkml:trace>
  <inkml:trace contextRef="#ctx0" brushRef="#br0" timeOffset="2">1830 17069 239,'2'14'118,"-2"-14"7,24 16-9,-6-14-87,13 3-12,-2-2 13,10 5-16,1-8 2,11 2-7,0 3 0,11-4 0,1 2 2,10 4-2,6-7 4,15 3-1,2-1 1,13 2-1,10 0-1,14 5 1,12-3-5,15-3-2,6 0 1,18 1 0,10 0-4,11-5 0,8-2-1,10 0-4,9-3 2,5 5 1,13-1-3,-4-5 5,9-2-1,4 7 4,4-7-3,2-3 4,2 2-1,5-1 0,-2-4-12,5 1 7,0 1-9,2-2 9,3 1-9,3 0 8,-6-1-9,2 5 11,-6 0-1,-4 1 0,-8-2 1,-5 4 0,-14 2 0,-9 2 1,-11 0-2,-17-2-2,-11-1 1,-18 0-4,-15 5-8,-21-8-11,-10 12-40,-31-13-76,-9 4 3,-31-8-7,-17 4 1</inkml:trace>
  <inkml:trace contextRef="#ctx0" brushRef="#br0" timeOffset="3">5618 16985 252,'0'0'134,"-13"-7"-5,13 7 5,0-24-87,8 11-18,-7-6 1,-1 19-10,6-28-4,-6 28-7,0-26 0,0 26-12,-10-18 8,10 18-10,-18-5 7,18 5-2,-26 12-1,13 4 0,-4 10 0,4 8 11,-1 7 3,5-2-3,-1 0 2,5 0-12,8-8 15,1-6-15,7-6 15,9-14-16,2-9-15,8-10 14,0-5-13,2-4 16,-1-9-15,-3 0 13,-5-2-13,-9 1 14,-5 5 2,-6 8-1,-12 3 1,-3 4 0,-5 7-1,-1 7 2,-5 2-2,1 10 1,1 7-2,3 1 1,3 6-2,4-1-1,6-3 2,5-3 0,5-1-2,-5-19 1,26 0 1,-5-10 0,-1-10 0,2-3 1,-3-3 0,-3-3-3,-4 1 4,-7 7-2,-6 3 1,-9 5-1,-3 3 1,-4 9 0,-3 5-2,1 5-1,1 7-3,1 1-5,9 9-11,-2-7-42,20 10-71,-4-14-10,17 3 4,-7-14-10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472" units="cm"/>
          <inkml:channel name="Y" type="integer" max="13203" units="cm"/>
          <inkml:channel name="F" type="integer" max="1023" units="dev"/>
        </inkml:traceFormat>
        <inkml:channelProperties>
          <inkml:channelProperty channel="X" name="resolution" value="1000.08521" units="1/cm"/>
          <inkml:channelProperty channel="Y" name="resolution" value="1000.22729" units="1/cm"/>
          <inkml:channelProperty channel="F" name="resolution" value="0" units="1/dev"/>
        </inkml:channelProperties>
      </inkml:inkSource>
      <inkml:timestamp xml:id="ts0" timeString="2018-10-24T20:32:22.1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20183 13432 1,'0'0'66,"0"0"21,0 0 11,0 0-34,-13-3-11,13 3 4,0 0-4,0 0-7,0 0-8,0 0-7,0 0-8,0 0-6,0 0-4,0 0-3,0 0-4,0 0-1,0 0 0,14 10 1,-14-10 0,0 0 1,16 3 0,-16-3-1,14 1 0,-14-1 0,16 2-1,-16-2 0,20-2-1,-20 2 0,25-6 0,-11 3 0,1-1-1,1 0 0,1-1 0,2 4-1,0-2 0,1 2-1,-2-1 1,1 1-1,1-2 0,1-1 0,-3-2 0,0 0 0,-2-1 1,-1 0-1,1-2 1,0 2-1,-1-1 1,1 4 1,-1-2-2,1 4 1,0-4 0,1 3-1,1-3 0,-1 0 0,0-2 1,2-2-2,0-1 1,0 0 0,-1-2 1,1 1-1,-2 2 1,2 2-1,-1-1 0,-1 3 1,-1 0 0,1 1-1,0-3-1,2 1 1,0-4-1,3-2 0,1-2 1,1-2-1,1-2 1,2-1 0,0 0 1,2 1-1,-1 2 1,-1 4 0,-1-2 0,-1 2-1,-1 3 1,-1 2-1,-1-3 1,0 1-2,-1-1 2,2-4-1,0 0-1,0-3 1,3-2 1,-1-2-2,1 1 1,4-1 0,1-1 0,-1 0-2,0 0 2,0 0 2,1 0-3,-1-2 3,0 2-3,-2 1 3,-2 1-4,0-2 4,0 2-3,-2 0-1,-1-1 1,2 2-1,-2-2 1,0 2 0,0-1 1,-1 0-1,-2 1 2,2 1-2,-2 3 2,0-1-2,-3 1 1,1 2-1,-1-1 1,-1 1-1,0 0 1,0-2-1,-2-2 0,0 3 2,1-3-2,-2 1 0,1 0 1,-1-1-1,0 2 1,0 1 0,0-1-1,0 0 1,-1-2-1,2 1 1,-1 0 0,2-2-1,-2 0 1,0 1-1,1-1 1,-3 0 1,2-1-3,-1 0 3,0-2-4,-2-1 3,0 0-3,0 0 4,-1 0-4,1 0 1,-2 2 1,1 3 1,-2-1 0,2 3-1,-1 0 0,0 0 0,-1-1 1,2-2-2,1-2 1,0-3-1,-2 3 1,1-2 0,0 1 0,-1 2 0,1 0 1,0-1-1,-1 4 0,2 0 1,1-2-1,0-1 1,1 0-2,-1-3 1,1 0 0,1-2-1,-2 2 1,1-3-1,-1 3 0,1-2 0,-2 1 1,0 1 1,2 0-1,-1 0 2,1-3-2,-1 0 1,2-2 0,-1-1 0,2-2-1,-1-1-1,0 0 1,0-1 0,-1-2 0,-1 2-1,-1 0 2,-1-2-2,0-1 2,-2-1-2,2-4 1,-2-1-1,1 1 1,1-4 0,1 0 4,-1 0-1,-1 1 0,0-1 3,0 2-3,-2-1 3,0 0-3,0-1 1,-1-4-3,0 0 0,-1-2 0,0-1-2,2 0 1,-1-1 0,0 0 1,1-1-1,-2 1-4,2 0 0,-3 1 1,0 1-1,0-2 1,-2-1-2,-1-2 2,0-3-1,-1 1 5,-1-1-2,1 1 2,1 2-1,0 3 1,0 2-1,1 5 1,1 3-1,-1 5-3,1 4 4,1 0-4,-2 4-1,-1 3 0,0 2-1,0 5 0,0 3-3,0 4 2,0 13-7,0-16 1,0 16-8,0 0-20,-7-16-69,7 16-34,0 0-4,0 0 3</inkml:trace>
  <inkml:trace contextRef="#ctx0" brushRef="#br0" timeOffset="1">20200 13328 28,'0'0'65,"0"0"6,0 0-23,13 8-7,-13-8 3,0 0 3,0 0-3,0 0 3,0 0-4,0 0-2,0 0-6,0 0-5,-13 2-5,13-2-5,0 0-1,0 0-3,0 0-3,0 0 0,0 0-2,-13 13-2,13-13-2,-13 0-1,13 0-1,-17-2-2,17 2 1,-21-3-2,21 3 0,-21-7 1,21 7-1,-25-7 0,12 3-1,0-1 0,0 2 0,-1 1 0,-2-1 0,2 0 2,-1-2-1,1 1 1,-1 0 0,1-2 0,-1 0 0,2 2-1,0-2 1,13 6-3,-24-11 1,24 11-1,-25-12 1,25 12 0,-24-10 0,11 6 0,0-2-1,0 2 1,-1-2 0,1 0-1,0 0 1,-2 0-1,2-1 0,-1-1 0,-1-1 0,1-1 0,-2-2 0,0 2 0,0 0 0,0 1 0,-1-1-1,3 3 1,1-2 0,13 9-1,-23-13 1,23 13 0,-19-14-1,19 14 0,-18-16 1,18 16 0,-21-19 0,21 19 0,-23-15 0,23 15 0,-16-12-3,16 12-3,0 0-6,0 0-9,0 0-16,0 0-32,23 7-60,-23-7-2,17 5 1,-17-5 5</inkml:trace>
  <inkml:trace contextRef="#ctx0" brushRef="#br0" timeOffset="2">19577 13071 80,'-18'-12'98,"18"12"3,-16-10 2,16 10-42,-23-10-18,23 10 1,-23-10-9,23 10-7,-21-13-4,21 13-3,-26-13-3,26 13-3,-26-20-1,26 20-5,-28-25 1,14 11-2,-5-3-1,3-1-1,-3-3-1,2 2 0,0 0-2,0 0 0,-4 2-1,1-2-1,1 2 1,1 0-2,-1-2 1,0 0 3,-1-3-6,0-1 4,2-1-5,0 1 5,-3 0-5,3-2 4,-1 2-4,0 0 0,2 1 3,0 1-2,1-1 2,-2-1-2,2-2 2,-1 4-1,-2-2 0,-1-5 0,-1 1 1,-3-5-2,3 0 2,-2 1-1,1 0 0,0-2-1,4 3 2,-1 2-2,5 2 2,-1 3-1,1 2 1,-1-1-1,2 0 1,0 1-1,2-5 0,-4-2 4,1 1-2,-2 0 2,3-2-4,-1 1 4,1-1-3,0 2 3,1 4-3,2 0-1,1 0 0,1 0 0,0 0 0,0-2 0,-2-2 1,0-2-2,-3-3 3,0-3-3,0-1 2,0 2-2,0-2 2,1 1-2,2 2 3,0 1-3,4 3 1,-1 2 0,0-1 1,-1 1 0,1-3 0,0-1 2,-2-2-2,-1 0 3,2-3-3,-1 0 1,0 0-1,2-2 0,0 2 0,1 2-2,-1-2 2,1-2-2,0-1 2,-1-1-2,1-1 2,-1-1-2,0 1 2,0-1-1,0 0 1,1 0 3,-1 2-2,1-2 2,-1 0-1,1 0 2,-1 0-3,1-1 3,0 1-2,0-1-2,0-2 1,2 2-1,-2-3 1,2-2-3,0-1 3,1 1-3,1-1 3,0 0-2,2 0 1,-2 2-1,2-2 0,-1 4 1,-1-3-1,1 2 0,-1-2 1,1 2-1,-1 0-1,1 3 1,1 2 2,0 5-3,0 2 2,0 2-1,0 5 1,0 3 0,0 4 0,0 3-1,0 1-1,-1 3-5,1 13-8,-3-19-24,3 19-92,0 0-1,0 0-5,0 0 1</inkml:trace>
  <inkml:trace contextRef="#ctx0" brushRef="#br0" timeOffset="3">17358 15838 191,'0'0'118,"0"0"2,0 0-39,0 0-52,0 0-1,0 0 3,0 0-7,10 18-5,-10-18-1,17 10 1,-17-10-2,19 8-4,-19-8-1,21 9-3,-8-6-2,0 1-2,2-4-1,2 0-2,0-1 0,2-2 2,3 0-2,-1 0 0,3-1 1,0 2 0,1 1 0,-1 2 1,-1-2-1,2 5 0,-1-4-1,1 4 1,-2-2-1,3-1-1,-2-2 0,1-1 0,1-2 0,0-3-2,3 0 2,0-2-1,1 0 1,-1-1 1,2 2-1,0-1 0,-1 2 0,-1 2 1,0-2-1,-2 4 0,-1-2 0,2 0 0,-1 1 0,0-2 0,-1-1-1,2 1 0,1-2-1,-2-3 1,2 3 0,-2-1 1,1 0-1,-2-1-1,1 0 2,1 0 0,-1 0 0,2 3-1,-2-3 1,4 1-2,-3-1 2,1 0-1,2 1 0,-3-1 1,1-3-1,0-1 1,-1 1-1,-1-2-1,2-1 1,-2 2 1,1 0 0,-1 1-1,2 0 1,1 1-1,-1 1 1,0 0 1,1 1-1,-2 0-1,0 0 1,0-1-1,1-2 1,-5 1-1,2 0 1,0 0-1,-1-1 0,-1 1 0,1-1 0,-2 3 0,0 0 0,0 0 1,0 0-1,2-1 1,-4 1 0,2 0-1,-1 0 2,3 2-1,-2-3 1,-2 1 1,2 0-1,-1 0 1,0-3-2,-2 4 5,0-3-6,-1 0 5,0-1-4,-1 3 2,0-3-2,-1 1 2,-1 2-2,4-3-1,-3 2 2,2-1-2,1-1 1,-1-3-1,1 2 1,2-1-1,-2 1 1,0 0 0,-1 1-1,1 0 0,0 1 1,2 1 0,-3-1 0,2 0 0,-2-1-1,3-1 0,-2-2 0,2-1 1,-2 1-1,2-3 0,-2 0-1,1 1 0,0-1 1,-1 2 0,-1-1 0,1 0-1,-1 0 1,-2 1 0,0 0 1,0-1-1,-1 0 0,2-1 0,-1-1 0,2-1 0,-2 0 0,2-1 0,0-1 0,-1 0-1,1 0 2,0 0 3,1 0-2,-1 1 2,0-1-3,-1-2 3,3 2-2,-1-1 3,1-2-5,-2 0-1,1 0 1,2-2 0,-2 1 0,0 1-1,2-3 2,-2 0-1,2 1 0,-2-3 0,2-1 0,-1 1-1,0-1 2,0-1-2,1 0 0,-1-1 0,1 3 1,-2-1-1,-1 2 2,0-2-2,1-1 1,-3 0 0,1-2 0,-1 0 1,0 1-2,1-1 2,-1-1 0,-1 0 0,-2 1-1,2-1 0,0 0 0,-2 0 0,1-1 1,-1-1-1,1-1 0,-1 0-2,2 0 3,-2-1-2,1 1 2,1 0-2,-3-2 1,1 2 3,1 1-5,-2-1 3,-1 0-3,1 0 3,2-3-3,-5 0 3,3 2-3,-3-4-1,2 0 3,-2 0-1,-2 2 2,0-1-2,-1 1 1,0 0-2,-1 2 2,-2 1-1,2 3 2,-2-3-2,1 0-1,-1 2 1,-1-2-1,1 1 2,-1 1-3,1-2 3,-1-2-2,0 2 2,0-1 0,-2 0-1,1-4 2,-1 1-2,-2 1 2,-1 0-2,0 2 1,-1-1-1,0 2 2,0 2-2,0 2 1,0 4 0,2 0 0,-1 2-1,2 5 1,-1 2-1,1-2 1,0 2 0,0 2 0,1 3 0,2-1-1,-1 2 1,-1 3-1,0 0-1,-1 13-2,2-13-1,-2 13-4,0 0-6,0 0-16,0 0-45,0 0-67,0 0-6,-15-11 2,15 11-6</inkml:trace>
  <inkml:trace contextRef="#ctx0" brushRef="#br0" timeOffset="4">17446 15806 34,'0'0'43,"0"0"7,0 0 7,0 0 1,-2 13 3,2-13 0,0 0 0,0 0-4,0 0-7,0 0-6,0 0-8,-20 3-7,20-3-5,0 0-7,-16 5-3,16-5-4,-17 0-2,17 0 0,-20 4-2,20-4 0,-25 4 0,12-1 0,-1 0 0,-2 0-1,1 1 0,-1-2-2,1 1 1,-1-2-1,0 1-1,-3-5 1,0 3 0,1-6 0,-3 3-1,1-1 0,-2-2 0,1 2 0,-1 1-1,1 0 0,-3 1 0,3 1 0,-2-2 0,1 2-1,0-1 1,2-1-1,0-1 1,0-2 0,0 0-1,-2 1 1,0-1-1,-1 0 1,0 0-1,0-1 2,-1 3-2,0-5 1,0 3-1,4-2 1,-2-1-1,0-1 0,2-2-1,-3 1 1,2-2 0,-3 1-1,0-1 1,-1 0 0,-1 2-1,-1 1 1,1-2-1,2 2 1,-1 0 0,2-3 0,0 0-1,0-3 1,0 0 0,1-1 0,-1-2-1,-2-3 1,-1 1-1,2 1 1,-1-1-1,-1 6 1,2-4 0,-2 2 0,1 1 0,1 3 0,-1-3 0,1 3 0,-1-3 0,1-1 0,-2-1 0,1 0 0,1-3 0,-2 3-1,1-1 1,-2 0-1,-1 2 4,1-2-4,0 2 5,-2-1-5,-2 2 5,3 1-3,-1-3 2,-2 0-3,3-3 0,-3 1 0,1-1 0,2-4 1,0-1-2,0-1 1,1 1 1,1-2-1,1 2 0,1-1 0,-1 1 0,2-2 0,0 0-1,1-1 1,-1-3-1,-1 0 1,1-4-1,0 0 1,0-1-2,-2-1 2,2-1-1,-2 2 4,1-1 2,1 2-2,-2 1 3,2-1-4,0 2 5,-3-5-5,2 1 4,-1-2-6,2-5-1,-3-3 1,0-3-2,2-1 2,0 0-3,1 1 2,2 2-1,1-1 2,-2 5 4,3 2-1,-1-1 3,1 4-3,-1-2 2,0 2-1,-2-1 1,0 4 0,2-4-4,-1 5 0,2 2-2,0-4 2,2 3-2,1-1 2,0 2-2,5 1 0,-2-1-1,1 3 2,2 0-1,0 5 0,0 2 0,1 4 1,0-1-1,2 3 2,0-1-1,0 3-1,0 0 1,-1 2 0,3 1-1,5 13 2,-13-22-2,13 22 1,-11-16 0,11 16 0,-7-13-1,7 13 0,-7-14 0,7 14-1,-9-20-1,9 20 1,-7-25 2,7 25-7,-7-21 3,7 21-9,-6-18-1,6 18-14,0 0-27,0 0-82,0 0-2,0 0-1,7 20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9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proof on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20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methods are iterative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65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cover some</a:t>
            </a:r>
            <a:r>
              <a:rPr lang="en-US" baseline="0" dirty="0"/>
              <a:t> of these optimization methods in more detail in my deep learning class next semester as they become really important in that context</a:t>
            </a:r>
          </a:p>
          <a:p>
            <a:endParaRPr lang="en-US" baseline="0" dirty="0"/>
          </a:p>
          <a:p>
            <a:r>
              <a:rPr lang="en-US" baseline="0" dirty="0"/>
              <a:t>For the initialization question, draw an example on the 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4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the loss function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is</a:t>
                </a:r>
                <a:r>
                  <a:rPr lang="en-US" baseline="0" dirty="0"/>
                  <a:t> either our classification or regression function that depends on the parameters </a:t>
                </a:r>
                <a14:m>
                  <m:oMath xmlns:m="http://schemas.openxmlformats.org/officeDocument/2006/math"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Recall that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𝐿</a:t>
                </a:r>
                <a:r>
                  <a:rPr lang="en-US" dirty="0" smtClean="0"/>
                  <a:t> is the loss function and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𝑓_𝜃</a:t>
                </a:r>
                <a:r>
                  <a:rPr lang="en-US" dirty="0" smtClean="0"/>
                  <a:t> is</a:t>
                </a:r>
                <a:r>
                  <a:rPr lang="en-US" baseline="0" dirty="0" smtClean="0"/>
                  <a:t> either our classification or regression function that depends on the parameters </a:t>
                </a:r>
                <a:r>
                  <a:rPr lang="en-US" b="0" i="0" baseline="0" smtClean="0">
                    <a:latin typeface="Cambria Math" panose="02040503050406030204" pitchFamily="18" charset="0"/>
                  </a:rPr>
                  <a:t>𝜃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10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Newton’s method approximates the objective function with a quadratic</a:t>
            </a:r>
            <a:r>
              <a:rPr lang="en-US" baseline="0" dirty="0"/>
              <a:t> function and then jumps to the minimum of that quadratic function. Repeat until convergence.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83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3.gi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3BD59-542E-5FC7-C875-69C82844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31" b="26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Gradient 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(all?) machine learning problems can be posed as a minimization or maximization problem</a:t>
            </a:r>
          </a:p>
          <a:p>
            <a:r>
              <a:rPr lang="en-US" dirty="0"/>
              <a:t>In some cases, a closed-form solution exists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, linear regression</a:t>
            </a:r>
          </a:p>
          <a:p>
            <a:r>
              <a:rPr lang="en-US" dirty="0"/>
              <a:t>Most of the time, a closed-form solution </a:t>
            </a:r>
            <a:r>
              <a:rPr lang="en-US" u="sng" dirty="0"/>
              <a:t>doesn’t</a:t>
            </a:r>
            <a:r>
              <a:rPr lang="en-US" dirty="0"/>
              <a:t> exist</a:t>
            </a:r>
          </a:p>
          <a:p>
            <a:r>
              <a:rPr lang="en-US" dirty="0"/>
              <a:t>We can solve these problems using optimization theory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7100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267119" y="1522929"/>
                <a:ext cx="8821356" cy="567078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</a:t>
                </a:r>
                <a:r>
                  <a:rPr lang="en-US" i="1" dirty="0"/>
                  <a:t>unconstrained optimization problem </a:t>
                </a:r>
                <a:r>
                  <a:rPr lang="en-US" dirty="0"/>
                  <a:t>has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i="1" dirty="0"/>
                  <a:t>objective function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What about maximization?</a:t>
                </a:r>
              </a:p>
              <a:p>
                <a:r>
                  <a:rPr lang="en-US" dirty="0"/>
                  <a:t>A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called a </a:t>
                </a:r>
                <a:br>
                  <a:rPr lang="en-US" dirty="0"/>
                </a:br>
                <a:r>
                  <a:rPr lang="en-US" i="1" dirty="0"/>
                  <a:t>local minimizer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satisfying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global </a:t>
                </a:r>
                <a:br>
                  <a:rPr lang="en-US" i="1" dirty="0"/>
                </a:br>
                <a:r>
                  <a:rPr lang="en-US" i="1" dirty="0"/>
                  <a:t>minimizer </a:t>
                </a:r>
                <a:r>
                  <a:rPr lang="en-US" dirty="0"/>
                  <a:t>if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Is a global minimizer also a </a:t>
                </a:r>
                <a:br>
                  <a:rPr lang="en-US" dirty="0"/>
                </a:br>
                <a:r>
                  <a:rPr lang="en-US" dirty="0"/>
                  <a:t>local minimizer?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7119" y="1522929"/>
                <a:ext cx="8821356" cy="5670781"/>
              </a:xfrm>
              <a:blipFill>
                <a:blip r:embed="rId3"/>
                <a:stretch>
                  <a:fillRect l="-622" t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Unconstrained Optimization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638800" y="3095211"/>
            <a:ext cx="5334814" cy="3902536"/>
            <a:chOff x="4114800" y="3095211"/>
            <a:chExt cx="5334814" cy="3902536"/>
          </a:xfrm>
        </p:grpSpPr>
        <p:grpSp>
          <p:nvGrpSpPr>
            <p:cNvPr id="4" name="Group 3"/>
            <p:cNvGrpSpPr/>
            <p:nvPr/>
          </p:nvGrpSpPr>
          <p:grpSpPr>
            <a:xfrm>
              <a:off x="4114800" y="3095211"/>
              <a:ext cx="5334814" cy="3902536"/>
              <a:chOff x="4114800" y="2895595"/>
              <a:chExt cx="5334814" cy="3902536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0" y="2895595"/>
                <a:ext cx="5334814" cy="3902536"/>
              </a:xfrm>
              <a:prstGeom prst="rect">
                <a:avLst/>
              </a:prstGeom>
            </p:spPr>
          </p:pic>
          <p:sp>
            <p:nvSpPr>
              <p:cNvPr id="6" name="Rectangle 5"/>
              <p:cNvSpPr/>
              <p:nvPr/>
            </p:nvSpPr>
            <p:spPr>
              <a:xfrm>
                <a:off x="6713157" y="3074605"/>
                <a:ext cx="38100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4958366" y="5608749"/>
              <a:ext cx="6761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Local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88081" y="6147515"/>
              <a:ext cx="7882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Global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5634508" y="5679583"/>
              <a:ext cx="631064" cy="1138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7094157" y="6194738"/>
              <a:ext cx="427105" cy="13744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758805" y="1720355"/>
                <a:ext cx="17722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∃=</m:t>
                    </m:r>
                  </m:oMath>
                </a14:m>
                <a:r>
                  <a:rPr lang="en-US" dirty="0"/>
                  <a:t>“there exists”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805" y="1720355"/>
                <a:ext cx="1772239" cy="646331"/>
              </a:xfrm>
              <a:prstGeom prst="rect">
                <a:avLst/>
              </a:prstGeom>
              <a:blipFill>
                <a:blip r:embed="rId5"/>
                <a:stretch>
                  <a:fillRect l="-3093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758804" y="2373532"/>
                <a:ext cx="17722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∀=</m:t>
                    </m:r>
                  </m:oMath>
                </a14:m>
                <a:r>
                  <a:rPr lang="en-US" dirty="0"/>
                  <a:t>“for all”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804" y="2373532"/>
                <a:ext cx="1772239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77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9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the </a:t>
                </a:r>
                <a:r>
                  <a:rPr lang="en-US" i="1" dirty="0"/>
                  <a:t>gradient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defined by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the gradient exists for all </a:t>
                </a:r>
                <a:br>
                  <a:rPr lang="en-US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,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differentiable</a:t>
                </a:r>
              </a:p>
              <a:p>
                <a:r>
                  <a:rPr lang="en-US" dirty="0"/>
                  <a:t>The gradient gives the direction </a:t>
                </a:r>
                <a:br>
                  <a:rPr lang="en-US" dirty="0"/>
                </a:br>
                <a:r>
                  <a:rPr lang="en-US" dirty="0"/>
                  <a:t>of </a:t>
                </a:r>
                <a:r>
                  <a:rPr lang="en-US" i="1" dirty="0"/>
                  <a:t>steepest ascent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456" t="-979" b="-1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6649790" y="3727360"/>
            <a:ext cx="3897923" cy="2895600"/>
            <a:chOff x="2590800" y="3489379"/>
            <a:chExt cx="4333875" cy="3219451"/>
          </a:xfrm>
        </p:grpSpPr>
        <p:pic>
          <p:nvPicPr>
            <p:cNvPr id="5" name="Picture 2 2" descr="Image result for gradient direction of steepest ascent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3489379"/>
              <a:ext cx="4333875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6400" y="6042471"/>
              <a:ext cx="676571" cy="25142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9324" y="6545643"/>
              <a:ext cx="222476" cy="14933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200" y="5189157"/>
              <a:ext cx="228571" cy="14933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4699" y="3490716"/>
              <a:ext cx="464762" cy="251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33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439501" y="1892173"/>
                <a:ext cx="7122437" cy="446336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differentiable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a local minimizer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then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Note that this condition is necessary but </a:t>
                </a:r>
                <a:r>
                  <a:rPr lang="en-US" u="sng" dirty="0"/>
                  <a:t>not</a:t>
                </a:r>
                <a:r>
                  <a:rPr lang="en-US" dirty="0"/>
                  <a:t> sufficient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to be a local minimizer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said to be a critical point or a stationary point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9501" y="1892173"/>
                <a:ext cx="7122437" cy="4463360"/>
              </a:xfrm>
              <a:blipFill>
                <a:blip r:embed="rId2"/>
                <a:stretch>
                  <a:fillRect l="-428" t="-955" r="-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Necessary Condition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487181" y="2361756"/>
              <a:ext cx="4009061" cy="2134488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7822" y="2352396"/>
                <a:ext cx="4027780" cy="21532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339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Hessian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08" y="1637655"/>
            <a:ext cx="6541143" cy="4820193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330905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813825" y="1765426"/>
                <a:ext cx="7773795" cy="459869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matrix. We say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positive definite </a:t>
                </a:r>
                <a:r>
                  <a:rPr lang="en-US" dirty="0"/>
                  <a:t>(PD)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 We say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positive semi-definite </a:t>
                </a:r>
                <a:r>
                  <a:rPr lang="en-US" dirty="0"/>
                  <a:t>(PSD)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PD and PSD arise frequently in ML, for example</a:t>
                </a:r>
              </a:p>
              <a:p>
                <a:pPr lvl="1"/>
                <a:r>
                  <a:rPr lang="en-US" dirty="0"/>
                  <a:t>Gram matrices</a:t>
                </a:r>
              </a:p>
              <a:p>
                <a:pPr lvl="1"/>
                <a:r>
                  <a:rPr lang="en-US" dirty="0"/>
                  <a:t>Kernel matrices</a:t>
                </a:r>
              </a:p>
              <a:p>
                <a:pPr lvl="1"/>
                <a:r>
                  <a:rPr lang="en-US" dirty="0"/>
                  <a:t>Covariance matrices</a:t>
                </a:r>
              </a:p>
              <a:p>
                <a:pPr lvl="1"/>
                <a:r>
                  <a:rPr lang="en-US" dirty="0"/>
                  <a:t>Hessian matrices (sometimes)</a:t>
                </a:r>
              </a:p>
              <a:p>
                <a:r>
                  <a:rPr lang="en-US" dirty="0"/>
                  <a:t>PD/PSD matrices are not necessarily symmetric, e.g.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However, we will only consider PD/PSD matrices that are also symmetric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3825" y="1765426"/>
                <a:ext cx="7773795" cy="4598693"/>
              </a:xfrm>
              <a:blipFill>
                <a:blip r:embed="rId2"/>
                <a:stretch>
                  <a:fillRect l="-706" t="-928" r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(Semi-)Definite Matrices</a:t>
            </a:r>
          </a:p>
        </p:txBody>
      </p:sp>
    </p:spTree>
    <p:extLst>
      <p:ext uri="{BB962C8B-B14F-4D97-AF65-F5344CB8AC3E}">
        <p14:creationId xmlns:p14="http://schemas.microsoft.com/office/powerpoint/2010/main" val="370179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515061" y="1568196"/>
                <a:ext cx="8821356" cy="546790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twice continuously differentiable </a:t>
                </a:r>
                <a:r>
                  <a:rPr lang="en-US" u="sng" dirty="0"/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a local min,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positive semi-definite, i.e.,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≥0,   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This generalizes the result from single-variable calculus that the second derivative is nonnegative at a local min</a:t>
                </a:r>
              </a:p>
              <a:p>
                <a:r>
                  <a:rPr lang="en-US" i="1" dirty="0"/>
                  <a:t>Proof:</a:t>
                </a:r>
                <a:br>
                  <a:rPr lang="en-US" dirty="0"/>
                </a:br>
                <a:r>
                  <a:rPr lang="en-US" dirty="0"/>
                  <a:t>From the definition of local optimality, there exists a neighborhood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the minimum inside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I.e.,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satisfying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5061" y="1568196"/>
                <a:ext cx="8821356" cy="5467904"/>
              </a:xfrm>
              <a:blipFill>
                <a:blip r:embed="rId2"/>
                <a:stretch>
                  <a:fillRect l="-622" t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Order Necessary Condition </a:t>
            </a:r>
          </a:p>
        </p:txBody>
      </p:sp>
    </p:spTree>
    <p:extLst>
      <p:ext uri="{BB962C8B-B14F-4D97-AF65-F5344CB8AC3E}">
        <p14:creationId xmlns:p14="http://schemas.microsoft.com/office/powerpoint/2010/main" val="73950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223" y="1659477"/>
            <a:ext cx="7163732" cy="4399436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84339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475715" y="1568196"/>
                <a:ext cx="8281280" cy="4905978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US" b="0" dirty="0"/>
              </a:p>
              <a:p>
                <a:pPr marL="1885950" lvl="3" indent="-514350">
                  <a:buFont typeface="+mj-lt"/>
                  <a:buAutoNum type="arabicPeriod"/>
                </a:pPr>
                <a:endParaRPr lang="en-US" b="0" dirty="0"/>
              </a:p>
              <a:p>
                <a:pPr lvl="1"/>
                <a:r>
                  <a:rPr lang="en-US" dirty="0"/>
                  <a:t>Similarly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neither PD nor negative definite so neither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75715" y="1568196"/>
                <a:ext cx="8281280" cy="4905978"/>
              </a:xfrm>
              <a:blipFill>
                <a:blip r:embed="rId2"/>
                <a:stretch>
                  <a:fillRect l="-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 Solutions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642" y="1064871"/>
            <a:ext cx="21717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635589" y="1769703"/>
                <a:ext cx="8821356" cy="331859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say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convex</a:t>
                </a:r>
                <a:r>
                  <a:rPr lang="en-US" dirty="0"/>
                  <a:t> if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br>
                  <a:rPr lang="en-US" b="0" dirty="0"/>
                </a:br>
                <a:br>
                  <a:rPr lang="en-US" b="0" dirty="0"/>
                </a:b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strictly convex</a:t>
                </a:r>
                <a:r>
                  <a:rPr lang="en-US" dirty="0"/>
                  <a:t> if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5589" y="1769703"/>
                <a:ext cx="8821356" cy="3318593"/>
              </a:xfrm>
              <a:blipFill>
                <a:blip r:embed="rId2"/>
                <a:stretch>
                  <a:fillRect l="-484" t="-1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Convexity</a:t>
            </a:r>
          </a:p>
        </p:txBody>
      </p:sp>
    </p:spTree>
    <p:extLst>
      <p:ext uri="{BB962C8B-B14F-4D97-AF65-F5344CB8AC3E}">
        <p14:creationId xmlns:p14="http://schemas.microsoft.com/office/powerpoint/2010/main" val="304909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Convexity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4" y="1130522"/>
            <a:ext cx="8821737" cy="4981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607" y="1130521"/>
            <a:ext cx="1879096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700635" y="1814587"/>
                <a:ext cx="10691265" cy="37398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Properties of convex functions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convex, then every local min is a global min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strictly convex,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has at most one global min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1814587"/>
                <a:ext cx="10691265" cy="3739896"/>
              </a:xfrm>
              <a:blipFill>
                <a:blip r:embed="rId2"/>
                <a:stretch>
                  <a:fillRect l="-627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functions are nice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636880" y="3307403"/>
              <a:ext cx="3750480" cy="2869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7520" y="3298043"/>
                <a:ext cx="3769200" cy="288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169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functions are nice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690" y="2386589"/>
            <a:ext cx="7494285" cy="2468999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1329368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Give an example of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that is </a:t>
                </a:r>
              </a:p>
              <a:p>
                <a:pPr lvl="1"/>
                <a:r>
                  <a:rPr lang="en-US" dirty="0"/>
                  <a:t>convex but not strictly convex</a:t>
                </a:r>
              </a:p>
              <a:p>
                <a:pPr lvl="1"/>
                <a:r>
                  <a:rPr lang="en-US" dirty="0"/>
                  <a:t>convex and has more than one global minimum</a:t>
                </a:r>
              </a:p>
              <a:p>
                <a:pPr lvl="1"/>
                <a:r>
                  <a:rPr lang="en-US" dirty="0"/>
                  <a:t>strictly convex, but has no global minimum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the sum of convex functions necessarily convex? Prove or provide a counter example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the product of convex functions necessarily convex? Prove or provide a counter example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51" t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</a:p>
        </p:txBody>
      </p:sp>
    </p:spTree>
    <p:extLst>
      <p:ext uri="{BB962C8B-B14F-4D97-AF65-F5344CB8AC3E}">
        <p14:creationId xmlns:p14="http://schemas.microsoft.com/office/powerpoint/2010/main" val="3517911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685322" y="1671453"/>
                <a:ext cx="8821356" cy="5609306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Give an example of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that is </a:t>
                </a:r>
              </a:p>
              <a:p>
                <a:pPr lvl="1"/>
                <a:r>
                  <a:rPr lang="en-US" dirty="0"/>
                  <a:t>convex but not strictly convex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convex and has more than one global minimum</a:t>
                </a:r>
              </a:p>
              <a:p>
                <a:pPr lvl="2"/>
                <a:r>
                  <a:rPr lang="en-US" dirty="0"/>
                  <a:t>Constant function</a:t>
                </a:r>
              </a:p>
              <a:p>
                <a:pPr lvl="1"/>
                <a:r>
                  <a:rPr lang="en-US" dirty="0"/>
                  <a:t>strictly convex, but has no global minimum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the sum of convex functions necessarily convex? Prove or provide a counter example</a:t>
                </a:r>
              </a:p>
              <a:p>
                <a:pPr lvl="1"/>
                <a:r>
                  <a:rPr lang="en-US" dirty="0"/>
                  <a:t>Yes, prove using the definition of convexity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the product of convex functions necessarily convex? Prove or provide a counter example</a:t>
                </a:r>
              </a:p>
              <a:p>
                <a:pPr lvl="1"/>
                <a:r>
                  <a:rPr lang="en-US" dirty="0"/>
                  <a:t>No,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5322" y="1671453"/>
                <a:ext cx="8821356" cy="5609306"/>
              </a:xfrm>
              <a:blipFill>
                <a:blip r:embed="rId2"/>
                <a:stretch>
                  <a:fillRect l="-691" t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 Solutions</a:t>
            </a:r>
          </a:p>
        </p:txBody>
      </p:sp>
    </p:spTree>
    <p:extLst>
      <p:ext uri="{BB962C8B-B14F-4D97-AF65-F5344CB8AC3E}">
        <p14:creationId xmlns:p14="http://schemas.microsoft.com/office/powerpoint/2010/main" val="133323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32344" y="1592905"/>
            <a:ext cx="8821356" cy="5112092"/>
          </a:xfrm>
        </p:spPr>
        <p:txBody>
          <a:bodyPr/>
          <a:lstStyle/>
          <a:p>
            <a:r>
              <a:rPr lang="en-US" dirty="0"/>
              <a:t>In many problems, an analytical solution to the minimization problem does not exist</a:t>
            </a:r>
          </a:p>
          <a:p>
            <a:pPr lvl="1"/>
            <a:r>
              <a:rPr lang="en-US" dirty="0"/>
              <a:t>Including (regularized) logistic regression</a:t>
            </a:r>
          </a:p>
          <a:p>
            <a:r>
              <a:rPr lang="en-US" dirty="0"/>
              <a:t>However, we can use an iterative method to solve it</a:t>
            </a:r>
          </a:p>
          <a:p>
            <a:pPr lvl="1"/>
            <a:r>
              <a:rPr lang="en-US" dirty="0"/>
              <a:t>Convexity guarantees that the iterative solution is the global minimum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methods</a:t>
            </a:r>
          </a:p>
        </p:txBody>
      </p:sp>
    </p:spTree>
    <p:extLst>
      <p:ext uri="{BB962C8B-B14F-4D97-AF65-F5344CB8AC3E}">
        <p14:creationId xmlns:p14="http://schemas.microsoft.com/office/powerpoint/2010/main" val="259765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830873" y="1810693"/>
                <a:ext cx="7774286" cy="2942637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Consider minimizing the generic objective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What is a geometric interpretation 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Direction of steepest </a:t>
                </a:r>
                <a:r>
                  <a:rPr lang="en-US" u="sng" dirty="0"/>
                  <a:t>ascent</a:t>
                </a:r>
              </a:p>
              <a:p>
                <a:pPr lvl="1"/>
                <a:r>
                  <a:rPr lang="en-US" dirty="0"/>
                  <a:t>Thus iterative approaches take steps in </a:t>
                </a:r>
                <a:r>
                  <a:rPr lang="en-US" u="sng" dirty="0"/>
                  <a:t>opposite</a:t>
                </a:r>
                <a:r>
                  <a:rPr lang="en-US" dirty="0"/>
                  <a:t> direction, i.e., the direction of steepest </a:t>
                </a:r>
                <a:r>
                  <a:rPr lang="en-US" u="sng" dirty="0"/>
                  <a:t>descent</a:t>
                </a:r>
              </a:p>
              <a:p>
                <a:r>
                  <a:rPr lang="en-US" dirty="0"/>
                  <a:t>Initial guess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iter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If convergence condition satisfied, exit</a:t>
                </a:r>
              </a:p>
              <a:p>
                <a:pPr marL="0" indent="0">
                  <a:buNone/>
                </a:pPr>
                <a:r>
                  <a:rPr lang="en-US" dirty="0"/>
                  <a:t>   End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0873" y="1810693"/>
                <a:ext cx="7774286" cy="2942637"/>
              </a:xfrm>
              <a:blipFill>
                <a:blip r:embed="rId2"/>
                <a:stretch>
                  <a:fillRect l="-78" t="-1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Gradient Descent (GD)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771" y="4918962"/>
            <a:ext cx="6094491" cy="17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3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725905" y="1741017"/>
                <a:ext cx="8821356" cy="38741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practice, typically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to decrease as a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25905" y="1741017"/>
                <a:ext cx="8821356" cy="3874177"/>
              </a:xfrm>
              <a:blipFill>
                <a:blip r:embed="rId2"/>
                <a:stretch>
                  <a:fillRect l="-622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Size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485348"/>
            <a:ext cx="7620000" cy="214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06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685322" y="1568196"/>
                <a:ext cx="8821356" cy="387417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What would be a good convergence condition (also known as a stopping criterion) for terminating GD?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What are some potential problems with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could you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to counter these problems?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Does the initialization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affect the result?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5322" y="1568196"/>
                <a:ext cx="8821356" cy="3874177"/>
              </a:xfrm>
              <a:blipFill>
                <a:blip r:embed="rId2"/>
                <a:stretch>
                  <a:fillRect l="-691" t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485348"/>
            <a:ext cx="7620000" cy="214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00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868146" y="1908305"/>
                <a:ext cx="7121945" cy="4035295"/>
              </a:xfrm>
            </p:spPr>
            <p:txBody>
              <a:bodyPr>
                <a:normAutofit fontScale="85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What would be a good convergence condition (also known as a stopping criterion) for terminating GD?</a:t>
                </a:r>
              </a:p>
              <a:p>
                <a:pPr lvl="1"/>
                <a:r>
                  <a:rPr lang="en-US" dirty="0"/>
                  <a:t>If the norm of the gradient is small</a:t>
                </a:r>
              </a:p>
              <a:p>
                <a:pPr lvl="1"/>
                <a:r>
                  <a:rPr lang="en-US" dirty="0"/>
                  <a:t>If the decrease in the objective function or the parameter values is small</a:t>
                </a:r>
              </a:p>
              <a:p>
                <a:pPr lvl="1"/>
                <a:r>
                  <a:rPr lang="en-US" dirty="0"/>
                  <a:t>A fixed number of iterations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What are some potential problems with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The step size may decay too rapidly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could you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to counter these problems?</a:t>
                </a:r>
              </a:p>
              <a:p>
                <a:pPr lvl="1"/>
                <a:r>
                  <a:rPr lang="en-US" dirty="0"/>
                  <a:t>Could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adaptively; e.g., use momentum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Does the initialization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affect the result?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 is convex, we will eventually find the global min although, the initialization may affect the number of iterations required.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 is not convex, we may end up at a local min instead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8146" y="1908305"/>
                <a:ext cx="7121945" cy="4035295"/>
              </a:xfrm>
              <a:blipFill>
                <a:blip r:embed="rId3"/>
                <a:stretch>
                  <a:fillRect l="-428" t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 Solutions</a:t>
            </a:r>
          </a:p>
        </p:txBody>
      </p:sp>
    </p:spTree>
    <p:extLst>
      <p:ext uri="{BB962C8B-B14F-4D97-AF65-F5344CB8AC3E}">
        <p14:creationId xmlns:p14="http://schemas.microsoft.com/office/powerpoint/2010/main" val="135093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many ML problems, we can write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Thus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 (SGD)</a:t>
            </a:r>
          </a:p>
        </p:txBody>
      </p:sp>
    </p:spTree>
    <p:extLst>
      <p:ext uri="{BB962C8B-B14F-4D97-AF65-F5344CB8AC3E}">
        <p14:creationId xmlns:p14="http://schemas.microsoft.com/office/powerpoint/2010/main" val="8383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732344" y="1819015"/>
                <a:ext cx="8821356" cy="5112092"/>
              </a:xfrm>
            </p:spPr>
            <p:txBody>
              <a:bodyPr/>
              <a:lstStyle/>
              <a:p>
                <a:r>
                  <a:rPr lang="en-US" dirty="0"/>
                  <a:t>In GD, we calculate the gradient using all of the data</a:t>
                </a:r>
              </a:p>
              <a:p>
                <a:pPr lvl="1"/>
                <a:r>
                  <a:rPr lang="en-US" dirty="0"/>
                  <a:t>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each step in the parameter space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takes a lot of computations</a:t>
                </a:r>
              </a:p>
              <a:p>
                <a:pPr lvl="1"/>
                <a:r>
                  <a:rPr lang="en-US" dirty="0"/>
                  <a:t>Thus learning can occur slowly</a:t>
                </a:r>
              </a:p>
              <a:p>
                <a:r>
                  <a:rPr lang="en-US" dirty="0"/>
                  <a:t>For SGD, we estimate the gradient using a small random sample of training inputs</a:t>
                </a:r>
              </a:p>
              <a:p>
                <a:pPr lvl="1"/>
                <a:r>
                  <a:rPr lang="en-US" dirty="0"/>
                  <a:t>Speeds up gradient descent and learning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2344" y="1819015"/>
                <a:ext cx="8821356" cy="5112092"/>
              </a:xfrm>
              <a:blipFill>
                <a:blip r:embed="rId2"/>
                <a:stretch>
                  <a:fillRect l="-622" t="-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 (SGD)</a:t>
            </a:r>
          </a:p>
        </p:txBody>
      </p:sp>
    </p:spTree>
    <p:extLst>
      <p:ext uri="{BB962C8B-B14F-4D97-AF65-F5344CB8AC3E}">
        <p14:creationId xmlns:p14="http://schemas.microsoft.com/office/powerpoint/2010/main" val="113985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732344" y="2007551"/>
                <a:ext cx="8821356" cy="5112092"/>
              </a:xfrm>
            </p:spPr>
            <p:txBody>
              <a:bodyPr/>
              <a:lstStyle/>
              <a:p>
                <a:r>
                  <a:rPr lang="en-US" dirty="0"/>
                  <a:t>Pick a random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training inputs</a:t>
                </a:r>
              </a:p>
              <a:p>
                <a:pPr lvl="1"/>
                <a:r>
                  <a:rPr lang="en-US" dirty="0"/>
                  <a:t>Referred to as a </a:t>
                </a:r>
                <a:r>
                  <a:rPr lang="en-US" i="1" dirty="0"/>
                  <a:t>mini-batch</a:t>
                </a:r>
              </a:p>
              <a:p>
                <a:r>
                  <a:rPr lang="en-US" dirty="0"/>
                  <a:t>Estimate the gradient using the samples from the mini-batch and take a step in the direction of the negative gradient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large enough, then the estimated gradient will be roughly equal to the gradient using the full data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2344" y="2007551"/>
                <a:ext cx="8821356" cy="5112092"/>
              </a:xfrm>
              <a:blipFill>
                <a:blip r:embed="rId2"/>
                <a:stretch>
                  <a:fillRect l="-622" t="-477" r="-1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15145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training </a:t>
            </a:r>
            <a:r>
              <a:rPr lang="en-US" b="1" i="1" dirty="0"/>
              <a:t>epoch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a random subset of the training data</a:t>
            </a:r>
          </a:p>
          <a:p>
            <a:pPr lvl="1"/>
            <a:r>
              <a:rPr lang="en-US" dirty="0"/>
              <a:t>Referred to as a mini-batch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the parameters using the gradient estimates from the mini-batch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another random mini-batch from the remaining training points and repeat step 2</a:t>
            </a:r>
          </a:p>
          <a:p>
            <a:pPr lvl="1"/>
            <a:r>
              <a:rPr lang="en-US" dirty="0"/>
              <a:t>Repeat until all training inputs have been used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Repeat multiple epochs until stopping conditions are met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Stochastic Gradient Descent Summary</a:t>
            </a:r>
          </a:p>
        </p:txBody>
      </p:sp>
    </p:spTree>
    <p:extLst>
      <p:ext uri="{BB962C8B-B14F-4D97-AF65-F5344CB8AC3E}">
        <p14:creationId xmlns:p14="http://schemas.microsoft.com/office/powerpoint/2010/main" val="18361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032096" y="1828800"/>
                <a:ext cx="7143184" cy="403548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Much easier to carry out a poll than run a full election</a:t>
                </a:r>
              </a:p>
              <a:p>
                <a:r>
                  <a:rPr lang="en-US" dirty="0"/>
                  <a:t>Similarly, it’s much easier to estimate gradients from mini-batches than the entire training set</a:t>
                </a:r>
              </a:p>
              <a:p>
                <a:r>
                  <a:rPr lang="en-US" dirty="0"/>
                  <a:t>Downside: gradient estimates will be noisier in SGD</a:t>
                </a:r>
              </a:p>
              <a:p>
                <a:r>
                  <a:rPr lang="en-US" dirty="0"/>
                  <a:t>Generally ok as we only need </a:t>
                </a:r>
                <a:br>
                  <a:rPr lang="en-US" dirty="0"/>
                </a:br>
                <a:r>
                  <a:rPr lang="en-US" dirty="0"/>
                  <a:t>to move in a general direction</a:t>
                </a:r>
                <a:br>
                  <a:rPr lang="en-US" dirty="0"/>
                </a:br>
                <a:r>
                  <a:rPr lang="en-US" dirty="0"/>
                  <a:t>that decreases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can be an advantage when</a:t>
                </a:r>
                <a:br>
                  <a:rPr lang="en-US" dirty="0"/>
                </a:br>
                <a:r>
                  <a:rPr lang="en-US" dirty="0"/>
                  <a:t>the problem is nonconvex</a:t>
                </a:r>
              </a:p>
              <a:p>
                <a:r>
                  <a:rPr lang="en-US" dirty="0"/>
                  <a:t>In practice, SGD (or its </a:t>
                </a:r>
                <a:br>
                  <a:rPr lang="en-US" dirty="0"/>
                </a:br>
                <a:r>
                  <a:rPr lang="en-US" dirty="0"/>
                  <a:t>variants) are used extensively</a:t>
                </a:r>
                <a:br>
                  <a:rPr lang="en-US" dirty="0"/>
                </a:br>
                <a:r>
                  <a:rPr lang="en-US" dirty="0"/>
                  <a:t> in learning neural networks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2096" y="1828800"/>
                <a:ext cx="7143184" cy="4035487"/>
              </a:xfrm>
              <a:blipFill>
                <a:blip r:embed="rId2"/>
                <a:stretch>
                  <a:fillRect l="-597" t="-1662" r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 to political polling</a:t>
            </a:r>
          </a:p>
        </p:txBody>
      </p:sp>
      <p:pic>
        <p:nvPicPr>
          <p:cNvPr id="4" name="Picture 2 1" descr="Image result for gradient descent vs stochastic gradient desc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741" y="3429000"/>
            <a:ext cx="4162158" cy="309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20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732344" y="1783532"/>
                <a:ext cx="7303014" cy="164546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Goal is to solve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an objective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Newton’s method AKA Newton-</a:t>
                </a:r>
                <a:r>
                  <a:rPr lang="en-US" dirty="0" err="1"/>
                  <a:t>Raphson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2344" y="1783532"/>
                <a:ext cx="7303014" cy="1645467"/>
              </a:xfrm>
              <a:blipFill>
                <a:blip r:embed="rId3"/>
                <a:stretch>
                  <a:fillRect l="-584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/>
              <p:cNvSpPr txBox="1">
                <a:spLocks/>
              </p:cNvSpPr>
              <p:nvPr/>
            </p:nvSpPr>
            <p:spPr>
              <a:xfrm>
                <a:off x="1732343" y="3693814"/>
                <a:ext cx="6135117" cy="29066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900" dirty="0"/>
              </a:p>
              <a:p>
                <a:r>
                  <a:rPr lang="en-US" sz="1900" dirty="0"/>
                  <a:t>Newton’s method can be viewed as minimizing the second order approximation:</a:t>
                </a:r>
              </a:p>
              <a:p>
                <a:pPr marL="0" indent="0">
                  <a:buNone/>
                </a:pPr>
                <a:br>
                  <a:rPr lang="en-US" sz="19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19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𝐽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4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343" y="3693814"/>
                <a:ext cx="6135117" cy="2906610"/>
              </a:xfrm>
              <a:prstGeom prst="rect">
                <a:avLst/>
              </a:prstGeom>
              <a:blipFill>
                <a:blip r:embed="rId4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116" y="3203480"/>
            <a:ext cx="3581400" cy="34259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7130836" y="3096360"/>
              <a:ext cx="3273840" cy="26244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21476" y="3087000"/>
                <a:ext cx="3292560" cy="264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712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advantage of Newton’s method is that it converges to a minimum in relatively few steps. What is a disadvantage of Newton’s method?</a:t>
            </a:r>
          </a:p>
          <a:p>
            <a:endParaRPr lang="en-US" dirty="0"/>
          </a:p>
          <a:p>
            <a:r>
              <a:rPr lang="en-US" dirty="0"/>
              <a:t>Answer: You have to invert a matrix (the Hessian) at each step</a:t>
            </a:r>
          </a:p>
          <a:p>
            <a:pPr lvl="1"/>
            <a:r>
              <a:rPr lang="en-US" dirty="0"/>
              <a:t>This can be very slow for high-dimensional data</a:t>
            </a:r>
          </a:p>
          <a:p>
            <a:pPr lvl="1"/>
            <a:endParaRPr lang="en-US" dirty="0"/>
          </a:p>
          <a:p>
            <a:r>
              <a:rPr lang="en-US" dirty="0"/>
              <a:t>Thus in practice, Newton’s method is rarely used</a:t>
            </a:r>
          </a:p>
          <a:p>
            <a:r>
              <a:rPr lang="en-US" dirty="0"/>
              <a:t>However, Newton’s method has provided inspiration for other optimization techniques that are faster to compute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</a:p>
        </p:txBody>
      </p:sp>
    </p:spTree>
    <p:extLst>
      <p:ext uri="{BB962C8B-B14F-4D97-AF65-F5344CB8AC3E}">
        <p14:creationId xmlns:p14="http://schemas.microsoft.com/office/powerpoint/2010/main" val="331009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combination of convexity and differentiability enables us to determine if a global minimum exists</a:t>
            </a:r>
          </a:p>
          <a:p>
            <a:r>
              <a:rPr lang="en-US" dirty="0"/>
              <a:t>Differentiability also provides us with methods for finding a minimum when a closed-form solution may not exist</a:t>
            </a:r>
          </a:p>
          <a:p>
            <a:r>
              <a:rPr lang="en-US" dirty="0"/>
              <a:t>Thus, when considering loss functions for an ML problem, convexity and differentiability are important properties to consider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4598264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332.9583"/>
  <p:tag name="LATEXADDIN" val="\documentclass{article}&#10;\usepackage{amsmath}&#10;\pagestyle{empty}&#10;\begin{document}&#10;$\nabla f({\bf x})$&#10;\end{document}"/>
  <p:tag name="IGUANATEXSIZE" val="20"/>
  <p:tag name="IGUANATEXCURSOR" val="99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$x_1$&#10;\end{document}"/>
  <p:tag name="IGUANATEXSIZE" val="20"/>
  <p:tag name="IGUANATEXCURSOR" val="85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$x_2$&#10;\end{document}"/>
  <p:tag name="IGUANATEXSIZE" val="20"/>
  <p:tag name="IGUANATEXCURSOR" val="84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228.7214"/>
  <p:tag name="LATEXADDIN" val="\documentclass{article}&#10;\usepackage{amsmath}&#10;\pagestyle{empty}&#10;\begin{document}&#10;$f({\bf x})$&#10;\end{document}"/>
  <p:tag name="IGUANATEXSIZE" val="20"/>
  <p:tag name="IGUANATEXCURSOR" val="89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7.645"/>
  <p:tag name="ORIGINALWIDTH" val="3850.769"/>
  <p:tag name="LATEXADDIN" val="\documentclass{article}\pagestyle{empty}&#10;\usepackage[top=1in, bottom=1in, left=2in, right=2in]{geometry}&#10;\usepackage{amsmath,amssymb,bm}&#10;\newcommand{\bu}{{\bm u}}&#10;\newcommand{\bv}{{\bm v}}&#10;\newcommand{\bx}{{\bm x}}&#10;\newcommand{\bzero}{{\bm 0}}&#10;\begin{document}&#10;\begin{itemize}&#10;\item The {\em Hessian} of $f$ at $\bx$ is the $d \times d$ matrix&#10;$$&#10;\nabla^2 f(\bx) := \begin{bmatrix}&#10;  \frac{\partial^2 f(\bx)}{\partial x_1^2} &amp; \dots &amp; \frac{\partial^2 f(\bx)}{\partial x_1 \partial x_d}\\&#10;  \vdots &amp; \ddots &amp; \vdots \\&#10;  \frac{\partial^2 f(\bx)}{\partial x_d \partial x_1} &amp; \dots &amp; \frac{\partial^2 f(\bx)}{\partial x_d^2}\\&#10;  \end{bmatrix}&#10;$$&#10;\item We say that $f$ is {\em twice differentiable} if $\nabla^2 f(\bx)$ exists $\forall \bx \in \mathbb{R}^d$. &#10;\item We say $f$ is {\em twice continuously differentiable} if it is twice differentiable and all of the second derivatives are continuous functions of $\bx$. &#10;\item If $f$ is twice continuously differentiable, then $\nabla^2 f(\bx)$ is a symmetric matrix $\forall \bx$, i.e.,&#10;\begin{align*}&#10;  \frac{\partial^2 f(\bx)}{\partial x_i \partial x_j} &amp; =&#10;  \frac{\partial^2 f(\bx)}{\partial x_j \partial x_i} \\&#10;  \forall &amp; \bx \in \mathbb{R}^d \\&#10;  \forall &amp; i, j = 1, \dots, d&#10;\end{align*}&#10;&#10;&#10;\end{itemize}&#10;\end{document}&#10;"/>
  <p:tag name="IGUANATEXSIZE" val="20"/>
  <p:tag name="IGUANATEXCURSOR" val="91"/>
  <p:tag name="TRANSPARENCY" val="False"/>
  <p:tag name="FILENAME" val=""/>
  <p:tag name="LATEXENGINEID" val="0"/>
  <p:tag name="TEMPFOLDER" val="c:\temp\"/>
  <p:tag name="LATEXFORMHEIGHT" val="640.5"/>
  <p:tag name="LATEXFORMWIDTH" val="52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8.264"/>
  <p:tag name="ORIGINALWIDTH" val="3076.865"/>
  <p:tag name="LATEXADDIN" val="\documentclass{article}\pagestyle{empty}&#10;\usepackage[top=1in, bottom=1in, left=2in, right=2in]{geometry}&#10;\usepackage{amsmath,amssymb,bm}&#10;\newcommand{\bu}{{\bm u}}&#10;\newcommand{\bv}{{\bm v}}&#10;\newcommand{\bx}{{\bm x}}&#10;\begin{document}&#10;\noindent Notation:&#10;$$&#10;\bx = \begin{bmatrix}&#10;x \\&#10;y&#10;\end{bmatrix}&#10;$$&#10;Consider the function&#10;$$&#10;f(x,y) = x^2 + 4xy - y^2 - 8x - 6y + 10&#10;$$&#10;\begin{enumerate}&#10;\item Determine $\nabla f(x,y)$&#10;\item Determine $\nabla^2 f(x,y)$&#10;\item Determine a critical point $\bx^*$&#10;\item Is $\bx^*$ a local min, a local max, or neither?&#10;\end{enumerate}&#10;&#10;\end{document}&#10;"/>
  <p:tag name="IGUANATEXSIZE" val="20"/>
  <p:tag name="IGUANATEXCURSOR" val="91"/>
  <p:tag name="TRANSPARENCY" val="False"/>
  <p:tag name="FILENAME" val=""/>
  <p:tag name="LATEXENGINEID" val="0"/>
  <p:tag name="TEMPFOLDER" val="c:\temp\"/>
  <p:tag name="LATEXFORMHEIGHT" val="537"/>
  <p:tag name="LATEXFORMWIDTH" val="483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f(x,y) = x^2 + y^2  template TPT1  env TPENV1  fore 0  back 16777215  eqnno 1"/>
  <p:tag name="FILENAME" val="TP_tmp"/>
  <p:tag name="ORIGWIDTH" val="74"/>
  <p:tag name="PICTUREFILESIZE" val="31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2.583"/>
  <p:tag name="ORIGINALWIDTH" val="4043.494"/>
  <p:tag name="LATEXADDIN" val="\documentclass{article}\pagestyle{empty}&#10;\usepackage[top=1in, bottom=1in, left=2in, right=2in]{geometry}&#10;\usepackage{amsmath,amssymb,bm}&#10;\newcommand{\bu}{{\bm u}}&#10;\newcommand{\bv}{{\bm v}}&#10;\newcommand{\bx}{{\bm x}}&#10;\newcommand{\by}{{\bm y}}&#10;\newcommand{\bz}{{\bm z}}&#10;\newcommand{\bzero}{{\bm 0}}&#10;\begin{document}&#10;\noindent {\em Proof of 1}:   Suppose $\bx^*$ is a local min but not a global min. Then $\exists \by^* \in \mathbb{R^d}$ such that $f(\by^*) &lt; f(\bx^*)$. By convexity, $\forall t \in [0, 1)$ we have&#10;  \begin{align*}&#10;    f(t \bx^* + (1 - t)\by^*) &amp; \leq t f(\bx^*) + (1-t)f(\by^*) \\&#10;    &amp; &lt; t f(\bx^*) + (1-t)f(\bx^*) \\&#10;    &amp; = f(\bx^*)&#10;  \end{align*}&#10;&#10;  Taking $t \nearrow 1$, the above strict inequality contradicts local minimality of $\bx^*$. Thus $\bx^*$ is a global min.&#10;\end{document}&#10;"/>
  <p:tag name="IGUANATEXSIZE" val="20"/>
  <p:tag name="IGUANATEXCURSOR" val="230"/>
  <p:tag name="TRANSPARENCY" val="False"/>
  <p:tag name="FILENAME" val=""/>
  <p:tag name="LATEXENGINEID" val="0"/>
  <p:tag name="TEMPFOLDER" val="c:\temp\"/>
  <p:tag name="LATEXFORMHEIGHT" val="640.5"/>
  <p:tag name="LATEXFORMWIDTH" val="525"/>
  <p:tag name="LATEXFORMWRAP" val="True"/>
  <p:tag name="BITMAPVECTOR" val="0"/>
</p:tagLst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1709</Words>
  <Application>Microsoft Office PowerPoint</Application>
  <PresentationFormat>Widescreen</PresentationFormat>
  <Paragraphs>184</Paragraphs>
  <Slides>29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Calisto MT</vt:lpstr>
      <vt:lpstr>Cambria Math</vt:lpstr>
      <vt:lpstr>Univers Condensed</vt:lpstr>
      <vt:lpstr>ChronicleVTI</vt:lpstr>
      <vt:lpstr>Gradient Descent</vt:lpstr>
      <vt:lpstr>Optimization in machine learning</vt:lpstr>
      <vt:lpstr>Unconstrained Optimization</vt:lpstr>
      <vt:lpstr>Gradient</vt:lpstr>
      <vt:lpstr>First Order Necessary Condition</vt:lpstr>
      <vt:lpstr>Hessian</vt:lpstr>
      <vt:lpstr>Positive (Semi-)Definite Matrices</vt:lpstr>
      <vt:lpstr>Second Order Necessary Condition </vt:lpstr>
      <vt:lpstr>Group Exercise</vt:lpstr>
      <vt:lpstr>Group Exercise Solutions</vt:lpstr>
      <vt:lpstr>Convexity</vt:lpstr>
      <vt:lpstr>Convexity</vt:lpstr>
      <vt:lpstr>Convex functions are nice</vt:lpstr>
      <vt:lpstr>Convex functions are nice</vt:lpstr>
      <vt:lpstr>Group Exercise</vt:lpstr>
      <vt:lpstr>Group Exercise Solutions</vt:lpstr>
      <vt:lpstr>Iterative methods</vt:lpstr>
      <vt:lpstr>Gradient Descent (GD)</vt:lpstr>
      <vt:lpstr>Step Size</vt:lpstr>
      <vt:lpstr>Group Exercise</vt:lpstr>
      <vt:lpstr>Group Exercise Solutions</vt:lpstr>
      <vt:lpstr>Stochastic Gradient Descent (SGD)</vt:lpstr>
      <vt:lpstr>Stochastic Gradient Descent (SGD)</vt:lpstr>
      <vt:lpstr>Stochastic Gradient Descent</vt:lpstr>
      <vt:lpstr>Stochastic Gradient Descent Summary</vt:lpstr>
      <vt:lpstr>Analogy to political polling</vt:lpstr>
      <vt:lpstr>Newton’s method</vt:lpstr>
      <vt:lpstr>Group exercise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26</cp:revision>
  <dcterms:created xsi:type="dcterms:W3CDTF">2025-10-28T15:32:43Z</dcterms:created>
  <dcterms:modified xsi:type="dcterms:W3CDTF">2026-01-22T17:44:58Z</dcterms:modified>
</cp:coreProperties>
</file>