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4" r:id="rId15"/>
    <p:sldId id="270" r:id="rId16"/>
    <p:sldId id="308" r:id="rId17"/>
    <p:sldId id="310" r:id="rId18"/>
    <p:sldId id="271" r:id="rId19"/>
    <p:sldId id="272" r:id="rId20"/>
    <p:sldId id="273" r:id="rId21"/>
    <p:sldId id="274" r:id="rId22"/>
    <p:sldId id="275" r:id="rId23"/>
    <p:sldId id="315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9" r:id="rId36"/>
    <p:sldId id="313" r:id="rId37"/>
    <p:sldId id="290" r:id="rId38"/>
    <p:sldId id="29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11" r:id="rId50"/>
    <p:sldId id="316" r:id="rId51"/>
    <p:sldId id="304" r:id="rId52"/>
    <p:sldId id="305" r:id="rId53"/>
    <p:sldId id="312" r:id="rId54"/>
    <p:sldId id="306" r:id="rId5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1pPr>
    <a:lvl2pPr marL="0" marR="0" indent="4572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2pPr>
    <a:lvl3pPr marL="0" marR="0" indent="9144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3pPr>
    <a:lvl4pPr marL="0" marR="0" indent="13716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4pPr>
    <a:lvl5pPr marL="0" marR="0" indent="18288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5pPr>
    <a:lvl6pPr marL="0" marR="0" indent="22860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6pPr>
    <a:lvl7pPr marL="0" marR="0" indent="27432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7pPr>
    <a:lvl8pPr marL="0" marR="0" indent="32004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8pPr>
    <a:lvl9pPr marL="0" marR="0" indent="3657600" algn="l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8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venir N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49" d="100"/>
          <a:sy n="49" d="100"/>
        </p:scale>
        <p:origin x="12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3.78738" units="1/cm"/>
          <inkml:channelProperty channel="Y" name="resolution" value="63.82979" units="1/cm"/>
          <inkml:channelProperty channel="T" name="resolution" value="1" units="1/dev"/>
        </inkml:channelProperties>
      </inkml:inkSource>
      <inkml:timestamp xml:id="ts0" timeString="2026-02-19T16:52:14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19630 19518 0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" name="Shape 1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Add a slide before reviewing the distance between a point and a line.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ADD SOME SCAFFOLDING, REVISIT MATH ROOTS! REVISIT PROJECTION, DOT PRODUCT, DISTANCE TO PLANE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Here’s the crucial fact: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200" b="1" i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</m:ctrlPr>
                      </m:dPr>
                      <m:e>
                        <m:r>
                          <a:rPr lang="ar-AE" sz="2200" b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𝐰</m:t>
                        </m:r>
                      </m:e>
                      <m:e>
                        <m:r>
                          <a:rPr lang="ar-AE" sz="2200" b="0" i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defines a separating hyperplane, then so does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d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𝛼</m:t>
                          </m:r>
                        </m:e>
                        <m:e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𝛼</m:t>
                          </m:r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for any positive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Why?</a:t>
                </a:r>
              </a:p>
              <a:p>
                <a:r>
                  <a:rPr lang="en-US" dirty="0"/>
                  <a:t>Because: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𝛼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dPr>
                        <m:e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⋅</m:t>
                          </m:r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𝐱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+</m:t>
                          </m:r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𝑏</m:t>
                          </m:r>
                        </m:e>
                      </m:d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=</m:t>
                      </m:r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0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defines the exact same decision boundary.</a:t>
                </a:r>
              </a:p>
              <a:p>
                <a:r>
                  <a:rPr lang="en-US" dirty="0"/>
                  <a:t>So we are free to scale </a:t>
                </a:r>
                <a14:m>
                  <m:oMath xmlns:m="http://schemas.openxmlformats.org/officeDocument/2006/math">
                    <m:r>
                      <a:rPr lang="en-US" sz="2200" b="1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𝐰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𝑏</m:t>
                    </m:r>
                  </m:oMath>
                </a14:m>
                <a:r>
                  <a:rPr lang="en-US" dirty="0"/>
                  <a:t>however we like.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Step 3: Use That Freedom to Fix the Numerator</a:t>
                </a:r>
              </a:p>
              <a:p>
                <a:r>
                  <a:rPr lang="en-US" dirty="0"/>
                  <a:t>Since we can scale arbitrarily, we choose a convenient normalization: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220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𝑖</m:t>
                          </m:r>
                        </m:lim>
                      </m:limLow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𝑦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dPr>
                        <m:e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⋅</m:t>
                          </m:r>
                          <m:sSub>
                            <m:sSubPr>
                              <m:ctrlP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lang="ar-AE" sz="2200" b="1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+</m:t>
                          </m:r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𝑏</m:t>
                          </m:r>
                        </m:e>
                      </m:d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=</m:t>
                      </m:r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This means:</a:t>
                </a:r>
              </a:p>
              <a:p>
                <a:r>
                  <a:rPr lang="en-US" dirty="0"/>
                  <a:t>The closest correctly classified point satisfies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sSubPr>
                        <m:e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𝑦</m:t>
                          </m:r>
                        </m:e>
                        <m:sub>
                          <m: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dPr>
                        <m:e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⋅</m:t>
                          </m:r>
                          <m:sSub>
                            <m:sSubPr>
                              <m:ctrlP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lang="ar-AE" sz="2200" b="1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+</m:t>
                          </m:r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𝑏</m:t>
                          </m:r>
                        </m:e>
                      </m:d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=</m:t>
                      </m:r>
                      <m:r>
                        <a:rPr lang="ar-AE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This is not a restriction.</a:t>
                </a:r>
                <a:br>
                  <a:rPr lang="en-US" dirty="0"/>
                </a:br>
                <a:r>
                  <a:rPr lang="en-US" dirty="0"/>
                  <a:t>It’s just choosing a scale.</a:t>
                </a:r>
              </a:p>
              <a:p>
                <a:endParaRPr lang="en-US" dirty="0"/>
              </a:p>
              <a:p>
                <a:r>
                  <a:rPr lang="en-US" b="1" dirty="0"/>
                  <a:t>Step 5: Why This Works</a:t>
                </a:r>
              </a:p>
              <a:p>
                <a:r>
                  <a:rPr lang="en-US" dirty="0"/>
                  <a:t>Originally: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margin</m:t>
                      </m:r>
                      <m:r>
                        <a:rPr lang="en-US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=</m:t>
                      </m:r>
                      <m:limLow>
                        <m:limLowPr>
                          <m:ctrlP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𝑖</m:t>
                          </m:r>
                        </m:lim>
                      </m:limLow>
                      <m:f>
                        <m:fPr>
                          <m:ctrlP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</m:ctrlPr>
                            </m:dPr>
                            <m:e>
                              <m:r>
                                <a:rPr lang="ar-AE" sz="2200" b="1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𝐰</m:t>
                              </m:r>
                              <m:r>
                                <a:rPr lang="ar-AE" sz="2200" b="0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ar-AE" sz="2200" b="0" i="1"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</m:ctrlPr>
                                </m:sSubPr>
                                <m:e>
                                  <m:r>
                                    <a:rPr lang="ar-AE" sz="2200" b="1" i="0"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ar-AE" sz="2200" b="0" i="1">
                                      <a:latin typeface="Cambria Math" panose="02040503050406030204" pitchFamily="18" charset="0"/>
                                      <a:ea typeface="Helvetica Neue"/>
                                      <a:cs typeface="Helvetica Neue"/>
                                      <a:sym typeface="Helvetica Neue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200" b="0" i="0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+</m:t>
                              </m:r>
                              <m:r>
                                <a:rPr lang="ar-AE" sz="2200" b="0" i="1">
                                  <a:latin typeface="Cambria Math" panose="02040503050406030204" pitchFamily="18" charset="0"/>
                                  <a:ea typeface="Helvetica Neue"/>
                                  <a:cs typeface="Helvetica Neue"/>
                                  <a:sym typeface="Helvetica Neue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∥</m:t>
                          </m:r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After normalization: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margin</m:t>
                      </m:r>
                      <m:r>
                        <a:rPr lang="en-US" sz="2200" b="0" i="0">
                          <a:latin typeface="Cambria Math" panose="02040503050406030204" pitchFamily="18" charset="0"/>
                          <a:ea typeface="Helvetica Neue"/>
                          <a:cs typeface="Helvetica Neue"/>
                          <a:sym typeface="Helvetica Neue"/>
                        </a:rPr>
                        <m:t>=</m:t>
                      </m:r>
                      <m:f>
                        <m:fPr>
                          <m:ctrlPr>
                            <a:rPr lang="ar-AE" sz="2200" b="0" i="1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</m:ctrlPr>
                        </m:fPr>
                        <m:num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1</m:t>
                          </m:r>
                        </m:num>
                        <m:den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∥</m:t>
                          </m:r>
                          <m:r>
                            <a:rPr lang="ar-AE" sz="2200" b="1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𝐰</m:t>
                          </m:r>
                          <m:r>
                            <a:rPr lang="ar-AE" sz="2200" b="0" i="0">
                              <a:latin typeface="Cambria Math" panose="02040503050406030204" pitchFamily="18" charset="0"/>
                              <a:ea typeface="Helvetica Neue"/>
                              <a:cs typeface="Helvetica Neue"/>
                              <a:sym typeface="Helvetica Neue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The numerator disappears because we fixed it.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ADD SOME SCAFFOLDING, REVISIT MATH ROOTS! REVISIT PROJECTION, DOT PRODUCT, DISTANCE TO PLANE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Here’s the crucial fact:</a:t>
                </a:r>
              </a:p>
              <a:p>
                <a:r>
                  <a:rPr lang="en-US" dirty="0"/>
                  <a:t>If </a:t>
                </a:r>
                <a:r>
                  <a:rPr lang="ar-AE" sz="2200" b="1" i="0">
                    <a:latin typeface="Helvetica Neue"/>
                    <a:sym typeface="Helvetica Neue"/>
                  </a:rPr>
                  <a:t>(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𝐰ⓜ,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𝑏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)</a:t>
                </a:r>
                <a:r>
                  <a:rPr lang="en-US" dirty="0"/>
                  <a:t>defines a separating hyperplane, then so does</a:t>
                </a:r>
              </a:p>
              <a:p>
                <a:r>
                  <a:rPr lang="ar-AE" sz="2200" i="0">
                    <a:latin typeface="Helvetica Neue"/>
                    <a:sym typeface="Helvetica Neue"/>
                  </a:rPr>
                  <a:t>(</a:t>
                </a:r>
                <a:r>
                  <a:rPr lang="ar-AE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𝛼ⓜ,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𝛼𝑏)</a:t>
                </a:r>
                <a:endParaRPr lang="ar-AE" b="0" dirty="0"/>
              </a:p>
              <a:p>
                <a:r>
                  <a:rPr lang="en-US" dirty="0"/>
                  <a:t>for any positive </a:t>
                </a:r>
                <a:r>
                  <a:rPr lang="en-US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𝛼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Why?</a:t>
                </a:r>
              </a:p>
              <a:p>
                <a:r>
                  <a:rPr lang="en-US" dirty="0"/>
                  <a:t>Because:</a:t>
                </a:r>
              </a:p>
              <a:p>
                <a:r>
                  <a:rPr lang="en-US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𝛼</a:t>
                </a:r>
                <a:r>
                  <a:rPr lang="ar-AE" sz="2200" i="0">
                    <a:latin typeface="Helvetica Neue"/>
                    <a:sym typeface="Helvetica Neue"/>
                  </a:rPr>
                  <a:t>(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⋅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𝐱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+𝑏)=0</a:t>
                </a:r>
                <a:endParaRPr lang="ar-AE" b="0" dirty="0"/>
              </a:p>
              <a:p>
                <a:r>
                  <a:rPr lang="en-US" dirty="0"/>
                  <a:t>defines the exact same decision boundary.</a:t>
                </a:r>
              </a:p>
              <a:p>
                <a:r>
                  <a:rPr lang="en-US" dirty="0"/>
                  <a:t>So we are free to scale </a:t>
                </a:r>
                <a:r>
                  <a:rPr lang="en-US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en-US" dirty="0"/>
                  <a:t>and </a:t>
                </a:r>
                <a:r>
                  <a:rPr lang="en-US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𝑏</a:t>
                </a:r>
                <a:r>
                  <a:rPr lang="en-US" dirty="0"/>
                  <a:t>however we like.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Step 3: Use That Freedom to Fix the Numerator</a:t>
                </a:r>
              </a:p>
              <a:p>
                <a:r>
                  <a:rPr lang="en-US" dirty="0"/>
                  <a:t>Since we can scale arbitrarily, we choose a convenient normalization:</a:t>
                </a:r>
              </a:p>
              <a:p>
                <a:r>
                  <a:rPr lang="ar-AE" sz="2200" i="0">
                    <a:latin typeface="Helvetica Neue"/>
                    <a:sym typeface="Helvetica Neue"/>
                  </a:rPr>
                  <a:t>(</a:t>
                </a:r>
                <a:r>
                  <a:rPr lang="en-US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min</a:t>
                </a:r>
                <a:r>
                  <a:rPr lang="ar-AE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⁡ )┬𝑖 𝑦_𝑖 </a:t>
                </a:r>
                <a:r>
                  <a:rPr lang="ar-AE" sz="2200" i="0">
                    <a:latin typeface="Helvetica Neue"/>
                    <a:sym typeface="Helvetica Neue"/>
                  </a:rPr>
                  <a:t>(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⋅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𝐱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_𝑖+𝑏)=1</a:t>
                </a:r>
                <a:endParaRPr lang="ar-AE" b="0" dirty="0"/>
              </a:p>
              <a:p>
                <a:r>
                  <a:rPr lang="en-US" dirty="0"/>
                  <a:t>This means:</a:t>
                </a:r>
              </a:p>
              <a:p>
                <a:r>
                  <a:rPr lang="en-US" dirty="0"/>
                  <a:t>The closest correctly classified point satisfies</a:t>
                </a:r>
              </a:p>
              <a:p>
                <a:r>
                  <a:rPr lang="ar-AE" sz="220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𝑦_𝑖 </a:t>
                </a:r>
                <a:r>
                  <a:rPr lang="ar-AE" sz="2200" i="0">
                    <a:latin typeface="Helvetica Neue"/>
                    <a:sym typeface="Helvetica Neue"/>
                  </a:rPr>
                  <a:t>(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⋅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𝐱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_𝑖+𝑏)=1</a:t>
                </a:r>
                <a:endParaRPr lang="ar-AE" b="0" dirty="0"/>
              </a:p>
              <a:p>
                <a:r>
                  <a:rPr lang="en-US" dirty="0"/>
                  <a:t>This is not a restriction.</a:t>
                </a:r>
                <a:br>
                  <a:rPr lang="en-US" dirty="0"/>
                </a:br>
                <a:r>
                  <a:rPr lang="en-US" dirty="0"/>
                  <a:t>It’s just choosing a scale.</a:t>
                </a:r>
              </a:p>
              <a:p>
                <a:endParaRPr lang="en-US" dirty="0"/>
              </a:p>
              <a:p>
                <a:r>
                  <a:rPr lang="en-US" b="1" dirty="0"/>
                  <a:t>Step 5: Why This Works</a:t>
                </a:r>
              </a:p>
              <a:p>
                <a:r>
                  <a:rPr lang="en-US" dirty="0"/>
                  <a:t>Originally: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"margin</a:t>
                </a:r>
                <a:r>
                  <a:rPr lang="en-US" sz="2200" b="0" i="0">
                    <a:latin typeface="Helvetica Neue"/>
                    <a:sym typeface="Helvetica Neue"/>
                  </a:rPr>
                  <a:t>"</a:t>
                </a:r>
                <a:r>
                  <a:rPr lang="en-US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=</a:t>
                </a:r>
                <a:r>
                  <a:rPr lang="ar-AE" sz="2200" b="0" i="0">
                    <a:latin typeface="Helvetica Neue"/>
                    <a:sym typeface="Helvetica Neue"/>
                  </a:rPr>
                  <a:t>(</a:t>
                </a:r>
                <a:r>
                  <a:rPr lang="en-US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min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⁡ )┬𝑖 </a:t>
                </a:r>
                <a:r>
                  <a:rPr lang="ar-AE" sz="2200" b="0" i="0">
                    <a:latin typeface="Helvetica Neue"/>
                    <a:sym typeface="Helvetica Neue"/>
                  </a:rPr>
                  <a:t> (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𝑦_𝑖 (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⋅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𝐱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_𝑖+𝑏))/(∥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∥)</a:t>
                </a:r>
                <a:endParaRPr lang="ar-AE" b="0" dirty="0"/>
              </a:p>
              <a:p>
                <a:r>
                  <a:rPr lang="en-US" dirty="0"/>
                  <a:t>After normalization: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"margin</a:t>
                </a:r>
                <a:r>
                  <a:rPr lang="en-US" sz="2200" b="0" i="0">
                    <a:latin typeface="Helvetica Neue"/>
                    <a:sym typeface="Helvetica Neue"/>
                  </a:rPr>
                  <a:t>"</a:t>
                </a:r>
                <a:r>
                  <a:rPr lang="en-US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=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1/(∥</a:t>
                </a:r>
                <a:r>
                  <a:rPr lang="ar-AE" sz="2200" b="1" i="0">
                    <a:latin typeface="Helvetica Neue"/>
                    <a:ea typeface="Helvetica Neue"/>
                    <a:cs typeface="Helvetica Neue"/>
                    <a:sym typeface="Helvetica Neue"/>
                  </a:rPr>
                  <a:t>𝐰</a:t>
                </a:r>
                <a:r>
                  <a:rPr lang="ar-AE" sz="2200" b="0" i="0">
                    <a:latin typeface="Helvetica Neue"/>
                    <a:ea typeface="Helvetica Neue"/>
                    <a:cs typeface="Helvetica Neue"/>
                    <a:sym typeface="Helvetica Neue"/>
                  </a:rPr>
                  <a:t>∥)</a:t>
                </a:r>
                <a:endParaRPr lang="ar-AE" b="0" dirty="0"/>
              </a:p>
              <a:p>
                <a:r>
                  <a:rPr lang="en-US" dirty="0"/>
                  <a:t>The numerator disappears because we fixed it.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51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39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concepts in 586</a:t>
            </a:r>
          </a:p>
        </p:txBody>
      </p:sp>
    </p:spTree>
    <p:extLst>
      <p:ext uri="{BB962C8B-B14F-4D97-AF65-F5344CB8AC3E}">
        <p14:creationId xmlns:p14="http://schemas.microsoft.com/office/powerpoint/2010/main" val="3158592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Line"/>
          <p:cNvSpPr/>
          <p:nvPr/>
        </p:nvSpPr>
        <p:spPr>
          <a:xfrm>
            <a:off x="92416" y="5839383"/>
            <a:ext cx="12819967" cy="1"/>
          </a:xfrm>
          <a:prstGeom prst="line">
            <a:avLst/>
          </a:prstGeom>
          <a:ln w="3429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" name="Line"/>
          <p:cNvSpPr/>
          <p:nvPr/>
        </p:nvSpPr>
        <p:spPr>
          <a:xfrm>
            <a:off x="92417" y="2011560"/>
            <a:ext cx="12819966" cy="1"/>
          </a:xfrm>
          <a:prstGeom prst="line">
            <a:avLst/>
          </a:prstGeom>
          <a:ln w="635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5" name="01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vocados and limes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b="1" spc="-164">
                <a:latin typeface="+mj-lt"/>
                <a:ea typeface="+mj-ea"/>
                <a:cs typeface="+mj-cs"/>
                <a:sym typeface="Avenir Next Regular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6" name="01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owl with salmon cakes, salad, and hummus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</p:spPr>
        <p:txBody>
          <a:bodyPr numCol="2" spcCol="589358"/>
          <a:lstStyle>
            <a:lvl1pPr>
              <a:buClrTx/>
              <a:buSzPct val="123000"/>
              <a:buChar char="•"/>
            </a:lvl1pPr>
            <a:lvl2pPr marL="762000">
              <a:buClrTx/>
            </a:lvl2pPr>
            <a:lvl3pPr marL="1143000">
              <a:buClrTx/>
              <a:buChar char="•"/>
            </a:lvl3pPr>
            <a:lvl4pPr marL="1524000">
              <a:buClrTx/>
              <a:buChar char="•"/>
            </a:lvl4pPr>
            <a:lvl5pPr marL="1905000">
              <a:buSzPct val="1230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buClrTx/>
              <a:buSzPct val="123000"/>
              <a:buChar char="•"/>
            </a:lvl1pPr>
            <a:lvl2pPr marL="762000">
              <a:buClrTx/>
            </a:lvl2pPr>
            <a:lvl3pPr marL="1143000">
              <a:buClrTx/>
              <a:buChar char="•"/>
            </a:lvl3pPr>
            <a:lvl4pPr marL="1524000">
              <a:buClrTx/>
              <a:buChar char="•"/>
            </a:lvl4pPr>
            <a:lvl5pPr marL="1905000">
              <a:buSzPct val="1230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Line"/>
          <p:cNvSpPr/>
          <p:nvPr/>
        </p:nvSpPr>
        <p:spPr>
          <a:xfrm>
            <a:off x="12578" y="3010194"/>
            <a:ext cx="12979643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3" name="Line"/>
          <p:cNvSpPr/>
          <p:nvPr/>
        </p:nvSpPr>
        <p:spPr>
          <a:xfrm>
            <a:off x="12578" y="6423878"/>
            <a:ext cx="12979644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16579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3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>
              <a:spcBef>
                <a:spcPts val="1300"/>
              </a:spcBef>
              <a:buClrTx/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>
              <a:spcBef>
                <a:spcPts val="1300"/>
              </a:spcBef>
              <a:buSzTx/>
              <a:buNone/>
              <a:defRPr sz="3800" spc="-3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0" name="Line"/>
          <p:cNvSpPr/>
          <p:nvPr/>
        </p:nvSpPr>
        <p:spPr>
          <a:xfrm>
            <a:off x="12578" y="3010194"/>
            <a:ext cx="12979643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1" name="Line"/>
          <p:cNvSpPr/>
          <p:nvPr/>
        </p:nvSpPr>
        <p:spPr>
          <a:xfrm>
            <a:off x="12578" y="6423878"/>
            <a:ext cx="12979644" cy="1"/>
          </a:xfrm>
          <a:prstGeom prst="line">
            <a:avLst/>
          </a:prstGeom>
          <a:ln w="254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0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8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ClrTx/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304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Attribution</a:t>
            </a:r>
          </a:p>
        </p:txBody>
      </p:sp>
      <p:sp>
        <p:nvSpPr>
          <p:cNvPr id="12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wl of pappardelle pasta with parsley butter, roasted hazelnuts, and shaved parmesan cheese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8" name="Bowl of salad with fried rice, boiled eggs, and chopsticks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9" name="Bowl with salmon cakes, salad, and hummus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8" name="01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1924756"/>
            <a:ext cx="11607800" cy="764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2pPr marL="1016000"/>
            <a:lvl3pPr marL="1651000">
              <a:buChar char="‣"/>
            </a:lvl3pPr>
            <a:lvl4pPr marL="2286000">
              <a:buChar char="-"/>
            </a:lvl4pPr>
            <a:lvl5pPr marL="2921000">
              <a:buClrTx/>
              <a:buSzPct val="58999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Line"/>
          <p:cNvSpPr/>
          <p:nvPr/>
        </p:nvSpPr>
        <p:spPr>
          <a:xfrm>
            <a:off x="65804" y="1583266"/>
            <a:ext cx="12873192" cy="1"/>
          </a:xfrm>
          <a:prstGeom prst="line">
            <a:avLst/>
          </a:prstGeom>
          <a:ln w="50800">
            <a:solidFill>
              <a:srgbClr val="FF7E79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" name="01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Avenir Next Demi Bold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78000"/>
        <a:buFontTx/>
        <a:buChar char="❖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8DA0CB"/>
        </a:buClr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venir N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5.t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tif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27.tif"/><Relationship Id="rId4" Type="http://schemas.openxmlformats.org/officeDocument/2006/relationships/image" Target="../media/image26.ti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upport Vector Machines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</p:spPr>
        <p:txBody>
          <a:bodyPr anchor="ctr">
            <a:normAutofit/>
          </a:bodyPr>
          <a:lstStyle/>
          <a:p>
            <a:r>
              <a:rPr lang="en-US" sz="7000"/>
              <a:t>Support Vector Machines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B5218C-B546-9504-79DF-6415BC0A89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7" r="2" b="12271"/>
          <a:stretch>
            <a:fillRect/>
          </a:stretch>
        </p:blipFill>
        <p:spPr>
          <a:xfrm>
            <a:off x="-37593" y="1646767"/>
            <a:ext cx="13127731" cy="7000844"/>
          </a:xfrm>
          <a:prstGeom prst="rect">
            <a:avLst/>
          </a:prstGeom>
          <a:noFill/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he support vector machines (SVM) is an approach developed in the 1990s by computer scientist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The support vector machines (SVM) is an approach developed in the 1990s by computer scientists</a:t>
                </a:r>
              </a:p>
              <a:p>
                <a:pPr lvl="1"/>
                <a:r>
                  <a:t>(No probability estimate)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/>
              </a:p>
              <a:p>
                <a:r>
                  <a:t>Often work well for many problems types of problems</a:t>
                </a:r>
              </a:p>
              <a:p>
                <a:pPr lvl="1"/>
                <a:r>
                  <a:t>probably less used now with advances in ANN</a:t>
                </a:r>
              </a:p>
              <a:p>
                <a:pPr lvl="1"/>
                <a:r>
                  <a:t>but still kind of cool mathematically </a:t>
                </a:r>
              </a:p>
              <a:p>
                <a:r>
                  <a:t>First we need to review the definition of a hyperplane</a:t>
                </a:r>
              </a:p>
            </p:txBody>
          </p:sp>
        </mc:Choice>
        <mc:Fallback xmlns="">
          <p:sp>
            <p:nvSpPr>
              <p:cNvPr id="156" name="The support vector machines (SVM) is an approach developed in the 1990s by computer scientist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Introduction to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Introduction to SVM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A hyperplane is a generalization of a line in   dimension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marL="377190" indent="-377190" defTabSz="1716590">
                  <a:spcBef>
                    <a:spcPts val="3100"/>
                  </a:spcBef>
                  <a:defRPr sz="2970"/>
                </a:pPr>
                <a:r>
                  <a:t>A hyperplane is a generalization of a line in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dimensions</a:t>
                </a:r>
              </a:p>
              <a:p>
                <a:pPr marL="377190" indent="-377190" defTabSz="1716590">
                  <a:spcBef>
                    <a:spcPts val="3100"/>
                  </a:spcBef>
                  <a:defRPr sz="2970"/>
                </a:pPr>
                <a:r>
                  <a:t>Formally, a hyperplane in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t> dimensions is a flat affine subspace of dimension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t> with general form </a:t>
                </a:r>
              </a:p>
              <a:p>
                <a:pPr marL="1005839" lvl="1" indent="-377190" defTabSz="1716590">
                  <a:spcBef>
                    <a:spcPts val="3100"/>
                  </a:spcBef>
                  <a:defRPr sz="2970"/>
                </a:pPr>
                <a:r>
                  <a:t>A hyperplane in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-dimensional space is defined as</a:t>
                </a:r>
                <a:br/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/>
              </a:p>
              <a:p>
                <a:pPr marL="1634489" lvl="2" indent="-377190" defTabSz="1716590">
                  <a:spcBef>
                    <a:spcPts val="3100"/>
                  </a:spcBef>
                  <a:defRPr sz="2970"/>
                </a:pPr>
                <a:r>
                  <a:t>Where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t> is the weight vector (perpendicular to the hyperplane) that determines the orientation</a:t>
                </a:r>
              </a:p>
              <a:p>
                <a:pPr marL="1634489" lvl="2" indent="-377190" defTabSz="1716590">
                  <a:spcBef>
                    <a:spcPts val="3100"/>
                  </a:spcBef>
                  <a:defRPr sz="2970"/>
                </a:pP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t> is the bias term</a:t>
                </a:r>
              </a:p>
              <a:p>
                <a:pPr marL="1634489" lvl="2" indent="-377190" defTabSz="1716590">
                  <a:spcBef>
                    <a:spcPts val="3100"/>
                  </a:spcBef>
                  <a:defRPr sz="2970"/>
                </a:pP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t> is any point in the space</a:t>
                </a:r>
              </a:p>
              <a:p>
                <a:pPr marL="377190" indent="-377190" defTabSz="1716590">
                  <a:spcBef>
                    <a:spcPts val="3100"/>
                  </a:spcBef>
                  <a:defRPr sz="2970"/>
                </a:pPr>
                <a:r>
                  <a:t>When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t> (there are two features) a hyperplane is a line</a:t>
                </a:r>
                <a:endParaRPr sz="3000"/>
              </a:p>
            </p:txBody>
          </p:sp>
        </mc:Choice>
        <mc:Fallback xmlns="">
          <p:sp>
            <p:nvSpPr>
              <p:cNvPr id="159" name="A hyperplane is a generalization of a line in   dimens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117" r="-2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Hyperpla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Hyperplanes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hp_b.png" descr="hp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12063"/>
            <a:ext cx="13004801" cy="3612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hp_w.png" descr="h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5236"/>
            <a:ext cx="13004801" cy="361244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Changing"/>
              <p:cNvSpPr txBox="1"/>
              <p:nvPr/>
            </p:nvSpPr>
            <p:spPr>
              <a:xfrm>
                <a:off x="589639" y="335108"/>
                <a:ext cx="2002440" cy="6327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t>Changing </a:t>
                </a:r>
                <a14:m>
                  <m:oMath xmlns:m="http://schemas.openxmlformats.org/officeDocument/2006/math">
                    <m:r>
                      <a:rPr sz="3050" i="1">
                        <a:solidFill>
                          <a:srgbClr val="5E5E5E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64" name="Changin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39" y="335108"/>
                <a:ext cx="2002440" cy="632746"/>
              </a:xfrm>
              <a:prstGeom prst="rect">
                <a:avLst/>
              </a:prstGeom>
              <a:blipFill>
                <a:blip r:embed="rId4"/>
                <a:stretch>
                  <a:fillRect l="-8232" b="-2019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Changing"/>
              <p:cNvSpPr txBox="1"/>
              <p:nvPr/>
            </p:nvSpPr>
            <p:spPr>
              <a:xfrm>
                <a:off x="589639" y="5041088"/>
                <a:ext cx="2088761" cy="63274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/>
              <a:p>
                <a:r>
                  <a:t>Changing </a:t>
                </a:r>
                <a14:m>
                  <m:oMath xmlns:m="http://schemas.openxmlformats.org/officeDocument/2006/math">
                    <m:r>
                      <a:rPr sz="3050" i="1">
                        <a:solidFill>
                          <a:srgbClr val="5E5E5E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165" name="Changin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39" y="5041088"/>
                <a:ext cx="2088761" cy="632746"/>
              </a:xfrm>
              <a:prstGeom prst="rect">
                <a:avLst/>
              </a:prstGeom>
              <a:blipFill>
                <a:blip r:embed="rId5"/>
                <a:stretch>
                  <a:fillRect l="-7895" b="-2019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High-level view of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High-level view of SVM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he main idea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main idea:</a:t>
            </a:r>
          </a:p>
          <a:p>
            <a:pPr lvl="1"/>
            <a:r>
              <a:t>Find the hyperplane that </a:t>
            </a:r>
            <a:r>
              <a:rPr b="1"/>
              <a:t>completely</a:t>
            </a:r>
            <a:r>
              <a:t> and </a:t>
            </a:r>
            <a:r>
              <a:rPr b="1"/>
              <a:t>optimally</a:t>
            </a:r>
            <a:r>
              <a:t> separates two classes in a feature space</a:t>
            </a:r>
          </a:p>
        </p:txBody>
      </p:sp>
      <p:sp>
        <p:nvSpPr>
          <p:cNvPr id="170" name="Introduction to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Introduction to SVM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onsider two linearly separable groups…"/>
          <p:cNvSpPr txBox="1">
            <a:spLocks noGrp="1"/>
          </p:cNvSpPr>
          <p:nvPr>
            <p:ph type="body" idx="1"/>
          </p:nvPr>
        </p:nvSpPr>
        <p:spPr>
          <a:xfrm>
            <a:off x="698500" y="1937620"/>
            <a:ext cx="11607800" cy="7640537"/>
          </a:xfrm>
          <a:prstGeom prst="rect">
            <a:avLst/>
          </a:prstGeom>
        </p:spPr>
        <p:txBody>
          <a:bodyPr/>
          <a:lstStyle/>
          <a:p>
            <a:r>
              <a:t>Consider two linearly separable groups </a:t>
            </a:r>
          </a:p>
          <a:p>
            <a:pPr lvl="1"/>
            <a:r>
              <a:t>groups can be separated with a </a:t>
            </a:r>
            <a:r>
              <a:rPr>
                <a:solidFill>
                  <a:srgbClr val="FF7E79"/>
                </a:solidFill>
              </a:rPr>
              <a:t>hyperplane</a:t>
            </a:r>
          </a:p>
          <a:p>
            <a:r>
              <a:t>Which line (hyperplane) is the “best” separator? </a:t>
            </a:r>
          </a:p>
        </p:txBody>
      </p:sp>
      <p:sp>
        <p:nvSpPr>
          <p:cNvPr id="173" name="Separate the gro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Separate the group</a:t>
            </a:r>
          </a:p>
        </p:txBody>
      </p:sp>
      <p:pic>
        <p:nvPicPr>
          <p:cNvPr id="174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5104841"/>
            <a:ext cx="12446000" cy="4457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he main idea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main idea:</a:t>
            </a:r>
          </a:p>
          <a:p>
            <a:pPr lvl="1"/>
            <a:r>
              <a:t>Find the hyperplane that </a:t>
            </a:r>
            <a:r>
              <a:rPr b="1"/>
              <a:t>completely</a:t>
            </a:r>
            <a:r>
              <a:t> and </a:t>
            </a:r>
            <a:r>
              <a:rPr b="1"/>
              <a:t>optimally</a:t>
            </a:r>
            <a:r>
              <a:t> separates two classes in a feature space</a:t>
            </a:r>
          </a:p>
        </p:txBody>
      </p:sp>
      <p:sp>
        <p:nvSpPr>
          <p:cNvPr id="177" name="Introduction to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Introduction to SVM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he main idea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main idea:</a:t>
            </a:r>
          </a:p>
          <a:p>
            <a:pPr lvl="1">
              <a:defRPr>
                <a:solidFill>
                  <a:srgbClr val="A9A9A9"/>
                </a:solidFill>
              </a:defRPr>
            </a:pPr>
            <a:r>
              <a:rPr dirty="0"/>
              <a:t>Find the hyperplane that completely and optimally separates two classes in a feature space</a:t>
            </a:r>
          </a:p>
          <a:p>
            <a:pPr lvl="1"/>
            <a:r>
              <a:rPr dirty="0"/>
              <a:t>If there is</a:t>
            </a:r>
            <a:r>
              <a:rPr b="1" dirty="0"/>
              <a:t> no such hyperplane</a:t>
            </a:r>
            <a:r>
              <a:rPr dirty="0"/>
              <a:t> (because classes aren’t linearly separably)  </a:t>
            </a:r>
          </a:p>
          <a:p>
            <a:pPr marL="1600200" lvl="2" indent="-533400">
              <a:buClrTx/>
              <a:buSzPct val="100000"/>
              <a:buAutoNum type="arabicPeriod"/>
            </a:pPr>
            <a:r>
              <a:rPr dirty="0"/>
              <a:t>Soften the definition of “completely separates” </a:t>
            </a:r>
          </a:p>
          <a:p>
            <a:pPr marL="1600200" lvl="2" indent="-533400">
              <a:buClrTx/>
              <a:buSzPct val="100000"/>
              <a:buAutoNum type="arabicPeriod"/>
            </a:pPr>
            <a:r>
              <a:rPr dirty="0"/>
              <a:t>Expand the feature space so that separation is possible </a:t>
            </a:r>
          </a:p>
        </p:txBody>
      </p:sp>
      <p:sp>
        <p:nvSpPr>
          <p:cNvPr id="180" name="Introduction to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Introduction to SVM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Maximal margin (or hard margin)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Maximal margin (or hard margin) classifier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Maximal Margin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Maximal Margin Classifier </a:t>
            </a:r>
          </a:p>
        </p:txBody>
      </p:sp>
      <p:pic>
        <p:nvPicPr>
          <p:cNvPr id="185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96" y="4307357"/>
            <a:ext cx="6818208" cy="5157363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Decision boundary is the hyperplane that is farthest from the training observations…"/>
          <p:cNvSpPr txBox="1">
            <a:spLocks noGrp="1"/>
          </p:cNvSpPr>
          <p:nvPr>
            <p:ph type="body" sz="quarter" idx="1"/>
          </p:nvPr>
        </p:nvSpPr>
        <p:spPr>
          <a:xfrm>
            <a:off x="698500" y="1937620"/>
            <a:ext cx="11607800" cy="1888384"/>
          </a:xfrm>
          <a:prstGeom prst="rect">
            <a:avLst/>
          </a:prstGeom>
        </p:spPr>
        <p:txBody>
          <a:bodyPr/>
          <a:lstStyle/>
          <a:p>
            <a:pPr marL="361950" indent="-361950" defTabSz="1647233">
              <a:spcBef>
                <a:spcPts val="3000"/>
              </a:spcBef>
              <a:defRPr sz="2850"/>
            </a:pPr>
            <a:r>
              <a:rPr dirty="0"/>
              <a:t>Decision boundary is the hyperplane that is farthest from the training observations</a:t>
            </a:r>
          </a:p>
          <a:p>
            <a:pPr marL="361950" indent="-361950" defTabSz="1647233">
              <a:spcBef>
                <a:spcPts val="3000"/>
              </a:spcBef>
              <a:defRPr sz="2850"/>
            </a:pPr>
            <a:r>
              <a:rPr dirty="0"/>
              <a:t>Fits the “widest possible street”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Maximal Margin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Maximal Margin Classifier </a:t>
            </a:r>
          </a:p>
        </p:txBody>
      </p:sp>
      <p:sp>
        <p:nvSpPr>
          <p:cNvPr id="189" name="Notice that only the points on the edge of the street matter…"/>
          <p:cNvSpPr txBox="1">
            <a:spLocks noGrp="1"/>
          </p:cNvSpPr>
          <p:nvPr>
            <p:ph type="body" sz="quarter" idx="1"/>
          </p:nvPr>
        </p:nvSpPr>
        <p:spPr>
          <a:xfrm>
            <a:off x="698500" y="1937620"/>
            <a:ext cx="11607800" cy="1888384"/>
          </a:xfrm>
          <a:prstGeom prst="rect">
            <a:avLst/>
          </a:prstGeom>
        </p:spPr>
        <p:txBody>
          <a:bodyPr/>
          <a:lstStyle/>
          <a:p>
            <a:pPr marL="361950" indent="-361950" defTabSz="1647233">
              <a:spcBef>
                <a:spcPts val="3000"/>
              </a:spcBef>
              <a:defRPr sz="2850"/>
            </a:pPr>
            <a:r>
              <a:rPr dirty="0"/>
              <a:t>Notice that only the points on the edge of the street matter</a:t>
            </a:r>
          </a:p>
          <a:p>
            <a:pPr marL="361950" indent="-361950" defTabSz="1647233">
              <a:spcBef>
                <a:spcPts val="3000"/>
              </a:spcBef>
              <a:defRPr sz="2850"/>
            </a:pPr>
            <a:r>
              <a:rPr dirty="0"/>
              <a:t>These are called support vectors (decision boundary is supported by these instances)</a:t>
            </a:r>
          </a:p>
        </p:txBody>
      </p:sp>
      <p:pic>
        <p:nvPicPr>
          <p:cNvPr id="190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4307357"/>
            <a:ext cx="6886151" cy="5208756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he support vectors are just points in this two dimensional feature space, but in higher dimensions, they will be actual vectors."/>
          <p:cNvSpPr txBox="1"/>
          <p:nvPr/>
        </p:nvSpPr>
        <p:spPr>
          <a:xfrm>
            <a:off x="290843" y="5317735"/>
            <a:ext cx="2628148" cy="26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100"/>
            </a:pPr>
            <a:r>
              <a:t>The support </a:t>
            </a:r>
            <a:r>
              <a:rPr>
                <a:solidFill>
                  <a:srgbClr val="FF7E79"/>
                </a:solidFill>
              </a:rPr>
              <a:t>vectors</a:t>
            </a:r>
            <a:r>
              <a:t> are just points in this two dimensional feature space, but in higher dimensions, they will be actual vectors.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he decision boundary margin is the distance between the hyperplane and the nearest data point(s) from either clas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The decision boundary margin is the distance between the hyperplane and the nearest data point(s) from either class</a:t>
                </a:r>
              </a:p>
              <a:p>
                <a:r>
                  <a:rPr lang="en-US" dirty="0"/>
                  <a:t>For a given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(+1 </a:t>
                </a:r>
                <a:r>
                  <a:rPr lang="en-US" dirty="0"/>
                  <a:t>or -1) the distance to the margin can be computed by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  <m:r>
                          <a:rPr lang="ar-A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</m:oMath>
                </a14:m>
                <a:br>
                  <a:rPr lang="ar-AE" dirty="0"/>
                </a:br>
                <a:endParaRPr lang="ar-AE" dirty="0"/>
              </a:p>
              <a:p>
                <a:r>
                  <a:rPr lang="en-US" dirty="0"/>
                  <a:t>Notice: for 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𝛼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</m:ctrlPr>
                      </m:dPr>
                      <m:e>
                        <m:r>
                          <a:rPr lang="ar-AE" b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𝐰</m:t>
                        </m:r>
                        <m:r>
                          <a:rPr lang="ar-AE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⋅</m:t>
                        </m:r>
                        <m:r>
                          <a:rPr lang="ar-AE" b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𝐱</m:t>
                        </m:r>
                        <m:r>
                          <a:rPr lang="ar-AE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  <a:ea typeface="Helvetica Neue"/>
                            <a:cs typeface="Helvetica Neue"/>
                            <a:sym typeface="Helvetica Neue"/>
                          </a:rPr>
                          <m:t>𝑏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  <a:ea typeface="Helvetica Neue"/>
                        <a:cs typeface="Helvetica Neue"/>
                        <a:sym typeface="Helvetica Neue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we want to find the largest margin by maximizing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en-US" dirty="0"/>
                  <a:t>which is equivalent to minimizing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 or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or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ar-AE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93" name="The decision boundary margin is the distance between the hyperplane and the nearest data point(s) from either clas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313" t="-1516" r="-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Margi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Margins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0FEF70-8FE1-5F3E-A12D-D284D072B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42DEB-362B-C228-A503-BF6E2AB2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Optimization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07BCA-6B92-9323-1AA4-C7E34B6B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79" y="2775146"/>
            <a:ext cx="11373021" cy="296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3506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Sometimes you’ll see the term “hinge loss” in connection with SVM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Sometimes you’ll see the term “hinge loss” in connection with SVM</a:t>
                </a:r>
              </a:p>
              <a:p>
                <a:r>
                  <a:rPr dirty="0"/>
                  <a:t>For and individual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with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the hinge loss is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loss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𝑚𝑎𝑥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dirty="0"/>
              </a:p>
              <a:p>
                <a:r>
                  <a:rPr dirty="0"/>
                  <a:t>When summed across all data points we get the hard margin cost function</a:t>
                </a:r>
              </a:p>
            </p:txBody>
          </p:sp>
        </mc:Choice>
        <mc:Fallback xmlns="">
          <p:sp>
            <p:nvSpPr>
              <p:cNvPr id="202" name="Sometimes you’ll see the term “hinge loss” in connection with SVM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Hinge Lo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Hinge Loss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46C73F-195E-1E46-A718-E8B96AD8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47799"/>
            <a:ext cx="12192000" cy="706918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65AA5A-03A9-3335-DC64-662DB2C72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0DA915-3410-2764-EBD6-B7BEEBCA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Hinge Loss</a:t>
            </a:r>
          </a:p>
        </p:txBody>
      </p:sp>
    </p:spTree>
    <p:extLst>
      <p:ext uri="{BB962C8B-B14F-4D97-AF65-F5344CB8AC3E}">
        <p14:creationId xmlns:p14="http://schemas.microsoft.com/office/powerpoint/2010/main" val="38829463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tential problems">
            <a:extLst>
              <a:ext uri="{FF2B5EF4-FFF2-40B4-BE49-F238E27FC236}">
                <a16:creationId xmlns:a16="http://schemas.microsoft.com/office/drawing/2014/main" id="{8696AC20-D196-A9EC-DF27-303564D25498}"/>
              </a:ext>
            </a:extLst>
          </p:cNvPr>
          <p:cNvSpPr txBox="1">
            <a:spLocks/>
          </p:cNvSpPr>
          <p:nvPr/>
        </p:nvSpPr>
        <p:spPr>
          <a:xfrm>
            <a:off x="698500" y="698500"/>
            <a:ext cx="11607800" cy="1016001"/>
          </a:xfrm>
          <a:prstGeom prst="rect">
            <a:avLst/>
          </a:prstGeom>
        </p:spPr>
        <p:txBody>
          <a:bodyPr/>
          <a:lstStyle>
            <a:lvl1pPr marL="0" marR="0" indent="0" algn="l" defTabSz="152585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80" b="0" i="0" u="none" strike="noStrike" cap="none" spc="-105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1pPr>
            <a:lvl2pPr marL="0" marR="0" indent="4572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2pPr>
            <a:lvl3pPr marL="0" marR="0" indent="9144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3pPr>
            <a:lvl4pPr marL="0" marR="0" indent="13716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4pPr>
            <a:lvl5pPr marL="0" marR="0" indent="18288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5pPr>
            <a:lvl6pPr marL="0" marR="0" indent="22860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6pPr>
            <a:lvl7pPr marL="0" marR="0" indent="27432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7pPr>
            <a:lvl8pPr marL="0" marR="0" indent="32004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8pPr>
            <a:lvl9pPr marL="0" marR="0" indent="3657600" algn="l" defTabSz="173393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-119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venir Next Demi Bold"/>
              </a:defRPr>
            </a:lvl9pPr>
          </a:lstStyle>
          <a:p>
            <a:pPr hangingPunct="1"/>
            <a:r>
              <a:rPr lang="en-US" dirty="0"/>
              <a:t>SVM Decision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BDC3182-1715-B400-B5B5-B524E21C631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698500" y="1884300"/>
                <a:ext cx="10014993" cy="7017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After training</a:t>
                </a: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, we obtain: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Weight vector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w</a:t>
                </a: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Intercept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b</a:t>
                </a: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For a new data point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x</a:t>
                </a: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, compute the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decision score</a:t>
                </a: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25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0" lang="en-US" altLang="en-US" sz="25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en-US" sz="25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0" lang="en-US" altLang="en-US" sz="25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25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0" lang="en-US" altLang="en-US" sz="25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kumimoji="0" lang="en-US" altLang="en-US" sz="25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en-US" sz="25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en-US" sz="25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0" lang="en-US" altLang="en-US" sz="2500" b="0" i="1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500" b="0" i="1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The prediction is based on the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sign</a:t>
                </a: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0" lang="en-US" altLang="en-US" sz="2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2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&gt;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 → predict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+1</a:t>
                </a: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0" lang="en-US" altLang="en-US" sz="2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2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 → predict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−1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Geometric interpretation: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The hyperplane </a:t>
                </a:r>
                <a14:m>
                  <m:oMath xmlns:m="http://schemas.openxmlformats.org/officeDocument/2006/math"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 is the decision boundary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The sign tells which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side of the boundary</a:t>
                </a: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 the point lies on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r>
                      <a:rPr lang="en-US" altLang="en-US" sz="25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0" lang="en-US" altLang="en-US" sz="25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 is proportional to the </a:t>
                </a:r>
                <a:r>
                  <a:rPr kumimoji="0" lang="en-US" altLang="en-US" sz="2500" b="1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distance from the boundary</a:t>
                </a: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  <a:latin typeface="Avenir Next Regular (Headings)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500" b="0" i="0" u="none" strike="noStrike" cap="none" normalizeH="0" baseline="0" dirty="0">
                    <a:ln>
                      <a:noFill/>
                    </a:ln>
                    <a:solidFill>
                      <a:schemeClr val="tx1">
                        <a:lumMod val="50000"/>
                      </a:schemeClr>
                    </a:solidFill>
                    <a:effectLst/>
                    <a:latin typeface="Avenir Next Regular (Headings)"/>
                  </a:rPr>
                  <a:t>Larger magnitude → more confident prediction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1BDC3182-1715-B400-B5B5-B524E21C6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698500" y="1884300"/>
                <a:ext cx="10014993" cy="7017306"/>
              </a:xfrm>
              <a:prstGeom prst="rect">
                <a:avLst/>
              </a:prstGeom>
              <a:blipFill>
                <a:blip r:embed="rId2"/>
                <a:stretch>
                  <a:fillRect l="-1096" t="-348" b="-17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85665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What if a separating hyperplane does not exist?…"/>
          <p:cNvSpPr txBox="1">
            <a:spLocks noGrp="1"/>
          </p:cNvSpPr>
          <p:nvPr>
            <p:ph type="body" sz="quarter" idx="1"/>
          </p:nvPr>
        </p:nvSpPr>
        <p:spPr>
          <a:xfrm>
            <a:off x="698500" y="1924756"/>
            <a:ext cx="11607800" cy="2150117"/>
          </a:xfrm>
          <a:prstGeom prst="rect">
            <a:avLst/>
          </a:prstGeom>
        </p:spPr>
        <p:txBody>
          <a:bodyPr/>
          <a:lstStyle/>
          <a:p>
            <a:r>
              <a:t>What if a separating hyperplane does not exist?</a:t>
            </a:r>
          </a:p>
          <a:p>
            <a:r>
              <a:t>Then there is no maximum marginal classifier </a:t>
            </a:r>
          </a:p>
        </p:txBody>
      </p:sp>
      <p:sp>
        <p:nvSpPr>
          <p:cNvPr id="206" name="Potential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Potential problems </a:t>
            </a:r>
          </a:p>
        </p:txBody>
      </p:sp>
      <p:pic>
        <p:nvPicPr>
          <p:cNvPr id="20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0" y="4308295"/>
            <a:ext cx="6934200" cy="5245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oft Margin SV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Soft Margin SVM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In this case, a natural generalization would be to allow some points to spill into the “street” or margin"/>
          <p:cNvSpPr txBox="1">
            <a:spLocks noGrp="1"/>
          </p:cNvSpPr>
          <p:nvPr>
            <p:ph type="body" sz="half" idx="1"/>
          </p:nvPr>
        </p:nvSpPr>
        <p:spPr>
          <a:xfrm>
            <a:off x="698500" y="1924756"/>
            <a:ext cx="11607800" cy="2405122"/>
          </a:xfrm>
          <a:prstGeom prst="rect">
            <a:avLst/>
          </a:prstGeom>
        </p:spPr>
        <p:txBody>
          <a:bodyPr/>
          <a:lstStyle/>
          <a:p>
            <a:r>
              <a:t>In this case, a natural generalization would be to allow some points to spill into the “street” or margin</a:t>
            </a:r>
          </a:p>
        </p:txBody>
      </p:sp>
      <p:sp>
        <p:nvSpPr>
          <p:cNvPr id="212" name="Potential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Potential problems </a:t>
            </a:r>
          </a:p>
        </p:txBody>
      </p:sp>
      <p:pic>
        <p:nvPicPr>
          <p:cNvPr id="213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00" y="4306173"/>
            <a:ext cx="6934200" cy="5245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Hyper-parameter C controls the width of the road and the amount of over-spill that is allowed…"/>
          <p:cNvSpPr txBox="1">
            <a:spLocks noGrp="1"/>
          </p:cNvSpPr>
          <p:nvPr>
            <p:ph type="body" sz="half" idx="1"/>
          </p:nvPr>
        </p:nvSpPr>
        <p:spPr>
          <a:xfrm>
            <a:off x="698500" y="1924756"/>
            <a:ext cx="11607800" cy="3823800"/>
          </a:xfrm>
          <a:prstGeom prst="rect">
            <a:avLst/>
          </a:prstGeom>
        </p:spPr>
        <p:txBody>
          <a:bodyPr/>
          <a:lstStyle/>
          <a:p>
            <a:r>
              <a:t>Hyper-parameter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t> controls the width of the road and the amount of over-spill that is allowed</a:t>
            </a:r>
          </a:p>
          <a:p>
            <a:r>
              <a:t>When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t> is small, the margin is wider and more points are involved in determining the direction of the boundary </a:t>
            </a:r>
          </a:p>
        </p:txBody>
      </p:sp>
      <p:sp>
        <p:nvSpPr>
          <p:cNvPr id="216" name="Support Vector Classifier  (Soft margin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Support Vector Classifier  (Soft margin) </a:t>
            </a:r>
          </a:p>
        </p:txBody>
      </p:sp>
      <p:pic>
        <p:nvPicPr>
          <p:cNvPr id="21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87" y="6217045"/>
            <a:ext cx="4483057" cy="33910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655" y="6217045"/>
            <a:ext cx="4483057" cy="339103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C=1"/>
          <p:cNvSpPr txBox="1"/>
          <p:nvPr/>
        </p:nvSpPr>
        <p:spPr>
          <a:xfrm>
            <a:off x="6232037" y="5634482"/>
            <a:ext cx="685894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C=1</a:t>
            </a:r>
          </a:p>
        </p:txBody>
      </p:sp>
      <p:sp>
        <p:nvSpPr>
          <p:cNvPr id="220" name="C=10"/>
          <p:cNvSpPr txBox="1"/>
          <p:nvPr/>
        </p:nvSpPr>
        <p:spPr>
          <a:xfrm>
            <a:off x="10320903" y="5634482"/>
            <a:ext cx="87642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C=10</a:t>
            </a:r>
          </a:p>
        </p:txBody>
      </p:sp>
      <p:pic>
        <p:nvPicPr>
          <p:cNvPr id="221" name="pasted-image.tiff" descr="pasted-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" y="6217045"/>
            <a:ext cx="4483057" cy="339103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C=0.1"/>
          <p:cNvSpPr txBox="1"/>
          <p:nvPr/>
        </p:nvSpPr>
        <p:spPr>
          <a:xfrm>
            <a:off x="1902738" y="5634482"/>
            <a:ext cx="106695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C=0.1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D5A62B-6880-8289-9C7A-888AE45923C2}"/>
                  </a:ext>
                </a:extLst>
              </p14:cNvPr>
              <p14:cNvContentPartPr/>
              <p14:nvPr/>
            </p14:nvContentPartPr>
            <p14:xfrm>
              <a:off x="7066800" y="70264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D5A62B-6880-8289-9C7A-888AE45923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57440" y="7017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In soft margin SVM, we introduce slack variables,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42791" y="1924756"/>
                <a:ext cx="11763509" cy="7640537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In soft margin SVM, we introduce slack variables,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measures the degree to which a particular data point violates the margin constraint</a:t>
                </a:r>
              </a:p>
              <a:p>
                <a:r>
                  <a:rPr dirty="0"/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correctly classified and outside the margin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lies inside the margin but is correctly classified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misclassified</a:t>
                </a:r>
              </a:p>
            </p:txBody>
          </p:sp>
        </mc:Choice>
        <mc:Fallback xmlns="">
          <p:sp>
            <p:nvSpPr>
              <p:cNvPr id="224" name="In soft margin SVM, we introduce slack variables,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2791" y="1924756"/>
                <a:ext cx="11763509" cy="7640537"/>
              </a:xfrm>
              <a:prstGeom prst="rect">
                <a:avLst/>
              </a:prstGeom>
              <a:blipFill>
                <a:blip r:embed="rId2"/>
                <a:stretch>
                  <a:fillRect l="-1295" t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Slack 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Slack Variables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E8889A-76DD-4E90-8918-2542A2FD8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6DD1C5-1827-E971-D503-4F5C0C4C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w/ Slack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FE20-8934-DB36-7F1F-7B57C7E0F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24" y="2985823"/>
            <a:ext cx="10764752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9794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he points inside the margin (or points wrongly misclassified, if any) are the support vectors…"/>
          <p:cNvSpPr txBox="1">
            <a:spLocks noGrp="1"/>
          </p:cNvSpPr>
          <p:nvPr>
            <p:ph type="body" idx="1"/>
          </p:nvPr>
        </p:nvSpPr>
        <p:spPr>
          <a:xfrm>
            <a:off x="698500" y="1924756"/>
            <a:ext cx="11607800" cy="7309643"/>
          </a:xfrm>
          <a:prstGeom prst="rect">
            <a:avLst/>
          </a:prstGeom>
        </p:spPr>
        <p:txBody>
          <a:bodyPr/>
          <a:lstStyle/>
          <a:p>
            <a:pPr marL="373380" indent="-373380" defTabSz="1699251">
              <a:spcBef>
                <a:spcPts val="3100"/>
              </a:spcBef>
              <a:defRPr sz="2940"/>
            </a:pPr>
            <a:r>
              <a:rPr dirty="0"/>
              <a:t>The points inside the margin (or points wrongly misclassified, if any) are the support vectors</a:t>
            </a:r>
          </a:p>
          <a:p>
            <a:pPr marL="995680" lvl="1" indent="-373380" defTabSz="1699251">
              <a:spcBef>
                <a:spcPts val="3100"/>
              </a:spcBef>
              <a:defRPr sz="2940" b="1"/>
            </a:pPr>
            <a:r>
              <a:rPr dirty="0"/>
              <a:t>Only these points effect the decision boundary</a:t>
            </a:r>
            <a:br>
              <a:rPr dirty="0"/>
            </a:br>
            <a:r>
              <a:rPr dirty="0"/>
              <a:t>(the support vectors influence the position and orientation of the hyperplane)  </a:t>
            </a:r>
          </a:p>
          <a:p>
            <a:pPr marL="995680" lvl="1" indent="-373380" defTabSz="1699251">
              <a:spcBef>
                <a:spcPts val="3100"/>
              </a:spcBef>
              <a:defRPr sz="2940"/>
            </a:pPr>
            <a:r>
              <a:rPr dirty="0"/>
              <a:t>When C is small, the street is wider so more points are involved in making the decision boundary </a:t>
            </a:r>
          </a:p>
          <a:p>
            <a:pPr marL="1617980" lvl="2" indent="-373380" defTabSz="1699251">
              <a:spcBef>
                <a:spcPts val="3100"/>
              </a:spcBef>
              <a:defRPr sz="2940"/>
            </a:pPr>
            <a:r>
              <a:rPr dirty="0"/>
              <a:t>Can lead to underfitting</a:t>
            </a:r>
          </a:p>
          <a:p>
            <a:pPr marL="995680" lvl="1" indent="-373380" defTabSz="1699251">
              <a:spcBef>
                <a:spcPts val="3100"/>
              </a:spcBef>
              <a:defRPr sz="2940"/>
            </a:pPr>
            <a:r>
              <a:rPr dirty="0"/>
              <a:t>When C is large, the street more narrow so fewer points are involved in making the decision boundary </a:t>
            </a:r>
          </a:p>
          <a:p>
            <a:pPr marL="1617980" lvl="2" indent="-373380" defTabSz="1699251">
              <a:spcBef>
                <a:spcPts val="3100"/>
              </a:spcBef>
              <a:defRPr sz="2940"/>
            </a:pPr>
            <a:r>
              <a:rPr dirty="0"/>
              <a:t>Can lead to overfitting</a:t>
            </a:r>
          </a:p>
        </p:txBody>
      </p:sp>
      <p:sp>
        <p:nvSpPr>
          <p:cNvPr id="231" name="Support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Support Vectors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Non-linearly separable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Non-linearly separable data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Non-linearly Separa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Non-linearly Separable </a:t>
            </a:r>
          </a:p>
        </p:txBody>
      </p:sp>
      <p:sp>
        <p:nvSpPr>
          <p:cNvPr id="236" name="Now what happens if the classes aren’t linearly separable"/>
          <p:cNvSpPr txBox="1">
            <a:spLocks noGrp="1"/>
          </p:cNvSpPr>
          <p:nvPr>
            <p:ph type="body" sz="half" idx="4294967295"/>
          </p:nvPr>
        </p:nvSpPr>
        <p:spPr>
          <a:xfrm>
            <a:off x="698500" y="1924756"/>
            <a:ext cx="11607800" cy="3076175"/>
          </a:xfrm>
          <a:prstGeom prst="rect">
            <a:avLst/>
          </a:prstGeom>
        </p:spPr>
        <p:txBody>
          <a:bodyPr/>
          <a:lstStyle/>
          <a:p>
            <a:r>
              <a:t>Now what happens if the classes aren’t linearly separable</a:t>
            </a:r>
          </a:p>
        </p:txBody>
      </p:sp>
      <p:pic>
        <p:nvPicPr>
          <p:cNvPr id="237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90" y="3973992"/>
            <a:ext cx="7496620" cy="5450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Non-linearly Separa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Non-linearly Separable </a:t>
            </a:r>
          </a:p>
        </p:txBody>
      </p:sp>
      <p:sp>
        <p:nvSpPr>
          <p:cNvPr id="240" name="One possibility is to add polynomials terms to a linear model (e.g. logistic regression)"/>
          <p:cNvSpPr txBox="1">
            <a:spLocks noGrp="1"/>
          </p:cNvSpPr>
          <p:nvPr>
            <p:ph type="body" sz="half" idx="4294967295"/>
          </p:nvPr>
        </p:nvSpPr>
        <p:spPr>
          <a:xfrm>
            <a:off x="698500" y="1924756"/>
            <a:ext cx="11607800" cy="3076175"/>
          </a:xfrm>
          <a:prstGeom prst="rect">
            <a:avLst/>
          </a:prstGeom>
        </p:spPr>
        <p:txBody>
          <a:bodyPr/>
          <a:lstStyle/>
          <a:p>
            <a:r>
              <a:t>One possibility is to add polynomials terms to a linear model (e.g. logistic regression)</a:t>
            </a:r>
          </a:p>
        </p:txBody>
      </p:sp>
      <p:pic>
        <p:nvPicPr>
          <p:cNvPr id="241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90" y="3973992"/>
            <a:ext cx="7496620" cy="5450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Non-linearly Separab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Non-linearly Separable </a:t>
            </a:r>
          </a:p>
        </p:txBody>
      </p:sp>
      <p:sp>
        <p:nvSpPr>
          <p:cNvPr id="244" name="This is the decision boundary of a logistic regression model after adding 4th order polynomials to the feature matrix"/>
          <p:cNvSpPr txBox="1">
            <a:spLocks noGrp="1"/>
          </p:cNvSpPr>
          <p:nvPr>
            <p:ph type="body" sz="quarter" idx="4294967295"/>
          </p:nvPr>
        </p:nvSpPr>
        <p:spPr>
          <a:xfrm>
            <a:off x="698500" y="1924756"/>
            <a:ext cx="11607800" cy="1927859"/>
          </a:xfrm>
          <a:prstGeom prst="rect">
            <a:avLst/>
          </a:prstGeom>
        </p:spPr>
        <p:txBody>
          <a:bodyPr/>
          <a:lstStyle/>
          <a:p>
            <a:r>
              <a:rPr dirty="0"/>
              <a:t>This is the decision boundary of a logistic regression model after adding 4th order polynomials to the feature matrix</a:t>
            </a:r>
          </a:p>
        </p:txBody>
      </p:sp>
      <p:pic>
        <p:nvPicPr>
          <p:cNvPr id="245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51" y="3761941"/>
            <a:ext cx="7496498" cy="58067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Here we can visualize how adding higher dimensions can create linear separability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98500" y="1710266"/>
                <a:ext cx="11607800" cy="7640537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Here we can visualize how adding higher dimensions can create linear separability </a:t>
                </a:r>
              </a:p>
              <a:p>
                <a:pPr lvl="1"/>
                <a:r>
                  <a:t>In 1-dimension the data is not linearly separable </a:t>
                </a:r>
              </a:p>
              <a:p>
                <a:pPr lvl="1"/>
                <a:r>
                  <a:t>After applying the transformation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 we have linear separation</a:t>
                </a:r>
              </a:p>
            </p:txBody>
          </p:sp>
        </mc:Choice>
        <mc:Fallback xmlns="">
          <p:sp>
            <p:nvSpPr>
              <p:cNvPr id="247" name="Here we can visualize how adding higher dimensions can create linear separability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8500" y="1710266"/>
                <a:ext cx="11607800" cy="7640537"/>
              </a:xfrm>
              <a:prstGeom prst="rect">
                <a:avLst/>
              </a:prstGeom>
              <a:blipFill>
                <a:blip r:embed="rId2"/>
                <a:stretch>
                  <a:fillRect l="-1313" t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Examples</a:t>
            </a:r>
          </a:p>
        </p:txBody>
      </p:sp>
      <p:pic>
        <p:nvPicPr>
          <p:cNvPr id="249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6149806"/>
            <a:ext cx="10083800" cy="3479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Another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Another Example</a:t>
            </a:r>
          </a:p>
        </p:txBody>
      </p:sp>
      <p:pic>
        <p:nvPicPr>
          <p:cNvPr id="252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58" y="3074684"/>
            <a:ext cx="12432084" cy="5868563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Another Example"/>
          <p:cNvSpPr txBox="1"/>
          <p:nvPr/>
        </p:nvSpPr>
        <p:spPr>
          <a:xfrm>
            <a:off x="349756" y="2258638"/>
            <a:ext cx="29327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Another Example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While mapping to higher-dimensional space can create linearly separable data…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While mapping to higher-dimensional space can create linearly separable data…</a:t>
            </a:r>
          </a:p>
          <a:p>
            <a:r>
              <a:t>…It can be computationally expensive to directly compute the transformation</a:t>
            </a:r>
          </a:p>
          <a:p>
            <a:pPr lvl="1"/>
            <a:r>
              <a:t>E.g., polynomial space gets really big really fast, especially with lots of features</a:t>
            </a:r>
          </a:p>
          <a:p>
            <a:r>
              <a:t>…It is also hard to determine how many higher-dimensions to include</a:t>
            </a:r>
          </a:p>
          <a:p>
            <a:r>
              <a:t>This is where SVMs and the </a:t>
            </a:r>
            <a:r>
              <a:rPr b="1">
                <a:solidFill>
                  <a:srgbClr val="941751"/>
                </a:solidFill>
              </a:rPr>
              <a:t>Kernel Trick</a:t>
            </a:r>
            <a:r>
              <a:t> come to the rescue</a:t>
            </a:r>
          </a:p>
        </p:txBody>
      </p:sp>
      <p:sp>
        <p:nvSpPr>
          <p:cNvPr id="256" name="A solution and a probl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 solution and a problem 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upport Vector Machi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Support Vector Machines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he main idea behind SVMachines is t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main idea behind SV</a:t>
            </a:r>
            <a:r>
              <a:rPr i="1"/>
              <a:t>Machines </a:t>
            </a:r>
            <a:r>
              <a:t>is to </a:t>
            </a:r>
          </a:p>
          <a:p>
            <a:pPr lvl="1"/>
            <a:r>
              <a:t>create linear separation by expanding the feature space</a:t>
            </a:r>
          </a:p>
          <a:p>
            <a:pPr lvl="1"/>
            <a:r>
              <a:t>but in a specific way using </a:t>
            </a:r>
            <a:r>
              <a:rPr b="1">
                <a:solidFill>
                  <a:srgbClr val="941751"/>
                </a:solidFill>
              </a:rPr>
              <a:t>kernels</a:t>
            </a:r>
            <a:r>
              <a:t> </a:t>
            </a:r>
            <a:r>
              <a:rPr sz="2800" i="1">
                <a:solidFill>
                  <a:srgbClr val="941751"/>
                </a:solidFill>
              </a:rPr>
              <a:t> </a:t>
            </a:r>
            <a:br>
              <a:rPr sz="2800" i="1">
                <a:solidFill>
                  <a:srgbClr val="941751"/>
                </a:solidFill>
              </a:rPr>
            </a:br>
            <a:r>
              <a:rPr sz="2800" i="1">
                <a:solidFill>
                  <a:srgbClr val="941751"/>
                </a:solidFill>
              </a:rPr>
              <a:t>- a computationally efficient trick for expanding the feature space</a:t>
            </a:r>
          </a:p>
          <a:p>
            <a:pPr marL="990600" lvl="1" indent="-355600"/>
            <a:r>
              <a:rPr sz="2800"/>
              <a:t>this is called the </a:t>
            </a:r>
            <a:r>
              <a:rPr sz="2800" b="1"/>
              <a:t>kernel trick</a:t>
            </a:r>
            <a:r>
              <a:rPr sz="2800"/>
              <a:t> </a:t>
            </a:r>
          </a:p>
        </p:txBody>
      </p:sp>
      <p:sp>
        <p:nvSpPr>
          <p:cNvPr id="261" name="Support Vector Machi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Support Vector Machines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Given two vectors in n-dimensional space:    an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Given two vectors in n-dimensional space: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The dot product between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dirty="0"/>
                  <a:t> is 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⟩=</m:t>
                    </m:r>
                    <m:limUpp>
                      <m:limUp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sz="32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263" name="Given two vectors in n-dimensional space:    an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Dot Produ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Dot Products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he dot product of the transformed vectors is equal square of the dot product of the original vector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a transformation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(e.g., a function mapping to a higher dimensional space.</a:t>
                </a:r>
              </a:p>
              <a:p>
                <a:r>
                  <a:rPr lang="en-US" dirty="0"/>
                  <a:t>Such a function can be computationally expensive!</a:t>
                </a:r>
              </a:p>
              <a:p>
                <a:r>
                  <a:rPr lang="en-US" dirty="0"/>
                  <a:t>However, in SVM, the optimization only requires dot products: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the transformed space, we would need: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br>
                  <a:rPr lang="ar-AE" dirty="0"/>
                </a:br>
                <a:endParaRPr dirty="0"/>
              </a:p>
            </p:txBody>
          </p:sp>
        </mc:Choice>
        <mc:Fallback xmlns="">
          <p:sp>
            <p:nvSpPr>
              <p:cNvPr id="269" name="The dot product of the transformed vectors is equal square of the dot product of the original vector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 r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Results from previous sli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Results from previous slide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936B0CC-459C-C8C3-3A17-949AC8A817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machine learning, a </a:t>
                </a:r>
                <a:r>
                  <a:rPr lang="en-US" b="1" dirty="0">
                    <a:solidFill>
                      <a:srgbClr val="FF7E79"/>
                    </a:solidFill>
                  </a:rPr>
                  <a:t>kernel function</a:t>
                </a:r>
                <a:r>
                  <a:rPr lang="en-US" dirty="0">
                    <a:solidFill>
                      <a:srgbClr val="FF7E79"/>
                    </a:solidFill>
                  </a:rPr>
                  <a:t>,</a:t>
                </a:r>
                <a:r>
                  <a:rPr lang="en-US" b="1" dirty="0">
                    <a:solidFill>
                      <a:srgbClr val="FF7E7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50" i="1" smtClean="0">
                        <a:solidFill>
                          <a:srgbClr val="FF7D78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325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50" i="1">
                            <a:solidFill>
                              <a:srgbClr val="FF7D7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50" b="0" i="1" smtClean="0">
                                <a:solidFill>
                                  <a:srgbClr val="FF7D78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FF7E79"/>
                    </a:solidFill>
                  </a:rPr>
                  <a:t>,</a:t>
                </a:r>
                <a:r>
                  <a:rPr lang="en-US" dirty="0"/>
                  <a:t> is a function capable of computing the dot product between two transformed vectors based only on the original vectors </a:t>
                </a:r>
                <a:r>
                  <a:rPr lang="en-US" b="1" dirty="0"/>
                  <a:t>without having to compute the transformation </a:t>
                </a:r>
                <a14:m>
                  <m:oMath xmlns:m="http://schemas.openxmlformats.org/officeDocument/2006/math">
                    <m:r>
                      <a:rPr lang="en-US" sz="325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br>
                  <a:rPr lang="en-US" b="1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325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5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5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25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25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325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5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ar-AE" sz="32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325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ar-AE" sz="325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ar-AE" sz="325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sz="32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5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5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It computes the dot product in feature space </a:t>
                </a:r>
                <a:r>
                  <a:rPr lang="en-US" b="1" dirty="0"/>
                  <a:t>without explicitly computing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the kernel trick.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936B0CC-459C-C8C3-3A17-949AC8A81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313" t="-559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BD891F-1BF0-C4FD-BFD4-CDBC9DC3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Kernel Trick</a:t>
            </a:r>
          </a:p>
        </p:txBody>
      </p:sp>
    </p:spTree>
    <p:extLst>
      <p:ext uri="{BB962C8B-B14F-4D97-AF65-F5344CB8AC3E}">
        <p14:creationId xmlns:p14="http://schemas.microsoft.com/office/powerpoint/2010/main" val="3429124396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he previous example uses the 2nd order polynomial kernel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The previous example uses the 2nd order polynomial kernel</a:t>
                </a:r>
              </a:p>
              <a:p>
                <a:r>
                  <a:t>Common kernels:</a:t>
                </a:r>
              </a:p>
              <a:p>
                <a:pPr lvl="1"/>
                <a:r>
                  <a:t>Linear: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/>
              </a:p>
              <a:p>
                <a:pPr lvl="1"/>
                <a:r>
                  <a:t>Polynomial: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/>
              </a:p>
              <a:p>
                <a:pPr lvl="1"/>
                <a:r>
                  <a:t>Gaussian RBF: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(||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272" name="The previous example uses the 2nd order polynomial kernel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Common Kern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Common Kernels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rimal vs Dual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Primal vs Dual Problem</a:t>
            </a:r>
          </a:p>
          <a:p>
            <a:pPr lvl="1"/>
            <a:r>
              <a:rPr dirty="0"/>
              <a:t>Given a constrained optimization problem (the primal problem) …</a:t>
            </a:r>
          </a:p>
          <a:p>
            <a:pPr lvl="1"/>
            <a:r>
              <a:rPr dirty="0"/>
              <a:t>…It is possible to express a different but related problem, called the dual problem</a:t>
            </a:r>
          </a:p>
          <a:p>
            <a:pPr lvl="1"/>
            <a:r>
              <a:rPr dirty="0"/>
              <a:t>The dual problem is usually faster to solve</a:t>
            </a:r>
          </a:p>
          <a:p>
            <a:pPr lvl="1"/>
            <a:r>
              <a:rPr dirty="0"/>
              <a:t>But the dual problem typically gives a lower bound to the solution of the primal problem</a:t>
            </a:r>
          </a:p>
          <a:p>
            <a:pPr lvl="1"/>
            <a:r>
              <a:rPr dirty="0"/>
              <a:t>Under some conditions, the primal and dual problems have the same solution and SVM meets these conditions</a:t>
            </a:r>
          </a:p>
        </p:txBody>
      </p:sp>
      <p:sp>
        <p:nvSpPr>
          <p:cNvPr id="276" name="So how does this all fit in to SVM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So how does this all fit in to SVM?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If you’ve never taken an optimization class, the concept of primal vs dual can be a little confus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you’ve never taken an optimization class, the concept of primal vs dual can be a little confusing</a:t>
            </a:r>
          </a:p>
          <a:p>
            <a:r>
              <a:rPr dirty="0"/>
              <a:t>The dual formulation is basically the expression of the optimization problem in terms of Lagrange multipliers</a:t>
            </a:r>
          </a:p>
          <a:p>
            <a:r>
              <a:rPr dirty="0"/>
              <a:t>HOML give some of the formulas for going back and forth between the primal and dual problems </a:t>
            </a:r>
          </a:p>
          <a:p>
            <a:r>
              <a:rPr dirty="0"/>
              <a:t>Quote from Book:  </a:t>
            </a:r>
            <a:br>
              <a:rPr dirty="0"/>
            </a:br>
            <a:r>
              <a:rPr dirty="0">
                <a:solidFill>
                  <a:srgbClr val="FF7E79"/>
                </a:solidFill>
              </a:rPr>
              <a:t>If you are starting to get a headache, that’s perfectly normal: it’s an unfortunate side effect of the kernel trick</a:t>
            </a:r>
          </a:p>
        </p:txBody>
      </p:sp>
      <p:sp>
        <p:nvSpPr>
          <p:cNvPr id="290" name="Math is co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Math is cool 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A kernel function replaces the dot product in the SVM objective fun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kernel function replaces the dot product in the SVM objective function</a:t>
            </a:r>
          </a:p>
          <a:p>
            <a:r>
              <a:t>By using the kernelized version</a:t>
            </a:r>
          </a:p>
          <a:p>
            <a:pPr lvl="1"/>
            <a:r>
              <a:t>we implicitly map the input data into higher-dimensions…</a:t>
            </a:r>
          </a:p>
          <a:p>
            <a:pPr lvl="1"/>
            <a:r>
              <a:t>…where it might be linearly separable</a:t>
            </a:r>
          </a:p>
          <a:p>
            <a:pPr lvl="1"/>
            <a:r>
              <a:t>…without needing to perform the transformation explicitly </a:t>
            </a:r>
          </a:p>
        </p:txBody>
      </p:sp>
      <p:sp>
        <p:nvSpPr>
          <p:cNvPr id="293" name="Summary of the Kernel Trick in SVM"/>
          <p:cNvSpPr txBox="1">
            <a:spLocks noGrp="1"/>
          </p:cNvSpPr>
          <p:nvPr>
            <p:ph type="title"/>
          </p:nvPr>
        </p:nvSpPr>
        <p:spPr>
          <a:xfrm>
            <a:off x="698500" y="439092"/>
            <a:ext cx="11607800" cy="1016001"/>
          </a:xfrm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Summary of the Kernel Trick in SVM  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aussian RBF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Gaussian RBF Kernel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The Gaussian RBF kernel is very popular and is the default for the SVC and SVR functions in sklearn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98500" y="2018738"/>
                <a:ext cx="11607800" cy="737231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The Gaussian RBF kernel is very popular and is the default for the </a:t>
                </a:r>
                <a:r>
                  <a:rPr b="1">
                    <a:latin typeface="Courier New"/>
                    <a:ea typeface="Courier New"/>
                    <a:cs typeface="Courier New"/>
                    <a:sym typeface="Courier New"/>
                  </a:rPr>
                  <a:t>SVC</a:t>
                </a:r>
                <a:r>
                  <a:t> and </a:t>
                </a:r>
                <a:r>
                  <a:rPr b="1">
                    <a:latin typeface="Courier New"/>
                    <a:ea typeface="Courier New"/>
                    <a:cs typeface="Courier New"/>
                    <a:sym typeface="Courier New"/>
                  </a:rPr>
                  <a:t>SVR</a:t>
                </a:r>
                <a:r>
                  <a:t> functions in sklearn</a:t>
                </a:r>
              </a:p>
              <a:p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(||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𝐛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297" name="The Gaussian RBF kernel is very popular and is the default for the SVC and SVR functions in sklearn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8500" y="2018738"/>
                <a:ext cx="11607800" cy="7372318"/>
              </a:xfrm>
              <a:prstGeom prst="rect">
                <a:avLst/>
              </a:prstGeom>
              <a:blipFill>
                <a:blip r:embed="rId2"/>
                <a:stretch>
                  <a:fillRect l="-1313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More about the RBF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More about the RBF Kernel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Main idea…"/>
          <p:cNvSpPr txBox="1">
            <a:spLocks noGrp="1"/>
          </p:cNvSpPr>
          <p:nvPr>
            <p:ph type="body" idx="1"/>
          </p:nvPr>
        </p:nvSpPr>
        <p:spPr>
          <a:xfrm>
            <a:off x="698500" y="2018738"/>
            <a:ext cx="11607800" cy="7372318"/>
          </a:xfrm>
          <a:prstGeom prst="rect">
            <a:avLst/>
          </a:prstGeom>
        </p:spPr>
        <p:txBody>
          <a:bodyPr/>
          <a:lstStyle/>
          <a:p>
            <a:r>
              <a:t>Main idea</a:t>
            </a:r>
          </a:p>
          <a:p>
            <a:pPr lvl="1"/>
            <a:r>
              <a:t>Rather than add polynomial features, we can also add “similarity” features </a:t>
            </a:r>
          </a:p>
          <a:p>
            <a:pPr lvl="1"/>
            <a:r>
              <a:t>The “similarity” features will also transform to a higher dimension</a:t>
            </a:r>
          </a:p>
          <a:p>
            <a:pPr lvl="2"/>
            <a:r>
              <a:t>Similarity features represent the similarity between two or more data points</a:t>
            </a:r>
          </a:p>
          <a:p>
            <a:pPr lvl="2"/>
            <a:r>
              <a:t>For example we can add features based on the RBF similarity function from several arbitrary landmarks </a:t>
            </a:r>
          </a:p>
          <a:p>
            <a:pPr lvl="2"/>
            <a:r>
              <a:t>RBF kernel corresponds to infinite-dimensional space</a:t>
            </a:r>
          </a:p>
        </p:txBody>
      </p:sp>
      <p:sp>
        <p:nvSpPr>
          <p:cNvPr id="301" name="More about the RBF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More about the RBF Kernel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Example where original features space is 1-dimensional (just  )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698500" y="5942499"/>
                <a:ext cx="11607800" cy="3844258"/>
              </a:xfrm>
              <a:prstGeom prst="rect">
                <a:avLst/>
              </a:prstGeom>
            </p:spPr>
            <p:txBody>
              <a:bodyPr/>
              <a:lstStyle/>
              <a:p>
                <a:pPr marL="380999" indent="-380999">
                  <a:defRPr sz="2700"/>
                </a:pPr>
                <a:r>
                  <a:t>Example where original features space is 1-dimensional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)</a:t>
                </a:r>
              </a:p>
              <a:p>
                <a:pPr marL="380999" indent="-380999">
                  <a:defRPr sz="2700"/>
                </a:pPr>
                <a: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be 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to landmark 1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t> be 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to landmark 2</a:t>
                </a:r>
              </a:p>
              <a:p>
                <a:pPr marL="380999" indent="-380999">
                  <a:defRPr sz="2700"/>
                </a:pPr>
                <a:r>
                  <a:t>For example, if </a:t>
                </a:r>
                <a14:m>
                  <m:oMath xmlns:m="http://schemas.openxmlformats.org/officeDocument/2006/math"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t>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br/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br/>
                <a14:m>
                  <m:oMath xmlns:m="http://schemas.openxmlformats.org/officeDocument/2006/math">
                    <m:sSub>
                      <m:sSub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∗(−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sz="2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2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03" name="Example where original features space is 1-dimensional (just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98500" y="5942499"/>
                <a:ext cx="11607800" cy="3844258"/>
              </a:xfrm>
              <a:prstGeom prst="rect">
                <a:avLst/>
              </a:prstGeom>
              <a:blipFill>
                <a:blip r:embed="rId2"/>
                <a:stretch>
                  <a:fillRect l="-1155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Example of Similarity Fea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 of Similarity Features</a:t>
            </a:r>
          </a:p>
        </p:txBody>
      </p:sp>
      <p:pic>
        <p:nvPicPr>
          <p:cNvPr id="305" name="pasted-image.png" descr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67" y="1662584"/>
            <a:ext cx="11504683" cy="42259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The   parameter is sort of the inverse standard deviation of the Gaussian used to compute the similarity feature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The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parameter is sort of the inverse standard deviation of the Gaussian used to compute the similarity features</a:t>
                </a:r>
              </a:p>
              <a:p>
                <a:r>
                  <a:t>As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decreases, the standard deviation gets larger and it is easier to have a non-negligible distance from the landmark</a:t>
                </a:r>
              </a:p>
              <a:p>
                <a:pPr lvl="1"/>
                <a:r>
                  <a:t>Small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will smooth more and can lead to underfitting </a:t>
                </a:r>
              </a:p>
              <a:p>
                <a:r>
                  <a:t>As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increases, the standard deviations get smaller and it is many of the distances from the landmark will be very close to zero</a:t>
                </a:r>
              </a:p>
              <a:p>
                <a:pPr lvl="1"/>
                <a:r>
                  <a:t>Large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will capture small variations and can lead to overfitting </a:t>
                </a:r>
              </a:p>
            </p:txBody>
          </p:sp>
        </mc:Choice>
        <mc:Fallback xmlns="">
          <p:sp>
            <p:nvSpPr>
              <p:cNvPr id="307" name="The   parameter is sort of the inverse standard deviation of the Gaussian used to compute the similarity featur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197" r="-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" name="More about the RBF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More about the RBF Kernel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Comparing"/>
              <p:cNvSpPr txBox="1">
                <a:spLocks noGrp="1"/>
              </p:cNvSpPr>
              <p:nvPr>
                <p:ph type="title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pPr defTabSz="1317786">
                  <a:defRPr sz="4560" spc="-91"/>
                </a:pPr>
                <a:r>
                  <a:t>Comparing </a:t>
                </a:r>
                <a14:m>
                  <m:oMath xmlns:m="http://schemas.openxmlformats.org/officeDocument/2006/math"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6000"/>
              </a:p>
            </p:txBody>
          </p:sp>
        </mc:Choice>
        <mc:Fallback xmlns="">
          <p:sp>
            <p:nvSpPr>
              <p:cNvPr id="310" name="Comparing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626" t="-17365" b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1" name="pasted-image.tiff" descr="pasted-image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53" y="1786466"/>
            <a:ext cx="5045802" cy="3908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asted-image.tiff" descr="pasted-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53" y="5731758"/>
            <a:ext cx="5045803" cy="3908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asted-image.tiff" descr="pasted-image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355" y="3128819"/>
            <a:ext cx="5045802" cy="390846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Text"/>
              <p:cNvSpPr txBox="1"/>
              <p:nvPr/>
            </p:nvSpPr>
            <p:spPr>
              <a:xfrm>
                <a:off x="2582600" y="1710266"/>
                <a:ext cx="1427351" cy="632747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00" y="1710266"/>
                <a:ext cx="1427351" cy="6327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Text"/>
              <p:cNvSpPr txBox="1"/>
              <p:nvPr/>
            </p:nvSpPr>
            <p:spPr>
              <a:xfrm>
                <a:off x="2582600" y="5655297"/>
                <a:ext cx="1427351" cy="632747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00" y="5655297"/>
                <a:ext cx="1427351" cy="6327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"/>
              <p:cNvSpPr txBox="1"/>
              <p:nvPr/>
            </p:nvSpPr>
            <p:spPr>
              <a:xfrm>
                <a:off x="8724466" y="2927585"/>
                <a:ext cx="1427352" cy="632747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466" y="2927585"/>
                <a:ext cx="1427352" cy="6327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This is a very popular kernel and is the default for the SVC function in sklearn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t>This is a very popular kernel and is the default for the </a:t>
                </a:r>
                <a:r>
                  <a:rPr b="1">
                    <a:latin typeface="Courier New"/>
                    <a:ea typeface="Courier New"/>
                    <a:cs typeface="Courier New"/>
                    <a:sym typeface="Courier New"/>
                  </a:rPr>
                  <a:t>SVC</a:t>
                </a:r>
                <a:r>
                  <a:t> function in sklearn</a:t>
                </a:r>
              </a:p>
              <a:p>
                <a:r>
                  <a:t>As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decreases, the standard deviation gets larger and it is easier to have a non-negligible distance from the landmark</a:t>
                </a:r>
              </a:p>
              <a:p>
                <a:pPr lvl="1"/>
                <a:r>
                  <a:t>Small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will smooth more and can lead to underfitting </a:t>
                </a:r>
              </a:p>
              <a:p>
                <a:r>
                  <a:t>As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increases, the standard deviations get smaller and it is many of the distances from the landmark will be very close to zero</a:t>
                </a:r>
              </a:p>
              <a:p>
                <a:pPr lvl="1"/>
                <a:r>
                  <a:t>Large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t> will capture small variations and can lead to overfitting </a:t>
                </a:r>
              </a:p>
            </p:txBody>
          </p:sp>
        </mc:Choice>
        <mc:Fallback xmlns="">
          <p:sp>
            <p:nvSpPr>
              <p:cNvPr id="318" name="This is a very popular kernel and is the default for the SVC function in sklear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96" r="-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Gaussian RBF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Gaussian RBF Kernel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VM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SVM Regression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606EE20-5D3F-F096-6FBC-D077FCC190E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regression, we find a linear function: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want predictions within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of the responses, that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This forms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𝑡𝑢𝑏𝑒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𝑤𝑖𝑑𝑡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606EE20-5D3F-F096-6FBC-D077FCC19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7469D2-8F0D-4834-D5A1-29B4C892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SVR Unpacked</a:t>
            </a:r>
          </a:p>
        </p:txBody>
      </p:sp>
    </p:spTree>
    <p:extLst>
      <p:ext uri="{BB962C8B-B14F-4D97-AF65-F5344CB8AC3E}">
        <p14:creationId xmlns:p14="http://schemas.microsoft.com/office/powerpoint/2010/main" val="1178738824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70272-7EA8-6ECB-F0C3-6CA695C7B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64FB03-85C2-7348-8B2C-632559AE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SVR Optimization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4F9A3-1533-2011-046F-CED035E8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36" y="2594813"/>
            <a:ext cx="11163206" cy="523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51194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VMs can be used for regression tasks as wel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Here, instead of finding the widest possible road, we want to fit as many observations </a:t>
            </a:r>
            <a:r>
              <a:rPr dirty="0">
                <a:solidFill>
                  <a:srgbClr val="FF7E79"/>
                </a:solidFill>
              </a:rPr>
              <a:t>on the street</a:t>
            </a:r>
            <a:r>
              <a:rPr dirty="0"/>
              <a:t> while limiting the number of points </a:t>
            </a:r>
            <a:r>
              <a:rPr dirty="0">
                <a:solidFill>
                  <a:srgbClr val="FF7E79"/>
                </a:solidFill>
              </a:rPr>
              <a:t>off the street</a:t>
            </a:r>
          </a:p>
        </p:txBody>
      </p:sp>
      <p:sp>
        <p:nvSpPr>
          <p:cNvPr id="324" name="SVM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SVM Regression</a:t>
            </a:r>
          </a:p>
        </p:txBody>
      </p:sp>
      <p:pic>
        <p:nvPicPr>
          <p:cNvPr id="325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739430"/>
            <a:ext cx="12192000" cy="5168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Here, the support vectors are the instances off the street because they are the only points that effect the model’s prediction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Here, the support vectors are the instances off the street because they are the only points that </a:t>
                </a:r>
                <a:r>
                  <a:rPr lang="en-US" dirty="0"/>
                  <a:t>affect</a:t>
                </a:r>
                <a:r>
                  <a:rPr dirty="0"/>
                  <a:t> the model’s predictions</a:t>
                </a:r>
              </a:p>
              <a:p>
                <a:r>
                  <a:rPr dirty="0"/>
                  <a:t>If more points are added inside the margin, predictions don’t change (this is referred to as being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dirty="0"/>
                  <a:t>-insensitive</a:t>
                </a:r>
                <a:r>
                  <a:rPr lang="en-US" dirty="0"/>
                  <a:t>)</a:t>
                </a:r>
                <a:endParaRPr dirty="0"/>
              </a:p>
            </p:txBody>
          </p:sp>
        </mc:Choice>
        <mc:Fallback xmlns="">
          <p:sp>
            <p:nvSpPr>
              <p:cNvPr id="327" name="Here, the support vectors are the instances off the street because they are the only points that effect the model’s predict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 r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SVM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SVM Regression</a:t>
            </a:r>
          </a:p>
        </p:txBody>
      </p:sp>
      <p:pic>
        <p:nvPicPr>
          <p:cNvPr id="329" name="pasted-image.png" descr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4568870"/>
            <a:ext cx="11828780" cy="5014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4FB2BBA-6312-74B4-8D14-5C78EC5934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SVR, no thresholding is used.</a:t>
                </a:r>
              </a:p>
              <a:p>
                <a:r>
                  <a:rPr lang="en-US" dirty="0"/>
                  <a:t>Each prediction is given by: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For Kernel SVR, it is given by: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values are dual Lagrange multipliers</a:t>
                </a:r>
                <a:br>
                  <a:rPr lang="en-US" dirty="0">
                    <a:latin typeface="Cambria Math" panose="02040503050406030204" pitchFamily="18" charset="0"/>
                  </a:rPr>
                </a:br>
                <a:br>
                  <a:rPr lang="en-US" dirty="0">
                    <a:latin typeface="Cambria Math" panose="02040503050406030204" pitchFamily="18" charset="0"/>
                  </a:rPr>
                </a:br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4FB2BBA-6312-74B4-8D14-5C78EC593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7083C4F-4206-13B6-2F7C-0205FD5C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Function (Linear SVR)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50E2D-74DF-694C-D5B6-64D85B186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73" y="6786548"/>
            <a:ext cx="5337274" cy="104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84952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SVMs are a very different way of creating a classifier than other methods that we’ve looked at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SVMs are a very different way of creating a classifier than other methods that we’ve looked at</a:t>
                </a:r>
              </a:p>
              <a:p>
                <a:pPr lvl="1"/>
                <a:r>
                  <a:rPr dirty="0"/>
                  <a:t>No notion of finding </a:t>
                </a:r>
                <a14:m>
                  <m:oMath xmlns:m="http://schemas.openxmlformats.org/officeDocument/2006/math"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3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r>
                  <a:rPr dirty="0"/>
                  <a:t>Only binary classifier </a:t>
                </a:r>
              </a:p>
              <a:p>
                <a:pPr lvl="1"/>
                <a:r>
                  <a:rPr dirty="0"/>
                  <a:t>Can be extended to multiclass problems using one-versus-one or one-versus-all strategies </a:t>
                </a:r>
              </a:p>
              <a:p>
                <a:r>
                  <a:rPr dirty="0"/>
                  <a:t>Pretty slow for large datasets </a:t>
                </a:r>
              </a:p>
            </p:txBody>
          </p:sp>
        </mc:Choice>
        <mc:Fallback xmlns="">
          <p:sp>
            <p:nvSpPr>
              <p:cNvPr id="331" name="SVMs are a very different way of creating a classifier than other methods that we’ve looked at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1313" t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Summary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venir Next Regular"/>
        <a:ea typeface="Avenir Next Regular"/>
        <a:cs typeface="Avenir Next Regular"/>
      </a:majorFont>
      <a:minorFont>
        <a:latin typeface="Avenir Next Demi Bold"/>
        <a:ea typeface="Avenir Next Demi Bold"/>
        <a:cs typeface="Avenir Next Demi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2315</Words>
  <Application>Microsoft Office PowerPoint</Application>
  <PresentationFormat>Custom</PresentationFormat>
  <Paragraphs>256</Paragraphs>
  <Slides>54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Avenir Next Demi Bold</vt:lpstr>
      <vt:lpstr>Avenir Next Medium</vt:lpstr>
      <vt:lpstr>Avenir Next Regular</vt:lpstr>
      <vt:lpstr>Avenir Next Regular (Headings)</vt:lpstr>
      <vt:lpstr>Cambria Math</vt:lpstr>
      <vt:lpstr>Courier</vt:lpstr>
      <vt:lpstr>Courier New</vt:lpstr>
      <vt:lpstr>Helvetica Neue</vt:lpstr>
      <vt:lpstr>Helvetica Neue Medium</vt:lpstr>
      <vt:lpstr>21_BasicWhite</vt:lpstr>
      <vt:lpstr>Support Vector Machines</vt:lpstr>
      <vt:lpstr>Introduction to SVM</vt:lpstr>
      <vt:lpstr>Hyperplanes</vt:lpstr>
      <vt:lpstr>PowerPoint Presentation</vt:lpstr>
      <vt:lpstr>High-level view of SVM</vt:lpstr>
      <vt:lpstr>Introduction to SVM</vt:lpstr>
      <vt:lpstr>Separate the group</vt:lpstr>
      <vt:lpstr>Introduction to SVM</vt:lpstr>
      <vt:lpstr>Introduction to SVM</vt:lpstr>
      <vt:lpstr>Maximal margin (or hard margin) classifier</vt:lpstr>
      <vt:lpstr>Maximal Margin Classifier </vt:lpstr>
      <vt:lpstr>Maximal Margin Classifier </vt:lpstr>
      <vt:lpstr>Margins</vt:lpstr>
      <vt:lpstr>SVM Optimization Problem</vt:lpstr>
      <vt:lpstr>Hinge Loss</vt:lpstr>
      <vt:lpstr>Hinge Loss</vt:lpstr>
      <vt:lpstr>PowerPoint Presentation</vt:lpstr>
      <vt:lpstr>Potential problems </vt:lpstr>
      <vt:lpstr>Soft Margin SVM</vt:lpstr>
      <vt:lpstr>Potential problems </vt:lpstr>
      <vt:lpstr>Support Vector Classifier  (Soft margin) </vt:lpstr>
      <vt:lpstr>Slack Variables</vt:lpstr>
      <vt:lpstr>Optimization w/ Slack Variables</vt:lpstr>
      <vt:lpstr>Support Vectors</vt:lpstr>
      <vt:lpstr>Non-linearly separable data</vt:lpstr>
      <vt:lpstr>Non-linearly Separable </vt:lpstr>
      <vt:lpstr>Non-linearly Separable </vt:lpstr>
      <vt:lpstr>Non-linearly Separable </vt:lpstr>
      <vt:lpstr>Examples</vt:lpstr>
      <vt:lpstr>Another Example</vt:lpstr>
      <vt:lpstr>A solution and a problem </vt:lpstr>
      <vt:lpstr>Support Vector Machines</vt:lpstr>
      <vt:lpstr>Support Vector Machines</vt:lpstr>
      <vt:lpstr>Dot Products</vt:lpstr>
      <vt:lpstr>Results from previous slide</vt:lpstr>
      <vt:lpstr>The Kernel Trick</vt:lpstr>
      <vt:lpstr>Common Kernels</vt:lpstr>
      <vt:lpstr>So how does this all fit in to SVM?</vt:lpstr>
      <vt:lpstr>Math is cool </vt:lpstr>
      <vt:lpstr>Summary of the Kernel Trick in SVM  </vt:lpstr>
      <vt:lpstr>Gaussian RBF Kernel</vt:lpstr>
      <vt:lpstr>More about the RBF Kernel</vt:lpstr>
      <vt:lpstr>More about the RBF Kernel</vt:lpstr>
      <vt:lpstr>Example of Similarity Features</vt:lpstr>
      <vt:lpstr>More about the RBF Kernel</vt:lpstr>
      <vt:lpstr>Comparing γ</vt:lpstr>
      <vt:lpstr>Gaussian RBF Kernel</vt:lpstr>
      <vt:lpstr>SVM Regression</vt:lpstr>
      <vt:lpstr>SVR Unpacked</vt:lpstr>
      <vt:lpstr>SVR Optimization</vt:lpstr>
      <vt:lpstr>SVM Regression</vt:lpstr>
      <vt:lpstr>SVM Regression</vt:lpstr>
      <vt:lpstr>Decision Function (Linear SVR)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Jake Rhodes</dc:creator>
  <cp:lastModifiedBy>Jake Rhodes</cp:lastModifiedBy>
  <cp:revision>18</cp:revision>
  <dcterms:modified xsi:type="dcterms:W3CDTF">2026-02-24T13:18:31Z</dcterms:modified>
</cp:coreProperties>
</file>