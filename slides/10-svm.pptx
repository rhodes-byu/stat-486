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9" r:id="rId32"/>
    <p:sldId id="290" r:id="rId33"/>
    <p:sldId id="291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1pPr>
    <a:lvl2pPr marL="0" marR="0" indent="4572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2pPr>
    <a:lvl3pPr marL="0" marR="0" indent="9144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3pPr>
    <a:lvl4pPr marL="0" marR="0" indent="13716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4pPr>
    <a:lvl5pPr marL="0" marR="0" indent="18288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5pPr>
    <a:lvl6pPr marL="0" marR="0" indent="22860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6pPr>
    <a:lvl7pPr marL="0" marR="0" indent="27432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7pPr>
    <a:lvl8pPr marL="0" marR="0" indent="32004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8pPr>
    <a:lvl9pPr marL="0" marR="0" indent="3657600" algn="l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8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Avenir Next Regular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254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254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49" d="100"/>
          <a:sy n="49" d="100"/>
        </p:scale>
        <p:origin x="3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1854200"/>
            <a:ext cx="11609057" cy="3302000"/>
          </a:xfrm>
          <a:prstGeom prst="rect">
            <a:avLst/>
          </a:prstGeom>
        </p:spPr>
        <p:txBody>
          <a:bodyPr anchor="b"/>
          <a:lstStyle>
            <a:lvl1pPr>
              <a:defRPr sz="8200" b="1" spc="-164">
                <a:latin typeface="+mj-lt"/>
                <a:ea typeface="+mj-ea"/>
                <a:cs typeface="+mj-cs"/>
                <a:sym typeface="Avenir Next Regular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13" name="Line"/>
          <p:cNvSpPr/>
          <p:nvPr/>
        </p:nvSpPr>
        <p:spPr>
          <a:xfrm>
            <a:off x="92416" y="5839383"/>
            <a:ext cx="12819967" cy="1"/>
          </a:xfrm>
          <a:prstGeom prst="line">
            <a:avLst/>
          </a:prstGeom>
          <a:ln w="3429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4" name="Line"/>
          <p:cNvSpPr/>
          <p:nvPr/>
        </p:nvSpPr>
        <p:spPr>
          <a:xfrm>
            <a:off x="92417" y="2011560"/>
            <a:ext cx="12819966" cy="1"/>
          </a:xfrm>
          <a:prstGeom prst="line">
            <a:avLst/>
          </a:prstGeom>
          <a:ln w="635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5" name="01"/>
          <p:cNvSpPr txBox="1">
            <a:spLocks noGrp="1"/>
          </p:cNvSpPr>
          <p:nvPr>
            <p:ph type="sldNum" sz="quarter" idx="2"/>
          </p:nvPr>
        </p:nvSpPr>
        <p:spPr>
          <a:xfrm>
            <a:off x="6353454" y="9220199"/>
            <a:ext cx="297892" cy="287479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Avocados and limes"/>
          <p:cNvSpPr>
            <a:spLocks noGrp="1"/>
          </p:cNvSpPr>
          <p:nvPr>
            <p:ph type="pic" idx="21"/>
          </p:nvPr>
        </p:nvSpPr>
        <p:spPr>
          <a:xfrm>
            <a:off x="-376767" y="-915894"/>
            <a:ext cx="17835652" cy="1068219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5181600"/>
            <a:ext cx="11607800" cy="3302000"/>
          </a:xfrm>
          <a:prstGeom prst="rect">
            <a:avLst/>
          </a:prstGeom>
        </p:spPr>
        <p:txBody>
          <a:bodyPr anchor="b"/>
          <a:lstStyle>
            <a:lvl1pPr>
              <a:defRPr sz="8200" b="1" spc="-164">
                <a:latin typeface="+mj-lt"/>
                <a:ea typeface="+mj-ea"/>
                <a:cs typeface="+mj-cs"/>
                <a:sym typeface="Avenir Next Regular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98500" y="8432800"/>
            <a:ext cx="11607800" cy="689769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698500" y="571500"/>
            <a:ext cx="11607801" cy="461059"/>
          </a:xfrm>
          <a:prstGeom prst="rect">
            <a:avLst/>
          </a:prstGeom>
        </p:spPr>
        <p:txBody>
          <a:bodyPr/>
          <a:lstStyle>
            <a:lvl1pPr marL="0" indent="0" defTabSz="563541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2304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Author and Date</a:t>
            </a:r>
          </a:p>
        </p:txBody>
      </p:sp>
      <p:sp>
        <p:nvSpPr>
          <p:cNvPr id="26" name="01"/>
          <p:cNvSpPr txBox="1">
            <a:spLocks noGrp="1"/>
          </p:cNvSpPr>
          <p:nvPr>
            <p:ph type="sldNum" sz="quarter" idx="2"/>
          </p:nvPr>
        </p:nvSpPr>
        <p:spPr>
          <a:xfrm>
            <a:off x="6349999" y="9220199"/>
            <a:ext cx="297893" cy="287479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owl with salmon cakes, salad, and hummus "/>
          <p:cNvSpPr>
            <a:spLocks noGrp="1"/>
          </p:cNvSpPr>
          <p:nvPr>
            <p:ph type="pic" idx="21"/>
          </p:nvPr>
        </p:nvSpPr>
        <p:spPr>
          <a:xfrm>
            <a:off x="5319129" y="495299"/>
            <a:ext cx="7543801" cy="878005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98500" y="5003800"/>
            <a:ext cx="5105400" cy="4044566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>
                <a:latin typeface="Avenir Next Medium"/>
                <a:ea typeface="Avenir Next Medium"/>
                <a:cs typeface="Avenir Next Medium"/>
                <a:sym typeface="Avenir Next Medium"/>
              </a:defRPr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692534"/>
            <a:ext cx="5105400" cy="4387466"/>
          </a:xfrm>
          <a:prstGeom prst="rect">
            <a:avLst/>
          </a:prstGeom>
        </p:spPr>
        <p:txBody>
          <a:bodyPr anchor="b"/>
          <a:lstStyle/>
          <a:p>
            <a:r>
              <a:t>Slide Title</a:t>
            </a:r>
          </a:p>
        </p:txBody>
      </p:sp>
      <p:sp>
        <p:nvSpPr>
          <p:cNvPr id="36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2959100"/>
            <a:ext cx="11607800" cy="6096000"/>
          </a:xfrm>
          <a:prstGeom prst="rect">
            <a:avLst/>
          </a:prstGeom>
        </p:spPr>
        <p:txBody>
          <a:bodyPr numCol="2" spcCol="589358"/>
          <a:lstStyle>
            <a:lvl1pPr>
              <a:buClrTx/>
              <a:buSzPct val="123000"/>
              <a:buChar char="•"/>
            </a:lvl1pPr>
            <a:lvl2pPr marL="762000">
              <a:buClrTx/>
            </a:lvl2pPr>
            <a:lvl3pPr marL="1143000">
              <a:buClrTx/>
              <a:buChar char="•"/>
            </a:lvl3pPr>
            <a:lvl4pPr marL="1524000">
              <a:buClrTx/>
              <a:buChar char="•"/>
            </a:lvl4pPr>
            <a:lvl5pPr marL="1905000">
              <a:buSzPct val="1230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Bowl of pappardelle pasta with parsley butter, roasted hazelnuts, and shaved parmesan cheese"/>
          <p:cNvSpPr>
            <a:spLocks noGrp="1"/>
          </p:cNvSpPr>
          <p:nvPr>
            <p:ph type="pic" idx="21"/>
          </p:nvPr>
        </p:nvSpPr>
        <p:spPr>
          <a:xfrm>
            <a:off x="6172200" y="596900"/>
            <a:ext cx="6448425" cy="85979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5105400" cy="10160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62" name="Slide Subtitl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698500" y="1412977"/>
            <a:ext cx="5105400" cy="671803"/>
          </a:xfrm>
          <a:prstGeom prst="rect">
            <a:avLst/>
          </a:prstGeom>
        </p:spPr>
        <p:txBody>
          <a:bodyPr/>
          <a:lstStyle>
            <a:lvl1pPr marL="0" indent="0" defTabSz="516579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3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Slide Subtitle</a:t>
            </a:r>
          </a:p>
        </p:txBody>
      </p:sp>
      <p:sp>
        <p:nvSpPr>
          <p:cNvPr id="63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480196"/>
            <a:ext cx="5105400" cy="5593161"/>
          </a:xfrm>
          <a:prstGeom prst="rect">
            <a:avLst/>
          </a:prstGeom>
        </p:spPr>
        <p:txBody>
          <a:bodyPr/>
          <a:lstStyle>
            <a:lvl1pPr>
              <a:buClrTx/>
              <a:buSzPct val="123000"/>
              <a:buChar char="•"/>
            </a:lvl1pPr>
            <a:lvl2pPr marL="762000">
              <a:buClrTx/>
            </a:lvl2pPr>
            <a:lvl3pPr marL="1143000">
              <a:buClrTx/>
              <a:buChar char="•"/>
            </a:lvl3pPr>
            <a:lvl4pPr marL="1524000">
              <a:buClrTx/>
              <a:buChar char="•"/>
            </a:lvl4pPr>
            <a:lvl5pPr marL="1905000">
              <a:buSzPct val="1230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3225800"/>
            <a:ext cx="11607800" cy="3302000"/>
          </a:xfrm>
          <a:prstGeom prst="rect">
            <a:avLst/>
          </a:prstGeom>
        </p:spPr>
        <p:txBody>
          <a:bodyPr anchor="ctr"/>
          <a:lstStyle>
            <a:lvl1pPr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2" name="Line"/>
          <p:cNvSpPr/>
          <p:nvPr/>
        </p:nvSpPr>
        <p:spPr>
          <a:xfrm>
            <a:off x="12578" y="3010194"/>
            <a:ext cx="12979643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73" name="Line"/>
          <p:cNvSpPr/>
          <p:nvPr/>
        </p:nvSpPr>
        <p:spPr>
          <a:xfrm>
            <a:off x="12578" y="6423878"/>
            <a:ext cx="12979644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74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82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11607800" cy="1016000"/>
          </a:xfrm>
          <a:prstGeom prst="rect">
            <a:avLst/>
          </a:prstGeom>
        </p:spPr>
        <p:txBody>
          <a:bodyPr/>
          <a:lstStyle/>
          <a:p>
            <a:r>
              <a:t>Agenda Title</a:t>
            </a:r>
          </a:p>
        </p:txBody>
      </p:sp>
      <p:sp>
        <p:nvSpPr>
          <p:cNvPr id="90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09700"/>
            <a:ext cx="11607801" cy="671802"/>
          </a:xfrm>
          <a:prstGeom prst="rect">
            <a:avLst/>
          </a:prstGeom>
        </p:spPr>
        <p:txBody>
          <a:bodyPr/>
          <a:lstStyle>
            <a:lvl1pPr marL="0" indent="0" defTabSz="516579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343">
                <a:latin typeface="Avenir Next Medium"/>
                <a:ea typeface="Avenir Next Medium"/>
                <a:cs typeface="Avenir Next Medium"/>
                <a:sym typeface="Avenir Next Medium"/>
              </a:defRPr>
            </a:lvl1pPr>
          </a:lstStyle>
          <a:p>
            <a:r>
              <a:t>Agenda Subtitle</a:t>
            </a:r>
          </a:p>
        </p:txBody>
      </p:sp>
      <p:sp>
        <p:nvSpPr>
          <p:cNvPr id="91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2959100"/>
            <a:ext cx="11607800" cy="6096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300"/>
              </a:spcBef>
              <a:buClrTx/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indent="457200">
              <a:spcBef>
                <a:spcPts val="1300"/>
              </a:spcBef>
              <a:buClrTx/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indent="914400">
              <a:spcBef>
                <a:spcPts val="1300"/>
              </a:spcBef>
              <a:buClrTx/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indent="1371600">
              <a:spcBef>
                <a:spcPts val="1300"/>
              </a:spcBef>
              <a:buClrTx/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indent="1828800">
              <a:spcBef>
                <a:spcPts val="1300"/>
              </a:spcBef>
              <a:buSzTx/>
              <a:buNone/>
              <a:defRPr sz="3800" spc="-38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2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568700"/>
            <a:ext cx="11607800" cy="26177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0" name="Line"/>
          <p:cNvSpPr/>
          <p:nvPr/>
        </p:nvSpPr>
        <p:spPr>
          <a:xfrm>
            <a:off x="12578" y="3010194"/>
            <a:ext cx="12979643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01" name="Line"/>
          <p:cNvSpPr/>
          <p:nvPr/>
        </p:nvSpPr>
        <p:spPr>
          <a:xfrm>
            <a:off x="12578" y="6423878"/>
            <a:ext cx="12979644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02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6209979"/>
            <a:ext cx="11607800" cy="67180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38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Fact information</a:t>
            </a:r>
          </a:p>
        </p:txBody>
      </p:sp>
      <p:sp>
        <p:nvSpPr>
          <p:cNvPr id="110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999066"/>
            <a:ext cx="11607800" cy="521091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736600" y="3721100"/>
            <a:ext cx="11531600" cy="2324100"/>
          </a:xfrm>
          <a:prstGeom prst="rect">
            <a:avLst/>
          </a:prstGeom>
        </p:spPr>
        <p:txBody>
          <a:bodyPr anchor="ctr"/>
          <a:lstStyle>
            <a:lvl1pPr marL="457200" indent="-342900">
              <a:spcBef>
                <a:spcPts val="0"/>
              </a:spcBef>
              <a:buClrTx/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457200" indent="114300">
              <a:spcBef>
                <a:spcPts val="0"/>
              </a:spcBef>
              <a:buClrTx/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457200" indent="571500">
              <a:spcBef>
                <a:spcPts val="0"/>
              </a:spcBef>
              <a:buClrTx/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457200" indent="1028700">
              <a:spcBef>
                <a:spcPts val="0"/>
              </a:spcBef>
              <a:buClrTx/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457200" indent="14859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6426200"/>
            <a:ext cx="11049000" cy="461059"/>
          </a:xfrm>
          <a:prstGeom prst="rect">
            <a:avLst/>
          </a:prstGeom>
        </p:spPr>
        <p:txBody>
          <a:bodyPr/>
          <a:lstStyle>
            <a:lvl1pPr marL="0" indent="0" defTabSz="563541">
              <a:lnSpc>
                <a:spcPct val="100000"/>
              </a:lnSpc>
              <a:spcBef>
                <a:spcPts val="0"/>
              </a:spcBef>
              <a:buClrTx/>
              <a:buSzTx/>
              <a:buNone/>
              <a:defRPr sz="2304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Attribution</a:t>
            </a:r>
          </a:p>
        </p:txBody>
      </p:sp>
      <p:sp>
        <p:nvSpPr>
          <p:cNvPr id="120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Bowl of pappardelle pasta with parsley butter, roasted hazelnuts, and shaved parmesan cheese"/>
          <p:cNvSpPr>
            <a:spLocks noGrp="1"/>
          </p:cNvSpPr>
          <p:nvPr>
            <p:ph type="pic" idx="21"/>
          </p:nvPr>
        </p:nvSpPr>
        <p:spPr>
          <a:xfrm>
            <a:off x="-2082800" y="687558"/>
            <a:ext cx="11165190" cy="837389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8" name="Bowl of salad with fried rice, boiled eggs, and chopsticks"/>
          <p:cNvSpPr>
            <a:spLocks noGrp="1"/>
          </p:cNvSpPr>
          <p:nvPr>
            <p:ph type="pic" sz="half" idx="22"/>
          </p:nvPr>
        </p:nvSpPr>
        <p:spPr>
          <a:xfrm>
            <a:off x="6597650" y="292100"/>
            <a:ext cx="5740400" cy="459232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9" name="Bowl with salmon cakes, salad, and hummus"/>
          <p:cNvSpPr>
            <a:spLocks noGrp="1"/>
          </p:cNvSpPr>
          <p:nvPr>
            <p:ph type="pic" idx="23"/>
          </p:nvPr>
        </p:nvSpPr>
        <p:spPr>
          <a:xfrm>
            <a:off x="4984750" y="2749413"/>
            <a:ext cx="7937500" cy="923827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0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Bowl of salad with fried rice, boiled eggs, and chopsticks"/>
          <p:cNvSpPr>
            <a:spLocks noGrp="1"/>
          </p:cNvSpPr>
          <p:nvPr>
            <p:ph type="pic" idx="21"/>
          </p:nvPr>
        </p:nvSpPr>
        <p:spPr>
          <a:xfrm>
            <a:off x="-1016000" y="-1054100"/>
            <a:ext cx="14427200" cy="1154176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8" name="01"/>
          <p:cNvSpPr txBox="1">
            <a:spLocks noGrp="1"/>
          </p:cNvSpPr>
          <p:nvPr>
            <p:ph type="sldNum" sz="quarter" idx="2"/>
          </p:nvPr>
        </p:nvSpPr>
        <p:spPr>
          <a:xfrm>
            <a:off x="6353454" y="9220199"/>
            <a:ext cx="297892" cy="28747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1924756"/>
            <a:ext cx="11607800" cy="76405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2pPr marL="1016000"/>
            <a:lvl3pPr marL="1651000">
              <a:buChar char="‣"/>
            </a:lvl3pPr>
            <a:lvl4pPr marL="2286000">
              <a:buChar char="-"/>
            </a:lvl4pPr>
            <a:lvl5pPr marL="2921000">
              <a:buClrTx/>
              <a:buSzPct val="58999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98500" y="440266"/>
            <a:ext cx="11607800" cy="101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4" name="Line"/>
          <p:cNvSpPr/>
          <p:nvPr/>
        </p:nvSpPr>
        <p:spPr>
          <a:xfrm>
            <a:off x="65804" y="1583266"/>
            <a:ext cx="12873192" cy="1"/>
          </a:xfrm>
          <a:prstGeom prst="line">
            <a:avLst/>
          </a:prstGeom>
          <a:ln w="50800">
            <a:solidFill>
              <a:srgbClr val="FF7E79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5" name="01"/>
          <p:cNvSpPr txBox="1">
            <a:spLocks noGrp="1"/>
          </p:cNvSpPr>
          <p:nvPr>
            <p:ph type="sldNum" sz="quarter" idx="2"/>
          </p:nvPr>
        </p:nvSpPr>
        <p:spPr>
          <a:xfrm>
            <a:off x="6350067" y="9220199"/>
            <a:ext cx="297892" cy="287479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defRPr sz="130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ransition spd="med"/>
  <p:txStyles>
    <p:titleStyle>
      <a:lvl1pPr marL="0" marR="0" indent="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1pPr>
      <a:lvl2pPr marL="0" marR="0" indent="457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2pPr>
      <a:lvl3pPr marL="0" marR="0" indent="914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3pPr>
      <a:lvl4pPr marL="0" marR="0" indent="1371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4pPr>
      <a:lvl5pPr marL="0" marR="0" indent="18288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5pPr>
      <a:lvl6pPr marL="0" marR="0" indent="22860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6pPr>
      <a:lvl7pPr marL="0" marR="0" indent="2743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7pPr>
      <a:lvl8pPr marL="0" marR="0" indent="3200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8pPr>
      <a:lvl9pPr marL="0" marR="0" indent="3657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0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Avenir Next Demi Bold"/>
        </a:defRPr>
      </a:lvl9pPr>
    </p:titleStyle>
    <p:bodyStyle>
      <a:lvl1pPr marL="381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78000"/>
        <a:buFontTx/>
        <a:buChar char="❖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1pPr>
      <a:lvl2pPr marL="762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2pPr>
      <a:lvl3pPr marL="1143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3pPr>
      <a:lvl4pPr marL="1524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4pPr>
      <a:lvl5pPr marL="1905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5pPr>
      <a:lvl6pPr marL="2286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6pPr>
      <a:lvl7pPr marL="2667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7pPr>
      <a:lvl8pPr marL="3048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8pPr>
      <a:lvl9pPr marL="3429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>
          <a:srgbClr val="8DA0CB"/>
        </a:buClr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venir Next Regular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if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"/><Relationship Id="rId2" Type="http://schemas.openxmlformats.org/officeDocument/2006/relationships/image" Target="../media/image15.t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tif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tif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tif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if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tif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tif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4.png"/><Relationship Id="rId5" Type="http://schemas.openxmlformats.org/officeDocument/2006/relationships/image" Target="../media/image33.tif"/><Relationship Id="rId4" Type="http://schemas.openxmlformats.org/officeDocument/2006/relationships/image" Target="../media/image32.tif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upport Vector Machines"/>
          <p:cNvSpPr txBox="1">
            <a:spLocks noGrp="1"/>
          </p:cNvSpPr>
          <p:nvPr>
            <p:ph type="title"/>
          </p:nvPr>
        </p:nvSpPr>
        <p:spPr>
          <a:xfrm>
            <a:off x="698500" y="440266"/>
            <a:ext cx="11607800" cy="1016001"/>
          </a:xfrm>
        </p:spPr>
        <p:txBody>
          <a:bodyPr anchor="ctr">
            <a:normAutofit/>
          </a:bodyPr>
          <a:lstStyle/>
          <a:p>
            <a:r>
              <a:rPr lang="en-US" sz="7000"/>
              <a:t>Support Vector Machines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B5218C-B546-9504-79DF-6415BC0A89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37" r="2" b="12271"/>
          <a:stretch>
            <a:fillRect/>
          </a:stretch>
        </p:blipFill>
        <p:spPr>
          <a:xfrm>
            <a:off x="-37593" y="1646767"/>
            <a:ext cx="13127731" cy="7000844"/>
          </a:xfrm>
          <a:prstGeom prst="rect">
            <a:avLst/>
          </a:prstGeom>
          <a:noFill/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The support vector machines (SVM) is an approach developed in the 1990s by computer scientist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The support vector machines (SVM) is an approach developed in the 1990s by computer scientists</a:t>
                </a:r>
              </a:p>
              <a:p>
                <a:pPr lvl="1"/>
                <a:r>
                  <a:t>(No probability estimate)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/>
              </a:p>
              <a:p>
                <a:r>
                  <a:t>Often work well for many problems types of problems</a:t>
                </a:r>
              </a:p>
              <a:p>
                <a:pPr lvl="1"/>
                <a:r>
                  <a:t>probably less used now with advances in ANN</a:t>
                </a:r>
              </a:p>
              <a:p>
                <a:pPr lvl="1"/>
                <a:r>
                  <a:t>but still kind of cool mathematically </a:t>
                </a:r>
              </a:p>
              <a:p>
                <a:r>
                  <a:t>First we need to review the definition of a hyperplane</a:t>
                </a:r>
              </a:p>
            </p:txBody>
          </p:sp>
        </mc:Choice>
        <mc:Fallback>
          <p:sp>
            <p:nvSpPr>
              <p:cNvPr id="156" name="The support vector machines (SVM) is an approach developed in the 1990s by computer scientist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Introduction to SV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Introduction to SVM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A hyperplane is a generalization of a line in   dimension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pPr marL="377190" indent="-377190" defTabSz="1716590">
                  <a:spcBef>
                    <a:spcPts val="3100"/>
                  </a:spcBef>
                  <a:defRPr sz="2970"/>
                </a:pPr>
                <a:r>
                  <a:t>A hyperplane is a generalization of a line in </a:t>
                </a: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t> dimensions</a:t>
                </a:r>
              </a:p>
              <a:p>
                <a:pPr marL="377190" indent="-377190" defTabSz="1716590">
                  <a:spcBef>
                    <a:spcPts val="3100"/>
                  </a:spcBef>
                  <a:defRPr sz="2970"/>
                </a:pPr>
                <a:r>
                  <a:t>Formally, a hyperplane in </a:t>
                </a: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t> dimensions is a flat affine subspace of dimension </a:t>
                </a: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t> with general form </a:t>
                </a:r>
              </a:p>
              <a:p>
                <a:pPr marL="1005839" lvl="1" indent="-377190" defTabSz="1716590">
                  <a:spcBef>
                    <a:spcPts val="3100"/>
                  </a:spcBef>
                  <a:defRPr sz="2970"/>
                </a:pPr>
                <a:r>
                  <a:t>A hyperplane in </a:t>
                </a: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t>-dimensional space is defined as</a:t>
                </a:r>
                <a:br/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𝐱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/>
              </a:p>
              <a:p>
                <a:pPr marL="1634489" lvl="2" indent="-377190" defTabSz="1716590">
                  <a:spcBef>
                    <a:spcPts val="3100"/>
                  </a:spcBef>
                  <a:defRPr sz="2970"/>
                </a:pPr>
                <a:r>
                  <a:t>Where </a:t>
                </a: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r>
                  <a:t> is the weight vector (perpendicular to the hyperplane) that determines the orientation</a:t>
                </a:r>
              </a:p>
              <a:p>
                <a:pPr marL="1634489" lvl="2" indent="-377190" defTabSz="1716590">
                  <a:spcBef>
                    <a:spcPts val="3100"/>
                  </a:spcBef>
                  <a:defRPr sz="2970"/>
                </a:pP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t> is the bias term</a:t>
                </a:r>
              </a:p>
              <a:p>
                <a:pPr marL="1634489" lvl="2" indent="-377190" defTabSz="1716590">
                  <a:spcBef>
                    <a:spcPts val="3100"/>
                  </a:spcBef>
                  <a:defRPr sz="2970"/>
                </a:pP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t> is any point in the space</a:t>
                </a:r>
              </a:p>
              <a:p>
                <a:pPr marL="377190" indent="-377190" defTabSz="1716590">
                  <a:spcBef>
                    <a:spcPts val="3100"/>
                  </a:spcBef>
                  <a:defRPr sz="2970"/>
                </a:pPr>
                <a:r>
                  <a:t>When </a:t>
                </a:r>
                <a14:m>
                  <m:oMath xmlns:m="http://schemas.openxmlformats.org/officeDocument/2006/math"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3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t> (there are two features) a hyperplane is a line</a:t>
                </a:r>
                <a:endParaRPr sz="3000"/>
              </a:p>
            </p:txBody>
          </p:sp>
        </mc:Choice>
        <mc:Fallback>
          <p:sp>
            <p:nvSpPr>
              <p:cNvPr id="159" name="A hyperplane is a generalization of a line in   dimension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117" r="-21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Hyperpla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Hyperplanes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hp_b.png" descr="hp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112063"/>
            <a:ext cx="13004801" cy="3612445"/>
          </a:xfrm>
          <a:prstGeom prst="rect">
            <a:avLst/>
          </a:prstGeom>
          <a:ln w="12700">
            <a:miter lim="400000"/>
          </a:ln>
        </p:spPr>
      </p:pic>
      <p:pic>
        <p:nvPicPr>
          <p:cNvPr id="163" name="hp_w.png" descr="h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795236"/>
            <a:ext cx="13004801" cy="3612446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Changing"/>
              <p:cNvSpPr txBox="1"/>
              <p:nvPr/>
            </p:nvSpPr>
            <p:spPr>
              <a:xfrm>
                <a:off x="589639" y="335108"/>
                <a:ext cx="2002440" cy="63274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50800" tIns="50800" rIns="50800" bIns="50800" anchor="ctr">
                <a:spAutoFit/>
              </a:bodyPr>
              <a:lstStyle/>
              <a:p>
                <a:r>
                  <a:t>Changing </a:t>
                </a:r>
                <a14:m>
                  <m:oMath xmlns:m="http://schemas.openxmlformats.org/officeDocument/2006/math">
                    <m:r>
                      <a:rPr sz="3050" i="1">
                        <a:solidFill>
                          <a:srgbClr val="5E5E5E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164" name="Changin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39" y="335108"/>
                <a:ext cx="2002440" cy="632746"/>
              </a:xfrm>
              <a:prstGeom prst="rect">
                <a:avLst/>
              </a:prstGeom>
              <a:blipFill>
                <a:blip r:embed="rId4"/>
                <a:stretch>
                  <a:fillRect l="-8232" b="-2019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5" name="Changing"/>
              <p:cNvSpPr txBox="1"/>
              <p:nvPr/>
            </p:nvSpPr>
            <p:spPr>
              <a:xfrm>
                <a:off x="589639" y="5041088"/>
                <a:ext cx="2088761" cy="63274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50800" tIns="50800" rIns="50800" bIns="50800" anchor="ctr">
                <a:spAutoFit/>
              </a:bodyPr>
              <a:lstStyle/>
              <a:p>
                <a:r>
                  <a:t>Changing </a:t>
                </a:r>
                <a14:m>
                  <m:oMath xmlns:m="http://schemas.openxmlformats.org/officeDocument/2006/math">
                    <m:r>
                      <a:rPr sz="3050" i="1">
                        <a:solidFill>
                          <a:srgbClr val="5E5E5E"/>
                        </a:solidFill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165" name="Changin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39" y="5041088"/>
                <a:ext cx="2088761" cy="632746"/>
              </a:xfrm>
              <a:prstGeom prst="rect">
                <a:avLst/>
              </a:prstGeom>
              <a:blipFill>
                <a:blip r:embed="rId5"/>
                <a:stretch>
                  <a:fillRect l="-7895" b="-2019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High-level view of SV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High-level view of SVM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he main idea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main idea:</a:t>
            </a:r>
          </a:p>
          <a:p>
            <a:pPr lvl="1"/>
            <a:r>
              <a:t>Find the hyperplane that </a:t>
            </a:r>
            <a:r>
              <a:rPr b="1"/>
              <a:t>completely</a:t>
            </a:r>
            <a:r>
              <a:t> and </a:t>
            </a:r>
            <a:r>
              <a:rPr b="1"/>
              <a:t>optimally</a:t>
            </a:r>
            <a:r>
              <a:t> separates two classes in a feature space</a:t>
            </a:r>
          </a:p>
        </p:txBody>
      </p:sp>
      <p:sp>
        <p:nvSpPr>
          <p:cNvPr id="170" name="Introduction to SV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Introduction to SVM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Consider two linearly separable groups…"/>
          <p:cNvSpPr txBox="1">
            <a:spLocks noGrp="1"/>
          </p:cNvSpPr>
          <p:nvPr>
            <p:ph type="body" idx="1"/>
          </p:nvPr>
        </p:nvSpPr>
        <p:spPr>
          <a:xfrm>
            <a:off x="698500" y="1937620"/>
            <a:ext cx="11607800" cy="7640537"/>
          </a:xfrm>
          <a:prstGeom prst="rect">
            <a:avLst/>
          </a:prstGeom>
        </p:spPr>
        <p:txBody>
          <a:bodyPr/>
          <a:lstStyle/>
          <a:p>
            <a:r>
              <a:t>Consider two linearly separable groups </a:t>
            </a:r>
          </a:p>
          <a:p>
            <a:pPr lvl="1"/>
            <a:r>
              <a:t>groups can be separated with a </a:t>
            </a:r>
            <a:r>
              <a:rPr>
                <a:solidFill>
                  <a:srgbClr val="FF7E79"/>
                </a:solidFill>
              </a:rPr>
              <a:t>hyperplane</a:t>
            </a:r>
          </a:p>
          <a:p>
            <a:r>
              <a:t>Which line (hyperplane) is the “best” separator? </a:t>
            </a:r>
          </a:p>
        </p:txBody>
      </p:sp>
      <p:sp>
        <p:nvSpPr>
          <p:cNvPr id="173" name="Separate the group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Separate the group</a:t>
            </a:r>
          </a:p>
        </p:txBody>
      </p:sp>
      <p:pic>
        <p:nvPicPr>
          <p:cNvPr id="174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" y="5104841"/>
            <a:ext cx="12446000" cy="44577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he main idea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main idea:</a:t>
            </a:r>
          </a:p>
          <a:p>
            <a:pPr lvl="1"/>
            <a:r>
              <a:t>Find the hyperplane that </a:t>
            </a:r>
            <a:r>
              <a:rPr b="1"/>
              <a:t>completely</a:t>
            </a:r>
            <a:r>
              <a:t> and </a:t>
            </a:r>
            <a:r>
              <a:rPr b="1"/>
              <a:t>optimally</a:t>
            </a:r>
            <a:r>
              <a:t> separates two classes in a feature space</a:t>
            </a:r>
          </a:p>
        </p:txBody>
      </p:sp>
      <p:sp>
        <p:nvSpPr>
          <p:cNvPr id="177" name="Introduction to SV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Introduction to SVM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he main idea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main idea:</a:t>
            </a:r>
          </a:p>
          <a:p>
            <a:pPr lvl="1">
              <a:defRPr>
                <a:solidFill>
                  <a:srgbClr val="A9A9A9"/>
                </a:solidFill>
              </a:defRPr>
            </a:pPr>
            <a:r>
              <a:t>Find the hyperplane that completely and optimally separates two classes in a feature space</a:t>
            </a:r>
          </a:p>
          <a:p>
            <a:pPr lvl="1"/>
            <a:r>
              <a:t>If there is</a:t>
            </a:r>
            <a:r>
              <a:rPr b="1"/>
              <a:t> no such hyperplane</a:t>
            </a:r>
            <a:r>
              <a:t> (because classes aren’t linearly separably)  </a:t>
            </a:r>
          </a:p>
          <a:p>
            <a:pPr marL="1600200" lvl="2" indent="-533400">
              <a:buClrTx/>
              <a:buSzPct val="100000"/>
              <a:buAutoNum type="arabicPeriod"/>
            </a:pPr>
            <a:r>
              <a:t>Soften the definition of “completely separates” </a:t>
            </a:r>
          </a:p>
          <a:p>
            <a:pPr marL="1600200" lvl="2" indent="-533400">
              <a:buClrTx/>
              <a:buSzPct val="100000"/>
              <a:buAutoNum type="arabicPeriod"/>
            </a:pPr>
            <a:r>
              <a:t>Expand the feature space so that separation is possible </a:t>
            </a:r>
          </a:p>
        </p:txBody>
      </p:sp>
      <p:sp>
        <p:nvSpPr>
          <p:cNvPr id="180" name="Introduction to SV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Introduction to SVM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Maximal margin (or hard margin)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Maximal margin (or hard margin) classifier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Maximal Margin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Maximal Margin Classifier </a:t>
            </a:r>
          </a:p>
        </p:txBody>
      </p:sp>
      <p:pic>
        <p:nvPicPr>
          <p:cNvPr id="185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296" y="4307357"/>
            <a:ext cx="6818208" cy="5157363"/>
          </a:xfrm>
          <a:prstGeom prst="rect">
            <a:avLst/>
          </a:prstGeom>
          <a:ln w="12700">
            <a:miter lim="400000"/>
          </a:ln>
        </p:spPr>
      </p:pic>
      <p:sp>
        <p:nvSpPr>
          <p:cNvPr id="186" name="Decision boundary is the hyperplane that is farthest from the training observations…"/>
          <p:cNvSpPr txBox="1">
            <a:spLocks noGrp="1"/>
          </p:cNvSpPr>
          <p:nvPr>
            <p:ph type="body" sz="quarter" idx="1"/>
          </p:nvPr>
        </p:nvSpPr>
        <p:spPr>
          <a:xfrm>
            <a:off x="698500" y="1937620"/>
            <a:ext cx="11607800" cy="1888384"/>
          </a:xfrm>
          <a:prstGeom prst="rect">
            <a:avLst/>
          </a:prstGeom>
        </p:spPr>
        <p:txBody>
          <a:bodyPr/>
          <a:lstStyle/>
          <a:p>
            <a:pPr marL="361950" indent="-361950" defTabSz="1647233">
              <a:spcBef>
                <a:spcPts val="3000"/>
              </a:spcBef>
              <a:defRPr sz="2850"/>
            </a:pPr>
            <a:r>
              <a:t>Decision boundary is the hyperplane that is farthest from the training observations</a:t>
            </a:r>
          </a:p>
          <a:p>
            <a:pPr marL="361950" indent="-361950" defTabSz="1647233">
              <a:spcBef>
                <a:spcPts val="3000"/>
              </a:spcBef>
              <a:defRPr sz="2850"/>
            </a:pPr>
            <a:r>
              <a:t>Fits the “widest possible street”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Maximal Margin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Maximal Margin Classifier </a:t>
            </a:r>
          </a:p>
        </p:txBody>
      </p:sp>
      <p:sp>
        <p:nvSpPr>
          <p:cNvPr id="189" name="Notice that only the points on the edge of the street matter…"/>
          <p:cNvSpPr txBox="1">
            <a:spLocks noGrp="1"/>
          </p:cNvSpPr>
          <p:nvPr>
            <p:ph type="body" sz="quarter" idx="1"/>
          </p:nvPr>
        </p:nvSpPr>
        <p:spPr>
          <a:xfrm>
            <a:off x="698500" y="1937620"/>
            <a:ext cx="11607800" cy="1888384"/>
          </a:xfrm>
          <a:prstGeom prst="rect">
            <a:avLst/>
          </a:prstGeom>
        </p:spPr>
        <p:txBody>
          <a:bodyPr/>
          <a:lstStyle/>
          <a:p>
            <a:pPr marL="361950" indent="-361950" defTabSz="1647233">
              <a:spcBef>
                <a:spcPts val="3000"/>
              </a:spcBef>
              <a:defRPr sz="2850"/>
            </a:pPr>
            <a:r>
              <a:t>Notice that only the points on the edge of the street matter</a:t>
            </a:r>
          </a:p>
          <a:p>
            <a:pPr marL="361950" indent="-361950" defTabSz="1647233">
              <a:spcBef>
                <a:spcPts val="3000"/>
              </a:spcBef>
              <a:defRPr sz="2850"/>
            </a:pPr>
            <a:r>
              <a:t>These are called support vectors (decision boundary is supported by these instances)</a:t>
            </a:r>
          </a:p>
        </p:txBody>
      </p:sp>
      <p:pic>
        <p:nvPicPr>
          <p:cNvPr id="190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800" y="4307357"/>
            <a:ext cx="6886151" cy="5208756"/>
          </a:xfrm>
          <a:prstGeom prst="rect">
            <a:avLst/>
          </a:prstGeom>
          <a:ln w="12700">
            <a:miter lim="400000"/>
          </a:ln>
        </p:spPr>
      </p:pic>
      <p:sp>
        <p:nvSpPr>
          <p:cNvPr id="191" name="The support vectors are just points in this two dimensional feature space, but in higher dimensions, they will be actual vectors."/>
          <p:cNvSpPr txBox="1"/>
          <p:nvPr/>
        </p:nvSpPr>
        <p:spPr>
          <a:xfrm>
            <a:off x="290843" y="5317735"/>
            <a:ext cx="2628148" cy="267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2100"/>
            </a:pPr>
            <a:r>
              <a:t>The support </a:t>
            </a:r>
            <a:r>
              <a:rPr>
                <a:solidFill>
                  <a:srgbClr val="FF7E79"/>
                </a:solidFill>
              </a:rPr>
              <a:t>vectors</a:t>
            </a:r>
            <a:r>
              <a:t> are just points in this two dimensional feature space, but in higher dimensions, they will be actual vectors. 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93" name="The decision boundary margin is the distance between the hyperplane and the nearest data point(s) from either clas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The decision boundary margin is the distance between the hyperplane and the nearest data point(s) from either class</a:t>
                </a:r>
              </a:p>
              <a:p>
                <a:r>
                  <a:t>For a given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</m:sub>
                    </m:sSub>
                  </m:oMath>
                </a14:m>
                <a:r>
                  <a:t> with label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(+1 or -1) the distance to the margin can be computed by </a:t>
                </a:r>
                <a:br/>
                <a:br/>
                <a14:m>
                  <m:oMath xmlns:m="http://schemas.openxmlformats.org/officeDocument/2006/math">
                    <m:f>
                      <m:f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𝐰</m:t>
                        </m:r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𝐢</m:t>
                            </m:r>
                          </m:sub>
                        </m:s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||</m:t>
                        </m:r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||</m:t>
                        </m:r>
                      </m:den>
                    </m:f>
                  </m:oMath>
                </a14:m>
                <a:br/>
                <a:endParaRPr/>
              </a:p>
              <a:p>
                <a:r>
                  <a:t>We want to find the largest margin by maximizing</a:t>
                </a:r>
                <a:br/>
                <a:br/>
                <a: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||</m:t>
                        </m:r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𝐰</m:t>
                        </m:r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||</m:t>
                        </m:r>
                      </m:den>
                    </m:f>
                  </m:oMath>
                </a14:m>
                <a:r>
                  <a:t> which is equivalent to minimizing </a:t>
                </a:r>
                <a14:m>
                  <m:oMath xmlns:m="http://schemas.openxmlformats.org/officeDocument/2006/math">
                    <m:f>
                      <m:f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||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t>or </a:t>
                </a:r>
                <a14:m>
                  <m:oMath xmlns:m="http://schemas.openxmlformats.org/officeDocument/2006/math">
                    <m:f>
                      <m:f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193" name="The decision boundary margin is the distance between the hyperplane and the nearest data point(s) from either clas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 r="-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Margi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Margins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02" name="Sometimes you’ll see the term “hinge loss” in connection with SVM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Sometimes you’ll see the term “hinge loss” in connection with SVM</a:t>
                </a:r>
              </a:p>
              <a:p>
                <a:r>
                  <a:t>For and individual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with label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, the hinge loss is</a:t>
                </a:r>
                <a:br/>
                <a:br/>
                <a14:m>
                  <m:oMath xmlns:m="http://schemas.openxmlformats.org/officeDocument/2006/math">
                    <m:r>
                      <m:rPr>
                        <m:nor/>
                      </m:rP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loss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𝑚𝑎𝑥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(0,1−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/>
              </a:p>
              <a:p>
                <a:r>
                  <a:t>When summed across all data points we get the hard margin cost function</a:t>
                </a:r>
              </a:p>
            </p:txBody>
          </p:sp>
        </mc:Choice>
        <mc:Fallback>
          <p:sp>
            <p:nvSpPr>
              <p:cNvPr id="202" name="Sometimes you’ll see the term “hinge loss” in connection with SVM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3" name="Hinge Los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Hinge Loss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What if a separating hyperplane does not exist?…"/>
          <p:cNvSpPr txBox="1">
            <a:spLocks noGrp="1"/>
          </p:cNvSpPr>
          <p:nvPr>
            <p:ph type="body" sz="quarter" idx="1"/>
          </p:nvPr>
        </p:nvSpPr>
        <p:spPr>
          <a:xfrm>
            <a:off x="698500" y="1924756"/>
            <a:ext cx="11607800" cy="2150117"/>
          </a:xfrm>
          <a:prstGeom prst="rect">
            <a:avLst/>
          </a:prstGeom>
        </p:spPr>
        <p:txBody>
          <a:bodyPr/>
          <a:lstStyle/>
          <a:p>
            <a:r>
              <a:t>What if a separating hyperplane does not exist?</a:t>
            </a:r>
          </a:p>
          <a:p>
            <a:r>
              <a:t>Then there is no maximum marginal classifier </a:t>
            </a:r>
          </a:p>
        </p:txBody>
      </p:sp>
      <p:sp>
        <p:nvSpPr>
          <p:cNvPr id="206" name="Potential proble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Potential problems </a:t>
            </a:r>
          </a:p>
        </p:txBody>
      </p:sp>
      <p:pic>
        <p:nvPicPr>
          <p:cNvPr id="207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300" y="4308295"/>
            <a:ext cx="6934200" cy="52451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oft Margin SV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Soft Margin SVM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In this case, a natural generalization would be to allow some points to spill into the “street” or margin"/>
          <p:cNvSpPr txBox="1">
            <a:spLocks noGrp="1"/>
          </p:cNvSpPr>
          <p:nvPr>
            <p:ph type="body" sz="half" idx="1"/>
          </p:nvPr>
        </p:nvSpPr>
        <p:spPr>
          <a:xfrm>
            <a:off x="698500" y="1924756"/>
            <a:ext cx="11607800" cy="2405122"/>
          </a:xfrm>
          <a:prstGeom prst="rect">
            <a:avLst/>
          </a:prstGeom>
        </p:spPr>
        <p:txBody>
          <a:bodyPr/>
          <a:lstStyle/>
          <a:p>
            <a:r>
              <a:t>In this case, a natural generalization would be to allow some points to spill into the “street” or margin</a:t>
            </a:r>
          </a:p>
        </p:txBody>
      </p:sp>
      <p:sp>
        <p:nvSpPr>
          <p:cNvPr id="212" name="Potential proble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Potential problems </a:t>
            </a:r>
          </a:p>
        </p:txBody>
      </p:sp>
      <p:pic>
        <p:nvPicPr>
          <p:cNvPr id="213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300" y="4306173"/>
            <a:ext cx="6934200" cy="52451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Hyper-parameter C controls the width of the road and the amount of over-spill that is allowed…"/>
          <p:cNvSpPr txBox="1">
            <a:spLocks noGrp="1"/>
          </p:cNvSpPr>
          <p:nvPr>
            <p:ph type="body" sz="half" idx="1"/>
          </p:nvPr>
        </p:nvSpPr>
        <p:spPr>
          <a:xfrm>
            <a:off x="698500" y="1924756"/>
            <a:ext cx="11607800" cy="3823800"/>
          </a:xfrm>
          <a:prstGeom prst="rect">
            <a:avLst/>
          </a:prstGeom>
        </p:spPr>
        <p:txBody>
          <a:bodyPr/>
          <a:lstStyle/>
          <a:p>
            <a:r>
              <a:t>Hyper-parameter </a:t>
            </a:r>
            <a:r>
              <a:rPr b="1"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t> controls the width of the road and the amount of over-spill that is allowed</a:t>
            </a:r>
          </a:p>
          <a:p>
            <a:r>
              <a:t>When </a:t>
            </a:r>
            <a:r>
              <a:rPr b="1">
                <a:latin typeface="Courier"/>
                <a:ea typeface="Courier"/>
                <a:cs typeface="Courier"/>
                <a:sym typeface="Courier"/>
              </a:rPr>
              <a:t>C</a:t>
            </a:r>
            <a:r>
              <a:t> is small, the margin is wider and more points are involved in determining the direction of the boundary </a:t>
            </a:r>
          </a:p>
        </p:txBody>
      </p:sp>
      <p:sp>
        <p:nvSpPr>
          <p:cNvPr id="216" name="Support Vector Classifier  (Soft margin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Support Vector Classifier  (Soft margin) </a:t>
            </a:r>
          </a:p>
        </p:txBody>
      </p:sp>
      <p:pic>
        <p:nvPicPr>
          <p:cNvPr id="217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7587" y="6217045"/>
            <a:ext cx="4483057" cy="3391031"/>
          </a:xfrm>
          <a:prstGeom prst="rect">
            <a:avLst/>
          </a:prstGeom>
          <a:ln w="12700">
            <a:miter lim="400000"/>
          </a:ln>
        </p:spPr>
      </p:pic>
      <p:pic>
        <p:nvPicPr>
          <p:cNvPr id="218" name="pasted-image.tiff" descr="pasted-image.tif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655" y="6217045"/>
            <a:ext cx="4483057" cy="3391031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C=1"/>
          <p:cNvSpPr txBox="1"/>
          <p:nvPr/>
        </p:nvSpPr>
        <p:spPr>
          <a:xfrm>
            <a:off x="6232037" y="5634482"/>
            <a:ext cx="685894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5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C=1</a:t>
            </a:r>
          </a:p>
        </p:txBody>
      </p:sp>
      <p:sp>
        <p:nvSpPr>
          <p:cNvPr id="220" name="C=10"/>
          <p:cNvSpPr txBox="1"/>
          <p:nvPr/>
        </p:nvSpPr>
        <p:spPr>
          <a:xfrm>
            <a:off x="10320903" y="5634482"/>
            <a:ext cx="876425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5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C=10</a:t>
            </a:r>
          </a:p>
        </p:txBody>
      </p:sp>
      <p:pic>
        <p:nvPicPr>
          <p:cNvPr id="221" name="pasted-image.tiff" descr="pasted-image.tif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" y="6217045"/>
            <a:ext cx="4483057" cy="3391031"/>
          </a:xfrm>
          <a:prstGeom prst="rect">
            <a:avLst/>
          </a:prstGeom>
          <a:ln w="12700">
            <a:miter lim="400000"/>
          </a:ln>
        </p:spPr>
      </p:pic>
      <p:sp>
        <p:nvSpPr>
          <p:cNvPr id="222" name="C=0.1"/>
          <p:cNvSpPr txBox="1"/>
          <p:nvPr/>
        </p:nvSpPr>
        <p:spPr>
          <a:xfrm>
            <a:off x="1902738" y="5634482"/>
            <a:ext cx="1066956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5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C=0.1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24" name="In soft margin SVM, we introduce slack variables,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791" y="1924756"/>
                <a:ext cx="11763509" cy="7640537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In soft margin SVM, we introduce slack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sz="32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measures the degree to which a particular data point violates the margin constraint</a:t>
                </a:r>
              </a:p>
              <a:p>
                <a:r>
                  <a:t>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</m:sub>
                    </m:sSub>
                  </m:oMath>
                </a14:m>
                <a:endParaRPr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sz="32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t>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is correctly classified and outside the margin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0&lt;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t>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lies inside the margin but is correctly classified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sz="32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t>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32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is misclassified</a:t>
                </a:r>
              </a:p>
            </p:txBody>
          </p:sp>
        </mc:Choice>
        <mc:Fallback>
          <p:sp>
            <p:nvSpPr>
              <p:cNvPr id="224" name="In soft margin SVM, we introduce slack variables,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791" y="1924756"/>
                <a:ext cx="11763509" cy="7640537"/>
              </a:xfrm>
              <a:prstGeom prst="rect">
                <a:avLst/>
              </a:prstGeom>
              <a:blipFill>
                <a:blip r:embed="rId2"/>
                <a:stretch>
                  <a:fillRect l="-1295" t="-1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" name="Slack Variabl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Slack Variables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he points inside the margin (or points wrongly misclassified, if any) are the support vectors…"/>
          <p:cNvSpPr txBox="1">
            <a:spLocks noGrp="1"/>
          </p:cNvSpPr>
          <p:nvPr>
            <p:ph type="body" idx="1"/>
          </p:nvPr>
        </p:nvSpPr>
        <p:spPr>
          <a:xfrm>
            <a:off x="698500" y="1924756"/>
            <a:ext cx="11607800" cy="7309643"/>
          </a:xfrm>
          <a:prstGeom prst="rect">
            <a:avLst/>
          </a:prstGeom>
        </p:spPr>
        <p:txBody>
          <a:bodyPr/>
          <a:lstStyle/>
          <a:p>
            <a:pPr marL="373380" indent="-373380" defTabSz="1699251">
              <a:spcBef>
                <a:spcPts val="3100"/>
              </a:spcBef>
              <a:defRPr sz="2940"/>
            </a:pPr>
            <a:r>
              <a:t>The points inside the margin (or points wrongly misclassified, if any) are the support vectors</a:t>
            </a:r>
          </a:p>
          <a:p>
            <a:pPr marL="995680" lvl="1" indent="-373380" defTabSz="1699251">
              <a:spcBef>
                <a:spcPts val="3100"/>
              </a:spcBef>
              <a:defRPr sz="2940" b="1"/>
            </a:pPr>
            <a:r>
              <a:t>Only these points effect the decision boundary</a:t>
            </a:r>
            <a:br/>
            <a:r>
              <a:t>(the support vectors influence the position and orientation of the hyperplane)  </a:t>
            </a:r>
          </a:p>
          <a:p>
            <a:pPr marL="995680" lvl="1" indent="-373380" defTabSz="1699251">
              <a:spcBef>
                <a:spcPts val="3100"/>
              </a:spcBef>
              <a:defRPr sz="2940"/>
            </a:pPr>
            <a:r>
              <a:t>When C is small, the street is wider so more points are involved in making the decision boundary </a:t>
            </a:r>
          </a:p>
          <a:p>
            <a:pPr marL="1617980" lvl="2" indent="-373380" defTabSz="1699251">
              <a:spcBef>
                <a:spcPts val="3100"/>
              </a:spcBef>
              <a:defRPr sz="2940"/>
            </a:pPr>
            <a:r>
              <a:t>Can lead to underfitting</a:t>
            </a:r>
          </a:p>
          <a:p>
            <a:pPr marL="995680" lvl="1" indent="-373380" defTabSz="1699251">
              <a:spcBef>
                <a:spcPts val="3100"/>
              </a:spcBef>
              <a:defRPr sz="2940"/>
            </a:pPr>
            <a:r>
              <a:t>When C is large, the street more narrow so fewer points are involved in making the decision boundary </a:t>
            </a:r>
          </a:p>
          <a:p>
            <a:pPr marL="1617980" lvl="2" indent="-373380" defTabSz="1699251">
              <a:spcBef>
                <a:spcPts val="3100"/>
              </a:spcBef>
              <a:defRPr sz="2940"/>
            </a:pPr>
            <a:r>
              <a:t>Can lead to overfitting</a:t>
            </a:r>
          </a:p>
        </p:txBody>
      </p:sp>
      <p:sp>
        <p:nvSpPr>
          <p:cNvPr id="231" name="Support Vec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Support Vectors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Non-linearly separable dat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Non-linearly separable data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Non-linearly Separab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Non-linearly Separable </a:t>
            </a:r>
          </a:p>
        </p:txBody>
      </p:sp>
      <p:sp>
        <p:nvSpPr>
          <p:cNvPr id="236" name="Now what happens if the classes aren’t linearly separable"/>
          <p:cNvSpPr txBox="1">
            <a:spLocks noGrp="1"/>
          </p:cNvSpPr>
          <p:nvPr>
            <p:ph type="body" sz="half" idx="4294967295"/>
          </p:nvPr>
        </p:nvSpPr>
        <p:spPr>
          <a:xfrm>
            <a:off x="698500" y="1924756"/>
            <a:ext cx="11607800" cy="3076175"/>
          </a:xfrm>
          <a:prstGeom prst="rect">
            <a:avLst/>
          </a:prstGeom>
        </p:spPr>
        <p:txBody>
          <a:bodyPr/>
          <a:lstStyle/>
          <a:p>
            <a:r>
              <a:t>Now what happens if the classes aren’t linearly separable</a:t>
            </a:r>
          </a:p>
        </p:txBody>
      </p:sp>
      <p:pic>
        <p:nvPicPr>
          <p:cNvPr id="237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090" y="3973992"/>
            <a:ext cx="7496620" cy="545088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Non-linearly Separab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Non-linearly Separable </a:t>
            </a:r>
          </a:p>
        </p:txBody>
      </p:sp>
      <p:sp>
        <p:nvSpPr>
          <p:cNvPr id="240" name="One possibility is to add polynomials terms to a linear model (e.g. logistic regression)"/>
          <p:cNvSpPr txBox="1">
            <a:spLocks noGrp="1"/>
          </p:cNvSpPr>
          <p:nvPr>
            <p:ph type="body" sz="half" idx="4294967295"/>
          </p:nvPr>
        </p:nvSpPr>
        <p:spPr>
          <a:xfrm>
            <a:off x="698500" y="1924756"/>
            <a:ext cx="11607800" cy="3076175"/>
          </a:xfrm>
          <a:prstGeom prst="rect">
            <a:avLst/>
          </a:prstGeom>
        </p:spPr>
        <p:txBody>
          <a:bodyPr/>
          <a:lstStyle/>
          <a:p>
            <a:r>
              <a:t>One possibility is to add polynomials terms to a linear model (e.g. logistic regression)</a:t>
            </a:r>
          </a:p>
        </p:txBody>
      </p:sp>
      <p:pic>
        <p:nvPicPr>
          <p:cNvPr id="241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090" y="3973992"/>
            <a:ext cx="7496620" cy="545088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Non-linearly Separab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Non-linearly Separable </a:t>
            </a:r>
          </a:p>
        </p:txBody>
      </p:sp>
      <p:sp>
        <p:nvSpPr>
          <p:cNvPr id="244" name="This is the decision boundary of a logistic regression model after adding 4th order polynomials to the feature matrix"/>
          <p:cNvSpPr txBox="1">
            <a:spLocks noGrp="1"/>
          </p:cNvSpPr>
          <p:nvPr>
            <p:ph type="body" sz="quarter" idx="4294967295"/>
          </p:nvPr>
        </p:nvSpPr>
        <p:spPr>
          <a:xfrm>
            <a:off x="698500" y="1924756"/>
            <a:ext cx="11607800" cy="1927859"/>
          </a:xfrm>
          <a:prstGeom prst="rect">
            <a:avLst/>
          </a:prstGeom>
        </p:spPr>
        <p:txBody>
          <a:bodyPr/>
          <a:lstStyle/>
          <a:p>
            <a:r>
              <a:t>This is the decision boundary of a logistic regression model after adding 4th order polynomials to the feature matrix</a:t>
            </a:r>
          </a:p>
        </p:txBody>
      </p:sp>
      <p:pic>
        <p:nvPicPr>
          <p:cNvPr id="245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151" y="3761941"/>
            <a:ext cx="7496498" cy="580676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47" name="Here we can visualize how adding higher dimensions can create linear separability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98500" y="1710266"/>
                <a:ext cx="11607800" cy="7640537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Here we can visualize how adding higher dimensions can create linear separability </a:t>
                </a:r>
              </a:p>
              <a:p>
                <a:pPr lvl="1"/>
                <a:r>
                  <a:t>In 1-dimension the data is not linearly separable </a:t>
                </a:r>
              </a:p>
              <a:p>
                <a:pPr lvl="1"/>
                <a:r>
                  <a:t>After applying the transformation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t> we have linear separation</a:t>
                </a:r>
              </a:p>
            </p:txBody>
          </p:sp>
        </mc:Choice>
        <mc:Fallback>
          <p:sp>
            <p:nvSpPr>
              <p:cNvPr id="247" name="Here we can visualize how adding higher dimensions can create linear separability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98500" y="1710266"/>
                <a:ext cx="11607800" cy="7640537"/>
              </a:xfrm>
              <a:prstGeom prst="rect">
                <a:avLst/>
              </a:prstGeom>
              <a:blipFill>
                <a:blip r:embed="rId2"/>
                <a:stretch>
                  <a:fillRect l="-1313" t="-1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8" name="Exampl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Examples</a:t>
            </a:r>
          </a:p>
        </p:txBody>
      </p:sp>
      <p:pic>
        <p:nvPicPr>
          <p:cNvPr id="249" name="pasted-image.tiff" descr="pasted-image.tif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0" y="6149806"/>
            <a:ext cx="10083800" cy="34798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Another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Another Example</a:t>
            </a:r>
          </a:p>
        </p:txBody>
      </p:sp>
      <p:pic>
        <p:nvPicPr>
          <p:cNvPr id="252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58" y="3074684"/>
            <a:ext cx="12432084" cy="5868563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Another Example"/>
          <p:cNvSpPr txBox="1"/>
          <p:nvPr/>
        </p:nvSpPr>
        <p:spPr>
          <a:xfrm>
            <a:off x="349756" y="2258638"/>
            <a:ext cx="2932787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Another Example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While mapping to higher-dimensional space can create linearly separable data…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While mapping to higher-dimensional space can create linearly separable data…</a:t>
            </a:r>
          </a:p>
          <a:p>
            <a:r>
              <a:t>…It can be computationally expensive to directly compute the transformation</a:t>
            </a:r>
          </a:p>
          <a:p>
            <a:pPr lvl="1"/>
            <a:r>
              <a:t>E.g., polynomial space gets really big really fast, especially with lots of features</a:t>
            </a:r>
          </a:p>
          <a:p>
            <a:r>
              <a:t>…It is also hard to determine how many higher-dimensions to include</a:t>
            </a:r>
          </a:p>
          <a:p>
            <a:r>
              <a:t>This is where SVMs and the </a:t>
            </a:r>
            <a:r>
              <a:rPr b="1">
                <a:solidFill>
                  <a:srgbClr val="941751"/>
                </a:solidFill>
              </a:rPr>
              <a:t>Kernel Trick</a:t>
            </a:r>
            <a:r>
              <a:t> come to the rescue</a:t>
            </a:r>
          </a:p>
        </p:txBody>
      </p:sp>
      <p:sp>
        <p:nvSpPr>
          <p:cNvPr id="256" name="A solution and a proble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A solution and a problem 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upport Vector Machi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Support Vector Machines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he main idea behind SVMachines is to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main idea behind SV</a:t>
            </a:r>
            <a:r>
              <a:rPr i="1"/>
              <a:t>Machines </a:t>
            </a:r>
            <a:r>
              <a:t>is to </a:t>
            </a:r>
          </a:p>
          <a:p>
            <a:pPr lvl="1"/>
            <a:r>
              <a:t>create linear separation by expanding the feature space</a:t>
            </a:r>
          </a:p>
          <a:p>
            <a:pPr lvl="1"/>
            <a:r>
              <a:t>but in a specific way using </a:t>
            </a:r>
            <a:r>
              <a:rPr b="1">
                <a:solidFill>
                  <a:srgbClr val="941751"/>
                </a:solidFill>
              </a:rPr>
              <a:t>kernels</a:t>
            </a:r>
            <a:r>
              <a:t> </a:t>
            </a:r>
            <a:r>
              <a:rPr sz="2800" i="1">
                <a:solidFill>
                  <a:srgbClr val="941751"/>
                </a:solidFill>
              </a:rPr>
              <a:t> </a:t>
            </a:r>
            <a:br>
              <a:rPr sz="2800" i="1">
                <a:solidFill>
                  <a:srgbClr val="941751"/>
                </a:solidFill>
              </a:rPr>
            </a:br>
            <a:r>
              <a:rPr sz="2800" i="1">
                <a:solidFill>
                  <a:srgbClr val="941751"/>
                </a:solidFill>
              </a:rPr>
              <a:t>- a computationally efficient trick for expanding the feature space</a:t>
            </a:r>
          </a:p>
          <a:p>
            <a:pPr marL="990600" lvl="1" indent="-355600"/>
            <a:r>
              <a:rPr sz="2800"/>
              <a:t>this is called the </a:t>
            </a:r>
            <a:r>
              <a:rPr sz="2800" b="1"/>
              <a:t>kernel trick</a:t>
            </a:r>
            <a:r>
              <a:rPr sz="2800"/>
              <a:t> </a:t>
            </a:r>
          </a:p>
        </p:txBody>
      </p:sp>
      <p:sp>
        <p:nvSpPr>
          <p:cNvPr id="261" name="Support Vector Machi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Support Vector Machines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63" name="Given two vectors in n-dimensional space:    and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Given two vectors in n-dimensional space:</a:t>
                </a:r>
                <a:br/>
                <a:br/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t> and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/>
              </a:p>
              <a:p>
                <a:r>
                  <a:t>The dot product between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</m:oMath>
                </a14:m>
                <a:r>
                  <a:t> and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t> is </a:t>
                </a:r>
                <a:br/>
                <a:br/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⟨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⟩=</m:t>
                    </m:r>
                    <m:limUpp>
                      <m:limUp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3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263" name="Given two vectors in n-dimensional space:    and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4" name="Dot Produc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Dot Products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69" name="The dot product of the transformed vectors is equal square of the dot product of the original vector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The dot product of the transformed vectors is equal square of the dot product of the original vectors </a:t>
                </a:r>
              </a:p>
              <a:p>
                <a:r>
                  <a:t>Or in other words: </a:t>
                </a:r>
                <a:br/>
                <a:br/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)=(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/>
              </a:p>
              <a:p>
                <a:r>
                  <a:t>In machine learning, a </a:t>
                </a:r>
                <a:r>
                  <a:rPr b="1">
                    <a:solidFill>
                      <a:srgbClr val="FF7E79"/>
                    </a:solidFill>
                  </a:rPr>
                  <a:t>kernel function</a:t>
                </a:r>
                <a:r>
                  <a:rPr>
                    <a:solidFill>
                      <a:srgbClr val="FF7E79"/>
                    </a:solidFill>
                  </a:rPr>
                  <a:t>,</a:t>
                </a:r>
                <a:r>
                  <a:rPr b="1">
                    <a:solidFill>
                      <a:srgbClr val="FF7E7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FF7D7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sz="3250" i="1">
                        <a:solidFill>
                          <a:srgbClr val="FF7D78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FF7D78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FF7D7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FF7D78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FF7D78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>
                    <a:solidFill>
                      <a:srgbClr val="FF7E79"/>
                    </a:solidFill>
                  </a:rPr>
                  <a:t>,</a:t>
                </a:r>
                <a:r>
                  <a:t> is a function capable of computing the dot product between two transformed vectors based only on the original vectors </a:t>
                </a:r>
                <a:r>
                  <a:rPr b="1"/>
                  <a:t>without having to compute the transformation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br>
                  <a:rPr b="1"/>
                </a:br>
                <a:br/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/>
                <a:endParaRPr/>
              </a:p>
            </p:txBody>
          </p:sp>
        </mc:Choice>
        <mc:Fallback>
          <p:sp>
            <p:nvSpPr>
              <p:cNvPr id="269" name="The dot product of the transformed vectors is equal square of the dot product of the original vector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 r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Results from previous slid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Results from previous slide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72" name="The previous example uses the 2nd order polynomial kernel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The previous example uses the 2nd order polynomial kernel</a:t>
                </a:r>
              </a:p>
              <a:p>
                <a:r>
                  <a:t>Common kernels:</a:t>
                </a:r>
              </a:p>
              <a:p>
                <a:pPr lvl="1"/>
                <a:r>
                  <a:t>Linear: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endParaRPr/>
              </a:p>
              <a:p>
                <a:pPr lvl="1"/>
                <a:r>
                  <a:t>Polynomial: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/>
              </a:p>
              <a:p>
                <a:pPr lvl="1"/>
                <a:r>
                  <a:t>Gaussian RBF: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(−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(||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272" name="The previous example uses the 2nd order polynomial kernel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3" name="Common Kerne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Common Kernels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rimal vs Dual Problem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Primal vs Dual Problem</a:t>
            </a:r>
          </a:p>
          <a:p>
            <a:pPr lvl="1"/>
            <a:r>
              <a:t>Given a constrained optimization problem (the primal problem) …</a:t>
            </a:r>
          </a:p>
          <a:p>
            <a:pPr lvl="1"/>
            <a:r>
              <a:t>…It is possible to express a different but related problem, called the dual problem</a:t>
            </a:r>
          </a:p>
          <a:p>
            <a:pPr lvl="1"/>
            <a:r>
              <a:t>The dual problem is usually faster to solve</a:t>
            </a:r>
          </a:p>
          <a:p>
            <a:pPr lvl="1"/>
            <a:r>
              <a:t>But the dual problem typically gives a lower bound to the solution of the primal problem</a:t>
            </a:r>
          </a:p>
          <a:p>
            <a:pPr lvl="1"/>
            <a:r>
              <a:t>Under some conditions, the primal and dual problems have the same solution and SVM meets these conditions</a:t>
            </a:r>
          </a:p>
        </p:txBody>
      </p:sp>
      <p:sp>
        <p:nvSpPr>
          <p:cNvPr id="276" name="So how does this all fit in to SVM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So how does this all fit in to SVM?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If you’ve never taken an optimization class, the concept of primal vs dual can be a little confusing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If you’ve never taken an optimization class, the concept of primal vs dual can be a little confusing</a:t>
            </a:r>
          </a:p>
          <a:p>
            <a:r>
              <a:t>The dual formulation is basically the expression of the optimization problem in terms of Lagrange multipliers</a:t>
            </a:r>
          </a:p>
          <a:p>
            <a:r>
              <a:t>HOML give some of the formulas for going back and forth between the primal and dual problems </a:t>
            </a:r>
          </a:p>
          <a:p>
            <a:r>
              <a:t>Quote from Book:  </a:t>
            </a:r>
            <a:br/>
            <a:r>
              <a:rPr>
                <a:solidFill>
                  <a:srgbClr val="FF7E79"/>
                </a:solidFill>
              </a:rPr>
              <a:t>If you are starting to get a headache, that’s perfectly normal: it’s an unfortunate side effect of the kernel trick</a:t>
            </a:r>
          </a:p>
        </p:txBody>
      </p:sp>
      <p:sp>
        <p:nvSpPr>
          <p:cNvPr id="290" name="Math is coo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Math is cool 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A kernel function replaces the dot product in the SVM objective funct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kernel function replaces the dot product in the SVM objective function</a:t>
            </a:r>
          </a:p>
          <a:p>
            <a:r>
              <a:t>By using the kernelized version</a:t>
            </a:r>
          </a:p>
          <a:p>
            <a:pPr lvl="1"/>
            <a:r>
              <a:t>we implicitly map the input data into higher-dimensions…</a:t>
            </a:r>
          </a:p>
          <a:p>
            <a:pPr lvl="1"/>
            <a:r>
              <a:t>…where it might be linearly separable</a:t>
            </a:r>
          </a:p>
          <a:p>
            <a:pPr lvl="1"/>
            <a:r>
              <a:t>…without needing to perform the transformation explicitly </a:t>
            </a:r>
          </a:p>
        </p:txBody>
      </p:sp>
      <p:sp>
        <p:nvSpPr>
          <p:cNvPr id="293" name="Summary of the Kernel Trick in SVM"/>
          <p:cNvSpPr txBox="1">
            <a:spLocks noGrp="1"/>
          </p:cNvSpPr>
          <p:nvPr>
            <p:ph type="title"/>
          </p:nvPr>
        </p:nvSpPr>
        <p:spPr>
          <a:xfrm>
            <a:off x="698500" y="439092"/>
            <a:ext cx="11607800" cy="1016001"/>
          </a:xfrm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Summary of the Kernel Trick in SVM  </a:t>
            </a:r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aussian RBF Kern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Gaussian RBF Kernel</a:t>
            </a: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97" name="The Gaussian RBF kernel is very popular and is the default for the SVC and SVR functions in sklearn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98500" y="2018738"/>
                <a:ext cx="11607800" cy="7372318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The Gaussian RBF kernel is very popular and is the default for the </a:t>
                </a:r>
                <a:r>
                  <a:rPr b="1">
                    <a:latin typeface="Courier New"/>
                    <a:ea typeface="Courier New"/>
                    <a:cs typeface="Courier New"/>
                    <a:sym typeface="Courier New"/>
                  </a:rPr>
                  <a:t>SVC</a:t>
                </a:r>
                <a:r>
                  <a:t> and </a:t>
                </a:r>
                <a:r>
                  <a:rPr b="1">
                    <a:latin typeface="Courier New"/>
                    <a:ea typeface="Courier New"/>
                    <a:cs typeface="Courier New"/>
                    <a:sym typeface="Courier New"/>
                  </a:rPr>
                  <a:t>SVR</a:t>
                </a:r>
                <a:r>
                  <a:t> functions in sklearn</a:t>
                </a:r>
              </a:p>
              <a:p>
                <a:pPr/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(−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(||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297" name="The Gaussian RBF kernel is very popular and is the default for the SVC and SVR functions in sklearn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98500" y="2018738"/>
                <a:ext cx="11607800" cy="7372318"/>
              </a:xfrm>
              <a:prstGeom prst="rect">
                <a:avLst/>
              </a:prstGeom>
              <a:blipFill>
                <a:blip r:embed="rId2"/>
                <a:stretch>
                  <a:fillRect l="-1313" t="-1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8" name="More about the RBF Kern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More about the RBF Kernel</a:t>
            </a:r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Main idea…"/>
          <p:cNvSpPr txBox="1">
            <a:spLocks noGrp="1"/>
          </p:cNvSpPr>
          <p:nvPr>
            <p:ph type="body" idx="1"/>
          </p:nvPr>
        </p:nvSpPr>
        <p:spPr>
          <a:xfrm>
            <a:off x="698500" y="2018738"/>
            <a:ext cx="11607800" cy="7372318"/>
          </a:xfrm>
          <a:prstGeom prst="rect">
            <a:avLst/>
          </a:prstGeom>
        </p:spPr>
        <p:txBody>
          <a:bodyPr/>
          <a:lstStyle/>
          <a:p>
            <a:r>
              <a:t>Main idea</a:t>
            </a:r>
          </a:p>
          <a:p>
            <a:pPr lvl="1"/>
            <a:r>
              <a:t>Rather than add polynomial features, we can also add “similarity” features </a:t>
            </a:r>
          </a:p>
          <a:p>
            <a:pPr lvl="1"/>
            <a:r>
              <a:t>The “similarity” features will also transform to a higher dimension</a:t>
            </a:r>
          </a:p>
          <a:p>
            <a:pPr lvl="2"/>
            <a:r>
              <a:t>Similarity features represent the similarity between two or more data points</a:t>
            </a:r>
          </a:p>
          <a:p>
            <a:pPr lvl="2"/>
            <a:r>
              <a:t>For example we can add features based on the RBF similarity function from several arbitrary landmarks </a:t>
            </a:r>
          </a:p>
          <a:p>
            <a:pPr lvl="2"/>
            <a:r>
              <a:t>RBF kernel corresponds to infinite-dimensional space</a:t>
            </a:r>
          </a:p>
        </p:txBody>
      </p:sp>
      <p:sp>
        <p:nvSpPr>
          <p:cNvPr id="301" name="More about the RBF Kern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More about the RBF Kernel</a:t>
            </a: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03" name="Example where original features space is 1-dimensional (just  )…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698500" y="5942499"/>
                <a:ext cx="11607800" cy="3844258"/>
              </a:xfrm>
              <a:prstGeom prst="rect">
                <a:avLst/>
              </a:prstGeom>
            </p:spPr>
            <p:txBody>
              <a:bodyPr/>
              <a:lstStyle/>
              <a:p>
                <a:pPr marL="380999" indent="-380999">
                  <a:defRPr sz="2700"/>
                </a:pPr>
                <a:r>
                  <a:t>Example where original features space is 1-dimensional (just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t>)</a:t>
                </a:r>
              </a:p>
              <a:p>
                <a:pPr marL="380999" indent="-380999">
                  <a:defRPr sz="2700"/>
                </a:pPr>
                <a: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t> be the similarity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t> to landmark 1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t> be the similarity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t> to landmark 2</a:t>
                </a:r>
              </a:p>
              <a:p>
                <a:pPr marL="380999" indent="-380999">
                  <a:defRPr sz="2700"/>
                </a:pPr>
                <a:r>
                  <a:t>For example, if </a:t>
                </a:r>
                <a14:m>
                  <m:oMath xmlns:m="http://schemas.openxmlformats.org/officeDocument/2006/math"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r>
                  <a:t>,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/>
                <a14:m>
                  <m:oMath xmlns:m="http://schemas.openxmlformats.org/officeDocument/2006/math">
                    <m:sSub>
                      <m:sSubPr>
                        <m:ctrlPr>
                          <a:rPr sz="2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(−0.3∗</m:t>
                    </m:r>
                    <m:sSup>
                      <m:sSupPr>
                        <m:ctrlP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)≈0.74</m:t>
                    </m:r>
                  </m:oMath>
                </a14:m>
                <a:br/>
                <a14:m>
                  <m:oMath xmlns:m="http://schemas.openxmlformats.org/officeDocument/2006/math">
                    <m:sSub>
                      <m:sSubPr>
                        <m:ctrlPr>
                          <a:rPr sz="295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(−0.3∗(−2</m:t>
                    </m:r>
                    <m:sSup>
                      <m:sSupPr>
                        <m:ctrlP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sz="2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)≈0.30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303" name="Example where original features space is 1-dimensional (just  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698500" y="5942499"/>
                <a:ext cx="11607800" cy="3844258"/>
              </a:xfrm>
              <a:prstGeom prst="rect">
                <a:avLst/>
              </a:prstGeom>
              <a:blipFill>
                <a:blip r:embed="rId2"/>
                <a:stretch>
                  <a:fillRect l="-1155" t="-17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4" name="Example of Similarity Featu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Example of Similarity Features</a:t>
            </a:r>
          </a:p>
        </p:txBody>
      </p:sp>
      <p:pic>
        <p:nvPicPr>
          <p:cNvPr id="305" name="pasted-image.png" descr="pasted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467" y="1662584"/>
            <a:ext cx="11504683" cy="422599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07" name="The   parameter is sort of the inverse standard deviation of the Gaussian used to compute the similarity feature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The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parameter is sort of the inverse standard deviation of the Gaussian used to compute the similarity features</a:t>
                </a:r>
              </a:p>
              <a:p>
                <a:r>
                  <a:t>As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decreases, the standard deviation gets larger and it is easier to have a non-negligible distance from the landmark</a:t>
                </a:r>
              </a:p>
              <a:p>
                <a:pPr lvl="1"/>
                <a:r>
                  <a:t>Small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will smooth more and can lead to underfitting </a:t>
                </a:r>
              </a:p>
              <a:p>
                <a:r>
                  <a:t>As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increases, the standard deviations get smaller and it is many of the distances from the landmark will be very close to zero</a:t>
                </a:r>
              </a:p>
              <a:p>
                <a:pPr lvl="1"/>
                <a:r>
                  <a:t>Large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will capture small variations and can lead to overfitting </a:t>
                </a:r>
              </a:p>
            </p:txBody>
          </p:sp>
        </mc:Choice>
        <mc:Fallback>
          <p:sp>
            <p:nvSpPr>
              <p:cNvPr id="307" name="The   parameter is sort of the inverse standard deviation of the Gaussian used to compute the similarity feature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197" r="-2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8" name="More about the RBF Kern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More about the RBF Kernel</a:t>
            </a:r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10" name="Comparing"/>
              <p:cNvSpPr txBox="1">
                <a:spLocks noGrp="1"/>
              </p:cNvSpPr>
              <p:nvPr>
                <p:ph type="title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pPr defTabSz="1317786">
                  <a:defRPr sz="4560" spc="-91"/>
                </a:pPr>
                <a:r>
                  <a:t>Comparing </a:t>
                </a:r>
                <a14:m>
                  <m:oMath xmlns:m="http://schemas.openxmlformats.org/officeDocument/2006/math">
                    <m:r>
                      <a:rPr sz="5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endParaRPr sz="6000"/>
              </a:p>
            </p:txBody>
          </p:sp>
        </mc:Choice>
        <mc:Fallback>
          <p:sp>
            <p:nvSpPr>
              <p:cNvPr id="310" name="Comparing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2626" t="-17365" b="-2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1" name="pasted-image.tiff" descr="pasted-image.tif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53" y="1786466"/>
            <a:ext cx="5045802" cy="3908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312" name="pasted-image.tiff" descr="pasted-image.tif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453" y="5731758"/>
            <a:ext cx="5045803" cy="3908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313" name="pasted-image.tiff" descr="pasted-image.tif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9355" y="3128819"/>
            <a:ext cx="5045802" cy="3908466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14" name="Text"/>
              <p:cNvSpPr txBox="1"/>
              <p:nvPr/>
            </p:nvSpPr>
            <p:spPr>
              <a:xfrm>
                <a:off x="2582600" y="1710266"/>
                <a:ext cx="1427351" cy="632747"/>
              </a:xfrm>
              <a:prstGeom prst="rect">
                <a:avLst/>
              </a:prstGeom>
              <a:solidFill>
                <a:srgbClr val="FFFFFF"/>
              </a:solid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>
                <a:spAutoFit/>
              </a:bodyPr>
              <a:lstStyle>
                <a:lvl1pPr>
                  <a:defRPr>
                    <a:solidFill>
                      <a:srgbClr val="000000"/>
                    </a:solidFill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=0.1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4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2600" y="1710266"/>
                <a:ext cx="1427351" cy="6327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5" name="Text"/>
              <p:cNvSpPr txBox="1"/>
              <p:nvPr/>
            </p:nvSpPr>
            <p:spPr>
              <a:xfrm>
                <a:off x="2582600" y="5655297"/>
                <a:ext cx="1427351" cy="632747"/>
              </a:xfrm>
              <a:prstGeom prst="rect">
                <a:avLst/>
              </a:prstGeom>
              <a:solidFill>
                <a:srgbClr val="FFFFFF"/>
              </a:solid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>
                <a:spAutoFit/>
              </a:bodyPr>
              <a:lstStyle>
                <a:lvl1pPr>
                  <a:defRPr>
                    <a:solidFill>
                      <a:srgbClr val="000000"/>
                    </a:solidFill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5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2600" y="5655297"/>
                <a:ext cx="1427351" cy="63274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6" name="Text"/>
              <p:cNvSpPr txBox="1"/>
              <p:nvPr/>
            </p:nvSpPr>
            <p:spPr>
              <a:xfrm>
                <a:off x="8724466" y="2927585"/>
                <a:ext cx="1427352" cy="632747"/>
              </a:xfrm>
              <a:prstGeom prst="rect">
                <a:avLst/>
              </a:prstGeom>
              <a:solidFill>
                <a:srgbClr val="FFFFFF"/>
              </a:solid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>
                <a:spAutoFit/>
              </a:bodyPr>
              <a:lstStyle>
                <a:lvl1pPr>
                  <a:defRPr>
                    <a:solidFill>
                      <a:srgbClr val="000000"/>
                    </a:solidFill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sz="30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16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4466" y="2927585"/>
                <a:ext cx="1427352" cy="63274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18" name="This is a very popular kernel and is the default for the SVC function in sklearn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This is a very popular kernel and is the default for the </a:t>
                </a:r>
                <a:r>
                  <a:rPr b="1">
                    <a:latin typeface="Courier New"/>
                    <a:ea typeface="Courier New"/>
                    <a:cs typeface="Courier New"/>
                    <a:sym typeface="Courier New"/>
                  </a:rPr>
                  <a:t>SVC</a:t>
                </a:r>
                <a:r>
                  <a:t> function in sklearn</a:t>
                </a:r>
              </a:p>
              <a:p>
                <a:r>
                  <a:t>As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decreases, the standard deviation gets larger and it is easier to have a non-negligible distance from the landmark</a:t>
                </a:r>
              </a:p>
              <a:p>
                <a:pPr lvl="1"/>
                <a:r>
                  <a:t>Small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will smooth more and can lead to underfitting </a:t>
                </a:r>
              </a:p>
              <a:p>
                <a:r>
                  <a:t>As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increases, the standard deviations get smaller and it is many of the distances from the landmark will be very close to zero</a:t>
                </a:r>
              </a:p>
              <a:p>
                <a:pPr lvl="1"/>
                <a:r>
                  <a:t>Large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t> will capture small variations and can lead to overfitting </a:t>
                </a:r>
              </a:p>
            </p:txBody>
          </p:sp>
        </mc:Choice>
        <mc:Fallback>
          <p:sp>
            <p:nvSpPr>
              <p:cNvPr id="318" name="This is a very popular kernel and is the default for the SVC function in sklearn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96" r="-2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Gaussian RBF Kern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Gaussian RBF Kernel</a:t>
            </a:r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VM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SVM Regression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VMs can be used for regression tasks as well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SVMs can be used for regression tasks as well</a:t>
            </a:r>
          </a:p>
          <a:p>
            <a:r>
              <a:t>Here, instead of finding the widest possible road, we want to fit as many observations </a:t>
            </a:r>
            <a:r>
              <a:rPr>
                <a:solidFill>
                  <a:srgbClr val="FF7E79"/>
                </a:solidFill>
              </a:rPr>
              <a:t>on the street</a:t>
            </a:r>
            <a:r>
              <a:t> while limiting the number of points </a:t>
            </a:r>
            <a:r>
              <a:rPr>
                <a:solidFill>
                  <a:srgbClr val="FF7E79"/>
                </a:solidFill>
              </a:rPr>
              <a:t>off the street</a:t>
            </a:r>
          </a:p>
        </p:txBody>
      </p:sp>
      <p:sp>
        <p:nvSpPr>
          <p:cNvPr id="324" name="SVM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SVM Regression</a:t>
            </a:r>
          </a:p>
        </p:txBody>
      </p:sp>
      <p:pic>
        <p:nvPicPr>
          <p:cNvPr id="325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4418699"/>
            <a:ext cx="12192000" cy="51689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27" name="Here, the support vectors are the instances off the street because they are the only points that effect the model’s prediction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Here, the support vectors are the instances off the street because they are the only points that effect the model’s predictions</a:t>
                </a:r>
              </a:p>
              <a:p>
                <a:r>
                  <a:t>If more points are added inside the margin, predictions don’t change (this is referred to as being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t>-insensitive</a:t>
                </a:r>
              </a:p>
            </p:txBody>
          </p:sp>
        </mc:Choice>
        <mc:Fallback>
          <p:sp>
            <p:nvSpPr>
              <p:cNvPr id="327" name="Here, the support vectors are the instances off the street because they are the only points that effect the model’s prediction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 r="-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8" name="SVM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SVM Regression</a:t>
            </a:r>
          </a:p>
        </p:txBody>
      </p:sp>
      <p:pic>
        <p:nvPicPr>
          <p:cNvPr id="329" name="pasted-image.png" descr="pasted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137" y="5365572"/>
            <a:ext cx="10346526" cy="43864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31" name="SVMs are a very different way of creating a classifier than other methods that we’ve looked at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SVMs are a very different way of creating a classifier than other methods that we’ve looked at</a:t>
                </a:r>
              </a:p>
              <a:p>
                <a:pPr lvl="1"/>
                <a:r>
                  <a:t>No notion of finding </a:t>
                </a:r>
                <a14:m>
                  <m:oMath xmlns:m="http://schemas.openxmlformats.org/officeDocument/2006/math"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sz="3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32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/>
              </a:p>
              <a:p>
                <a:r>
                  <a:t>Only binary classifier </a:t>
                </a:r>
              </a:p>
              <a:p>
                <a:pPr lvl="1"/>
                <a:r>
                  <a:t>Can be extended to multiclass problems using one-versus-one or one-versus-all strategies </a:t>
                </a:r>
              </a:p>
              <a:p>
                <a:r>
                  <a:t>Pretty slow for large datasets </a:t>
                </a:r>
              </a:p>
            </p:txBody>
          </p:sp>
        </mc:Choice>
        <mc:Fallback>
          <p:sp>
            <p:nvSpPr>
              <p:cNvPr id="331" name="SVMs are a very different way of creating a classifier than other methods that we’ve looked at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313" t="-1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2" name="Summar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Summary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Avenir Next Regular"/>
        <a:ea typeface="Avenir Next Regular"/>
        <a:cs typeface="Avenir Next Regular"/>
      </a:majorFont>
      <a:minorFont>
        <a:latin typeface="Avenir Next Demi Bold"/>
        <a:ea typeface="Avenir Next Demi Bold"/>
        <a:cs typeface="Avenir Next Demi Bold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173393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Avenir N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Avenir Next Regular"/>
        <a:ea typeface="Avenir Next Regular"/>
        <a:cs typeface="Avenir Next Regular"/>
      </a:majorFont>
      <a:minorFont>
        <a:latin typeface="Avenir Next Demi Bold"/>
        <a:ea typeface="Avenir Next Demi Bold"/>
        <a:cs typeface="Avenir Next Demi Bold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173393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Avenir N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1894</Words>
  <Application>Microsoft Office PowerPoint</Application>
  <PresentationFormat>Custom</PresentationFormat>
  <Paragraphs>177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5" baseType="lpstr">
      <vt:lpstr>Avenir Next Demi Bold</vt:lpstr>
      <vt:lpstr>Avenir Next Medium</vt:lpstr>
      <vt:lpstr>Avenir Next Regular</vt:lpstr>
      <vt:lpstr>Cambria Math</vt:lpstr>
      <vt:lpstr>Courier</vt:lpstr>
      <vt:lpstr>Courier New</vt:lpstr>
      <vt:lpstr>Helvetica Neue</vt:lpstr>
      <vt:lpstr>Helvetica Neue Medium</vt:lpstr>
      <vt:lpstr>21_BasicWhite</vt:lpstr>
      <vt:lpstr>Support Vector Machines</vt:lpstr>
      <vt:lpstr>Introduction to SVM</vt:lpstr>
      <vt:lpstr>Hyperplanes</vt:lpstr>
      <vt:lpstr>PowerPoint Presentation</vt:lpstr>
      <vt:lpstr>High-level view of SVM</vt:lpstr>
      <vt:lpstr>Introduction to SVM</vt:lpstr>
      <vt:lpstr>Separate the group</vt:lpstr>
      <vt:lpstr>Introduction to SVM</vt:lpstr>
      <vt:lpstr>Introduction to SVM</vt:lpstr>
      <vt:lpstr>Maximal margin (or hard margin) classifier</vt:lpstr>
      <vt:lpstr>Maximal Margin Classifier </vt:lpstr>
      <vt:lpstr>Maximal Margin Classifier </vt:lpstr>
      <vt:lpstr>Margins</vt:lpstr>
      <vt:lpstr>Hinge Loss</vt:lpstr>
      <vt:lpstr>Potential problems </vt:lpstr>
      <vt:lpstr>Soft Margin SVM</vt:lpstr>
      <vt:lpstr>Potential problems </vt:lpstr>
      <vt:lpstr>Support Vector Classifier  (Soft margin) </vt:lpstr>
      <vt:lpstr>Slack Variables</vt:lpstr>
      <vt:lpstr>Support Vectors</vt:lpstr>
      <vt:lpstr>Non-linearly separable data</vt:lpstr>
      <vt:lpstr>Non-linearly Separable </vt:lpstr>
      <vt:lpstr>Non-linearly Separable </vt:lpstr>
      <vt:lpstr>Non-linearly Separable </vt:lpstr>
      <vt:lpstr>Examples</vt:lpstr>
      <vt:lpstr>Another Example</vt:lpstr>
      <vt:lpstr>A solution and a problem </vt:lpstr>
      <vt:lpstr>Support Vector Machines</vt:lpstr>
      <vt:lpstr>Support Vector Machines</vt:lpstr>
      <vt:lpstr>Dot Products</vt:lpstr>
      <vt:lpstr>Results from previous slide</vt:lpstr>
      <vt:lpstr>Common Kernels</vt:lpstr>
      <vt:lpstr>So how does this all fit in to SVM?</vt:lpstr>
      <vt:lpstr>Math is cool </vt:lpstr>
      <vt:lpstr>Summary of the Kernel Trick in SVM  </vt:lpstr>
      <vt:lpstr>Gaussian RBF Kernel</vt:lpstr>
      <vt:lpstr>More about the RBF Kernel</vt:lpstr>
      <vt:lpstr>More about the RBF Kernel</vt:lpstr>
      <vt:lpstr>Example of Similarity Features</vt:lpstr>
      <vt:lpstr>More about the RBF Kernel</vt:lpstr>
      <vt:lpstr>Comparing γ</vt:lpstr>
      <vt:lpstr>Gaussian RBF Kernel</vt:lpstr>
      <vt:lpstr>SVM Regression</vt:lpstr>
      <vt:lpstr>SVM Regression</vt:lpstr>
      <vt:lpstr>SVM Regression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Jake Rhodes</dc:creator>
  <cp:lastModifiedBy>Jake Rhodes</cp:lastModifiedBy>
  <cp:revision>2</cp:revision>
  <dcterms:modified xsi:type="dcterms:W3CDTF">2026-02-03T13:39:06Z</dcterms:modified>
</cp:coreProperties>
</file>