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44"/>
  </p:notesMasterIdLst>
  <p:sldIdLst>
    <p:sldId id="256" r:id="rId2"/>
    <p:sldId id="257" r:id="rId3"/>
    <p:sldId id="259" r:id="rId4"/>
    <p:sldId id="260" r:id="rId5"/>
    <p:sldId id="301" r:id="rId6"/>
    <p:sldId id="302" r:id="rId7"/>
    <p:sldId id="261" r:id="rId8"/>
    <p:sldId id="262" r:id="rId9"/>
    <p:sldId id="303" r:id="rId10"/>
    <p:sldId id="304" r:id="rId11"/>
    <p:sldId id="264" r:id="rId12"/>
    <p:sldId id="265" r:id="rId13"/>
    <p:sldId id="268" r:id="rId14"/>
    <p:sldId id="269" r:id="rId15"/>
    <p:sldId id="270" r:id="rId16"/>
    <p:sldId id="271" r:id="rId17"/>
    <p:sldId id="305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7"/>
    <p:sldId id="306" r:id="rId28"/>
    <p:sldId id="285" r:id="rId29"/>
    <p:sldId id="287" r:id="rId30"/>
    <p:sldId id="288" r:id="rId31"/>
    <p:sldId id="289" r:id="rId32"/>
    <p:sldId id="290" r:id="rId33"/>
    <p:sldId id="308" r:id="rId34"/>
    <p:sldId id="291" r:id="rId35"/>
    <p:sldId id="292" r:id="rId36"/>
    <p:sldId id="293" r:id="rId37"/>
    <p:sldId id="294" r:id="rId38"/>
    <p:sldId id="296" r:id="rId39"/>
    <p:sldId id="297" r:id="rId40"/>
    <p:sldId id="307" r:id="rId41"/>
    <p:sldId id="299" r:id="rId42"/>
    <p:sldId id="30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54844" y="2214563"/>
            <a:ext cx="10882313" cy="2277070"/>
          </a:xfrm>
          <a:prstGeom prst="rect">
            <a:avLst/>
          </a:prstGeom>
        </p:spPr>
        <p:txBody>
          <a:bodyPr anchor="ctr"/>
          <a:lstStyle>
            <a:lvl1pPr marL="0" indent="0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1pPr>
            <a:lvl2pPr marL="0" indent="223234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2pPr>
            <a:lvl3pPr marL="0" indent="446469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3pPr>
            <a:lvl4pPr marL="0" indent="669703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4pPr>
            <a:lvl5pPr marL="0" indent="892937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880218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118695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196703"/>
            <a:ext cx="10882313" cy="2321719"/>
          </a:xfrm>
          <a:prstGeom prst="rect">
            <a:avLst/>
          </a:prstGeom>
        </p:spPr>
        <p:txBody>
          <a:bodyPr anchor="ctr"/>
          <a:lstStyle>
            <a:lvl1pPr defTabSz="250022">
              <a:defRPr sz="5906" spc="-59"/>
            </a:lvl1pPr>
          </a:lstStyle>
          <a:p>
            <a:r>
              <a:t>Section Title</a:t>
            </a:r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838807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  <p:sldLayoutId id="2147483690" r:id="rId1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www.vizuaranewsletter.com/p/if-regularization-is-easy-can-you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desmos.com/3d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C116D-8EB3-0DDC-0D99-22CF633CB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" y="-457202"/>
            <a:ext cx="12262760" cy="81751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40" y="6061939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 dirty="0"/>
              <a:t>Intro to regression</a:t>
            </a: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ar Regression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Linear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179" name="Linear regression is a supervised learning approach for predicting a quantitative respons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009193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Linear regression is a </a:t>
            </a:r>
            <a:r>
              <a:rPr b="1" dirty="0">
                <a:solidFill>
                  <a:srgbClr val="00B0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supervised</a:t>
            </a:r>
            <a:r>
              <a:rPr dirty="0"/>
              <a:t> learning approach for </a:t>
            </a:r>
            <a:r>
              <a:rPr dirty="0">
                <a:solidFill>
                  <a:srgbClr val="009193"/>
                </a:solidFill>
              </a:rPr>
              <a:t>predicting</a:t>
            </a:r>
            <a:r>
              <a:rPr dirty="0"/>
              <a:t> a </a:t>
            </a:r>
            <a:r>
              <a:rPr b="1" dirty="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quantitative</a:t>
            </a:r>
            <a:r>
              <a:rPr dirty="0"/>
              <a:t> response</a:t>
            </a:r>
          </a:p>
          <a:p>
            <a:pPr>
              <a:buClr>
                <a:srgbClr val="009193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Linear regression has been around for a long time</a:t>
            </a:r>
          </a:p>
          <a:p>
            <a:pPr marL="705403" lvl="2">
              <a:buClr>
                <a:srgbClr val="009193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Still very widely used</a:t>
            </a:r>
            <a:endParaRPr lang="en-US" dirty="0"/>
          </a:p>
          <a:p>
            <a:pPr marL="705403" lvl="2">
              <a:buClr>
                <a:srgbClr val="009193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Best method for truly linear relationships</a:t>
            </a:r>
            <a:endParaRPr dirty="0"/>
          </a:p>
          <a:p>
            <a:pPr marL="705403" lvl="2">
              <a:buClr>
                <a:srgbClr val="009193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Many "fancier" methods are based on linear regression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Least Squa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Least Squares</a:t>
            </a:r>
          </a:p>
        </p:txBody>
      </p:sp>
      <p:pic>
        <p:nvPicPr>
          <p:cNvPr id="183" name="ls3.png" descr="l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576" y="1568196"/>
            <a:ext cx="4602148" cy="4602148"/>
          </a:xfrm>
          <a:prstGeom prst="rect">
            <a:avLst/>
          </a:prstGeom>
          <a:ln w="3175">
            <a:miter lim="400000"/>
          </a:ln>
        </p:spPr>
      </p:pic>
      <p:sp>
        <p:nvSpPr>
          <p:cNvPr id="184" name="Least squares line is the line that minimizes"/>
          <p:cNvSpPr txBox="1"/>
          <p:nvPr/>
        </p:nvSpPr>
        <p:spPr>
          <a:xfrm>
            <a:off x="7664896" y="1812055"/>
            <a:ext cx="2724762" cy="4617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r>
              <a:rPr sz="1266" dirty="0"/>
              <a:t>Least squares line is the line that minimizes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equation.pdf"/>
              <p:cNvSpPr txBox="1"/>
              <p:nvPr/>
            </p:nvSpPr>
            <p:spPr>
              <a:xfrm>
                <a:off x="7842027" y="2530078"/>
                <a:ext cx="2204001" cy="75713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r>
                        <a:rPr sz="246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6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lim>
                              <m:r>
                                <a:rPr sz="246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246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61" dirty="0"/>
              </a:p>
            </p:txBody>
          </p:sp>
        </mc:Choice>
        <mc:Fallback xmlns="">
          <p:sp>
            <p:nvSpPr>
              <p:cNvPr id="185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027" y="2530078"/>
                <a:ext cx="2204001" cy="7571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Conditional Mean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578" y="2221992"/>
            <a:ext cx="8008734" cy="2714825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690451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Conditional Mean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450" y="1981417"/>
            <a:ext cx="7985099" cy="3416922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2527865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raining a Linear Regression Model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Training a Linear Regression Model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eneral model-based training frame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03200">
              <a:defRPr sz="4800" spc="-48"/>
            </a:lvl1pPr>
          </a:lstStyle>
          <a:p>
            <a:r>
              <a:rPr dirty="0"/>
              <a:t>General model-based training</a:t>
            </a:r>
          </a:p>
        </p:txBody>
      </p:sp>
      <p:sp>
        <p:nvSpPr>
          <p:cNvPr id="191" name="Define an appropriate objective function…"/>
          <p:cNvSpPr txBox="1">
            <a:spLocks noGrp="1"/>
          </p:cNvSpPr>
          <p:nvPr>
            <p:ph type="body" idx="1"/>
          </p:nvPr>
        </p:nvSpPr>
        <p:spPr>
          <a:xfrm>
            <a:off x="800100" y="2001859"/>
            <a:ext cx="10691265" cy="3739896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183052" indent="-183052" defTabSz="145791">
              <a:spcBef>
                <a:spcPts val="1898"/>
              </a:spcBef>
              <a:defRPr sz="2296"/>
            </a:pPr>
            <a:r>
              <a:rPr dirty="0"/>
              <a:t>Define an appropriate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objective function</a:t>
            </a:r>
          </a:p>
          <a:p>
            <a:pPr marL="367568" lvl="1" indent="-184516" defTabSz="145791">
              <a:spcBef>
                <a:spcPts val="1898"/>
              </a:spcBef>
              <a:defRPr sz="2296"/>
            </a:pPr>
            <a:r>
              <a:rPr dirty="0"/>
              <a:t>Cost/Loss functions are minimized</a:t>
            </a:r>
            <a:r>
              <a:rPr lang="en-US" dirty="0"/>
              <a:t> (machine learning)</a:t>
            </a:r>
            <a:endParaRPr dirty="0"/>
          </a:p>
          <a:p>
            <a:pPr marL="367568" lvl="1" indent="-184516" defTabSz="145791">
              <a:spcBef>
                <a:spcPts val="1898"/>
              </a:spcBef>
              <a:defRPr sz="2296"/>
            </a:pPr>
            <a:r>
              <a:rPr dirty="0"/>
              <a:t>Utility/Fitness functions are maximized </a:t>
            </a:r>
            <a:r>
              <a:rPr lang="en-US" dirty="0"/>
              <a:t>(statistics)</a:t>
            </a:r>
            <a:endParaRPr dirty="0"/>
          </a:p>
          <a:p>
            <a:pPr marL="550620" lvl="2" indent="-184516" defTabSz="145791">
              <a:spcBef>
                <a:spcPts val="1898"/>
              </a:spcBef>
              <a:defRPr sz="2296"/>
            </a:pPr>
            <a:r>
              <a:rPr dirty="0"/>
              <a:t>For example</a:t>
            </a:r>
            <a:r>
              <a:rPr lang="en-US" dirty="0"/>
              <a:t>,</a:t>
            </a:r>
            <a:r>
              <a:rPr dirty="0"/>
              <a:t> the likelihood in MLE is a utility function</a:t>
            </a:r>
          </a:p>
          <a:p>
            <a:pPr marL="183052" indent="-183052" defTabSz="145791">
              <a:spcBef>
                <a:spcPts val="1898"/>
              </a:spcBef>
              <a:defRPr sz="2296"/>
            </a:pPr>
            <a:r>
              <a:rPr dirty="0"/>
              <a:t>“Train” the model by solving the optimization problem using an appropriate optimization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method</a:t>
            </a:r>
          </a:p>
          <a:p>
            <a:pPr marL="367568" lvl="1" indent="-184516" defTabSz="145791">
              <a:spcBef>
                <a:spcPts val="1898"/>
              </a:spcBef>
              <a:defRPr sz="2296"/>
            </a:pPr>
            <a:r>
              <a:rPr dirty="0"/>
              <a:t>a “closed-form” solution (rare) </a:t>
            </a:r>
          </a:p>
          <a:p>
            <a:pPr marL="367568" lvl="1" indent="-184516" defTabSz="145791">
              <a:spcBef>
                <a:spcPts val="1898"/>
              </a:spcBef>
              <a:defRPr sz="2296"/>
            </a:pPr>
            <a:r>
              <a:rPr dirty="0"/>
              <a:t>a numerical method (usually)</a:t>
            </a:r>
          </a:p>
          <a:p>
            <a:pPr marL="550620" lvl="2" indent="-184516" defTabSz="145791">
              <a:spcBef>
                <a:spcPts val="1898"/>
              </a:spcBef>
              <a:defRPr sz="2296">
                <a:solidFill>
                  <a:srgbClr val="005493"/>
                </a:solidFill>
              </a:defRPr>
            </a:pPr>
            <a:r>
              <a:rPr b="1" dirty="0">
                <a:latin typeface="Graphik"/>
                <a:ea typeface="Graphik"/>
                <a:cs typeface="Graphik"/>
                <a:sym typeface="Graphik"/>
              </a:rPr>
              <a:t>Gradient descent</a:t>
            </a:r>
            <a:r>
              <a:rPr lang="en-US" b="1" dirty="0">
                <a:latin typeface="Graphik"/>
                <a:ea typeface="Graphik"/>
                <a:cs typeface="Graphik"/>
                <a:sym typeface="Graphik"/>
              </a:rPr>
              <a:t> or variants (</a:t>
            </a:r>
            <a:r>
              <a:rPr dirty="0"/>
              <a:t>Adam, Newton’s method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9A3C-AF48-ED3C-4398-0F032F93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the objective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1E6C4-F429-20E7-8A5E-D4D3BD616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524" y="2203704"/>
            <a:ext cx="5212080" cy="3739896"/>
          </a:xfrm>
        </p:spPr>
        <p:txBody>
          <a:bodyPr/>
          <a:lstStyle/>
          <a:p>
            <a:r>
              <a:rPr lang="en-US" dirty="0"/>
              <a:t>Minimum vs. Minimizer</a:t>
            </a:r>
          </a:p>
          <a:p>
            <a:r>
              <a:rPr lang="en-US" dirty="0"/>
              <a:t>Given a function, </a:t>
            </a:r>
            <a:r>
              <a:rPr lang="en-US" i="1" dirty="0"/>
              <a:t>f</a:t>
            </a:r>
            <a:r>
              <a:rPr lang="en-US" dirty="0"/>
              <a:t>, how do we minimize the function?</a:t>
            </a:r>
          </a:p>
          <a:p>
            <a:r>
              <a:rPr lang="en-US" dirty="0"/>
              <a:t>What if there is no analytic solution? (I.e., no closed form?)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27ADA-9A4B-95FC-BAF9-0D050A5FE9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minimizer is the value </a:t>
            </a:r>
            <a:r>
              <a:rPr lang="en-US" i="1" dirty="0"/>
              <a:t>x</a:t>
            </a:r>
            <a:r>
              <a:rPr lang="en-US" dirty="0"/>
              <a:t> that produces the smallest output </a:t>
            </a:r>
            <a:r>
              <a:rPr lang="en-US" i="1" dirty="0"/>
              <a:t>f(x)</a:t>
            </a:r>
            <a:r>
              <a:rPr lang="en-US" dirty="0"/>
              <a:t>.</a:t>
            </a:r>
          </a:p>
          <a:p>
            <a:r>
              <a:rPr lang="en-US" dirty="0"/>
              <a:t>Differential calculus!</a:t>
            </a:r>
          </a:p>
          <a:p>
            <a:r>
              <a:rPr lang="en-US" dirty="0"/>
              <a:t>Numerical approaches.</a:t>
            </a:r>
          </a:p>
        </p:txBody>
      </p:sp>
    </p:spTree>
    <p:extLst>
      <p:ext uri="{BB962C8B-B14F-4D97-AF65-F5344CB8AC3E}">
        <p14:creationId xmlns:p14="http://schemas.microsoft.com/office/powerpoint/2010/main" val="33646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2A30-A5E5-419A-C060-ACFA4DC7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C4BA7-6E27-AC88-A788-092EA31ACEA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to “fit” a line to data?</a:t>
                </a:r>
              </a:p>
              <a:p>
                <a:r>
                  <a:rPr lang="en-US" dirty="0"/>
                  <a:t>How do we measure goodness?</a:t>
                </a:r>
              </a:p>
              <a:p>
                <a:r>
                  <a:rPr lang="en-US" dirty="0"/>
                  <a:t>Why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and not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?</a:t>
                </a:r>
              </a:p>
              <a:p>
                <a:r>
                  <a:rPr lang="en-US" dirty="0"/>
                  <a:t>The objective function: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C4BA7-6E27-AC88-A788-092EA31AC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05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F31E7A9-AAC2-3CC2-FD66-B09452EF6F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We want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to be a </a:t>
                </a:r>
                <a:r>
                  <a:rPr lang="en-US" i="1" dirty="0"/>
                  <a:t>good</a:t>
                </a:r>
                <a:r>
                  <a:rPr lang="en-US" dirty="0"/>
                  <a:t> approximation.</a:t>
                </a:r>
              </a:p>
              <a:p>
                <a:r>
                  <a:rPr lang="en-US" dirty="0"/>
                  <a:t>We want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to be </a:t>
                </a:r>
                <a:r>
                  <a:rPr lang="en-US" i="1" dirty="0"/>
                  <a:t>small.</a:t>
                </a:r>
              </a:p>
              <a:p>
                <a:r>
                  <a:rPr lang="en-US" dirty="0"/>
                  <a:t>Differentiability/punishing larger errors.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F31E7A9-AAC2-3CC2-FD66-B09452EF6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05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A754CF-C3FE-6DEE-57BA-C1A4427C4C64}"/>
                  </a:ext>
                </a:extLst>
              </p:cNvPr>
              <p:cNvSpPr txBox="1"/>
              <p:nvPr/>
            </p:nvSpPr>
            <p:spPr>
              <a:xfrm>
                <a:off x="2751964" y="4453129"/>
                <a:ext cx="6096762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​</m:t>
                      </m:r>
                      <m:sSup>
                        <m:sSup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A754CF-C3FE-6DEE-57BA-C1A4427C4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964" y="4453129"/>
                <a:ext cx="6096762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25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Method 1: Normal Equ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Method 1: Normal Equations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Matrix notation cost function: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/>
              <a:p>
                <a:pPr marL="169658" indent="-169658" defTabSz="135123">
                  <a:spcBef>
                    <a:spcPts val="1758"/>
                  </a:spcBef>
                  <a:defRPr sz="2128"/>
                </a:pPr>
                <a:r>
                  <a:rPr dirty="0"/>
                  <a:t>Matrix notation cost function:</a:t>
                </a:r>
                <a:br>
                  <a:rPr dirty="0"/>
                </a:br>
                <a14:m>
                  <m:oMath xmlns:m="http://schemas.openxmlformats.org/officeDocument/2006/math"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dirty="0"/>
                </a:br>
                <a:endParaRPr dirty="0"/>
              </a:p>
              <a:p>
                <a:pPr marL="169658" indent="-169658" defTabSz="135123">
                  <a:spcBef>
                    <a:spcPts val="1758"/>
                  </a:spcBef>
                  <a:defRPr sz="2128"/>
                </a:pPr>
                <a:r>
                  <a:rPr dirty="0"/>
                  <a:t>Derivative of Cost Function:</a:t>
                </a:r>
                <a:br>
                  <a:rPr dirty="0"/>
                </a:br>
                <a14:m>
                  <m:oMath xmlns:m="http://schemas.openxmlformats.org/officeDocument/2006/math"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dirty="0"/>
                </a:br>
                <a:endParaRPr dirty="0"/>
              </a:p>
              <a:p>
                <a:pPr marL="169658" indent="-169658" defTabSz="135123">
                  <a:spcBef>
                    <a:spcPts val="1758"/>
                  </a:spcBef>
                  <a:defRPr sz="2128"/>
                </a:pPr>
                <a:r>
                  <a:rPr dirty="0"/>
                  <a:t>Set equal to 0 an rearrange (normal equations):</a:t>
                </a:r>
                <a:br>
                  <a:rPr dirty="0"/>
                </a:br>
                <a14:m>
                  <m:oMath xmlns:m="http://schemas.openxmlformats.org/officeDocument/2006/math"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  <m:limUpp>
                      <m:limUp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lim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br>
                  <a:rPr dirty="0"/>
                </a:br>
                <a:endParaRPr dirty="0"/>
              </a:p>
              <a:p>
                <a:pPr marL="169658" indent="-169658" defTabSz="135123">
                  <a:spcBef>
                    <a:spcPts val="1758"/>
                  </a:spcBef>
                  <a:defRPr sz="2128"/>
                </a:pPr>
                <a:r>
                  <a:rPr dirty="0"/>
                  <a:t>Solution for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lim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</m:oMath>
                </a14:m>
                <a:r>
                  <a:rPr dirty="0"/>
                  <a:t>:</a:t>
                </a:r>
                <a:br>
                  <a:rPr dirty="0"/>
                </a:br>
                <a14:m>
                  <m:oMath xmlns:m="http://schemas.openxmlformats.org/officeDocument/2006/math">
                    <m:limUpp>
                      <m:limUp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lim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sz="1828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1828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1969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03" name="Matrix notation cost function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13" t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build="p" bldLvl="5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ethod 2: Gradient Desc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Method 2: Gradient Descent</a:t>
            </a:r>
            <a:r>
              <a:rPr lang="en-US" dirty="0"/>
              <a:t> (High level)</a:t>
            </a:r>
            <a:r>
              <a:rPr dirty="0"/>
              <a:t> </a:t>
            </a:r>
          </a:p>
        </p:txBody>
      </p:sp>
      <p:sp>
        <p:nvSpPr>
          <p:cNvPr id="207" name="Numerical optimization algorithm that tweaks parameters iteratively until the minimum is foun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Numerical optimization algorithm that tweaks parameters iteratively until the minimum is found</a:t>
            </a:r>
          </a:p>
          <a:p>
            <a:pPr lvl="1"/>
            <a:r>
              <a:rPr dirty="0"/>
              <a:t>“Descend” the gradient of the cost function in the steepest direction until the minimum is reached</a:t>
            </a:r>
          </a:p>
          <a:p>
            <a:r>
              <a:rPr dirty="0"/>
              <a:t>What is the gradient?</a:t>
            </a:r>
            <a:endParaRPr lang="en-US" dirty="0"/>
          </a:p>
          <a:p>
            <a:pPr lvl="1"/>
            <a:r>
              <a:rPr lang="en-US" dirty="0"/>
              <a:t>The vector that points in the direction of the greatest rate of increase for a function</a:t>
            </a:r>
          </a:p>
          <a:p>
            <a:pPr lvl="1"/>
            <a:r>
              <a:rPr lang="en-US" dirty="0"/>
              <a:t>It is the vector of partial derivatives</a:t>
            </a:r>
          </a:p>
          <a:p>
            <a:endParaRPr dirty="0"/>
          </a:p>
        </p:txBody>
      </p:sp>
      <p:pic>
        <p:nvPicPr>
          <p:cNvPr id="3" name="Picture 2" descr="A diagram of a curve&#10;&#10;AI-generated content may be incorrect.">
            <a:extLst>
              <a:ext uri="{FF2B5EF4-FFF2-40B4-BE49-F238E27FC236}">
                <a16:creationId xmlns:a16="http://schemas.microsoft.com/office/drawing/2014/main" id="{3B69C37E-6197-CBCD-92FD-28F01A5B8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4144264"/>
            <a:ext cx="4070604" cy="271373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raining Method 2: Gradient Descent"/>
          <p:cNvSpPr txBox="1">
            <a:spLocks noGrp="1"/>
          </p:cNvSpPr>
          <p:nvPr>
            <p:ph type="title"/>
          </p:nvPr>
        </p:nvSpPr>
        <p:spPr>
          <a:xfrm>
            <a:off x="700635" y="914400"/>
            <a:ext cx="10691265" cy="63093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228600">
              <a:defRPr sz="5400" spc="-53"/>
            </a:lvl1pPr>
          </a:lstStyle>
          <a:p>
            <a:r>
              <a:rPr sz="4000" dirty="0"/>
              <a:t>Method 2: Gradient Descent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Batch Gradient Descent Algorithm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50367" y="1746504"/>
                <a:ext cx="10691265" cy="3739896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 marL="198678" indent="-198678" defTabSz="158236">
                  <a:spcBef>
                    <a:spcPts val="2039"/>
                  </a:spcBef>
                  <a:defRPr sz="2492" b="1">
                    <a:latin typeface="Graphik"/>
                    <a:ea typeface="Graphik"/>
                    <a:cs typeface="Graphik"/>
                    <a:sym typeface="Graphik"/>
                  </a:defRPr>
                </a:pPr>
                <a:r>
                  <a:rPr dirty="0"/>
                  <a:t>Batch Gradient Descent Algorithm:</a:t>
                </a:r>
              </a:p>
              <a:p>
                <a:pPr marL="398946" lvl="1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Choose initial values for the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lim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</m:oMath>
                </a14:m>
                <a:r>
                  <a:rPr dirty="0"/>
                  <a:t> vector (that is, choose a value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lim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)</a:t>
                </a:r>
              </a:p>
              <a:p>
                <a:pPr marL="398946" lvl="1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Adjust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lim>
                        <m: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</m:oMath>
                </a14:m>
                <a:r>
                  <a:rPr dirty="0"/>
                  <a:t> by moving in the opposite direction of the gradient: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lim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m:rPr>
                            <m:nor/>
                          </m:r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lim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m:rPr>
                            <m:nor/>
                          </m:r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𝛼𝛻</m:t>
                    </m:r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lim>
                            <m:r>
                              <a:rPr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</m:e>
                      <m:sub>
                        <m:r>
                          <m:rPr>
                            <m:nor/>
                          </m:rPr>
                          <a:rPr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pPr marL="597624" lvl="2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Where </a:t>
                </a:r>
                <a14:m>
                  <m:oMath xmlns:m="http://schemas.openxmlformats.org/officeDocument/2006/math"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dirty="0"/>
                  <a:t> is the </a:t>
                </a:r>
                <a:r>
                  <a:rPr i="1" dirty="0"/>
                  <a:t>learning rate</a:t>
                </a:r>
                <a:r>
                  <a:rPr dirty="0"/>
                  <a:t>, a hyperparameter, that controls the step size</a:t>
                </a:r>
              </a:p>
              <a:p>
                <a:pPr marL="398946" lvl="1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Repeat previous step until convergence is reached</a:t>
                </a:r>
                <a:br>
                  <a:rPr dirty="0"/>
                </a:br>
                <a:endParaRPr dirty="0"/>
              </a:p>
              <a:p>
                <a:pPr marL="198678" indent="-198678" defTabSz="158236">
                  <a:spcBef>
                    <a:spcPts val="2039"/>
                  </a:spcBef>
                  <a:defRPr sz="2492"/>
                </a:pPr>
                <a:r>
                  <a:rPr dirty="0"/>
                  <a:t>The term “Batch” refers to the fact that all the training data is used </a:t>
                </a:r>
              </a:p>
            </p:txBody>
          </p:sp>
        </mc:Choice>
        <mc:Fallback xmlns="">
          <p:sp>
            <p:nvSpPr>
              <p:cNvPr id="219" name="Batch Gradient Descent Algorithm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0367" y="1746504"/>
                <a:ext cx="10691265" cy="3739896"/>
              </a:xfrm>
              <a:prstGeom prst="rect">
                <a:avLst/>
              </a:prstGeom>
              <a:blipFill>
                <a:blip r:embed="rId2"/>
                <a:stretch>
                  <a:fillRect l="-399" t="-1631" b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diagram of a curve&#10;&#10;AI-generated content may be incorrect.">
            <a:extLst>
              <a:ext uri="{FF2B5EF4-FFF2-40B4-BE49-F238E27FC236}">
                <a16:creationId xmlns:a16="http://schemas.microsoft.com/office/drawing/2014/main" id="{0B3422FB-4D89-C27E-D6AE-4401A4A5A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4144264"/>
            <a:ext cx="4070604" cy="271373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Learning Ra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Learning Rate</a:t>
            </a:r>
          </a:p>
        </p:txBody>
      </p:sp>
      <p:sp>
        <p:nvSpPr>
          <p:cNvPr id="223" name="If the learning rate is too high, the gradient descent algorithm will bounce around the minimum and never converg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If the learning rate is too high, the gradient descent algorithm will bounce around the minimum and never converge </a:t>
            </a:r>
          </a:p>
          <a:p>
            <a:pPr lvl="1"/>
            <a:r>
              <a:rPr dirty="0"/>
              <a:t>(See Figure 4-5 in HOML)</a:t>
            </a:r>
          </a:p>
          <a:p>
            <a:r>
              <a:rPr dirty="0"/>
              <a:t>If the learning rate is too low, it could take a very long time to find the minimum </a:t>
            </a:r>
          </a:p>
          <a:p>
            <a:pPr lvl="1"/>
            <a:r>
              <a:rPr dirty="0"/>
              <a:t>(See Figure 4-4 in HOML)</a:t>
            </a:r>
          </a:p>
          <a:p>
            <a:r>
              <a:rPr dirty="0"/>
              <a:t>It is common to start with a small learning rate (~0.01) and adjust based on the performance of the model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radient Descent Vari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 Variations</a:t>
            </a:r>
          </a:p>
        </p:txBody>
      </p:sp>
      <p:sp>
        <p:nvSpPr>
          <p:cNvPr id="227" name="Stochastic gradient descent…"/>
          <p:cNvSpPr txBox="1">
            <a:spLocks noGrp="1"/>
          </p:cNvSpPr>
          <p:nvPr>
            <p:ph type="body" idx="1"/>
          </p:nvPr>
        </p:nvSpPr>
        <p:spPr>
          <a:xfrm>
            <a:off x="2015133" y="1703592"/>
            <a:ext cx="8161734" cy="474467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98678" indent="-198678" defTabSz="158236">
              <a:spcBef>
                <a:spcPts val="500"/>
              </a:spcBef>
              <a:defRPr sz="2492"/>
            </a:pPr>
            <a:r>
              <a:rPr lang="en-US" dirty="0"/>
              <a:t>Stochastic Gradient Descent (SGD)</a:t>
            </a:r>
          </a:p>
          <a:p>
            <a:pPr marL="655878" lvl="1" indent="-198678" defTabSz="158236">
              <a:defRPr sz="2492"/>
            </a:pPr>
            <a:r>
              <a:rPr lang="en-US" sz="2000" dirty="0"/>
              <a:t>How it works: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Chooses one random instance at each step.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Computes the gradient based on that single instance.</a:t>
            </a:r>
          </a:p>
          <a:p>
            <a:pPr marL="655878" lvl="1" indent="-198678" defTabSz="158236">
              <a:defRPr sz="2492"/>
            </a:pPr>
            <a:r>
              <a:rPr lang="en-US" sz="2000" b="1" dirty="0"/>
              <a:t>Pros</a:t>
            </a:r>
            <a:r>
              <a:rPr lang="en-US" sz="2000" dirty="0"/>
              <a:t>: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Faster per update (small computation).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Randomness helps escape local minima on complex cost surfaces.</a:t>
            </a:r>
          </a:p>
          <a:p>
            <a:pPr marL="655878" lvl="1" indent="-198678" defTabSz="158236">
              <a:defRPr sz="2492"/>
            </a:pPr>
            <a:r>
              <a:rPr lang="en-US" sz="2200" b="1" dirty="0"/>
              <a:t>Cons</a:t>
            </a:r>
            <a:r>
              <a:rPr lang="en-US" sz="2200" dirty="0"/>
              <a:t>: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Updates are noisy; the algorithm never fully “settles.”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True minimum is rarely reached—oscillates around it.</a:t>
            </a:r>
            <a:endParaRPr sz="2000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radient Descent Vari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 Variations</a:t>
            </a:r>
          </a:p>
        </p:txBody>
      </p:sp>
      <p:sp>
        <p:nvSpPr>
          <p:cNvPr id="231" name="Mini-batch gradient desc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Mini-Batch Gradient Descent</a:t>
            </a:r>
          </a:p>
          <a:p>
            <a:pPr lvl="1"/>
            <a:r>
              <a:rPr lang="en-US" dirty="0"/>
              <a:t>How it works:</a:t>
            </a:r>
          </a:p>
          <a:p>
            <a:pPr lvl="2"/>
            <a:r>
              <a:rPr lang="en-US" dirty="0"/>
              <a:t>Chooses a small random subset (mini-batch) of training data at each step.</a:t>
            </a:r>
          </a:p>
          <a:p>
            <a:pPr lvl="2"/>
            <a:r>
              <a:rPr lang="en-US" dirty="0"/>
              <a:t>Computes the gradient based on that subset.</a:t>
            </a:r>
          </a:p>
          <a:p>
            <a:pPr lvl="1"/>
            <a:r>
              <a:rPr lang="en-US" b="1" dirty="0"/>
              <a:t>Pros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More stable than SGD (less noisy updates).</a:t>
            </a:r>
          </a:p>
          <a:p>
            <a:pPr lvl="2"/>
            <a:r>
              <a:rPr lang="en-US" dirty="0"/>
              <a:t>Faster than full batch gradient descent for large datasets.</a:t>
            </a:r>
          </a:p>
          <a:p>
            <a:pPr lvl="2"/>
            <a:r>
              <a:rPr lang="en-US" dirty="0"/>
              <a:t>Leverages vectorized operations for efficiency.</a:t>
            </a:r>
          </a:p>
          <a:p>
            <a:pPr lvl="1"/>
            <a:r>
              <a:rPr lang="en-US" b="1" dirty="0"/>
              <a:t>Cons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Still introduces some randomness, so convergence is not perfectly smooth.</a:t>
            </a:r>
          </a:p>
          <a:p>
            <a:pPr lvl="2"/>
            <a:r>
              <a:rPr lang="en-US" dirty="0"/>
              <a:t>Requires tuning batch size (too small = noisy, too large = slow).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9BFD-6E0B-47A4-FBC7-AFBD0F3F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radient Descent Variations">
            <a:extLst>
              <a:ext uri="{FF2B5EF4-FFF2-40B4-BE49-F238E27FC236}">
                <a16:creationId xmlns:a16="http://schemas.microsoft.com/office/drawing/2014/main" id="{7C467131-4776-FA4B-BC65-BD81931E6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 Variations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Mini-batch gradient descent…">
                <a:extLst>
                  <a:ext uri="{FF2B5EF4-FFF2-40B4-BE49-F238E27FC236}">
                    <a16:creationId xmlns:a16="http://schemas.microsoft.com/office/drawing/2014/main" id="{A7AEB135-C451-7FA7-5059-91331A27117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635" y="1888236"/>
                <a:ext cx="10691265" cy="373989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dirty="0"/>
                  <a:t>Adam Optimizer</a:t>
                </a:r>
              </a:p>
              <a:p>
                <a:r>
                  <a:rPr lang="en-US" dirty="0"/>
                  <a:t>How it works:</a:t>
                </a:r>
              </a:p>
              <a:p>
                <a:pPr lvl="1"/>
                <a:r>
                  <a:rPr lang="en-US" dirty="0"/>
                  <a:t>Maintains two moving averages:</a:t>
                </a:r>
              </a:p>
              <a:p>
                <a:pPr lvl="1"/>
                <a:r>
                  <a:rPr lang="en-US" dirty="0"/>
                  <a:t>First moment (m): average of gradients (like momentum).</a:t>
                </a:r>
              </a:p>
              <a:p>
                <a:pPr lvl="1"/>
                <a:r>
                  <a:rPr lang="en-US" dirty="0"/>
                  <a:t>Second moment (v): average of squared gradients</a:t>
                </a:r>
              </a:p>
              <a:p>
                <a:pPr lvl="1"/>
                <a:r>
                  <a:rPr lang="en-US" dirty="0"/>
                  <a:t>Applies bias correction to both moments.</a:t>
                </a:r>
              </a:p>
              <a:p>
                <a:pPr lvl="1"/>
                <a:r>
                  <a:rPr lang="en-US" dirty="0"/>
                  <a:t>Update rule:</a:t>
                </a:r>
              </a:p>
              <a:p>
                <a:pPr marL="914400" lvl="2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acc>
                              <m:accPr>
                                <m:chr m:val="̂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ra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31" name="Mini-batch gradient descent…">
                <a:extLst>
                  <a:ext uri="{FF2B5EF4-FFF2-40B4-BE49-F238E27FC236}">
                    <a16:creationId xmlns:a16="http://schemas.microsoft.com/office/drawing/2014/main" id="{A7AEB135-C451-7FA7-5059-91331A27117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635" y="1888236"/>
                <a:ext cx="10691265" cy="3739896"/>
              </a:xfrm>
              <a:prstGeom prst="rect">
                <a:avLst/>
              </a:prstGeom>
              <a:blipFill>
                <a:blip r:embed="rId2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49114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Learning Sched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Learning Schedule</a:t>
            </a:r>
          </a:p>
        </p:txBody>
      </p:sp>
      <p:sp>
        <p:nvSpPr>
          <p:cNvPr id="235" name="A way to help “settle” stochastic gradient desc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r>
              <a:rPr dirty="0"/>
              <a:t>A way to help “settle” stochastic gradient descent </a:t>
            </a:r>
          </a:p>
          <a:p>
            <a:r>
              <a:rPr dirty="0"/>
              <a:t>Gradually reduce the learning rate according to a function called the “learning schedule”</a:t>
            </a:r>
          </a:p>
          <a:p>
            <a:r>
              <a:rPr lang="en-US" dirty="0"/>
              <a:t>Additional Points:</a:t>
            </a:r>
          </a:p>
          <a:p>
            <a:pPr lvl="1"/>
            <a:r>
              <a:rPr lang="en-US" dirty="0"/>
              <a:t>Common schedules include:</a:t>
            </a:r>
          </a:p>
          <a:p>
            <a:pPr lvl="1"/>
            <a:r>
              <a:rPr lang="en-US" dirty="0"/>
              <a:t>Step decay: Reduce learning rate by a factor after a fixed number of epochs.</a:t>
            </a:r>
          </a:p>
          <a:p>
            <a:pPr lvl="1"/>
            <a:r>
              <a:rPr lang="en-US" dirty="0"/>
              <a:t>Exponential decay: Multiply learning rate by a constant factor each epoch.</a:t>
            </a:r>
          </a:p>
          <a:p>
            <a:pPr lvl="1"/>
            <a:r>
              <a:rPr lang="en-US" dirty="0"/>
              <a:t>Polynomial decay: Decrease learning rate following a polynomial function.</a:t>
            </a:r>
          </a:p>
          <a:p>
            <a:r>
              <a:rPr lang="en-US" dirty="0"/>
              <a:t>Modern techniques:</a:t>
            </a:r>
          </a:p>
          <a:p>
            <a:pPr lvl="1"/>
            <a:r>
              <a:rPr lang="en-US" dirty="0"/>
              <a:t>Cosine Annealing: Learning rate follows a cosine curve, often combined with restarts.</a:t>
            </a:r>
          </a:p>
          <a:p>
            <a:pPr lvl="1"/>
            <a:r>
              <a:rPr lang="en-US" dirty="0"/>
              <a:t>One-cycle policy: Increase learning rate initially, then decrease sharply for better convergence.</a:t>
            </a:r>
          </a:p>
          <a:p>
            <a:pPr lvl="1"/>
            <a:r>
              <a:rPr lang="en-US" dirty="0"/>
              <a:t>Adaptive methods (Adam, </a:t>
            </a:r>
            <a:r>
              <a:rPr lang="en-US" dirty="0" err="1"/>
              <a:t>RMSProp</a:t>
            </a:r>
            <a:r>
              <a:rPr lang="en-US" dirty="0"/>
              <a:t>): Adjust learning rate per parameter automatically based on gradient history.</a:t>
            </a:r>
            <a:endParaRPr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Regularization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Regularization</a:t>
            </a:r>
          </a:p>
        </p:txBody>
      </p:sp>
      <p:sp>
        <p:nvSpPr>
          <p:cNvPr id="241" name="We said that adding constraints to model is a way to simplify the model to help prevent overfitt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Adding </a:t>
            </a:r>
            <a:r>
              <a:rPr dirty="0"/>
              <a:t>constraints to model</a:t>
            </a:r>
            <a:r>
              <a:rPr lang="en-US" dirty="0"/>
              <a:t> </a:t>
            </a:r>
            <a:r>
              <a:rPr dirty="0"/>
              <a:t>to </a:t>
            </a:r>
            <a:r>
              <a:rPr lang="en-US" dirty="0"/>
              <a:t>"</a:t>
            </a:r>
            <a:r>
              <a:rPr dirty="0"/>
              <a:t>simplify</a:t>
            </a:r>
            <a:r>
              <a:rPr lang="en-US" dirty="0"/>
              <a:t>"</a:t>
            </a:r>
            <a:r>
              <a:rPr dirty="0"/>
              <a:t> the model to help prevent overfitting</a:t>
            </a:r>
          </a:p>
          <a:p>
            <a:r>
              <a:rPr lang="en-US" b="1" dirty="0"/>
              <a:t>Regularization</a:t>
            </a:r>
            <a:r>
              <a:rPr lang="en-US" dirty="0"/>
              <a:t>: Techniques that constrain a model to reduce overfitting and improve generalization.</a:t>
            </a:r>
          </a:p>
          <a:p>
            <a:pPr lvl="1"/>
            <a:r>
              <a:rPr dirty="0"/>
              <a:t>Explicit Regularization</a:t>
            </a:r>
          </a:p>
          <a:p>
            <a:pPr lvl="1"/>
            <a:r>
              <a:rPr dirty="0"/>
              <a:t>Implicit Regularization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Explicit 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Explicit Regularization</a:t>
            </a:r>
          </a:p>
        </p:txBody>
      </p:sp>
      <p:sp>
        <p:nvSpPr>
          <p:cNvPr id="245" name="Intentionally and directly add a regularization term to the loss func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Intentionally and directly add a regularization term to the loss function</a:t>
            </a:r>
          </a:p>
          <a:p>
            <a:r>
              <a:rPr dirty="0"/>
              <a:t>Explicitly modify the optimization objective</a:t>
            </a:r>
          </a:p>
          <a:p>
            <a:r>
              <a:rPr dirty="0"/>
              <a:t>Examples (not exhaustive, but these are the most common):</a:t>
            </a:r>
          </a:p>
          <a:p>
            <a:pPr lvl="3"/>
            <a:r>
              <a:rPr dirty="0"/>
              <a:t>L1 Regularization (Lasso)</a:t>
            </a:r>
          </a:p>
          <a:p>
            <a:pPr lvl="3"/>
            <a:r>
              <a:rPr dirty="0"/>
              <a:t>L2 Regularization (Ridge)</a:t>
            </a:r>
          </a:p>
          <a:p>
            <a:pPr lvl="3"/>
            <a:r>
              <a:rPr dirty="0"/>
              <a:t>Elastic Net (combine L1 and L2 regularization)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Implicit 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Implicit Regularization</a:t>
            </a:r>
          </a:p>
        </p:txBody>
      </p:sp>
      <p:sp>
        <p:nvSpPr>
          <p:cNvPr id="249" name="Any regularization method that does not explicitly modify the cost or objective function…"/>
          <p:cNvSpPr txBox="1">
            <a:spLocks noGrp="1"/>
          </p:cNvSpPr>
          <p:nvPr>
            <p:ph type="body" idx="1"/>
          </p:nvPr>
        </p:nvSpPr>
        <p:spPr>
          <a:xfrm>
            <a:off x="2015133" y="1579968"/>
            <a:ext cx="8161734" cy="50498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205376" indent="-205376" defTabSz="163570">
              <a:spcBef>
                <a:spcPts val="500"/>
              </a:spcBef>
              <a:defRPr sz="2576"/>
            </a:pPr>
            <a:r>
              <a:rPr sz="1800" dirty="0"/>
              <a:t>Any regularization method that does not explicitly modify the cost or objective function </a:t>
            </a:r>
          </a:p>
          <a:p>
            <a:pPr marL="205376" indent="-205376" defTabSz="163570">
              <a:spcBef>
                <a:spcPts val="500"/>
              </a:spcBef>
              <a:defRPr sz="2576"/>
            </a:pPr>
            <a:r>
              <a:rPr sz="1800" dirty="0"/>
              <a:t>Can be a byproduct of an algorithm, the learning process, or other choices made in training</a:t>
            </a:r>
          </a:p>
          <a:p>
            <a:pPr marL="205376" indent="-205376" defTabSz="163570">
              <a:spcBef>
                <a:spcPts val="500"/>
              </a:spcBef>
              <a:defRPr sz="2576"/>
            </a:pPr>
            <a:r>
              <a:rPr sz="1800" dirty="0"/>
              <a:t>Examples (not exhaustive):</a:t>
            </a:r>
          </a:p>
          <a:p>
            <a:pPr marL="617769" lvl="2" indent="-207018" defTabSz="163570">
              <a:defRPr sz="2576"/>
            </a:pPr>
            <a:r>
              <a:rPr sz="1800" dirty="0"/>
              <a:t>Early stopping (in gradient-based optimization, stop training before convergence is reached)</a:t>
            </a:r>
            <a:endParaRPr lang="en-US" sz="1800" dirty="0"/>
          </a:p>
          <a:p>
            <a:pPr marL="617769" lvl="2" indent="-207018" defTabSz="163570">
              <a:defRPr sz="2576"/>
            </a:pPr>
            <a:r>
              <a:rPr lang="en-US" sz="1800" dirty="0"/>
              <a:t>Dropout (randomly ignoring some parts of a neural network)</a:t>
            </a:r>
          </a:p>
          <a:p>
            <a:pPr marL="617769" lvl="2" indent="-207018" defTabSz="163570">
              <a:defRPr sz="2576"/>
            </a:pPr>
            <a:r>
              <a:rPr lang="en-US" sz="1800" dirty="0"/>
              <a:t>Pruning (simplifying a grown decision tree)</a:t>
            </a:r>
            <a:endParaRPr sz="1800" dirty="0"/>
          </a:p>
          <a:p>
            <a:pPr marL="617769" lvl="2" indent="-207018" defTabSz="163570">
              <a:defRPr sz="2576"/>
            </a:pPr>
            <a:r>
              <a:rPr sz="1800" dirty="0"/>
              <a:t>Data augmentation (adding synthetic data to increase the sample size)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Example of Explicit Regularization in Linear Regression"/>
          <p:cNvSpPr txBox="1">
            <a:spLocks noGrp="1"/>
          </p:cNvSpPr>
          <p:nvPr>
            <p:ph type="body" sz="half" idx="1"/>
          </p:nvPr>
        </p:nvSpPr>
        <p:spPr>
          <a:xfrm>
            <a:off x="2015133" y="1625238"/>
            <a:ext cx="8161734" cy="2866395"/>
          </a:xfrm>
          <a:prstGeom prst="rect">
            <a:avLst/>
          </a:prstGeom>
        </p:spPr>
        <p:txBody>
          <a:bodyPr/>
          <a:lstStyle/>
          <a:p>
            <a:r>
              <a:t>Example of Explicit Regularization in Linear Regression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gularized Cost Fun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Regularized Cost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Least squares cost function: finds the 𝛽's that minimize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Least squares cost function: finds the 𝛽's that minimize</a:t>
                </a:r>
                <a:endParaRPr lang="en-US" dirty="0"/>
              </a:p>
              <a:p>
                <a:pPr marL="0" indent="0">
                  <a:buNone/>
                </a:pPr>
                <a:r>
                  <a:rPr dirty="0"/>
                  <a:t>                       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54" name="Least squares cost function: finds the 𝛽's that minimiz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627" t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Least squares cost function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2" y="2135152"/>
                <a:ext cx="9066321" cy="423267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Least squares cost function </a:t>
                </a:r>
                <a:endParaRPr lang="en-US" dirty="0"/>
              </a:p>
              <a:p>
                <a:pPr marL="0" indent="0">
                  <a:buNone/>
                </a:pPr>
                <a:r>
                  <a:rPr dirty="0"/>
                  <a:t>                   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dirty="0"/>
              </a:p>
              <a:p>
                <a:r>
                  <a:rPr b="1" u="sng" dirty="0">
                    <a:latin typeface="Graphik"/>
                    <a:ea typeface="Graphik"/>
                    <a:cs typeface="Graphik"/>
                    <a:sym typeface="Graphik"/>
                  </a:rPr>
                  <a:t>Lasso</a:t>
                </a:r>
                <a:r>
                  <a:rPr dirty="0"/>
                  <a:t> linear regression cost function 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Upp>
                    <m:d>
                      <m:dPr>
                        <m:begChr m:val="|"/>
                        <m:endChr m:val="|"/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</a:t>
                </a:r>
                <a:r>
                  <a:rPr dirty="0"/>
                  <a:t> </a:t>
                </a:r>
                <a:r>
                  <a:rPr lang="en-US" dirty="0"/>
                  <a:t>        </a:t>
                </a:r>
                <a:r>
                  <a:rPr dirty="0"/>
                  <a:t>(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)</a:t>
                </a:r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65" name="Least squares cost function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2" y="2135152"/>
                <a:ext cx="9066321" cy="4232673"/>
              </a:xfrm>
              <a:prstGeom prst="rect">
                <a:avLst/>
              </a:prstGeom>
              <a:blipFill>
                <a:blip r:embed="rId2"/>
                <a:stretch>
                  <a:fillRect l="-740" t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ries to fit the data well (find  s that move the prediction close to the observed data)"/>
              <p:cNvSpPr txBox="1"/>
              <p:nvPr/>
            </p:nvSpPr>
            <p:spPr>
              <a:xfrm>
                <a:off x="4207796" y="5352314"/>
                <a:ext cx="2960401" cy="76463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941751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266" dirty="0"/>
                  <a:t>Tries to fit the data well</a:t>
                </a:r>
                <a:br>
                  <a:rPr sz="1266" dirty="0"/>
                </a:br>
                <a:r>
                  <a:rPr sz="1617" dirty="0"/>
                  <a:t>(find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94165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sz="1617" dirty="0"/>
                  <a:t>s that move the prediction close to the observed data)</a:t>
                </a:r>
              </a:p>
            </p:txBody>
          </p:sp>
        </mc:Choice>
        <mc:Fallback xmlns="">
          <p:sp>
            <p:nvSpPr>
              <p:cNvPr id="266" name="Tries to fit the data well (find  s that move the prediction close to the observed data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796" y="5352314"/>
                <a:ext cx="2960401" cy="764633"/>
              </a:xfrm>
              <a:prstGeom prst="rect">
                <a:avLst/>
              </a:prstGeom>
              <a:blipFill>
                <a:blip r:embed="rId3"/>
                <a:stretch>
                  <a:fillRect l="-3086" t="-800" r="-617" b="-12000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7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90" y="5167447"/>
            <a:ext cx="2960401" cy="101029"/>
          </a:xfrm>
          <a:prstGeom prst="rect">
            <a:avLst/>
          </a:prstGeom>
        </p:spPr>
      </p:pic>
      <p:pic>
        <p:nvPicPr>
          <p:cNvPr id="269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895188" y="5098753"/>
            <a:ext cx="1065748" cy="101029"/>
          </a:xfrm>
          <a:prstGeom prst="rect">
            <a:avLst/>
          </a:prstGeom>
        </p:spPr>
      </p:pic>
      <p:pic>
        <p:nvPicPr>
          <p:cNvPr id="271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544374" y="4795265"/>
            <a:ext cx="350814" cy="1010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Constrains the model (pushes  s to be close to or exactly equal to 0)"/>
              <p:cNvSpPr txBox="1"/>
              <p:nvPr/>
            </p:nvSpPr>
            <p:spPr>
              <a:xfrm>
                <a:off x="7895188" y="5280848"/>
                <a:ext cx="2960401" cy="76463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005493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266"/>
                  <a:t>Constrains the model</a:t>
                </a:r>
                <a:br>
                  <a:rPr sz="1266"/>
                </a:br>
                <a:r>
                  <a:rPr sz="1617"/>
                  <a:t>(pushes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sz="1617"/>
                  <a:t>s to be close to or exactly equal to 0)</a:t>
                </a:r>
              </a:p>
            </p:txBody>
          </p:sp>
        </mc:Choice>
        <mc:Fallback xmlns="">
          <p:sp>
            <p:nvSpPr>
              <p:cNvPr id="273" name="Constrains the model (pushes  s to be close to or exactly equal to 0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188" y="5280848"/>
                <a:ext cx="2960401" cy="764633"/>
              </a:xfrm>
              <a:prstGeom prst="rect">
                <a:avLst/>
              </a:prstGeom>
              <a:blipFill>
                <a:blip r:embed="rId7"/>
                <a:stretch>
                  <a:fillRect l="-3086" t="-794" b="-11905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Tuning parameter that controls relative impact of two criteria"/>
          <p:cNvSpPr txBox="1"/>
          <p:nvPr/>
        </p:nvSpPr>
        <p:spPr>
          <a:xfrm>
            <a:off x="7861802" y="2698942"/>
            <a:ext cx="3520735" cy="4617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4F8F00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lvl1pPr>
          </a:lstStyle>
          <a:p>
            <a:r>
              <a:rPr sz="1266" dirty="0"/>
              <a:t>Tuning parameter that controls relative impact of two criteria</a:t>
            </a:r>
          </a:p>
        </p:txBody>
      </p:sp>
      <p:pic>
        <p:nvPicPr>
          <p:cNvPr id="275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6013359">
            <a:off x="7238047" y="3698900"/>
            <a:ext cx="1314283" cy="2869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What happens if   or  ?"/>
              <p:cNvSpPr txBox="1"/>
              <p:nvPr/>
            </p:nvSpPr>
            <p:spPr>
              <a:xfrm>
                <a:off x="8242587" y="3598867"/>
                <a:ext cx="2838867" cy="56983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 sz="2300">
                    <a:solidFill>
                      <a:srgbClr val="FF9300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617" dirty="0"/>
                  <a:t>What happens if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617" dirty="0"/>
                  <a:t> or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1617" dirty="0"/>
                  <a:t>?</a:t>
                </a:r>
              </a:p>
            </p:txBody>
          </p:sp>
        </mc:Choice>
        <mc:Fallback xmlns="">
          <p:sp>
            <p:nvSpPr>
              <p:cNvPr id="277" name="What happens if   or  ?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587" y="3598867"/>
                <a:ext cx="2838867" cy="569836"/>
              </a:xfrm>
              <a:prstGeom prst="rect">
                <a:avLst/>
              </a:prstGeom>
              <a:blipFill>
                <a:blip r:embed="rId9"/>
                <a:stretch>
                  <a:fillRect l="-3219" t="-4255" b="-15957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A577BF1-D405-2A0E-2465-72842BF4A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844" y="847178"/>
            <a:ext cx="10359033" cy="568363"/>
          </a:xfrm>
        </p:spPr>
        <p:txBody>
          <a:bodyPr>
            <a:normAutofit fontScale="90000"/>
          </a:bodyPr>
          <a:lstStyle/>
          <a:p>
            <a:r>
              <a:rPr lang="en-US" dirty="0"/>
              <a:t>L1 Penalty: LASSO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animBg="1"/>
      <p:bldP spid="273" grpId="0" animBg="1"/>
      <p:bldP spid="27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gularized Cost Functions"/>
          <p:cNvSpPr txBox="1">
            <a:spLocks noGrp="1"/>
          </p:cNvSpPr>
          <p:nvPr>
            <p:ph type="title"/>
          </p:nvPr>
        </p:nvSpPr>
        <p:spPr>
          <a:xfrm>
            <a:off x="750367" y="826603"/>
            <a:ext cx="10691265" cy="1307592"/>
          </a:xfrm>
          <a:prstGeom prst="rect">
            <a:avLst/>
          </a:prstGeom>
        </p:spPr>
        <p:txBody>
          <a:bodyPr/>
          <a:lstStyle/>
          <a:p>
            <a:r>
              <a:rPr dirty="0"/>
              <a:t>Regularized Cost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Lasso linear regression cost function    (where  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3" y="2134195"/>
                <a:ext cx="9762339" cy="4232672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b="1" u="sng" dirty="0">
                    <a:latin typeface="Graphik"/>
                    <a:ea typeface="Graphik"/>
                    <a:cs typeface="Graphik"/>
                    <a:sym typeface="Graphik"/>
                  </a:rPr>
                  <a:t>Lasso</a:t>
                </a:r>
                <a:r>
                  <a:rPr dirty="0"/>
                  <a:t> linear regression cost function 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Upp>
                    <m:d>
                      <m:dPr>
                        <m:begChr m:val="|"/>
                        <m:endChr m:val="|"/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  <a:r>
                  <a:rPr dirty="0"/>
                  <a:t> (where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)</a:t>
                </a:r>
              </a:p>
              <a:p>
                <a:r>
                  <a:rPr b="1" u="sng" dirty="0">
                    <a:latin typeface="Graphik"/>
                    <a:ea typeface="Graphik"/>
                    <a:cs typeface="Graphik"/>
                    <a:sym typeface="Graphik"/>
                  </a:rPr>
                  <a:t>Ridge</a:t>
                </a:r>
                <a:r>
                  <a:rPr dirty="0"/>
                  <a:t> linear regression cost function 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𝑟𝑖𝑑𝑔𝑒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391" b="0" i="1" smtClean="0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dirty="0"/>
                  <a:t> (where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)</a:t>
                </a:r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81" name="Lasso linear regression cost function    (where  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3" y="2134195"/>
                <a:ext cx="9762339" cy="4232672"/>
              </a:xfrm>
              <a:prstGeom prst="rect">
                <a:avLst/>
              </a:prstGeom>
              <a:blipFill>
                <a:blip r:embed="rId2"/>
                <a:stretch>
                  <a:fillRect l="-562" t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ℓ1 penalty"/>
          <p:cNvSpPr txBox="1"/>
          <p:nvPr/>
        </p:nvSpPr>
        <p:spPr>
          <a:xfrm>
            <a:off x="750366" y="2134195"/>
            <a:ext cx="1186223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3000">
                <a:solidFill>
                  <a:srgbClr val="FF7E79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pPr>
            <a:r>
              <a:rPr sz="2109" dirty="0"/>
              <a:t>ℓ</a:t>
            </a:r>
            <a:r>
              <a:rPr sz="2109" baseline="-5999" dirty="0"/>
              <a:t>1</a:t>
            </a:r>
            <a:r>
              <a:rPr sz="2109" dirty="0"/>
              <a:t> penalty</a:t>
            </a:r>
          </a:p>
        </p:txBody>
      </p:sp>
      <p:sp>
        <p:nvSpPr>
          <p:cNvPr id="283" name="ℓ2 penalty"/>
          <p:cNvSpPr txBox="1"/>
          <p:nvPr/>
        </p:nvSpPr>
        <p:spPr>
          <a:xfrm>
            <a:off x="750367" y="3611607"/>
            <a:ext cx="1186223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3000">
                <a:solidFill>
                  <a:srgbClr val="FF7E79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pPr>
            <a:r>
              <a:rPr sz="2109" dirty="0"/>
              <a:t>ℓ</a:t>
            </a:r>
            <a:r>
              <a:rPr sz="2109" baseline="-5999" dirty="0"/>
              <a:t>2</a:t>
            </a:r>
            <a:r>
              <a:rPr sz="2109" dirty="0"/>
              <a:t> penalty</a:t>
            </a:r>
          </a:p>
        </p:txBody>
      </p:sp>
      <p:pic>
        <p:nvPicPr>
          <p:cNvPr id="4" name="Line Line" descr="Line Line">
            <a:extLst>
              <a:ext uri="{FF2B5EF4-FFF2-40B4-BE49-F238E27FC236}">
                <a16:creationId xmlns:a16="http://schemas.microsoft.com/office/drawing/2014/main" id="{8CA19CC4-1DF1-B29F-C692-48823B16B34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808222" y="4990915"/>
            <a:ext cx="1065748" cy="1010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strains the model (pushes  s to be close to but NOT exactly equal to 0)">
                <a:extLst>
                  <a:ext uri="{FF2B5EF4-FFF2-40B4-BE49-F238E27FC236}">
                    <a16:creationId xmlns:a16="http://schemas.microsoft.com/office/drawing/2014/main" id="{29A72916-10DE-D9D2-562F-007E4E434EE5}"/>
                  </a:ext>
                </a:extLst>
              </p:cNvPr>
              <p:cNvSpPr txBox="1"/>
              <p:nvPr/>
            </p:nvSpPr>
            <p:spPr>
              <a:xfrm>
                <a:off x="7478163" y="5266764"/>
                <a:ext cx="2960401" cy="76463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005493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266"/>
                  <a:t>Constrains the model</a:t>
                </a:r>
                <a:br>
                  <a:rPr sz="1266"/>
                </a:br>
                <a:r>
                  <a:rPr sz="1617"/>
                  <a:t>(pushes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sz="1617"/>
                  <a:t>s to be close to but NOT exactly equal to 0)</a:t>
                </a:r>
              </a:p>
            </p:txBody>
          </p:sp>
        </mc:Choice>
        <mc:Fallback xmlns="">
          <p:sp>
            <p:nvSpPr>
              <p:cNvPr id="5" name="Constrains the model (pushes  s to be close to but NOT exactly equal to 0)">
                <a:extLst>
                  <a:ext uri="{FF2B5EF4-FFF2-40B4-BE49-F238E27FC236}">
                    <a16:creationId xmlns:a16="http://schemas.microsoft.com/office/drawing/2014/main" id="{29A72916-10DE-D9D2-562F-007E4E434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163" y="5266764"/>
                <a:ext cx="2960401" cy="764633"/>
              </a:xfrm>
              <a:prstGeom prst="rect">
                <a:avLst/>
              </a:prstGeom>
              <a:blipFill>
                <a:blip r:embed="rId4"/>
                <a:stretch>
                  <a:fillRect l="-3093" t="-800" r="-2474" b="-12000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E3F5-AAC1-C4F7-6770-D6539E5A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gularized Cost Functions">
            <a:extLst>
              <a:ext uri="{FF2B5EF4-FFF2-40B4-BE49-F238E27FC236}">
                <a16:creationId xmlns:a16="http://schemas.microsoft.com/office/drawing/2014/main" id="{249133E2-A269-A81E-36EE-FCAD17A83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0367" y="826603"/>
            <a:ext cx="10691265" cy="130759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Lasso v. Ridge Visualization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E367C0-EFEF-E012-6B5F-58614163E46C}"/>
              </a:ext>
            </a:extLst>
          </p:cNvPr>
          <p:cNvSpPr txBox="1"/>
          <p:nvPr/>
        </p:nvSpPr>
        <p:spPr>
          <a:xfrm>
            <a:off x="1750264" y="6308092"/>
            <a:ext cx="7727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https://www.vizuaranewsletter.com/p/if-regularization-is-easy-can-you</a:t>
            </a:r>
            <a:r>
              <a:rPr lang="en-US" dirty="0"/>
              <a:t>: This is a great source for an intuitive description!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D02CD21-EE01-2E2D-50D3-D831A0A7E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547" y="1360286"/>
            <a:ext cx="5014643" cy="508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B088A4-CDA1-B0FB-CCBD-CA764CB4E9E2}"/>
              </a:ext>
            </a:extLst>
          </p:cNvPr>
          <p:cNvSpPr txBox="1"/>
          <p:nvPr/>
        </p:nvSpPr>
        <p:spPr>
          <a:xfrm>
            <a:off x="8393502" y="1751161"/>
            <a:ext cx="311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explore this further in </a:t>
            </a:r>
            <a:r>
              <a:rPr lang="en-US" b="1" dirty="0"/>
              <a:t>Desmos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https://www.desmos.com/3d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20095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idge vs Lass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Ridge vs Lasso</a:t>
            </a:r>
          </a:p>
        </p:txBody>
      </p:sp>
      <p:sp>
        <p:nvSpPr>
          <p:cNvPr id="302" name="Lasso…"/>
          <p:cNvSpPr txBox="1">
            <a:spLocks noGrp="1"/>
          </p:cNvSpPr>
          <p:nvPr>
            <p:ph type="body" idx="1"/>
          </p:nvPr>
        </p:nvSpPr>
        <p:spPr>
          <a:xfrm>
            <a:off x="927053" y="1738685"/>
            <a:ext cx="10337894" cy="4817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1800" dirty="0"/>
              <a:t>Lasso</a:t>
            </a:r>
          </a:p>
          <a:p>
            <a:pPr lvl="1"/>
            <a:r>
              <a:rPr dirty="0"/>
              <a:t>Forces some coefficients to be exactly 0  (advantage)</a:t>
            </a:r>
          </a:p>
          <a:p>
            <a:pPr lvl="1"/>
            <a:r>
              <a:rPr dirty="0"/>
              <a:t>Built in variable selection</a:t>
            </a:r>
          </a:p>
          <a:p>
            <a:pPr lvl="1"/>
            <a:r>
              <a:rPr dirty="0"/>
              <a:t>Coefficients can be very different for correlated features (disadvantage)</a:t>
            </a:r>
          </a:p>
          <a:p>
            <a:r>
              <a:rPr sz="1800" dirty="0"/>
              <a:t>Ridge </a:t>
            </a:r>
          </a:p>
          <a:p>
            <a:pPr lvl="1"/>
            <a:r>
              <a:rPr dirty="0"/>
              <a:t>Coefficients will never be exactly 0 (fact)</a:t>
            </a:r>
          </a:p>
          <a:p>
            <a:pPr lvl="1"/>
            <a:r>
              <a:rPr dirty="0"/>
              <a:t>Tends to estimate similar coefficient for correlated features (advantage)</a:t>
            </a:r>
            <a:endParaRPr lang="en-US" dirty="0"/>
          </a:p>
          <a:p>
            <a:r>
              <a:rPr lang="en-US" sz="1800" dirty="0"/>
              <a:t>Neither method will universally dominate </a:t>
            </a:r>
          </a:p>
          <a:p>
            <a:r>
              <a:rPr lang="en-US" sz="1800" dirty="0"/>
              <a:t>Lasso generally performs better when many of the features don’t contribute to predictability </a:t>
            </a:r>
          </a:p>
          <a:p>
            <a:r>
              <a:rPr lang="en-US" sz="1800" dirty="0"/>
              <a:t>Ridge generally performs better when many of the features contribute to the prediction and when features are correlated </a:t>
            </a:r>
          </a:p>
          <a:p>
            <a:endParaRPr lang="en-US" sz="1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Elastic-Net 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Elastic-Net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Combination of Ridge and Lasso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3" y="1772319"/>
                <a:ext cx="8161734" cy="478796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214305" indent="-214305" defTabSz="170682">
                  <a:spcBef>
                    <a:spcPts val="500"/>
                  </a:spcBef>
                  <a:defRPr sz="2688"/>
                </a:pPr>
                <a:r>
                  <a:rPr sz="1800" dirty="0"/>
                  <a:t>Combination of Ridge and Lasso</a:t>
                </a:r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The idea is </a:t>
                </a:r>
                <a:r>
                  <a:rPr lang="en-US" sz="1800" dirty="0"/>
                  <a:t>to</a:t>
                </a:r>
                <a:r>
                  <a:rPr sz="1800" dirty="0"/>
                  <a:t> capitalize on the strengths of both methods</a:t>
                </a:r>
              </a:p>
              <a:p>
                <a:pPr marL="644629" lvl="2" indent="-216019" defTabSz="170682">
                  <a:defRPr sz="2688"/>
                </a:pPr>
                <a:endParaRPr sz="1800" dirty="0"/>
              </a:p>
              <a:p>
                <a:pPr marL="644629" lvl="2" indent="-216019" defTabSz="170682">
                  <a:defRPr sz="2688"/>
                </a:pPr>
                <a:endParaRPr sz="1800" dirty="0"/>
              </a:p>
              <a:p>
                <a:pPr marL="644629" lvl="2" indent="-216019" defTabSz="170682">
                  <a:defRPr sz="2688"/>
                </a:pPr>
                <a:endParaRPr sz="1800" dirty="0"/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800" dirty="0"/>
                  <a:t> 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800" dirty="0"/>
                  <a:t>), elastic net becomes Ridge</a:t>
                </a:r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800" dirty="0"/>
                  <a:t> 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800" dirty="0"/>
                  <a:t>), elastic net becomes Lasso</a:t>
                </a:r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If both are 0, we’re back to vanilla least squares</a:t>
                </a:r>
              </a:p>
            </p:txBody>
          </p:sp>
        </mc:Choice>
        <mc:Fallback xmlns="">
          <p:sp>
            <p:nvSpPr>
              <p:cNvPr id="310" name="Combination of Ridge and Lasso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3" y="1772319"/>
                <a:ext cx="8161734" cy="4787968"/>
              </a:xfrm>
              <a:prstGeom prst="rect">
                <a:avLst/>
              </a:prstGeom>
              <a:blipFill>
                <a:blip r:embed="rId2"/>
                <a:stretch>
                  <a:fillRect l="-523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equation.pdf"/>
              <p:cNvSpPr txBox="1"/>
              <p:nvPr/>
            </p:nvSpPr>
            <p:spPr>
              <a:xfrm>
                <a:off x="2015133" y="2477008"/>
                <a:ext cx="8659615" cy="9519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𝑒𝑛</m:t>
                          </m:r>
                        </m:sub>
                      </m:sSub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sSup>
                        <m:sSu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limUpp>
                                <m:limUpp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limLow>
                                    <m:limLowPr>
                                      <m:ctrlP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</m:e>
                                    <m:lim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lim>
                                  </m:limLow>
                                </m:e>
                                <m:lim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lim>
                              </m:limUpp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limUpp>
                        <m:limUp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lim>
                      </m:limUpp>
                      <m:d>
                        <m:dPr>
                          <m:begChr m:val="|"/>
                          <m:endChr m:val="|"/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limUpp>
                        <m:limUp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lim>
                          </m:limLow>
                        </m:e>
                        <m:li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lim>
                      </m:limUpp>
                      <m:sSup>
                        <m:sSu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531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1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133" y="2477008"/>
                <a:ext cx="8659615" cy="9519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Regularization</a:t>
            </a:r>
            <a:r>
              <a:rPr lang="en-US" dirty="0"/>
              <a:t> Generally</a:t>
            </a:r>
            <a:r>
              <a:rPr dirty="0"/>
              <a:t> </a:t>
            </a:r>
          </a:p>
        </p:txBody>
      </p:sp>
      <p:sp>
        <p:nvSpPr>
          <p:cNvPr id="315" name="We’ve just looked at Lasso, Ridge, and Elastic net (explicit regularization) in the context of linear regres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We’ve just looked at Lasso, Ridge, and Elastic net (explicit regularization) in the context of linear regression</a:t>
            </a:r>
          </a:p>
          <a:p>
            <a:r>
              <a:rPr lang="en-US" dirty="0"/>
              <a:t>Regularization is a general set of methodologies, not limited to linear regression</a:t>
            </a:r>
          </a:p>
          <a:p>
            <a:pPr lvl="1"/>
            <a:r>
              <a:rPr lang="en-US" dirty="0"/>
              <a:t>Used in many models: logistic regression, neural networks, decision trees, etc.</a:t>
            </a:r>
          </a:p>
          <a:p>
            <a:pPr lvl="1"/>
            <a:r>
              <a:rPr lang="en-US" dirty="0"/>
              <a:t>Goal: improve generalization by reducing overfitting</a:t>
            </a:r>
          </a:p>
          <a:p>
            <a:pPr lvl="1"/>
            <a:r>
              <a:rPr lang="en-US" dirty="0"/>
              <a:t>Can be applied to weights, complexity, or even the training process</a:t>
            </a:r>
            <a:endParaRPr dirty="0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“Nonlinear” linear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“Nonlinear” linear regression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olynomial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Polynomial Regression</a:t>
            </a:r>
          </a:p>
        </p:txBody>
      </p:sp>
      <p:sp>
        <p:nvSpPr>
          <p:cNvPr id="321" name="Sometimes the relationship between X and y is not a line…"/>
          <p:cNvSpPr txBox="1">
            <a:spLocks noGrp="1"/>
          </p:cNvSpPr>
          <p:nvPr>
            <p:ph type="body" idx="1"/>
          </p:nvPr>
        </p:nvSpPr>
        <p:spPr>
          <a:xfrm>
            <a:off x="700634" y="1969381"/>
            <a:ext cx="10691265" cy="3739896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Sometimes the relationship between X and y is no</a:t>
            </a:r>
            <a:r>
              <a:rPr lang="en-US" dirty="0"/>
              <a:t>n-linear</a:t>
            </a:r>
            <a:endParaRPr dirty="0"/>
          </a:p>
          <a:p>
            <a:pPr>
              <a:buClr>
                <a:srgbClr val="000000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We can use linear regression to model non-linear relationships (between X and y)</a:t>
            </a:r>
          </a:p>
          <a:p>
            <a:pPr lvl="1"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A</a:t>
            </a:r>
            <a:r>
              <a:rPr dirty="0"/>
              <a:t>dd quadratic, cubic, etc. terms to the model</a:t>
            </a:r>
          </a:p>
          <a:p>
            <a:pPr lvl="1"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This is sometimes called polynomial regression</a:t>
            </a:r>
          </a:p>
          <a:p>
            <a:pPr lvl="1">
              <a:buClr>
                <a:srgbClr val="000000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(Now we are moving into the realm of multiple regression, where we have more than one predictor)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equation.pdf"/>
              <p:cNvSpPr txBox="1"/>
              <p:nvPr/>
            </p:nvSpPr>
            <p:spPr>
              <a:xfrm>
                <a:off x="2841886" y="4636009"/>
                <a:ext cx="5248424" cy="44685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2742" dirty="0"/>
              </a:p>
            </p:txBody>
          </p:sp>
        </mc:Choice>
        <mc:Fallback xmlns="">
          <p:sp>
            <p:nvSpPr>
              <p:cNvPr id="32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886" y="4636009"/>
                <a:ext cx="5248424" cy="4468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4D382-AA64-A916-A160-E571F91F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2AE8374-E82E-C827-AAC6-F172A948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664" y="1738078"/>
            <a:ext cx="6728836" cy="420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0" name="Polynomial Regression">
            <a:extLst>
              <a:ext uri="{FF2B5EF4-FFF2-40B4-BE49-F238E27FC236}">
                <a16:creationId xmlns:a16="http://schemas.microsoft.com/office/drawing/2014/main" id="{B0AF808D-8BD2-8994-A83D-EE2D7FB69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Polynomial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equation.pdf">
                <a:extLst>
                  <a:ext uri="{FF2B5EF4-FFF2-40B4-BE49-F238E27FC236}">
                    <a16:creationId xmlns:a16="http://schemas.microsoft.com/office/drawing/2014/main" id="{9496319E-20DA-85D6-1C94-A122219C2918}"/>
                  </a:ext>
                </a:extLst>
              </p:cNvPr>
              <p:cNvSpPr txBox="1"/>
              <p:nvPr/>
            </p:nvSpPr>
            <p:spPr>
              <a:xfrm>
                <a:off x="2876176" y="6217920"/>
                <a:ext cx="5248424" cy="4447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sz="2742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sz="2742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2742" dirty="0"/>
              </a:p>
            </p:txBody>
          </p:sp>
        </mc:Choice>
        <mc:Fallback xmlns="">
          <p:sp>
            <p:nvSpPr>
              <p:cNvPr id="322" name="equation.pdf">
                <a:extLst>
                  <a:ext uri="{FF2B5EF4-FFF2-40B4-BE49-F238E27FC236}">
                    <a16:creationId xmlns:a16="http://schemas.microsoft.com/office/drawing/2014/main" id="{9496319E-20DA-85D6-1C94-A122219C2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176" y="6217920"/>
                <a:ext cx="5248424" cy="444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87807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rminolog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Linear regression is &quot;linear&quot; with respect to the parameters (the model is a linear combination of the parameters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634" y="1856232"/>
                <a:ext cx="10691265" cy="3739896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buClr>
                    <a:srgbClr val="212121"/>
                  </a:buClr>
                  <a:buChar char="‣"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Linear regression is "linear" with respect to the parameters (the model is a linear combination of the parameters)</a:t>
                </a:r>
              </a:p>
              <a:p>
                <a:pPr marL="0" indent="0">
                  <a:buNone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  <a:p>
                <a:pPr>
                  <a:buClr>
                    <a:srgbClr val="212121"/>
                  </a:buClr>
                  <a:buChar char="‣"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>
                  <a:buClr>
                    <a:srgbClr val="212121"/>
                  </a:buClr>
                  <a:buChar char="‣"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True "nonlinear" regression is where the regression model is a nonlinear combination of the parameters</a:t>
                </a:r>
                <a:r>
                  <a:rPr lang="en-US" dirty="0"/>
                  <a:t>, for example:</a:t>
                </a:r>
                <a:endParaRPr dirty="0"/>
              </a:p>
              <a:p>
                <a:pPr marL="0" indent="0">
                  <a:buClr>
                    <a:srgbClr val="212121"/>
                  </a:buClr>
                  <a:buNone/>
                  <a:defRPr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26" name="Linear regression is &quot;linear&quot; with respect to the parameters (the model is a linear combination of the parameters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634" y="1856232"/>
                <a:ext cx="10691265" cy="3739896"/>
              </a:xfrm>
              <a:prstGeom prst="rect">
                <a:avLst/>
              </a:prstGeom>
              <a:blipFill>
                <a:blip r:embed="rId2"/>
                <a:stretch>
                  <a:fillRect l="-798" t="-1794" r="-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More Terminolog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More Terminology</a:t>
            </a:r>
          </a:p>
        </p:txBody>
      </p:sp>
      <p:sp>
        <p:nvSpPr>
          <p:cNvPr id="330" name="Just FYI if you are curiou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212121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Just FYI:</a:t>
            </a:r>
          </a:p>
          <a:p>
            <a:pPr>
              <a:buClr>
                <a:srgbClr val="212121"/>
              </a:buClr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dirty="0"/>
          </a:p>
          <a:p>
            <a:pPr lvl="1">
              <a:buClr>
                <a:srgbClr val="212121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 dirty="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</a:t>
            </a:r>
            <a:r>
              <a:rPr dirty="0"/>
              <a:t> regression is a regression model with more than one predictor (or feature)</a:t>
            </a:r>
          </a:p>
          <a:p>
            <a:pPr lvl="1">
              <a:buClr>
                <a:srgbClr val="212121"/>
              </a:buCl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 dirty="0">
                <a:solidFill>
                  <a:srgbClr val="0091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Multivariate</a:t>
            </a:r>
            <a:r>
              <a:rPr dirty="0"/>
              <a:t> regression is a regression model with more than one response (or target)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4D8FE1-76E2-FF89-DCCC-45CD23447A94}"/>
              </a:ext>
            </a:extLst>
          </p:cNvPr>
          <p:cNvSpPr/>
          <p:nvPr/>
        </p:nvSpPr>
        <p:spPr>
          <a:xfrm>
            <a:off x="228600" y="2185416"/>
            <a:ext cx="11475720" cy="3701034"/>
          </a:xfrm>
          <a:prstGeom prst="roundRect">
            <a:avLst/>
          </a:prstGeom>
          <a:solidFill>
            <a:schemeClr val="tx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33" name="Interaction &amp; polynomial featu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Interaction &amp; polynomial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501C5-A37B-D825-9C89-752E490C087C}"/>
              </a:ext>
            </a:extLst>
          </p:cNvPr>
          <p:cNvSpPr txBox="1"/>
          <p:nvPr/>
        </p:nvSpPr>
        <p:spPr>
          <a:xfrm>
            <a:off x="1017270" y="2720340"/>
            <a:ext cx="11697105" cy="2844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linear_model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LinearRegression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PolynomialFeatures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 squared and cubed features for every predictor plus interactions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poly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PolynomialFeatures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poly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Only include up to 3rd-order interactions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PolynomialFeatures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interaction_only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500"/>
              </a:spcAft>
              <a:buNone/>
            </a:pP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gression Metr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Regression Metrics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Evaluating a regression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Evaluating a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In regression (we are predicting a numeric variable),   what does a “good” prediction look like?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In regression (we are predicting a numeric variable), </a:t>
                </a:r>
                <a:br>
                  <a:rPr dirty="0"/>
                </a:br>
                <a:r>
                  <a:rPr b="1" dirty="0">
                    <a:latin typeface="Graphik"/>
                    <a:ea typeface="Graphik"/>
                    <a:cs typeface="Graphik"/>
                    <a:sym typeface="Graphik"/>
                  </a:rPr>
                  <a:t>what does a “good” prediction look like?</a:t>
                </a:r>
                <a:endParaRPr lang="en-US" b="1" dirty="0">
                  <a:latin typeface="Graphik"/>
                  <a:ea typeface="Graphik"/>
                  <a:cs typeface="Graphik"/>
                  <a:sym typeface="Graphik"/>
                </a:endParaRPr>
              </a:p>
              <a:p>
                <a:r>
                  <a:rPr lang="en-US" dirty="0"/>
                  <a:t>Ideally,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, (the prediction) is close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(the observed value)</a:t>
                </a:r>
                <a:endParaRPr lang="en-US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44" name="In regression (we are predicting a numeric variable),   what does a “good” prediction look like?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7" name="Common Regression Metr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Common Regression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Lower is better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4844" y="1805038"/>
                <a:ext cx="11335225" cy="456182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/>
              <a:p>
                <a:pPr marL="221002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Lower is better:</a:t>
                </a:r>
                <a:endParaRPr lang="en-US" dirty="0"/>
              </a:p>
              <a:p>
                <a:pPr marL="678202" lvl="1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Mean absolute error (MAE):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MAE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678202" lvl="1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Mean squared error (MSE):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678202" lvl="1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Root mean squared error (RMSE): </a:t>
                </a:r>
                <a14:m>
                  <m:oMath xmlns:m="http://schemas.openxmlformats.org/officeDocument/2006/math">
                    <m:r>
                      <a:rPr sz="2572" i="1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sz="2572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sz="2572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2572" i="1">
                            <a:latin typeface="Cambria Math" panose="02040503050406030204" pitchFamily="18" charset="0"/>
                          </a:rPr>
                          <m:t>𝑀𝑆𝐸</m:t>
                        </m:r>
                      </m:e>
                    </m:rad>
                  </m:oMath>
                </a14:m>
                <a:endParaRPr sz="2572" i="1" dirty="0">
                  <a:latin typeface="Cambria Math" panose="02040503050406030204" pitchFamily="18" charset="0"/>
                </a:endParaRPr>
              </a:p>
              <a:p>
                <a:pPr marL="221002" indent="-221002" defTabSz="176015">
                  <a:spcBef>
                    <a:spcPts val="2250"/>
                  </a:spcBef>
                  <a:defRPr sz="2772"/>
                </a:pPr>
                <a:r>
                  <a:rPr dirty="0"/>
                  <a:t>Higher is better:</a:t>
                </a:r>
                <a:endParaRPr lang="en-US" sz="1969" dirty="0">
                  <a:solidFill>
                    <a:srgbClr val="53585F"/>
                  </a:solidFill>
                </a:endParaRPr>
              </a:p>
              <a:p>
                <a:pPr marL="457200" lvl="1" indent="0" defTabSz="176015">
                  <a:spcBef>
                    <a:spcPts val="2250"/>
                  </a:spcBef>
                  <a:buNone/>
                  <a:defRPr sz="2772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1969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48" name="Lower is better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4844" y="1805038"/>
                <a:ext cx="11335225" cy="4561829"/>
              </a:xfrm>
              <a:prstGeom prst="rect">
                <a:avLst/>
              </a:prstGeom>
              <a:blipFill>
                <a:blip r:embed="rId2"/>
                <a:stretch>
                  <a:fillRect l="-806" t="-1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0CD9-14B2-D8DB-D0FF-C9B858E1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Metric Comparisons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C5D631-8E32-FACD-9A3F-AB01BF0356F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0826825"/>
              </p:ext>
            </p:extLst>
          </p:nvPr>
        </p:nvGraphicFramePr>
        <p:xfrm>
          <a:off x="800100" y="2021083"/>
          <a:ext cx="4571999" cy="2008343"/>
        </p:xfrm>
        <a:graphic>
          <a:graphicData uri="http://schemas.openxmlformats.org/drawingml/2006/table">
            <a:tbl>
              <a:tblPr/>
              <a:tblGrid>
                <a:gridCol w="4571999">
                  <a:extLst>
                    <a:ext uri="{9D8B030D-6E8A-4147-A177-3AD203B41FA5}">
                      <a16:colId xmlns:a16="http://schemas.microsoft.com/office/drawing/2014/main" val="2899199169"/>
                    </a:ext>
                  </a:extLst>
                </a:gridCol>
              </a:tblGrid>
              <a:tr h="157965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  <a:t>MAE (Mean Absolute Error)</a:t>
                      </a:r>
                      <a:b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  <a:t>✅ Easy to interpret (average absolute difference)</a:t>
                      </a:r>
                      <a:b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  <a:t>✅ Less sensitive to outliers than MSE</a:t>
                      </a:r>
                      <a:b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  <a:t>❌ Does not penalize large errors as strongly</a:t>
                      </a:r>
                    </a:p>
                  </a:txBody>
                  <a:tcPr marL="44573" marR="44573" marT="22286" marB="2228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234192"/>
                  </a:ext>
                </a:extLst>
              </a:tr>
              <a:tr h="428689"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44573" marR="44573" marT="22286" marB="22286"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54003378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CEFA8E-1058-B61F-37E1-4E8AD37C4B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32787627"/>
              </p:ext>
            </p:extLst>
          </p:nvPr>
        </p:nvGraphicFramePr>
        <p:xfrm>
          <a:off x="746357" y="4029426"/>
          <a:ext cx="4625742" cy="2008342"/>
        </p:xfrm>
        <a:graphic>
          <a:graphicData uri="http://schemas.openxmlformats.org/drawingml/2006/table">
            <a:tbl>
              <a:tblPr/>
              <a:tblGrid>
                <a:gridCol w="4625742">
                  <a:extLst>
                    <a:ext uri="{9D8B030D-6E8A-4147-A177-3AD203B41FA5}">
                      <a16:colId xmlns:a16="http://schemas.microsoft.com/office/drawing/2014/main" val="3352367623"/>
                    </a:ext>
                  </a:extLst>
                </a:gridCol>
              </a:tblGrid>
              <a:tr h="150468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  <a:t>MSE (Mean Squared Error)</a:t>
                      </a:r>
                      <a:b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  <a:t>✅ Penalizes large errors more (squared term)</a:t>
                      </a:r>
                      <a:b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  <a:t>✅ Commonly used in optimization (differentiable)</a:t>
                      </a:r>
                      <a:b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500" b="1" i="0" dirty="0">
                          <a:effectLst/>
                          <a:latin typeface="Segoe UI" panose="020B0502040204020203" pitchFamily="34" charset="0"/>
                        </a:rPr>
                        <a:t>❌ Sensitive to outliers</a:t>
                      </a:r>
                    </a:p>
                  </a:txBody>
                  <a:tcPr marL="44573" marR="44573" marT="22286" marB="2228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885959"/>
                  </a:ext>
                </a:extLst>
              </a:tr>
              <a:tr h="503662">
                <a:tc>
                  <a:txBody>
                    <a:bodyPr/>
                    <a:lstStyle/>
                    <a:p>
                      <a:endParaRPr lang="en-US" sz="1500" b="1" dirty="0"/>
                    </a:p>
                  </a:txBody>
                  <a:tcPr marL="44573" marR="44573" marT="22286" marB="22286"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9044247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429C6F-EE5D-42DD-5CB0-DBA538FA9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435146"/>
              </p:ext>
            </p:extLst>
          </p:nvPr>
        </p:nvGraphicFramePr>
        <p:xfrm>
          <a:off x="5440679" y="4002561"/>
          <a:ext cx="5337811" cy="2035207"/>
        </p:xfrm>
        <a:graphic>
          <a:graphicData uri="http://schemas.openxmlformats.org/drawingml/2006/table">
            <a:tbl>
              <a:tblPr/>
              <a:tblGrid>
                <a:gridCol w="5337811">
                  <a:extLst>
                    <a:ext uri="{9D8B030D-6E8A-4147-A177-3AD203B41FA5}">
                      <a16:colId xmlns:a16="http://schemas.microsoft.com/office/drawing/2014/main" val="2524373149"/>
                    </a:ext>
                  </a:extLst>
                </a:gridCol>
              </a:tblGrid>
              <a:tr h="1484620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RMSE (Root Mean Squared Error)</a:t>
                      </a:r>
                      <a:b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</a:b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✅ Same units as target variable</a:t>
                      </a:r>
                      <a:b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</a:b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✅ Highlights large errors clearly</a:t>
                      </a:r>
                      <a:b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</a:b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❌ Still sensitive to outliers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6919"/>
                  </a:ext>
                </a:extLst>
              </a:tr>
              <a:tr h="550587"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168988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B62C22-9257-62D6-A775-07EA22B60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706810"/>
              </p:ext>
            </p:extLst>
          </p:nvPr>
        </p:nvGraphicFramePr>
        <p:xfrm>
          <a:off x="5454968" y="2006126"/>
          <a:ext cx="5300661" cy="2008343"/>
        </p:xfrm>
        <a:graphic>
          <a:graphicData uri="http://schemas.openxmlformats.org/drawingml/2006/table">
            <a:tbl>
              <a:tblPr/>
              <a:tblGrid>
                <a:gridCol w="5300661">
                  <a:extLst>
                    <a:ext uri="{9D8B030D-6E8A-4147-A177-3AD203B41FA5}">
                      <a16:colId xmlns:a16="http://schemas.microsoft.com/office/drawing/2014/main" val="761098454"/>
                    </a:ext>
                  </a:extLst>
                </a:gridCol>
              </a:tblGrid>
              <a:tr h="1465023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R² (Coefficient of Determination)</a:t>
                      </a:r>
                      <a:b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</a:b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✅ Measures proportion of variance explained</a:t>
                      </a:r>
                      <a:b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</a:b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✅ Easy to compare across models</a:t>
                      </a:r>
                      <a:b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</a:b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❌ Can be misleading for non-linear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750694"/>
                  </a:ext>
                </a:extLst>
              </a:tr>
              <a:tr h="543320"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18447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6339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573" y="0"/>
            <a:ext cx="7310035" cy="6858001"/>
          </a:xfrm>
          <a:prstGeom prst="rect">
            <a:avLst/>
          </a:prstGeom>
          <a:ln w="3175">
            <a:miter lim="400000"/>
          </a:ln>
        </p:spPr>
      </p:pic>
      <p:sp>
        <p:nvSpPr>
          <p:cNvPr id="354" name="Regression Metrics in Scikit-Learn"/>
          <p:cNvSpPr txBox="1">
            <a:spLocks noGrp="1"/>
          </p:cNvSpPr>
          <p:nvPr>
            <p:ph type="title"/>
          </p:nvPr>
        </p:nvSpPr>
        <p:spPr>
          <a:xfrm>
            <a:off x="8895750" y="892481"/>
            <a:ext cx="3597239" cy="2932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500" spc="-45"/>
            </a:lvl1pPr>
          </a:lstStyle>
          <a:p>
            <a:r>
              <a:rPr sz="4000" dirty="0"/>
              <a:t>Regression Metrics in Scikit-Learn</a:t>
            </a:r>
          </a:p>
        </p:txBody>
      </p:sp>
      <p:pic>
        <p:nvPicPr>
          <p:cNvPr id="355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56576" y="2649562"/>
            <a:ext cx="4937541" cy="409809"/>
          </a:xfrm>
          <a:prstGeom prst="rect">
            <a:avLst/>
          </a:prstGeom>
        </p:spPr>
      </p:pic>
      <p:pic>
        <p:nvPicPr>
          <p:cNvPr id="357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56576" y="4407021"/>
            <a:ext cx="4937541" cy="409810"/>
          </a:xfrm>
          <a:prstGeom prst="rect">
            <a:avLst/>
          </a:prstGeom>
        </p:spPr>
      </p:pic>
      <p:pic>
        <p:nvPicPr>
          <p:cNvPr id="359" name="Rectangle Rectangle" descr="Rectangle Rectangl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556576" y="5819221"/>
            <a:ext cx="6268444" cy="409810"/>
          </a:xfrm>
          <a:prstGeom prst="rect">
            <a:avLst/>
          </a:prstGeom>
        </p:spPr>
      </p:pic>
      <p:pic>
        <p:nvPicPr>
          <p:cNvPr id="361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556577" y="6164480"/>
            <a:ext cx="5183710" cy="409809"/>
          </a:xfrm>
          <a:prstGeom prst="rect">
            <a:avLst/>
          </a:prstGeom>
        </p:spPr>
      </p:pic>
      <p:sp>
        <p:nvSpPr>
          <p:cNvPr id="363" name="In v1.4 or greater (previous versions have a “squared” argument in the MSE function)"/>
          <p:cNvSpPr txBox="1"/>
          <p:nvPr/>
        </p:nvSpPr>
        <p:spPr>
          <a:xfrm>
            <a:off x="9132219" y="5319529"/>
            <a:ext cx="1380059" cy="10999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>
            <a:spAutoFit/>
          </a:bodyPr>
          <a:lstStyle>
            <a:lvl1pPr>
              <a:defRPr sz="1900">
                <a:solidFill>
                  <a:srgbClr val="4F8F00"/>
                </a:solidFill>
              </a:defRPr>
            </a:lvl1pPr>
          </a:lstStyle>
          <a:p>
            <a:r>
              <a:rPr sz="1336"/>
              <a:t>In v1.4 or greater (previous versions have a “squared” argument in the MSE function)</a:t>
            </a:r>
          </a:p>
        </p:txBody>
      </p:sp>
      <p:pic>
        <p:nvPicPr>
          <p:cNvPr id="364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6981944" y="6252337"/>
            <a:ext cx="2069393" cy="2340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Model Selection Metr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Model Selection Metrics</a:t>
            </a:r>
          </a:p>
        </p:txBody>
      </p:sp>
      <p:sp>
        <p:nvSpPr>
          <p:cNvPr id="369" name="Models selection tools, such as “GridSearchCV” and “cross_val_score” use a scoring parameter"/>
          <p:cNvSpPr txBox="1">
            <a:spLocks noGrp="1"/>
          </p:cNvSpPr>
          <p:nvPr>
            <p:ph type="body" sz="quarter" idx="1"/>
          </p:nvPr>
        </p:nvSpPr>
        <p:spPr>
          <a:xfrm>
            <a:off x="1523643" y="1886816"/>
            <a:ext cx="8161734" cy="922516"/>
          </a:xfrm>
          <a:prstGeom prst="rect">
            <a:avLst/>
          </a:prstGeom>
        </p:spPr>
        <p:txBody>
          <a:bodyPr/>
          <a:lstStyle/>
          <a:p>
            <a:r>
              <a:rPr dirty="0"/>
              <a:t>Models selection tools, such as “</a:t>
            </a:r>
            <a:r>
              <a:rPr dirty="0" err="1"/>
              <a:t>GridSearchCV</a:t>
            </a:r>
            <a:r>
              <a:rPr dirty="0"/>
              <a:t>” and “</a:t>
            </a:r>
            <a:r>
              <a:rPr dirty="0" err="1"/>
              <a:t>cross_val_score</a:t>
            </a:r>
            <a:r>
              <a:rPr dirty="0"/>
              <a:t>” use a scoring parameter </a:t>
            </a:r>
          </a:p>
        </p:txBody>
      </p:sp>
      <p:pic>
        <p:nvPicPr>
          <p:cNvPr id="37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492" y="2919450"/>
            <a:ext cx="8661797" cy="1518048"/>
          </a:xfrm>
          <a:prstGeom prst="rect">
            <a:avLst/>
          </a:prstGeom>
          <a:ln w="3175">
            <a:miter lim="400000"/>
          </a:ln>
        </p:spPr>
      </p:pic>
      <p:pic>
        <p:nvPicPr>
          <p:cNvPr id="371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93118" y="3483085"/>
            <a:ext cx="5429507" cy="101029"/>
          </a:xfrm>
          <a:prstGeom prst="rect">
            <a:avLst/>
          </a:prstGeom>
        </p:spPr>
      </p:pic>
      <p:pic>
        <p:nvPicPr>
          <p:cNvPr id="373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513789" y="3770206"/>
            <a:ext cx="3096201" cy="101029"/>
          </a:xfrm>
          <a:prstGeom prst="rect">
            <a:avLst/>
          </a:prstGeom>
        </p:spPr>
      </p:pic>
      <p:pic>
        <p:nvPicPr>
          <p:cNvPr id="375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477247" y="4084305"/>
            <a:ext cx="2187191" cy="101029"/>
          </a:xfrm>
          <a:prstGeom prst="rect">
            <a:avLst/>
          </a:prstGeom>
        </p:spPr>
      </p:pic>
      <p:pic>
        <p:nvPicPr>
          <p:cNvPr id="377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786" y="4985618"/>
            <a:ext cx="7322344" cy="464344"/>
          </a:xfrm>
          <a:prstGeom prst="rect">
            <a:avLst/>
          </a:prstGeom>
          <a:ln w="3175">
            <a:miter lim="400000"/>
          </a:ln>
        </p:spPr>
      </p:pic>
      <p:pic>
        <p:nvPicPr>
          <p:cNvPr id="378" name="pasted-movie.png" descr="pasted-mov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9786" y="5432209"/>
            <a:ext cx="7322344" cy="464344"/>
          </a:xfrm>
          <a:prstGeom prst="rect">
            <a:avLst/>
          </a:prstGeom>
          <a:ln w="3175">
            <a:miter lim="400000"/>
          </a:ln>
        </p:spPr>
      </p:pic>
      <p:pic>
        <p:nvPicPr>
          <p:cNvPr id="379" name="pasted-movie.png" descr="pasted-mov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9786" y="4569597"/>
            <a:ext cx="7322344" cy="464344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6.337"/>
  <p:tag name="ORIGINALWIDTH" val="3850.769"/>
  <p:tag name="LATEXADDIN" val="\documentclass{article}\pagestyle{empty}&#10;\usepackage[top=1in, bottom=1in, left=2in, right=2in]{geometry}&#10;\usepackage{amsmath,amssymb,bm}&#10;\newcommand{\bu}{{\bm u}}&#10;\newcommand{\bv}{{\bm v}}&#10;\newcommand{\bw}{{\bm w}}&#10;\newcommand{\bx}{{\bm x}}&#10;\newcommand{\bmu}{{\bm \mu}}&#10;\newcommand{\btheta}{{\bm \theta}}&#10;\newcommand{\bX}{{\bm X}}&#10;\newcommand{\bzero}{{\bm 0}}&#10;\newcommand{\R}{\mathbb{R}}&#10;\newcommand{\argmax}{\operatorname{argmax}}&#10;\begin{document}&#10;\begin{itemize}&#10;\item Just like classification, there is a regression function $f^*$ that achieves the minimum value $R^*$ of the mean squared error&#10;\item {\bf Theorem:} The function&#10;$$&#10;f^*(\bx) := E_{Y|\bX}[Y|\bX = \bx]&#10;$$&#10;minimizes the mean squared error.&#10;\item This function is called the {\em conditional mean} predictor.&#10;\end{itemize}&#10;\end{document}&#10;"/>
  <p:tag name="IGUANATEXSIZE" val="20"/>
  <p:tag name="IGUANATEXCURSOR" val="775"/>
  <p:tag name="TRANSPARENCY" val="False"/>
  <p:tag name="FILENAME" val=""/>
  <p:tag name="LATEXENGINEID" val="0"/>
  <p:tag name="TEMPFOLDER" val="c:\temp\"/>
  <p:tag name="LATEXFORMHEIGHT" val="640.5"/>
  <p:tag name="LATEXFORMWIDTH" val="52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0.034"/>
  <p:tag name="ORIGINALWIDTH" val="4042.745"/>
  <p:tag name="LATEXADDIN" val="\documentclass{article}\pagestyle{empty}&#10;\usepackage[top=1in, bottom=1in, left=2in, right=2in]{geometry}&#10;\usepackage{amsmath,amssymb,bm}&#10;\newcommand{\bu}{{\bm u}}&#10;\newcommand{\bv}{{\bm v}}&#10;\newcommand{\bw}{{\bm w}}&#10;\newcommand{\bx}{{\bm x}}&#10;\newcommand{\bmu}{{\bm \mu}}&#10;\newcommand{\btheta}{{\bm \theta}}&#10;\newcommand{\bX}{{\bm X}}&#10;\newcommand{\bzero}{{\bm 0}}&#10;\newcommand{\R}{\mathbb{R}}&#10;\newcommand{\argmax}{\operatorname{argmax}}&#10;\begin{document}&#10;\noindent {\em Proof of Theorem:} Let $f$ be any regression function.&#10;\begin{align*}&#10;R(f) &amp;= E_{\bX Y}[(f(\bX) - Y)^2]\\&#10;&amp;= E_{\bX} E_{Y|\bX} [(f(\bX)-Y)^2 | \bX] \\&#10;&amp;= E_{\bX} E_{Y|\bX} [(f(\bX)-E[Y|\bX] + E[Y|\bX] - Y)^2|\bX] \\&#10;&amp;= E_{\bX} E_{Y|\bX} [(f(\bX)-E[Y|\bX])^2] + (E[Y|\bX] - Y)^2 \\&#10;&amp; \qquad - 2(f(\bX)-E[Y|\bX])(E[Y|\bX] - Y)|\bX]&#10;\end{align*}&#10;The second term is independent of $f$, and the third term is zero. The first term can be made to equal 0 by taking $f$ to be the conditional mean, so this minimizes the MSE.&#10;\end{document}&#10;"/>
  <p:tag name="IGUANATEXSIZE" val="20"/>
  <p:tag name="IGUANATEXCURSOR" val="980"/>
  <p:tag name="TRANSPARENCY" val="False"/>
  <p:tag name="FILENAME" val=""/>
  <p:tag name="LATEXENGINEID" val="0"/>
  <p:tag name="TEMPFOLDER" val="c:\temp\"/>
  <p:tag name="LATEXFORMHEIGHT" val="640.5"/>
  <p:tag name="LATEXFORMWIDTH" val="525"/>
  <p:tag name="LATEXFORMWRAP" val="True"/>
  <p:tag name="BITMAPVECTOR" val="0"/>
</p:tagLst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2095</Words>
  <Application>Microsoft Office PowerPoint</Application>
  <PresentationFormat>Widescreen</PresentationFormat>
  <Paragraphs>228</Paragraphs>
  <Slides>42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Aptos</vt:lpstr>
      <vt:lpstr>Arial</vt:lpstr>
      <vt:lpstr>Calisto MT</vt:lpstr>
      <vt:lpstr>Cambria Math</vt:lpstr>
      <vt:lpstr>Consolas</vt:lpstr>
      <vt:lpstr>Graphik</vt:lpstr>
      <vt:lpstr>Helvetica Neue</vt:lpstr>
      <vt:lpstr>Segoe UI</vt:lpstr>
      <vt:lpstr>Univers Condensed</vt:lpstr>
      <vt:lpstr>ChronicleVTI</vt:lpstr>
      <vt:lpstr>Intro to regression</vt:lpstr>
      <vt:lpstr>PowerPoint Presentation</vt:lpstr>
      <vt:lpstr>Linear Regression</vt:lpstr>
      <vt:lpstr>Least Squares</vt:lpstr>
      <vt:lpstr>Conditional Mean</vt:lpstr>
      <vt:lpstr>Conditional Mean</vt:lpstr>
      <vt:lpstr>PowerPoint Presentation</vt:lpstr>
      <vt:lpstr>General model-based training</vt:lpstr>
      <vt:lpstr>Optimizing the objective function</vt:lpstr>
      <vt:lpstr>Ordinary least squares objective</vt:lpstr>
      <vt:lpstr>Method 1: Normal Equations </vt:lpstr>
      <vt:lpstr>Method 2: Gradient Descent (High level) </vt:lpstr>
      <vt:lpstr>Method 2: Gradient Descent </vt:lpstr>
      <vt:lpstr>Learning Rate</vt:lpstr>
      <vt:lpstr>Gradient Descent Variations</vt:lpstr>
      <vt:lpstr>Gradient Descent Variations</vt:lpstr>
      <vt:lpstr>Gradient Descent Variations</vt:lpstr>
      <vt:lpstr>Learning Schedule</vt:lpstr>
      <vt:lpstr>Regularization</vt:lpstr>
      <vt:lpstr>Regularization</vt:lpstr>
      <vt:lpstr>Explicit Regularization</vt:lpstr>
      <vt:lpstr>Implicit Regularization</vt:lpstr>
      <vt:lpstr>PowerPoint Presentation</vt:lpstr>
      <vt:lpstr>Regularized Cost Functions</vt:lpstr>
      <vt:lpstr>L1 Penalty: LASSO</vt:lpstr>
      <vt:lpstr>Regularized Cost Functions</vt:lpstr>
      <vt:lpstr>Lasso v. Ridge Visualization</vt:lpstr>
      <vt:lpstr>Ridge vs Lasso</vt:lpstr>
      <vt:lpstr>Elastic-Net Regularization</vt:lpstr>
      <vt:lpstr>Regularization Generally </vt:lpstr>
      <vt:lpstr>“Nonlinear” linear regression</vt:lpstr>
      <vt:lpstr>Polynomial Regression</vt:lpstr>
      <vt:lpstr>Polynomial Regression</vt:lpstr>
      <vt:lpstr>Terminology</vt:lpstr>
      <vt:lpstr>More Terminology</vt:lpstr>
      <vt:lpstr>Interaction &amp; polynomial features</vt:lpstr>
      <vt:lpstr>Regression Metrics</vt:lpstr>
      <vt:lpstr>Evaluating a regression model</vt:lpstr>
      <vt:lpstr>Common Regression Metrics</vt:lpstr>
      <vt:lpstr>Regression Metric Comparisons</vt:lpstr>
      <vt:lpstr>Regression Metrics in Scikit-Learn</vt:lpstr>
      <vt:lpstr>Model Selection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46</cp:revision>
  <dcterms:created xsi:type="dcterms:W3CDTF">2025-10-28T15:32:43Z</dcterms:created>
  <dcterms:modified xsi:type="dcterms:W3CDTF">2026-01-09T22:32:48Z</dcterms:modified>
</cp:coreProperties>
</file>