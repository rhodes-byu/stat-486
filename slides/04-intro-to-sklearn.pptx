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1"/>
  </p:notesMasterIdLst>
  <p:sldIdLst>
    <p:sldId id="256" r:id="rId2"/>
    <p:sldId id="321" r:id="rId3"/>
    <p:sldId id="322" r:id="rId4"/>
    <p:sldId id="323" r:id="rId5"/>
    <p:sldId id="328" r:id="rId6"/>
    <p:sldId id="324" r:id="rId7"/>
    <p:sldId id="325" r:id="rId8"/>
    <p:sldId id="326" r:id="rId9"/>
    <p:sldId id="32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06" d="100"/>
          <a:sy n="106" d="100"/>
        </p:scale>
        <p:origin x="12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20152-7289-42ED-97D3-BBB411F9F8C0}"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0E3D6-3C77-45F1-B7E2-5B66F3D24A72}" type="slidenum">
              <a:rPr lang="en-US" smtClean="0"/>
              <a:t>‹#›</a:t>
            </a:fld>
            <a:endParaRPr lang="en-US"/>
          </a:p>
        </p:txBody>
      </p:sp>
    </p:spTree>
    <p:extLst>
      <p:ext uri="{BB962C8B-B14F-4D97-AF65-F5344CB8AC3E}">
        <p14:creationId xmlns:p14="http://schemas.microsoft.com/office/powerpoint/2010/main" val="3564873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8143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20972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6029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491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27209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0194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9040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5910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7665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98365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5788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Subtitle"/>
          <p:cNvSpPr txBox="1">
            <a:spLocks noGrp="1"/>
          </p:cNvSpPr>
          <p:nvPr>
            <p:ph type="body" sz="quarter" idx="21" hasCustomPrompt="1"/>
          </p:nvPr>
        </p:nvSpPr>
        <p:spPr>
          <a:xfrm>
            <a:off x="654844" y="1017985"/>
            <a:ext cx="10882313" cy="473273"/>
          </a:xfrm>
          <a:prstGeom prst="rect">
            <a:avLst/>
          </a:prstGeom>
        </p:spPr>
        <p:txBody>
          <a:bodyPr/>
          <a:lstStyle>
            <a:lvl1pPr marL="0" indent="0" defTabSz="178587">
              <a:spcBef>
                <a:spcPts val="0"/>
              </a:spcBef>
              <a:buSzTx/>
              <a:buNone/>
              <a:defRPr sz="2250">
                <a:latin typeface="+mn-lt"/>
                <a:ea typeface="+mn-ea"/>
                <a:cs typeface="+mn-cs"/>
                <a:sym typeface="Produkt Extralight"/>
              </a:defRPr>
            </a:lvl1pPr>
          </a:lstStyle>
          <a:p>
            <a:r>
              <a:t>Slide Subtitle</a:t>
            </a:r>
          </a:p>
        </p:txBody>
      </p:sp>
      <p:sp>
        <p:nvSpPr>
          <p:cNvPr id="43" name="Slide Title"/>
          <p:cNvSpPr txBox="1">
            <a:spLocks noGrp="1"/>
          </p:cNvSpPr>
          <p:nvPr>
            <p:ph type="title" hasCustomPrompt="1"/>
          </p:nvPr>
        </p:nvSpPr>
        <p:spPr>
          <a:prstGeom prst="rect">
            <a:avLst/>
          </a:prstGeom>
        </p:spPr>
        <p:txBody>
          <a:bodyPr/>
          <a:lstStyle/>
          <a:p>
            <a:r>
              <a:t>Slide 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01"/>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72804550"/>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Title Only">
    <p:spTree>
      <p:nvGrpSpPr>
        <p:cNvPr id="1" name=""/>
        <p:cNvGrpSpPr/>
        <p:nvPr/>
      </p:nvGrpSpPr>
      <p:grpSpPr>
        <a:xfrm>
          <a:off x="0" y="0"/>
          <a:ext cx="0" cy="0"/>
          <a:chOff x="0" y="0"/>
          <a:chExt cx="0" cy="0"/>
        </a:xfrm>
      </p:grpSpPr>
      <p:sp>
        <p:nvSpPr>
          <p:cNvPr id="99" name="Slide Subtitle"/>
          <p:cNvSpPr txBox="1">
            <a:spLocks noGrp="1"/>
          </p:cNvSpPr>
          <p:nvPr>
            <p:ph type="body" sz="quarter" idx="21" hasCustomPrompt="1"/>
          </p:nvPr>
        </p:nvSpPr>
        <p:spPr>
          <a:xfrm>
            <a:off x="654844" y="1017985"/>
            <a:ext cx="10882313" cy="473273"/>
          </a:xfrm>
          <a:prstGeom prst="rect">
            <a:avLst/>
          </a:prstGeom>
        </p:spPr>
        <p:txBody>
          <a:bodyPr/>
          <a:lstStyle>
            <a:lvl1pPr marL="0" indent="0" defTabSz="178587">
              <a:spcBef>
                <a:spcPts val="0"/>
              </a:spcBef>
              <a:buSzTx/>
              <a:buNone/>
              <a:defRPr sz="2250">
                <a:latin typeface="+mn-lt"/>
                <a:ea typeface="+mn-ea"/>
                <a:cs typeface="+mn-cs"/>
                <a:sym typeface="Produkt Extralight"/>
              </a:defRPr>
            </a:lvl1pPr>
          </a:lstStyle>
          <a:p>
            <a:r>
              <a:t>Slide Subtitle</a:t>
            </a:r>
          </a:p>
        </p:txBody>
      </p:sp>
      <p:sp>
        <p:nvSpPr>
          <p:cNvPr id="100" name="Slide Title"/>
          <p:cNvSpPr txBox="1">
            <a:spLocks noGrp="1"/>
          </p:cNvSpPr>
          <p:nvPr>
            <p:ph type="title" hasCustomPrompt="1"/>
          </p:nvPr>
        </p:nvSpPr>
        <p:spPr>
          <a:prstGeom prst="rect">
            <a:avLst/>
          </a:prstGeom>
        </p:spPr>
        <p:txBody>
          <a:bodyPr/>
          <a:lstStyle/>
          <a:p>
            <a:r>
              <a:t>Slide Title</a:t>
            </a:r>
          </a:p>
        </p:txBody>
      </p:sp>
      <p:sp>
        <p:nvSpPr>
          <p:cNvPr id="101" name="01"/>
          <p:cNvSpPr txBox="1">
            <a:spLocks noGrp="1"/>
          </p:cNvSpPr>
          <p:nvPr>
            <p:ph type="sldNum" sz="quarter" idx="2"/>
          </p:nvPr>
        </p:nvSpPr>
        <p:spPr>
          <a:xfrm>
            <a:off x="11727656" y="6152554"/>
            <a:ext cx="274321" cy="222082"/>
          </a:xfrm>
          <a:prstGeom prst="rect">
            <a:avLst/>
          </a:prstGeom>
        </p:spPr>
        <p:txBody>
          <a:bodyPr wrap="none"/>
          <a:lstStyle/>
          <a:p>
            <a:fld id="{86CB4B4D-7CA3-9044-876B-883B54F8677D}" type="slidenum">
              <a:t>‹#›</a:t>
            </a:fld>
            <a:endParaRPr/>
          </a:p>
        </p:txBody>
      </p:sp>
    </p:spTree>
    <p:extLst>
      <p:ext uri="{BB962C8B-B14F-4D97-AF65-F5344CB8AC3E}">
        <p14:creationId xmlns:p14="http://schemas.microsoft.com/office/powerpoint/2010/main" val="10320820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12/19/2025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45446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 id="2147483688" r:id="rId12"/>
    <p:sldLayoutId id="2147483689" r:id="rId13"/>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ikit-learn.org/" TargetMode="Externa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hyperlink" Target="https://scikit-learn.org/stable/"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2DB4CC9-9798-1BBD-A26A-E90044E389AC}"/>
              </a:ext>
            </a:extLst>
          </p:cNvPr>
          <p:cNvPicPr>
            <a:picLocks noChangeAspect="1"/>
          </p:cNvPicPr>
          <p:nvPr/>
        </p:nvPicPr>
        <p:blipFill>
          <a:blip r:embed="rId2"/>
          <a:srcRect t="9520" b="621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37318"/>
            <a:ext cx="12188952" cy="2620682"/>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F3EC0C-B664-18E2-FAA6-07592A24EF44}"/>
              </a:ext>
            </a:extLst>
          </p:cNvPr>
          <p:cNvSpPr>
            <a:spLocks noGrp="1"/>
          </p:cNvSpPr>
          <p:nvPr>
            <p:ph type="ctrTitle"/>
          </p:nvPr>
        </p:nvSpPr>
        <p:spPr>
          <a:xfrm>
            <a:off x="705158" y="5528235"/>
            <a:ext cx="10696574" cy="770964"/>
          </a:xfrm>
        </p:spPr>
        <p:txBody>
          <a:bodyPr anchor="b">
            <a:normAutofit/>
          </a:bodyPr>
          <a:lstStyle/>
          <a:p>
            <a:pPr>
              <a:lnSpc>
                <a:spcPct val="90000"/>
              </a:lnSpc>
            </a:pPr>
            <a:r>
              <a:rPr lang="en-US" sz="2200">
                <a:solidFill>
                  <a:srgbClr val="FFFFFF"/>
                </a:solidFill>
              </a:rPr>
              <a:t>Introduction to </a:t>
            </a:r>
            <a:br>
              <a:rPr lang="en-US" sz="2200">
                <a:solidFill>
                  <a:srgbClr val="FFFFFF"/>
                </a:solidFill>
              </a:rPr>
            </a:br>
            <a:r>
              <a:rPr lang="en-US" sz="2200">
                <a:solidFill>
                  <a:srgbClr val="FFFFFF"/>
                </a:solidFill>
              </a:rPr>
              <a:t>Scikit-Learn</a:t>
            </a:r>
          </a:p>
        </p:txBody>
      </p:sp>
    </p:spTree>
    <p:extLst>
      <p:ext uri="{BB962C8B-B14F-4D97-AF65-F5344CB8AC3E}">
        <p14:creationId xmlns:p14="http://schemas.microsoft.com/office/powerpoint/2010/main" val="128424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What is Scikit-Learn"/>
          <p:cNvSpPr txBox="1">
            <a:spLocks noGrp="1"/>
          </p:cNvSpPr>
          <p:nvPr>
            <p:ph type="title"/>
          </p:nvPr>
        </p:nvSpPr>
        <p:spPr>
          <a:prstGeom prst="rect">
            <a:avLst/>
          </a:prstGeom>
        </p:spPr>
        <p:txBody>
          <a:bodyPr/>
          <a:lstStyle/>
          <a:p>
            <a:r>
              <a:t>What is Scikit-Learn</a:t>
            </a:r>
          </a:p>
        </p:txBody>
      </p:sp>
      <p:sp>
        <p:nvSpPr>
          <p:cNvPr id="634" name="Scikit-Learn is one of the best known python packages for machine learning…"/>
          <p:cNvSpPr txBox="1">
            <a:spLocks noGrp="1"/>
          </p:cNvSpPr>
          <p:nvPr>
            <p:ph type="body" idx="1"/>
          </p:nvPr>
        </p:nvSpPr>
        <p:spPr>
          <a:xfrm>
            <a:off x="2015133" y="1871904"/>
            <a:ext cx="8161734" cy="4759169"/>
          </a:xfrm>
          <a:prstGeom prst="rect">
            <a:avLst/>
          </a:prstGeom>
        </p:spPr>
        <p:txBody>
          <a:bodyPr>
            <a:normAutofit fontScale="77500" lnSpcReduction="20000"/>
          </a:bodyPr>
          <a:lstStyle/>
          <a:p>
            <a:pPr marL="221002" indent="-221002" defTabSz="176015">
              <a:spcBef>
                <a:spcPts val="2250"/>
              </a:spcBef>
              <a:defRPr sz="2772"/>
            </a:pPr>
            <a:r>
              <a:rPr dirty="0"/>
              <a:t>Scikit-Learn is one of the </a:t>
            </a:r>
            <a:r>
              <a:rPr lang="en-US" dirty="0"/>
              <a:t>best-known</a:t>
            </a:r>
            <a:r>
              <a:rPr dirty="0"/>
              <a:t> </a:t>
            </a:r>
            <a:r>
              <a:rPr lang="en-US" dirty="0"/>
              <a:t>Python</a:t>
            </a:r>
            <a:r>
              <a:rPr dirty="0"/>
              <a:t> packages for machine learning</a:t>
            </a:r>
          </a:p>
          <a:p>
            <a:pPr marL="221002" indent="-221002" defTabSz="176015">
              <a:spcBef>
                <a:spcPts val="2250"/>
              </a:spcBef>
              <a:defRPr sz="2772"/>
            </a:pPr>
            <a:r>
              <a:rPr u="sng" dirty="0">
                <a:hlinkClick r:id="rId2"/>
              </a:rPr>
              <a:t>scikit-learn.org</a:t>
            </a:r>
            <a:r>
              <a:rPr dirty="0"/>
              <a:t> </a:t>
            </a:r>
          </a:p>
          <a:p>
            <a:pPr marL="221002" indent="-221002" defTabSz="176015">
              <a:spcBef>
                <a:spcPts val="2250"/>
              </a:spcBef>
              <a:defRPr sz="2772"/>
            </a:pPr>
            <a:r>
              <a:rPr dirty="0"/>
              <a:t>It provides efficient versions of many common ML algorithms</a:t>
            </a:r>
          </a:p>
          <a:p>
            <a:pPr marL="221002" indent="-221002" defTabSz="176015">
              <a:spcBef>
                <a:spcPts val="2250"/>
              </a:spcBef>
              <a:defRPr sz="2772"/>
            </a:pPr>
            <a:r>
              <a:rPr dirty="0"/>
              <a:t>It has a clean, uniform, and streamlined API</a:t>
            </a:r>
          </a:p>
          <a:p>
            <a:pPr marL="664773" lvl="2" indent="-222770" defTabSz="176015">
              <a:defRPr sz="2772"/>
            </a:pPr>
            <a:r>
              <a:rPr dirty="0"/>
              <a:t>Once you understand the syntax of Scikit-Learn, it is straightforward to use any model inside the library</a:t>
            </a:r>
          </a:p>
          <a:p>
            <a:pPr marL="221002" indent="-221002" defTabSz="176015">
              <a:spcBef>
                <a:spcPts val="2250"/>
              </a:spcBef>
              <a:defRPr sz="2772"/>
            </a:pPr>
            <a:r>
              <a:rPr dirty="0"/>
              <a:t>In </a:t>
            </a:r>
            <a:r>
              <a:rPr lang="en-US" dirty="0"/>
              <a:t>Python</a:t>
            </a:r>
            <a:r>
              <a:rPr dirty="0"/>
              <a:t>, Scikit-Learn is called with </a:t>
            </a:r>
            <a:r>
              <a:rPr dirty="0" err="1">
                <a:latin typeface="Courier"/>
                <a:ea typeface="Courier"/>
                <a:cs typeface="Courier"/>
                <a:sym typeface="Courier"/>
              </a:rPr>
              <a:t>sklearn</a:t>
            </a:r>
            <a:r>
              <a:rPr dirty="0"/>
              <a:t>  </a:t>
            </a:r>
          </a:p>
          <a:p>
            <a:pPr marL="664773" lvl="2" indent="-222770" defTabSz="176015">
              <a:spcBef>
                <a:spcPts val="2250"/>
              </a:spcBef>
              <a:defRPr sz="2772" b="1">
                <a:latin typeface="Courier New"/>
                <a:ea typeface="Courier New"/>
                <a:cs typeface="Courier New"/>
                <a:sym typeface="Courier New"/>
              </a:defRPr>
            </a:pPr>
            <a:r>
              <a:rPr dirty="0"/>
              <a:t>import </a:t>
            </a:r>
            <a:r>
              <a:rPr dirty="0" err="1"/>
              <a:t>sklearn</a:t>
            </a:r>
            <a:endParaRPr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Scikit-Learn Design"/>
          <p:cNvSpPr txBox="1">
            <a:spLocks noGrp="1"/>
          </p:cNvSpPr>
          <p:nvPr>
            <p:ph type="title"/>
          </p:nvPr>
        </p:nvSpPr>
        <p:spPr>
          <a:xfrm>
            <a:off x="682528" y="832919"/>
            <a:ext cx="10691265" cy="1307592"/>
          </a:xfrm>
          <a:prstGeom prst="rect">
            <a:avLst/>
          </a:prstGeom>
        </p:spPr>
        <p:txBody>
          <a:bodyPr/>
          <a:lstStyle/>
          <a:p>
            <a:r>
              <a:rPr dirty="0"/>
              <a:t>Scikit-Learn Design</a:t>
            </a:r>
          </a:p>
        </p:txBody>
      </p:sp>
      <p:sp>
        <p:nvSpPr>
          <p:cNvPr id="637" name="Consistency:   * All objects share a consistent and sensible interface…"/>
          <p:cNvSpPr txBox="1">
            <a:spLocks noGrp="1"/>
          </p:cNvSpPr>
          <p:nvPr>
            <p:ph type="body" idx="1"/>
          </p:nvPr>
        </p:nvSpPr>
        <p:spPr>
          <a:xfrm>
            <a:off x="2015133" y="1391768"/>
            <a:ext cx="8161734" cy="4975099"/>
          </a:xfrm>
          <a:prstGeom prst="rect">
            <a:avLst/>
          </a:prstGeom>
        </p:spPr>
        <p:txBody>
          <a:bodyPr>
            <a:normAutofit fontScale="77500" lnSpcReduction="20000"/>
          </a:bodyPr>
          <a:lstStyle/>
          <a:p>
            <a:pPr marL="203143" indent="-203143" defTabSz="161792">
              <a:spcBef>
                <a:spcPts val="2109"/>
              </a:spcBef>
              <a:defRPr sz="2548"/>
            </a:pPr>
            <a:r>
              <a:rPr b="1" dirty="0">
                <a:latin typeface="Graphik"/>
                <a:ea typeface="Graphik"/>
                <a:cs typeface="Graphik"/>
                <a:sym typeface="Graphik"/>
              </a:rPr>
              <a:t>Consistency</a:t>
            </a:r>
            <a:r>
              <a:rPr dirty="0"/>
              <a:t>:  </a:t>
            </a:r>
            <a:br>
              <a:rPr dirty="0"/>
            </a:br>
            <a:r>
              <a:rPr dirty="0"/>
              <a:t>* All objects share a consistent and sensible interface</a:t>
            </a:r>
          </a:p>
          <a:p>
            <a:pPr marL="203143" indent="-203143" defTabSz="161792">
              <a:spcBef>
                <a:spcPts val="2109"/>
              </a:spcBef>
              <a:defRPr sz="2548"/>
            </a:pPr>
            <a:r>
              <a:rPr b="1" dirty="0">
                <a:latin typeface="Graphik"/>
                <a:ea typeface="Graphik"/>
                <a:cs typeface="Graphik"/>
                <a:sym typeface="Graphik"/>
              </a:rPr>
              <a:t>Inspection</a:t>
            </a:r>
            <a:r>
              <a:rPr dirty="0"/>
              <a:t>:  </a:t>
            </a:r>
            <a:br>
              <a:rPr dirty="0"/>
            </a:br>
            <a:r>
              <a:rPr dirty="0"/>
              <a:t>* All hyperparameter and learned parameters are directly accessible (as attributes of the object)</a:t>
            </a:r>
            <a:br>
              <a:rPr dirty="0"/>
            </a:br>
            <a:r>
              <a:rPr dirty="0"/>
              <a:t>* Learn parameters have an underscore suffix </a:t>
            </a:r>
          </a:p>
          <a:p>
            <a:pPr marL="203143" indent="-203143" defTabSz="161792">
              <a:spcBef>
                <a:spcPts val="2109"/>
              </a:spcBef>
              <a:defRPr sz="2548"/>
            </a:pPr>
            <a:r>
              <a:rPr b="1" dirty="0">
                <a:latin typeface="Graphik"/>
                <a:ea typeface="Graphik"/>
                <a:cs typeface="Graphik"/>
                <a:sym typeface="Graphik"/>
              </a:rPr>
              <a:t>Nonproliferation of classes</a:t>
            </a:r>
            <a:r>
              <a:rPr dirty="0"/>
              <a:t>:</a:t>
            </a:r>
            <a:br>
              <a:rPr dirty="0"/>
            </a:br>
            <a:r>
              <a:rPr dirty="0"/>
              <a:t>* Datasets and hyperparameters are </a:t>
            </a:r>
            <a:r>
              <a:rPr lang="en-US" dirty="0"/>
              <a:t>Pandas</a:t>
            </a:r>
            <a:r>
              <a:rPr dirty="0"/>
              <a:t>, </a:t>
            </a:r>
            <a:r>
              <a:rPr lang="en-US" dirty="0" err="1"/>
              <a:t>Numpy</a:t>
            </a:r>
            <a:r>
              <a:rPr dirty="0"/>
              <a:t>, or base </a:t>
            </a:r>
            <a:r>
              <a:rPr lang="en-US" dirty="0"/>
              <a:t>Python</a:t>
            </a:r>
            <a:r>
              <a:rPr dirty="0"/>
              <a:t> objects</a:t>
            </a:r>
          </a:p>
          <a:p>
            <a:pPr marL="203143" indent="-203143" defTabSz="161792">
              <a:spcBef>
                <a:spcPts val="2109"/>
              </a:spcBef>
              <a:defRPr sz="2548"/>
            </a:pPr>
            <a:r>
              <a:rPr b="1" dirty="0">
                <a:latin typeface="Graphik"/>
                <a:ea typeface="Graphik"/>
                <a:cs typeface="Graphik"/>
                <a:sym typeface="Graphik"/>
              </a:rPr>
              <a:t>Composition</a:t>
            </a:r>
            <a:r>
              <a:rPr dirty="0"/>
              <a:t>:</a:t>
            </a:r>
            <a:br>
              <a:rPr dirty="0"/>
            </a:br>
            <a:r>
              <a:rPr dirty="0"/>
              <a:t>* Existing building blocks are reused as much as possible </a:t>
            </a:r>
          </a:p>
          <a:p>
            <a:pPr marL="203143" indent="-203143" defTabSz="161792">
              <a:spcBef>
                <a:spcPts val="2109"/>
              </a:spcBef>
              <a:defRPr sz="2548"/>
            </a:pPr>
            <a:r>
              <a:rPr b="1" dirty="0">
                <a:latin typeface="Graphik"/>
                <a:ea typeface="Graphik"/>
                <a:cs typeface="Graphik"/>
                <a:sym typeface="Graphik"/>
              </a:rPr>
              <a:t>Sensible defaults</a:t>
            </a:r>
            <a:r>
              <a:rPr dirty="0"/>
              <a:t>:</a:t>
            </a:r>
            <a:br>
              <a:rPr dirty="0"/>
            </a:br>
            <a:r>
              <a:rPr dirty="0"/>
              <a:t>* Most parameters have reasonable default values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9" name="Scikit-Learn Design: Consistency"/>
          <p:cNvSpPr txBox="1">
            <a:spLocks noGrp="1"/>
          </p:cNvSpPr>
          <p:nvPr>
            <p:ph type="title"/>
          </p:nvPr>
        </p:nvSpPr>
        <p:spPr>
          <a:xfrm>
            <a:off x="750367" y="715224"/>
            <a:ext cx="10691265" cy="1307592"/>
          </a:xfrm>
          <a:prstGeom prst="rect">
            <a:avLst/>
          </a:prstGeom>
        </p:spPr>
        <p:txBody>
          <a:bodyPr/>
          <a:lstStyle/>
          <a:p>
            <a:r>
              <a:rPr dirty="0"/>
              <a:t>Scikit-Learn Design: Consistency</a:t>
            </a:r>
          </a:p>
        </p:txBody>
      </p:sp>
      <p:sp>
        <p:nvSpPr>
          <p:cNvPr id="640" name="Estimators:…"/>
          <p:cNvSpPr txBox="1">
            <a:spLocks noGrp="1"/>
          </p:cNvSpPr>
          <p:nvPr>
            <p:ph type="body" idx="1"/>
          </p:nvPr>
        </p:nvSpPr>
        <p:spPr>
          <a:xfrm>
            <a:off x="1144251" y="1688808"/>
            <a:ext cx="7456541" cy="5527380"/>
          </a:xfrm>
          <a:prstGeom prst="rect">
            <a:avLst/>
          </a:prstGeom>
        </p:spPr>
        <p:txBody>
          <a:bodyPr>
            <a:normAutofit/>
          </a:bodyPr>
          <a:lstStyle/>
          <a:p>
            <a:pPr marL="200911" indent="-200911" defTabSz="160014">
              <a:spcBef>
                <a:spcPts val="500"/>
              </a:spcBef>
              <a:defRPr sz="2520"/>
            </a:pPr>
            <a:r>
              <a:rPr lang="en-US" sz="1600" b="1" dirty="0">
                <a:latin typeface="Graphik"/>
                <a:ea typeface="Graphik"/>
                <a:cs typeface="Graphik"/>
                <a:sym typeface="Graphik"/>
              </a:rPr>
              <a:t>Estimators</a:t>
            </a:r>
            <a:r>
              <a:rPr lang="en-US" sz="1600" dirty="0"/>
              <a:t>:</a:t>
            </a:r>
          </a:p>
          <a:p>
            <a:pPr marL="403428" lvl="1" indent="-202517" defTabSz="160014">
              <a:defRPr sz="2520"/>
            </a:pPr>
            <a:r>
              <a:rPr lang="en-US" sz="1600" dirty="0"/>
              <a:t>Any object that can estimate some parameter based on a dataset</a:t>
            </a:r>
          </a:p>
          <a:p>
            <a:pPr marL="403428" lvl="1" indent="-202517" defTabSz="160014">
              <a:defRPr sz="2520"/>
            </a:pPr>
            <a:r>
              <a:rPr lang="en-US" sz="1600" dirty="0"/>
              <a:t>The </a:t>
            </a:r>
            <a:r>
              <a:rPr lang="en-US" sz="1600" dirty="0">
                <a:latin typeface="Courier"/>
                <a:ea typeface="Courier"/>
                <a:cs typeface="Courier"/>
                <a:sym typeface="Courier"/>
              </a:rPr>
              <a:t>.fit() </a:t>
            </a:r>
            <a:r>
              <a:rPr lang="en-US" sz="1600" dirty="0"/>
              <a:t>method performs the estimation </a:t>
            </a:r>
          </a:p>
          <a:p>
            <a:pPr marL="200911" indent="-200911" defTabSz="160014">
              <a:spcBef>
                <a:spcPts val="500"/>
              </a:spcBef>
              <a:defRPr sz="2520"/>
            </a:pPr>
            <a:r>
              <a:rPr lang="en-US" sz="1600" b="1" dirty="0">
                <a:latin typeface="Graphik"/>
                <a:ea typeface="Graphik"/>
                <a:cs typeface="Graphik"/>
                <a:sym typeface="Graphik"/>
              </a:rPr>
              <a:t>Transformers</a:t>
            </a:r>
            <a:r>
              <a:rPr lang="en-US" sz="1600" dirty="0"/>
              <a:t>:</a:t>
            </a:r>
          </a:p>
          <a:p>
            <a:pPr marL="403428" lvl="1" indent="-202517" defTabSz="160014">
              <a:defRPr sz="2520"/>
            </a:pPr>
            <a:r>
              <a:rPr lang="en-US" sz="1600" dirty="0"/>
              <a:t>Estimators that can also transform a dataset</a:t>
            </a:r>
          </a:p>
          <a:p>
            <a:pPr marL="403428" lvl="1" indent="-202517" defTabSz="160014">
              <a:defRPr sz="2520"/>
            </a:pPr>
            <a:r>
              <a:rPr lang="en-US" sz="1600" dirty="0"/>
              <a:t>Transformation is performed with the </a:t>
            </a:r>
            <a:r>
              <a:rPr lang="en-US" sz="1600" dirty="0">
                <a:latin typeface="Courier"/>
                <a:ea typeface="Courier"/>
                <a:cs typeface="Courier"/>
                <a:sym typeface="Courier"/>
              </a:rPr>
              <a:t>.transform() </a:t>
            </a:r>
            <a:r>
              <a:rPr lang="en-US" sz="1600" dirty="0"/>
              <a:t>method</a:t>
            </a:r>
          </a:p>
          <a:p>
            <a:pPr marL="403428" lvl="1" indent="-202517" defTabSz="160014">
              <a:defRPr sz="2520"/>
            </a:pPr>
            <a:r>
              <a:rPr lang="en-US" sz="1600" dirty="0"/>
              <a:t>The </a:t>
            </a:r>
            <a:r>
              <a:rPr lang="en-US" sz="1600" dirty="0">
                <a:latin typeface="Courier"/>
                <a:ea typeface="Courier"/>
                <a:cs typeface="Courier"/>
                <a:sym typeface="Courier"/>
              </a:rPr>
              <a:t>.</a:t>
            </a:r>
            <a:r>
              <a:rPr lang="en-US" sz="1600" dirty="0" err="1">
                <a:latin typeface="Courier"/>
                <a:ea typeface="Courier"/>
                <a:cs typeface="Courier"/>
                <a:sym typeface="Courier"/>
              </a:rPr>
              <a:t>fit_transform</a:t>
            </a:r>
            <a:r>
              <a:rPr lang="en-US" sz="1600" dirty="0">
                <a:latin typeface="Courier"/>
                <a:ea typeface="Courier"/>
                <a:cs typeface="Courier"/>
                <a:sym typeface="Courier"/>
              </a:rPr>
              <a:t>()</a:t>
            </a:r>
            <a:r>
              <a:rPr lang="en-US" sz="1600" dirty="0"/>
              <a:t> method fits and transforms in one step</a:t>
            </a:r>
          </a:p>
          <a:p>
            <a:pPr marL="403428" lvl="1" indent="-202517" defTabSz="160014">
              <a:defRPr sz="2520"/>
            </a:pPr>
            <a:r>
              <a:rPr lang="en-US" sz="1600" dirty="0"/>
              <a:t>Example: </a:t>
            </a:r>
            <a:r>
              <a:rPr lang="en-US" sz="1600" dirty="0" err="1">
                <a:latin typeface="Courier"/>
              </a:rPr>
              <a:t>StandardScaler</a:t>
            </a:r>
            <a:endParaRPr lang="en-US" sz="1600" dirty="0">
              <a:latin typeface="Courier"/>
            </a:endParaRPr>
          </a:p>
          <a:p>
            <a:pPr marL="200911" indent="-200911" defTabSz="160014">
              <a:spcBef>
                <a:spcPts val="500"/>
              </a:spcBef>
              <a:defRPr sz="2520"/>
            </a:pPr>
            <a:r>
              <a:rPr lang="en-US" sz="1600" b="1" dirty="0">
                <a:latin typeface="Graphik"/>
                <a:ea typeface="Graphik"/>
                <a:cs typeface="Graphik"/>
                <a:sym typeface="Graphik"/>
              </a:rPr>
              <a:t>Predictors</a:t>
            </a:r>
            <a:r>
              <a:rPr lang="en-US" sz="1600" dirty="0"/>
              <a:t>:</a:t>
            </a:r>
          </a:p>
          <a:p>
            <a:pPr marL="403428" lvl="1" indent="-202517" defTabSz="160014">
              <a:defRPr sz="2520"/>
            </a:pPr>
            <a:r>
              <a:rPr lang="en-US" sz="1600" dirty="0"/>
              <a:t>Estimators that are capable of making predictions</a:t>
            </a:r>
          </a:p>
          <a:p>
            <a:pPr marL="403428" lvl="1" indent="-202517" defTabSz="160014">
              <a:defRPr sz="2520"/>
            </a:pPr>
            <a:r>
              <a:rPr lang="en-US" sz="1600" dirty="0"/>
              <a:t>Has a </a:t>
            </a:r>
            <a:r>
              <a:rPr lang="en-US" sz="1600" dirty="0">
                <a:latin typeface="Courier"/>
                <a:ea typeface="Courier"/>
                <a:cs typeface="Courier"/>
                <a:sym typeface="Courier"/>
              </a:rPr>
              <a:t>.predict()</a:t>
            </a:r>
            <a:r>
              <a:rPr lang="en-US" sz="1600" dirty="0"/>
              <a:t> method </a:t>
            </a:r>
          </a:p>
          <a:p>
            <a:pPr marL="403428" lvl="1" indent="-202517" defTabSz="160014">
              <a:defRPr sz="2520"/>
            </a:pPr>
            <a:r>
              <a:rPr lang="en-US" sz="1600" dirty="0"/>
              <a:t>Usually have a built-in </a:t>
            </a:r>
            <a:r>
              <a:rPr lang="en-US" sz="1600" dirty="0">
                <a:latin typeface="Courier"/>
              </a:rPr>
              <a:t>.score() </a:t>
            </a:r>
            <a:r>
              <a:rPr lang="en-US" sz="1600" dirty="0"/>
              <a:t>method</a:t>
            </a:r>
          </a:p>
          <a:p>
            <a:pPr marL="403428" lvl="1" indent="-202517" defTabSz="160014">
              <a:defRPr sz="2520"/>
            </a:pPr>
            <a:r>
              <a:rPr lang="en-US" sz="1600" dirty="0"/>
              <a:t>Example: </a:t>
            </a:r>
            <a:r>
              <a:rPr lang="en-US" sz="1600" dirty="0" err="1">
                <a:latin typeface="Courier"/>
              </a:rPr>
              <a:t>KNeighborsClassifier</a:t>
            </a:r>
            <a:endParaRPr lang="en-US" sz="1600" dirty="0">
              <a:latin typeface="Courier"/>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5123-03AC-49EB-EA6D-74D26E76AC6F}"/>
              </a:ext>
            </a:extLst>
          </p:cNvPr>
          <p:cNvSpPr>
            <a:spLocks noGrp="1"/>
          </p:cNvSpPr>
          <p:nvPr>
            <p:ph type="title"/>
          </p:nvPr>
        </p:nvSpPr>
        <p:spPr/>
        <p:txBody>
          <a:bodyPr/>
          <a:lstStyle/>
          <a:p>
            <a:r>
              <a:rPr lang="en-US" dirty="0"/>
              <a:t>Object-oriented modeling</a:t>
            </a:r>
          </a:p>
        </p:txBody>
      </p:sp>
      <p:sp>
        <p:nvSpPr>
          <p:cNvPr id="3" name="Content Placeholder 2">
            <a:extLst>
              <a:ext uri="{FF2B5EF4-FFF2-40B4-BE49-F238E27FC236}">
                <a16:creationId xmlns:a16="http://schemas.microsoft.com/office/drawing/2014/main" id="{DC147735-00F0-8EBC-5C89-AC1921633E0E}"/>
              </a:ext>
            </a:extLst>
          </p:cNvPr>
          <p:cNvSpPr>
            <a:spLocks noGrp="1"/>
          </p:cNvSpPr>
          <p:nvPr>
            <p:ph sz="half" idx="1"/>
          </p:nvPr>
        </p:nvSpPr>
        <p:spPr/>
        <p:txBody>
          <a:bodyPr>
            <a:normAutofit fontScale="92500" lnSpcReduction="10000"/>
          </a:bodyPr>
          <a:lstStyle/>
          <a:p>
            <a:r>
              <a:rPr lang="en-US" dirty="0"/>
              <a:t>A model is an </a:t>
            </a:r>
            <a:r>
              <a:rPr lang="en-US" b="1" dirty="0"/>
              <a:t>object</a:t>
            </a:r>
            <a:r>
              <a:rPr lang="en-US" dirty="0"/>
              <a:t>:</a:t>
            </a:r>
          </a:p>
          <a:p>
            <a:pPr lvl="1"/>
            <a:r>
              <a:rPr lang="en-US" dirty="0"/>
              <a:t>It has </a:t>
            </a:r>
            <a:r>
              <a:rPr lang="en-US" b="1" dirty="0"/>
              <a:t>state</a:t>
            </a:r>
            <a:r>
              <a:rPr lang="en-US" dirty="0"/>
              <a:t> (learned parameters)</a:t>
            </a:r>
          </a:p>
          <a:p>
            <a:pPr lvl="1"/>
            <a:r>
              <a:rPr lang="en-US" dirty="0"/>
              <a:t>It has </a:t>
            </a:r>
            <a:r>
              <a:rPr lang="en-US" b="1" dirty="0"/>
              <a:t>methods</a:t>
            </a:r>
            <a:r>
              <a:rPr lang="en-US" dirty="0"/>
              <a:t> (fit, predict)</a:t>
            </a:r>
          </a:p>
          <a:p>
            <a:r>
              <a:rPr lang="en-US" dirty="0"/>
              <a:t>This allows:</a:t>
            </a:r>
          </a:p>
          <a:p>
            <a:pPr lvl="1"/>
            <a:r>
              <a:rPr lang="en-US" dirty="0"/>
              <a:t>Reuse</a:t>
            </a:r>
          </a:p>
          <a:p>
            <a:pPr lvl="1"/>
            <a:r>
              <a:rPr lang="en-US" dirty="0"/>
              <a:t>Inspection</a:t>
            </a:r>
          </a:p>
          <a:p>
            <a:pPr lvl="1"/>
            <a:r>
              <a:rPr lang="en-US" dirty="0"/>
              <a:t>Composition (pipelines)</a:t>
            </a:r>
          </a:p>
        </p:txBody>
      </p:sp>
      <p:sp>
        <p:nvSpPr>
          <p:cNvPr id="4" name="Content Placeholder 3">
            <a:extLst>
              <a:ext uri="{FF2B5EF4-FFF2-40B4-BE49-F238E27FC236}">
                <a16:creationId xmlns:a16="http://schemas.microsoft.com/office/drawing/2014/main" id="{03E0D369-A01D-2EA7-0939-76A1FE027A5F}"/>
              </a:ext>
            </a:extLst>
          </p:cNvPr>
          <p:cNvSpPr>
            <a:spLocks noGrp="1"/>
          </p:cNvSpPr>
          <p:nvPr>
            <p:ph sz="half" idx="2"/>
          </p:nvPr>
        </p:nvSpPr>
        <p:spPr/>
        <p:txBody>
          <a:bodyPr>
            <a:normAutofit fontScale="92500" lnSpcReduction="10000"/>
          </a:bodyPr>
          <a:lstStyle/>
          <a:p>
            <a:pPr marL="0" indent="0">
              <a:spcBef>
                <a:spcPts val="0"/>
              </a:spcBef>
              <a:buNone/>
            </a:pPr>
            <a:r>
              <a:rPr lang="en-US" dirty="0">
                <a:latin typeface="Courier"/>
              </a:rPr>
              <a:t>from </a:t>
            </a:r>
            <a:r>
              <a:rPr lang="en-US" dirty="0" err="1">
                <a:latin typeface="Courier"/>
              </a:rPr>
              <a:t>sklearn.linear_model</a:t>
            </a:r>
            <a:r>
              <a:rPr lang="en-US" dirty="0">
                <a:latin typeface="Courier"/>
              </a:rPr>
              <a:t> import </a:t>
            </a:r>
            <a:r>
              <a:rPr lang="en-US" dirty="0" err="1">
                <a:latin typeface="Courier"/>
              </a:rPr>
              <a:t>LinearRegression</a:t>
            </a:r>
            <a:endParaRPr lang="en-US" dirty="0">
              <a:latin typeface="Courier"/>
            </a:endParaRPr>
          </a:p>
          <a:p>
            <a:pPr marL="0" indent="0">
              <a:spcBef>
                <a:spcPts val="0"/>
              </a:spcBef>
              <a:buNone/>
            </a:pPr>
            <a:endParaRPr lang="en-US" dirty="0">
              <a:latin typeface="Courier"/>
            </a:endParaRPr>
          </a:p>
          <a:p>
            <a:pPr marL="0" indent="0">
              <a:spcBef>
                <a:spcPts val="0"/>
              </a:spcBef>
              <a:buNone/>
            </a:pPr>
            <a:r>
              <a:rPr lang="en-US" dirty="0">
                <a:latin typeface="Courier"/>
              </a:rPr>
              <a:t># Model instantiation</a:t>
            </a:r>
          </a:p>
          <a:p>
            <a:pPr marL="0" indent="0">
              <a:spcBef>
                <a:spcPts val="0"/>
              </a:spcBef>
              <a:buNone/>
            </a:pPr>
            <a:r>
              <a:rPr lang="en-US" dirty="0">
                <a:latin typeface="Courier"/>
              </a:rPr>
              <a:t>model = </a:t>
            </a:r>
            <a:r>
              <a:rPr lang="en-US" dirty="0" err="1">
                <a:latin typeface="Courier"/>
              </a:rPr>
              <a:t>LinearRegression</a:t>
            </a:r>
            <a:r>
              <a:rPr lang="en-US" dirty="0">
                <a:latin typeface="Courier"/>
              </a:rPr>
              <a:t>()</a:t>
            </a:r>
          </a:p>
          <a:p>
            <a:pPr marL="0" indent="0">
              <a:spcBef>
                <a:spcPts val="0"/>
              </a:spcBef>
              <a:buNone/>
            </a:pPr>
            <a:endParaRPr lang="en-US" dirty="0">
              <a:latin typeface="Courier"/>
            </a:endParaRPr>
          </a:p>
          <a:p>
            <a:pPr marL="0" indent="0">
              <a:spcBef>
                <a:spcPts val="0"/>
              </a:spcBef>
              <a:buNone/>
            </a:pPr>
            <a:r>
              <a:rPr lang="en-US" dirty="0">
                <a:latin typeface="Courier"/>
              </a:rPr>
              <a:t>#Model fit</a:t>
            </a:r>
          </a:p>
          <a:p>
            <a:pPr marL="0" indent="0">
              <a:spcBef>
                <a:spcPts val="0"/>
              </a:spcBef>
              <a:buNone/>
            </a:pPr>
            <a:r>
              <a:rPr lang="en-US" dirty="0" err="1">
                <a:latin typeface="Courier"/>
              </a:rPr>
              <a:t>model.fit</a:t>
            </a:r>
            <a:r>
              <a:rPr lang="en-US" dirty="0">
                <a:latin typeface="Courier"/>
              </a:rPr>
              <a:t>(X, y)</a:t>
            </a:r>
          </a:p>
          <a:p>
            <a:pPr marL="0" indent="0">
              <a:spcBef>
                <a:spcPts val="0"/>
              </a:spcBef>
              <a:buNone/>
            </a:pPr>
            <a:r>
              <a:rPr lang="en-US" dirty="0" err="1">
                <a:latin typeface="Courier"/>
              </a:rPr>
              <a:t>model.predict</a:t>
            </a:r>
            <a:r>
              <a:rPr lang="en-US" dirty="0">
                <a:latin typeface="Courier"/>
              </a:rPr>
              <a:t>(</a:t>
            </a:r>
            <a:r>
              <a:rPr lang="en-US" dirty="0" err="1">
                <a:latin typeface="Courier"/>
              </a:rPr>
              <a:t>X_new</a:t>
            </a:r>
            <a:r>
              <a:rPr lang="en-US" dirty="0">
                <a:latin typeface="Courier"/>
              </a:rPr>
              <a:t>)</a:t>
            </a:r>
          </a:p>
          <a:p>
            <a:pPr marL="0" indent="0">
              <a:spcBef>
                <a:spcPts val="0"/>
              </a:spcBef>
              <a:buNone/>
            </a:pPr>
            <a:br>
              <a:rPr lang="en-US" dirty="0">
                <a:latin typeface="Courier"/>
              </a:rPr>
            </a:br>
            <a:r>
              <a:rPr lang="en-US" dirty="0">
                <a:latin typeface="Courier"/>
              </a:rPr>
              <a:t>#Model learned parameters:</a:t>
            </a:r>
          </a:p>
          <a:p>
            <a:pPr marL="0" indent="0">
              <a:spcBef>
                <a:spcPts val="0"/>
              </a:spcBef>
              <a:buNone/>
            </a:pPr>
            <a:r>
              <a:rPr lang="en-US" dirty="0">
                <a:latin typeface="Courier"/>
              </a:rPr>
              <a:t>coefficients = </a:t>
            </a:r>
            <a:r>
              <a:rPr lang="en-US" dirty="0" err="1">
                <a:latin typeface="Courier"/>
              </a:rPr>
              <a:t>model.coef</a:t>
            </a:r>
            <a:r>
              <a:rPr lang="en-US" dirty="0">
                <a:latin typeface="Courier"/>
              </a:rPr>
              <a:t>_</a:t>
            </a:r>
          </a:p>
        </p:txBody>
      </p:sp>
    </p:spTree>
    <p:extLst>
      <p:ext uri="{BB962C8B-B14F-4D97-AF65-F5344CB8AC3E}">
        <p14:creationId xmlns:p14="http://schemas.microsoft.com/office/powerpoint/2010/main" val="298418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Simple Scikit-Learn Usage"/>
          <p:cNvSpPr txBox="1">
            <a:spLocks noGrp="1"/>
          </p:cNvSpPr>
          <p:nvPr>
            <p:ph type="title"/>
          </p:nvPr>
        </p:nvSpPr>
        <p:spPr>
          <a:prstGeom prst="rect">
            <a:avLst/>
          </a:prstGeom>
        </p:spPr>
        <p:txBody>
          <a:bodyPr/>
          <a:lstStyle/>
          <a:p>
            <a:r>
              <a:t>Simple Scikit-Learn Usage</a:t>
            </a:r>
          </a:p>
        </p:txBody>
      </p:sp>
      <p:sp>
        <p:nvSpPr>
          <p:cNvPr id="644" name="Prepare the data into a feature matrix and a target vector…"/>
          <p:cNvSpPr txBox="1">
            <a:spLocks noGrp="1"/>
          </p:cNvSpPr>
          <p:nvPr>
            <p:ph type="body" idx="1"/>
          </p:nvPr>
        </p:nvSpPr>
        <p:spPr>
          <a:xfrm>
            <a:off x="1743529" y="1842458"/>
            <a:ext cx="8161734" cy="4549245"/>
          </a:xfrm>
          <a:prstGeom prst="rect">
            <a:avLst/>
          </a:prstGeom>
        </p:spPr>
        <p:txBody>
          <a:bodyPr/>
          <a:lstStyle/>
          <a:p>
            <a:pPr marL="321457" indent="-321457">
              <a:buAutoNum type="arabicPeriod"/>
            </a:pPr>
            <a:r>
              <a:rPr dirty="0"/>
              <a:t>Prepare the data into a feature matrix and a target vector</a:t>
            </a:r>
          </a:p>
          <a:p>
            <a:pPr marL="321457" indent="-321457">
              <a:buAutoNum type="arabicPeriod"/>
            </a:pPr>
            <a:r>
              <a:rPr dirty="0"/>
              <a:t>Choose a model and import </a:t>
            </a:r>
            <a:r>
              <a:rPr lang="en-US" dirty="0"/>
              <a:t>the </a:t>
            </a:r>
            <a:r>
              <a:rPr dirty="0"/>
              <a:t>estimator </a:t>
            </a:r>
            <a:r>
              <a:rPr b="1" i="1" dirty="0">
                <a:solidFill>
                  <a:srgbClr val="009051"/>
                </a:solidFill>
                <a:latin typeface="Graphik"/>
                <a:ea typeface="Graphik"/>
                <a:cs typeface="Graphik"/>
                <a:sym typeface="Graphik"/>
              </a:rPr>
              <a:t>class</a:t>
            </a:r>
            <a:r>
              <a:rPr dirty="0"/>
              <a:t> from Scikit-Learn</a:t>
            </a:r>
            <a:endParaRPr lang="en-US" dirty="0"/>
          </a:p>
          <a:p>
            <a:pPr marL="321457" indent="-321457">
              <a:buAutoNum type="arabicPeriod"/>
            </a:pPr>
            <a:r>
              <a:rPr dirty="0"/>
              <a:t>Instantiate the model class and choose </a:t>
            </a:r>
            <a:r>
              <a:rPr b="1" i="1" dirty="0" err="1">
                <a:solidFill>
                  <a:srgbClr val="FF7E79"/>
                </a:solidFill>
                <a:latin typeface="Graphik"/>
                <a:ea typeface="Graphik"/>
                <a:cs typeface="Graphik"/>
                <a:sym typeface="Graphik"/>
              </a:rPr>
              <a:t>hyperparamters</a:t>
            </a:r>
            <a:r>
              <a:rPr dirty="0"/>
              <a:t> </a:t>
            </a:r>
            <a:br>
              <a:rPr dirty="0"/>
            </a:br>
            <a:r>
              <a:rPr dirty="0"/>
              <a:t>(not all models classes have hyperparameters) </a:t>
            </a:r>
          </a:p>
          <a:p>
            <a:pPr marL="321457" indent="-321457">
              <a:buAutoNum type="arabicPeriod"/>
            </a:pPr>
            <a:r>
              <a:rPr dirty="0"/>
              <a:t>Fit the model by calling the </a:t>
            </a:r>
            <a:r>
              <a:rPr dirty="0">
                <a:latin typeface="Courier"/>
                <a:ea typeface="Courier"/>
                <a:cs typeface="Courier"/>
                <a:sym typeface="Courier"/>
              </a:rPr>
              <a:t>.fit()</a:t>
            </a:r>
            <a:r>
              <a:rPr dirty="0"/>
              <a:t> method</a:t>
            </a:r>
          </a:p>
          <a:p>
            <a:pPr marL="321457" indent="-321457">
              <a:buAutoNum type="arabicPeriod"/>
            </a:pPr>
            <a:r>
              <a:rPr dirty="0"/>
              <a:t>Apply the model with the </a:t>
            </a:r>
            <a:r>
              <a:rPr dirty="0">
                <a:latin typeface="Courier"/>
                <a:ea typeface="Courier"/>
                <a:cs typeface="Courier"/>
                <a:sym typeface="Courier"/>
              </a:rPr>
              <a:t>.predict()</a:t>
            </a:r>
            <a:r>
              <a:rPr dirty="0"/>
              <a:t> or the </a:t>
            </a:r>
            <a:r>
              <a:rPr dirty="0">
                <a:latin typeface="Courier"/>
                <a:ea typeface="Courier"/>
                <a:cs typeface="Courier"/>
                <a:sym typeface="Courier"/>
              </a:rPr>
              <a:t>.transform() </a:t>
            </a:r>
            <a:r>
              <a:rPr dirty="0"/>
              <a:t>method</a:t>
            </a:r>
          </a:p>
        </p:txBody>
      </p:sp>
      <p:sp>
        <p:nvSpPr>
          <p:cNvPr id="645" name="Hyperparameters:   Also called tuning parameters are parameters of the learning algorithm and not the model.  That is, its value is used to control the learning process and is chosen by the modeler rather than learned from the data."/>
          <p:cNvSpPr txBox="1"/>
          <p:nvPr/>
        </p:nvSpPr>
        <p:spPr>
          <a:xfrm>
            <a:off x="1984579" y="5333159"/>
            <a:ext cx="8222842" cy="75405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a:defRPr sz="2100">
                <a:solidFill>
                  <a:srgbClr val="5E5E5E"/>
                </a:solidFill>
              </a:defRPr>
            </a:pPr>
            <a:r>
              <a:rPr sz="1477" i="1" dirty="0">
                <a:solidFill>
                  <a:srgbClr val="FF7E79"/>
                </a:solidFill>
                <a:latin typeface="Graphik"/>
                <a:ea typeface="Graphik"/>
                <a:cs typeface="Graphik"/>
                <a:sym typeface="Graphik"/>
              </a:rPr>
              <a:t>Hyperparameters</a:t>
            </a:r>
            <a:r>
              <a:rPr sz="1477" dirty="0"/>
              <a:t>:   </a:t>
            </a:r>
            <a:r>
              <a:rPr sz="1477" i="1" dirty="0">
                <a:latin typeface="Graphik"/>
                <a:ea typeface="Graphik"/>
                <a:cs typeface="Graphik"/>
                <a:sym typeface="Graphik"/>
              </a:rPr>
              <a:t>Also called tuning parameters are parameters of the learning algorithm and not the model.  That is, its value is used to control the learning process and is chosen by the modeler rather than learned from the data. </a:t>
            </a:r>
          </a:p>
        </p:txBody>
      </p:sp>
      <p:sp>
        <p:nvSpPr>
          <p:cNvPr id="646" name="Class:   Scikit-Learn makes extensive use of python classes and object oriented programming principles"/>
          <p:cNvSpPr txBox="1"/>
          <p:nvPr/>
        </p:nvSpPr>
        <p:spPr>
          <a:xfrm>
            <a:off x="1984579" y="4953451"/>
            <a:ext cx="8222842" cy="299442"/>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p>
            <a:pPr>
              <a:defRPr sz="2100">
                <a:solidFill>
                  <a:srgbClr val="5E5E5E"/>
                </a:solidFill>
              </a:defRPr>
            </a:pPr>
            <a:r>
              <a:rPr sz="1477" i="1" dirty="0">
                <a:solidFill>
                  <a:srgbClr val="009051"/>
                </a:solidFill>
                <a:latin typeface="Graphik"/>
                <a:ea typeface="Graphik"/>
                <a:cs typeface="Graphik"/>
                <a:sym typeface="Graphik"/>
              </a:rPr>
              <a:t>Class</a:t>
            </a:r>
            <a:r>
              <a:rPr sz="1477" dirty="0"/>
              <a:t>:   Scikit-Learn makes extensive use of </a:t>
            </a:r>
            <a:r>
              <a:rPr lang="en-US" sz="1477" dirty="0"/>
              <a:t>Python</a:t>
            </a:r>
            <a:r>
              <a:rPr sz="1477" dirty="0"/>
              <a:t> classes and object oriented programming principles</a:t>
            </a:r>
            <a:r>
              <a:rPr sz="1477" i="1" dirty="0">
                <a:latin typeface="Graphik"/>
                <a:ea typeface="Graphik"/>
                <a:cs typeface="Graphik"/>
                <a:sym typeface="Graphik"/>
              </a:rPr>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Preparing your data"/>
          <p:cNvSpPr txBox="1">
            <a:spLocks noGrp="1"/>
          </p:cNvSpPr>
          <p:nvPr>
            <p:ph type="title"/>
          </p:nvPr>
        </p:nvSpPr>
        <p:spPr>
          <a:prstGeom prst="rect">
            <a:avLst/>
          </a:prstGeom>
        </p:spPr>
        <p:txBody>
          <a:bodyPr/>
          <a:lstStyle/>
          <a:p>
            <a:r>
              <a:rPr dirty="0"/>
              <a:t>Preparing your data</a:t>
            </a:r>
          </a:p>
        </p:txBody>
      </p:sp>
      <p:sp>
        <p:nvSpPr>
          <p:cNvPr id="650" name="The data should be in tabular form…"/>
          <p:cNvSpPr txBox="1">
            <a:spLocks noGrp="1"/>
          </p:cNvSpPr>
          <p:nvPr>
            <p:ph type="body" idx="1"/>
          </p:nvPr>
        </p:nvSpPr>
        <p:spPr>
          <a:xfrm>
            <a:off x="700634" y="1714998"/>
            <a:ext cx="10691265" cy="3739896"/>
          </a:xfrm>
          <a:prstGeom prst="rect">
            <a:avLst/>
          </a:prstGeom>
        </p:spPr>
        <p:txBody>
          <a:bodyPr/>
          <a:lstStyle/>
          <a:p>
            <a:r>
              <a:rPr dirty="0"/>
              <a:t>The data should be in tabular form </a:t>
            </a:r>
          </a:p>
          <a:p>
            <a:pPr lvl="2"/>
            <a:r>
              <a:rPr lang="en-US" dirty="0"/>
              <a:t>G</a:t>
            </a:r>
            <a:r>
              <a:rPr dirty="0"/>
              <a:t>enerally</a:t>
            </a:r>
            <a:r>
              <a:rPr lang="en-US" dirty="0"/>
              <a:t>,</a:t>
            </a:r>
            <a:r>
              <a:rPr dirty="0"/>
              <a:t> </a:t>
            </a:r>
            <a:r>
              <a:rPr lang="en-US" dirty="0" err="1"/>
              <a:t>Numpy</a:t>
            </a:r>
            <a:r>
              <a:rPr dirty="0"/>
              <a:t> or </a:t>
            </a:r>
            <a:r>
              <a:rPr lang="en-US" dirty="0"/>
              <a:t>Pandas</a:t>
            </a:r>
            <a:r>
              <a:rPr dirty="0"/>
              <a:t> </a:t>
            </a:r>
            <a:r>
              <a:rPr lang="en-US" dirty="0"/>
              <a:t>objects</a:t>
            </a:r>
            <a:endParaRPr dirty="0"/>
          </a:p>
          <a:p>
            <a:pPr lvl="2"/>
            <a:r>
              <a:rPr dirty="0"/>
              <a:t>The rows should be the observations or samples</a:t>
            </a:r>
          </a:p>
          <a:p>
            <a:r>
              <a:rPr dirty="0"/>
              <a:t>The feature matrix (X) should be a </a:t>
            </a:r>
            <a:r>
              <a:rPr dirty="0">
                <a:solidFill>
                  <a:srgbClr val="FF7E79"/>
                </a:solidFill>
              </a:rPr>
              <a:t>2D </a:t>
            </a:r>
            <a:r>
              <a:rPr lang="en-US" dirty="0" err="1"/>
              <a:t>Numpy</a:t>
            </a:r>
            <a:r>
              <a:rPr dirty="0"/>
              <a:t> array or a </a:t>
            </a:r>
            <a:r>
              <a:rPr lang="en-US" dirty="0"/>
              <a:t>Pandas</a:t>
            </a:r>
            <a:r>
              <a:rPr dirty="0"/>
              <a:t> </a:t>
            </a:r>
            <a:r>
              <a:rPr dirty="0" err="1">
                <a:solidFill>
                  <a:srgbClr val="FF7E79"/>
                </a:solidFill>
              </a:rPr>
              <a:t>DataFrame</a:t>
            </a:r>
            <a:r>
              <a:rPr dirty="0"/>
              <a:t> </a:t>
            </a:r>
          </a:p>
          <a:p>
            <a:pPr lvl="2"/>
            <a:r>
              <a:rPr dirty="0"/>
              <a:t>This applies even when there is only 1 feature</a:t>
            </a:r>
            <a:endParaRPr lang="en-US" dirty="0"/>
          </a:p>
          <a:p>
            <a:pPr lvl="2"/>
            <a:r>
              <a:rPr lang="en-US" b="1" dirty="0"/>
              <a:t>Note</a:t>
            </a:r>
            <a:r>
              <a:rPr lang="en-US" dirty="0"/>
              <a:t>: if only one feature, it often must be reshaped using </a:t>
            </a:r>
            <a:r>
              <a:rPr lang="en-US" dirty="0">
                <a:latin typeface="Courier"/>
              </a:rPr>
              <a:t>.reshape(-1, 1)</a:t>
            </a:r>
            <a:endParaRPr dirty="0">
              <a:latin typeface="Courier"/>
            </a:endParaRPr>
          </a:p>
          <a:p>
            <a:r>
              <a:rPr dirty="0"/>
              <a:t>The target (Y) should be a </a:t>
            </a:r>
            <a:r>
              <a:rPr dirty="0">
                <a:solidFill>
                  <a:srgbClr val="FF7E79"/>
                </a:solidFill>
              </a:rPr>
              <a:t>1D</a:t>
            </a:r>
            <a:r>
              <a:rPr dirty="0"/>
              <a:t> </a:t>
            </a:r>
            <a:r>
              <a:rPr lang="en-US" dirty="0" err="1"/>
              <a:t>Numpy</a:t>
            </a:r>
            <a:r>
              <a:rPr dirty="0"/>
              <a:t> array or a </a:t>
            </a:r>
            <a:r>
              <a:rPr lang="en-US" dirty="0"/>
              <a:t>Pandas</a:t>
            </a:r>
            <a:r>
              <a:rPr dirty="0"/>
              <a:t> </a:t>
            </a:r>
            <a:r>
              <a:rPr dirty="0">
                <a:solidFill>
                  <a:srgbClr val="FF7E79"/>
                </a:solidFill>
              </a:rPr>
              <a:t>Series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E1E2B55-C104-B864-80BC-EE3ECD462C4E}"/>
              </a:ext>
            </a:extLst>
          </p:cNvPr>
          <p:cNvSpPr/>
          <p:nvPr/>
        </p:nvSpPr>
        <p:spPr>
          <a:xfrm>
            <a:off x="101600" y="1712901"/>
            <a:ext cx="11930743" cy="5021943"/>
          </a:xfrm>
          <a:prstGeom prst="round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Example"/>
          <p:cNvSpPr txBox="1">
            <a:spLocks noGrp="1"/>
          </p:cNvSpPr>
          <p:nvPr>
            <p:ph type="title"/>
          </p:nvPr>
        </p:nvSpPr>
        <p:spPr>
          <a:prstGeom prst="rect">
            <a:avLst/>
          </a:prstGeom>
        </p:spPr>
        <p:txBody>
          <a:bodyPr/>
          <a:lstStyle/>
          <a:p>
            <a:r>
              <a:t>Example</a:t>
            </a:r>
          </a:p>
        </p:txBody>
      </p:sp>
      <p:sp>
        <p:nvSpPr>
          <p:cNvPr id="3" name="TextBox 2">
            <a:extLst>
              <a:ext uri="{FF2B5EF4-FFF2-40B4-BE49-F238E27FC236}">
                <a16:creationId xmlns:a16="http://schemas.microsoft.com/office/drawing/2014/main" id="{E3492A81-78D2-10DE-7393-AD9189B54544}"/>
              </a:ext>
            </a:extLst>
          </p:cNvPr>
          <p:cNvSpPr txBox="1"/>
          <p:nvPr/>
        </p:nvSpPr>
        <p:spPr>
          <a:xfrm>
            <a:off x="493485" y="2075974"/>
            <a:ext cx="14615886" cy="4682051"/>
          </a:xfrm>
          <a:prstGeom prst="rect">
            <a:avLst/>
          </a:prstGeom>
          <a:noFill/>
        </p:spPr>
        <p:txBody>
          <a:bodyPr wrap="square">
            <a:spAutoFit/>
          </a:bodyPr>
          <a:lstStyle/>
          <a:p>
            <a:pPr>
              <a:lnSpc>
                <a:spcPts val="1425"/>
              </a:lnSpc>
              <a:spcAft>
                <a:spcPts val="200"/>
              </a:spcAft>
              <a:buNone/>
            </a:pPr>
            <a:r>
              <a:rPr lang="en-US" sz="1700" b="0" dirty="0">
                <a:solidFill>
                  <a:srgbClr val="C586C0"/>
                </a:solidFill>
                <a:effectLst/>
                <a:latin typeface="Courier"/>
              </a:rPr>
              <a:t>import</a:t>
            </a:r>
            <a:r>
              <a:rPr lang="en-US" sz="1700" b="0" dirty="0">
                <a:solidFill>
                  <a:srgbClr val="CCCCCC"/>
                </a:solidFill>
                <a:effectLst/>
                <a:latin typeface="Courier"/>
              </a:rPr>
              <a:t> </a:t>
            </a:r>
            <a:r>
              <a:rPr lang="en-US" sz="1700" b="0" dirty="0" err="1">
                <a:solidFill>
                  <a:srgbClr val="CCCCCC"/>
                </a:solidFill>
                <a:effectLst/>
                <a:latin typeface="Courier"/>
              </a:rPr>
              <a:t>numpy</a:t>
            </a:r>
            <a:r>
              <a:rPr lang="en-US" sz="1700" b="0" dirty="0">
                <a:solidFill>
                  <a:srgbClr val="CCCCCC"/>
                </a:solidFill>
                <a:effectLst/>
                <a:latin typeface="Courier"/>
              </a:rPr>
              <a:t> </a:t>
            </a:r>
            <a:r>
              <a:rPr lang="en-US" sz="1700" b="0" dirty="0">
                <a:solidFill>
                  <a:srgbClr val="C586C0"/>
                </a:solidFill>
                <a:effectLst/>
                <a:latin typeface="Courier"/>
              </a:rPr>
              <a:t>as</a:t>
            </a:r>
            <a:r>
              <a:rPr lang="en-US" sz="1700" b="0" dirty="0">
                <a:solidFill>
                  <a:srgbClr val="CCCCCC"/>
                </a:solidFill>
                <a:effectLst/>
                <a:latin typeface="Courier"/>
              </a:rPr>
              <a:t> np</a:t>
            </a:r>
          </a:p>
          <a:p>
            <a:pPr>
              <a:lnSpc>
                <a:spcPts val="1425"/>
              </a:lnSpc>
              <a:spcAft>
                <a:spcPts val="200"/>
              </a:spcAft>
              <a:buNone/>
            </a:pPr>
            <a:r>
              <a:rPr lang="en-US" sz="1700" b="0" dirty="0">
                <a:solidFill>
                  <a:srgbClr val="C586C0"/>
                </a:solidFill>
                <a:effectLst/>
                <a:latin typeface="Courier"/>
              </a:rPr>
              <a:t>from</a:t>
            </a:r>
            <a:r>
              <a:rPr lang="en-US" sz="1700" b="0" dirty="0">
                <a:solidFill>
                  <a:srgbClr val="CCCCCC"/>
                </a:solidFill>
                <a:effectLst/>
                <a:latin typeface="Courier"/>
              </a:rPr>
              <a:t> </a:t>
            </a:r>
            <a:r>
              <a:rPr lang="en-US" sz="1700" b="0" dirty="0" err="1">
                <a:solidFill>
                  <a:srgbClr val="CCCCCC"/>
                </a:solidFill>
                <a:effectLst/>
                <a:latin typeface="Courier"/>
              </a:rPr>
              <a:t>sklearn.linear_model</a:t>
            </a:r>
            <a:r>
              <a:rPr lang="en-US" sz="1700" b="0" dirty="0">
                <a:solidFill>
                  <a:srgbClr val="CCCCCC"/>
                </a:solidFill>
                <a:effectLst/>
                <a:latin typeface="Courier"/>
              </a:rPr>
              <a:t> </a:t>
            </a:r>
            <a:r>
              <a:rPr lang="en-US" sz="1700" b="0" dirty="0">
                <a:solidFill>
                  <a:srgbClr val="C586C0"/>
                </a:solidFill>
                <a:effectLst/>
                <a:latin typeface="Courier"/>
              </a:rPr>
              <a:t>import</a:t>
            </a:r>
            <a:r>
              <a:rPr lang="en-US" sz="1700" b="0" dirty="0">
                <a:solidFill>
                  <a:srgbClr val="CCCCCC"/>
                </a:solidFill>
                <a:effectLst/>
                <a:latin typeface="Courier"/>
              </a:rPr>
              <a:t> </a:t>
            </a:r>
            <a:r>
              <a:rPr lang="en-US" sz="1700" b="0" dirty="0" err="1">
                <a:solidFill>
                  <a:srgbClr val="CCCCCC"/>
                </a:solidFill>
                <a:effectLst/>
                <a:latin typeface="Courier"/>
              </a:rPr>
              <a:t>LinearRegression</a:t>
            </a:r>
            <a:endParaRPr lang="en-US" sz="1700" b="0" dirty="0">
              <a:solidFill>
                <a:srgbClr val="CCCCCC"/>
              </a:solidFill>
              <a:effectLst/>
              <a:latin typeface="Courier"/>
            </a:endParaRPr>
          </a:p>
          <a:p>
            <a:pPr>
              <a:lnSpc>
                <a:spcPts val="1425"/>
              </a:lnSpc>
              <a:spcAft>
                <a:spcPts val="200"/>
              </a:spcAft>
              <a:buNone/>
            </a:pPr>
            <a:br>
              <a:rPr lang="en-US" sz="1700" b="0" dirty="0">
                <a:solidFill>
                  <a:srgbClr val="CCCCCC"/>
                </a:solidFill>
                <a:effectLst/>
                <a:latin typeface="Courier"/>
              </a:rPr>
            </a:br>
            <a:endParaRPr lang="en-US" sz="1700" b="0" dirty="0">
              <a:solidFill>
                <a:srgbClr val="CCCCCC"/>
              </a:solidFill>
              <a:effectLst/>
              <a:latin typeface="Courier"/>
            </a:endParaRPr>
          </a:p>
          <a:p>
            <a:pPr>
              <a:lnSpc>
                <a:spcPts val="1425"/>
              </a:lnSpc>
              <a:spcAft>
                <a:spcPts val="200"/>
              </a:spcAft>
              <a:buNone/>
            </a:pPr>
            <a:r>
              <a:rPr lang="en-US" sz="1700" b="0" dirty="0">
                <a:solidFill>
                  <a:srgbClr val="6A9955"/>
                </a:solidFill>
                <a:effectLst/>
                <a:latin typeface="Courier"/>
              </a:rPr>
              <a:t># Create simple data</a:t>
            </a:r>
            <a:endParaRPr lang="en-US" sz="1700" b="0" dirty="0">
              <a:solidFill>
                <a:srgbClr val="CCCCCC"/>
              </a:solidFill>
              <a:effectLst/>
              <a:latin typeface="Courier"/>
            </a:endParaRPr>
          </a:p>
          <a:p>
            <a:pPr>
              <a:lnSpc>
                <a:spcPts val="1425"/>
              </a:lnSpc>
              <a:spcAft>
                <a:spcPts val="200"/>
              </a:spcAft>
              <a:buNone/>
            </a:pPr>
            <a:r>
              <a:rPr lang="en-US" sz="1700" b="0" dirty="0">
                <a:solidFill>
                  <a:srgbClr val="CCCCCC"/>
                </a:solidFill>
                <a:effectLst/>
                <a:latin typeface="Courier"/>
              </a:rPr>
              <a:t>X </a:t>
            </a:r>
            <a:r>
              <a:rPr lang="en-US" sz="1700" b="0" dirty="0">
                <a:solidFill>
                  <a:srgbClr val="D4D4D4"/>
                </a:solidFill>
                <a:effectLst/>
                <a:latin typeface="Courier"/>
              </a:rPr>
              <a:t>=</a:t>
            </a:r>
            <a:r>
              <a:rPr lang="en-US" sz="1700" b="0" dirty="0">
                <a:solidFill>
                  <a:srgbClr val="CCCCCC"/>
                </a:solidFill>
                <a:effectLst/>
                <a:latin typeface="Courier"/>
              </a:rPr>
              <a:t> </a:t>
            </a:r>
            <a:r>
              <a:rPr lang="en-US" sz="1700" b="0" dirty="0" err="1">
                <a:solidFill>
                  <a:srgbClr val="CCCCCC"/>
                </a:solidFill>
                <a:effectLst/>
                <a:latin typeface="Courier"/>
              </a:rPr>
              <a:t>np.array</a:t>
            </a:r>
            <a:r>
              <a:rPr lang="en-US" sz="1700" b="0" dirty="0">
                <a:solidFill>
                  <a:srgbClr val="CCCCCC"/>
                </a:solidFill>
                <a:effectLst/>
                <a:latin typeface="Courier"/>
              </a:rPr>
              <a:t>([</a:t>
            </a:r>
            <a:r>
              <a:rPr lang="en-US" sz="1700" b="0" dirty="0">
                <a:solidFill>
                  <a:srgbClr val="B5CEA8"/>
                </a:solidFill>
                <a:effectLst/>
                <a:latin typeface="Courier"/>
              </a:rPr>
              <a:t>1</a:t>
            </a:r>
            <a:r>
              <a:rPr lang="en-US" sz="1700" b="0" dirty="0">
                <a:solidFill>
                  <a:srgbClr val="CCCCCC"/>
                </a:solidFill>
                <a:effectLst/>
                <a:latin typeface="Courier"/>
              </a:rPr>
              <a:t>, </a:t>
            </a:r>
            <a:r>
              <a:rPr lang="en-US" sz="1700" b="0" dirty="0">
                <a:solidFill>
                  <a:srgbClr val="B5CEA8"/>
                </a:solidFill>
                <a:effectLst/>
                <a:latin typeface="Courier"/>
              </a:rPr>
              <a:t>2</a:t>
            </a:r>
            <a:r>
              <a:rPr lang="en-US" sz="1700" b="0" dirty="0">
                <a:solidFill>
                  <a:srgbClr val="CCCCCC"/>
                </a:solidFill>
                <a:effectLst/>
                <a:latin typeface="Courier"/>
              </a:rPr>
              <a:t>, </a:t>
            </a:r>
            <a:r>
              <a:rPr lang="en-US" sz="1700" b="0" dirty="0">
                <a:solidFill>
                  <a:srgbClr val="B5CEA8"/>
                </a:solidFill>
                <a:effectLst/>
                <a:latin typeface="Courier"/>
              </a:rPr>
              <a:t>3</a:t>
            </a:r>
            <a:r>
              <a:rPr lang="en-US" sz="1700" b="0" dirty="0">
                <a:solidFill>
                  <a:srgbClr val="CCCCCC"/>
                </a:solidFill>
                <a:effectLst/>
                <a:latin typeface="Courier"/>
              </a:rPr>
              <a:t>, </a:t>
            </a:r>
            <a:r>
              <a:rPr lang="en-US" sz="1700" b="0" dirty="0">
                <a:solidFill>
                  <a:srgbClr val="B5CEA8"/>
                </a:solidFill>
                <a:effectLst/>
                <a:latin typeface="Courier"/>
              </a:rPr>
              <a:t>4</a:t>
            </a:r>
            <a:r>
              <a:rPr lang="en-US" sz="1700" b="0" dirty="0">
                <a:solidFill>
                  <a:srgbClr val="CCCCCC"/>
                </a:solidFill>
                <a:effectLst/>
                <a:latin typeface="Courier"/>
              </a:rPr>
              <a:t>, </a:t>
            </a:r>
            <a:r>
              <a:rPr lang="en-US" sz="1700" b="0" dirty="0">
                <a:solidFill>
                  <a:srgbClr val="B5CEA8"/>
                </a:solidFill>
                <a:effectLst/>
                <a:latin typeface="Courier"/>
              </a:rPr>
              <a:t>5</a:t>
            </a:r>
            <a:r>
              <a:rPr lang="en-US" sz="1700" b="0" dirty="0">
                <a:solidFill>
                  <a:srgbClr val="CCCCCC"/>
                </a:solidFill>
                <a:effectLst/>
                <a:latin typeface="Courier"/>
              </a:rPr>
              <a:t>]).reshape(</a:t>
            </a:r>
            <a:r>
              <a:rPr lang="en-US" sz="1700" b="0" dirty="0">
                <a:solidFill>
                  <a:srgbClr val="D4D4D4"/>
                </a:solidFill>
                <a:effectLst/>
                <a:latin typeface="Courier"/>
              </a:rPr>
              <a:t>-</a:t>
            </a:r>
            <a:r>
              <a:rPr lang="en-US" sz="1700" b="0" dirty="0">
                <a:solidFill>
                  <a:srgbClr val="B5CEA8"/>
                </a:solidFill>
                <a:effectLst/>
                <a:latin typeface="Courier"/>
              </a:rPr>
              <a:t>1</a:t>
            </a:r>
            <a:r>
              <a:rPr lang="en-US" sz="1700" b="0" dirty="0">
                <a:solidFill>
                  <a:srgbClr val="CCCCCC"/>
                </a:solidFill>
                <a:effectLst/>
                <a:latin typeface="Courier"/>
              </a:rPr>
              <a:t>, </a:t>
            </a:r>
            <a:r>
              <a:rPr lang="en-US" sz="1700" b="0" dirty="0">
                <a:solidFill>
                  <a:srgbClr val="B5CEA8"/>
                </a:solidFill>
                <a:effectLst/>
                <a:latin typeface="Courier"/>
              </a:rPr>
              <a:t>1</a:t>
            </a:r>
            <a:r>
              <a:rPr lang="en-US" sz="1700" b="0" dirty="0">
                <a:solidFill>
                  <a:srgbClr val="CCCCCC"/>
                </a:solidFill>
                <a:effectLst/>
                <a:latin typeface="Courier"/>
              </a:rPr>
              <a:t>)  </a:t>
            </a:r>
            <a:r>
              <a:rPr lang="en-US" sz="1700" b="0" dirty="0">
                <a:solidFill>
                  <a:srgbClr val="6A9955"/>
                </a:solidFill>
                <a:effectLst/>
                <a:latin typeface="Courier"/>
              </a:rPr>
              <a:t># feature matrix (</a:t>
            </a:r>
            <a:r>
              <a:rPr lang="en-US" sz="1700" b="0" dirty="0" err="1">
                <a:solidFill>
                  <a:srgbClr val="6A9955"/>
                </a:solidFill>
                <a:effectLst/>
                <a:latin typeface="Courier"/>
              </a:rPr>
              <a:t>n_samples</a:t>
            </a:r>
            <a:r>
              <a:rPr lang="en-US" sz="1700" b="0" dirty="0">
                <a:solidFill>
                  <a:srgbClr val="6A9955"/>
                </a:solidFill>
                <a:effectLst/>
                <a:latin typeface="Courier"/>
              </a:rPr>
              <a:t>, </a:t>
            </a:r>
            <a:r>
              <a:rPr lang="en-US" sz="1700" b="0" dirty="0" err="1">
                <a:solidFill>
                  <a:srgbClr val="6A9955"/>
                </a:solidFill>
                <a:effectLst/>
                <a:latin typeface="Courier"/>
              </a:rPr>
              <a:t>n_features</a:t>
            </a:r>
            <a:r>
              <a:rPr lang="en-US" sz="1700" b="0" dirty="0">
                <a:solidFill>
                  <a:srgbClr val="6A9955"/>
                </a:solidFill>
                <a:effectLst/>
                <a:latin typeface="Courier"/>
              </a:rPr>
              <a:t>)</a:t>
            </a:r>
            <a:endParaRPr lang="en-US" sz="1700" b="0" dirty="0">
              <a:solidFill>
                <a:srgbClr val="CCCCCC"/>
              </a:solidFill>
              <a:effectLst/>
              <a:latin typeface="Courier"/>
            </a:endParaRPr>
          </a:p>
          <a:p>
            <a:pPr>
              <a:lnSpc>
                <a:spcPts val="1425"/>
              </a:lnSpc>
              <a:spcAft>
                <a:spcPts val="200"/>
              </a:spcAft>
              <a:buNone/>
            </a:pPr>
            <a:r>
              <a:rPr lang="en-US" sz="1700" b="0" dirty="0">
                <a:solidFill>
                  <a:srgbClr val="CCCCCC"/>
                </a:solidFill>
                <a:effectLst/>
                <a:latin typeface="Courier"/>
              </a:rPr>
              <a:t>y </a:t>
            </a:r>
            <a:r>
              <a:rPr lang="en-US" sz="1700" b="0" dirty="0">
                <a:solidFill>
                  <a:srgbClr val="D4D4D4"/>
                </a:solidFill>
                <a:effectLst/>
                <a:latin typeface="Courier"/>
              </a:rPr>
              <a:t>=</a:t>
            </a:r>
            <a:r>
              <a:rPr lang="en-US" sz="1700" b="0" dirty="0">
                <a:solidFill>
                  <a:srgbClr val="CCCCCC"/>
                </a:solidFill>
                <a:effectLst/>
                <a:latin typeface="Courier"/>
              </a:rPr>
              <a:t> </a:t>
            </a:r>
            <a:r>
              <a:rPr lang="en-US" sz="1700" b="0" dirty="0" err="1">
                <a:solidFill>
                  <a:srgbClr val="CCCCCC"/>
                </a:solidFill>
                <a:effectLst/>
                <a:latin typeface="Courier"/>
              </a:rPr>
              <a:t>np.array</a:t>
            </a:r>
            <a:r>
              <a:rPr lang="en-US" sz="1700" b="0" dirty="0">
                <a:solidFill>
                  <a:srgbClr val="CCCCCC"/>
                </a:solidFill>
                <a:effectLst/>
                <a:latin typeface="Courier"/>
              </a:rPr>
              <a:t>([</a:t>
            </a:r>
            <a:r>
              <a:rPr lang="en-US" sz="1700" b="0" dirty="0">
                <a:solidFill>
                  <a:srgbClr val="B5CEA8"/>
                </a:solidFill>
                <a:effectLst/>
                <a:latin typeface="Courier"/>
              </a:rPr>
              <a:t>2</a:t>
            </a:r>
            <a:r>
              <a:rPr lang="en-US" sz="1700" b="0" dirty="0">
                <a:solidFill>
                  <a:srgbClr val="CCCCCC"/>
                </a:solidFill>
                <a:effectLst/>
                <a:latin typeface="Courier"/>
              </a:rPr>
              <a:t>, </a:t>
            </a:r>
            <a:r>
              <a:rPr lang="en-US" sz="1700" b="0" dirty="0">
                <a:solidFill>
                  <a:srgbClr val="B5CEA8"/>
                </a:solidFill>
                <a:effectLst/>
                <a:latin typeface="Courier"/>
              </a:rPr>
              <a:t>4</a:t>
            </a:r>
            <a:r>
              <a:rPr lang="en-US" sz="1700" b="0" dirty="0">
                <a:solidFill>
                  <a:srgbClr val="CCCCCC"/>
                </a:solidFill>
                <a:effectLst/>
                <a:latin typeface="Courier"/>
              </a:rPr>
              <a:t>, </a:t>
            </a:r>
            <a:r>
              <a:rPr lang="en-US" sz="1700" b="0" dirty="0">
                <a:solidFill>
                  <a:srgbClr val="B5CEA8"/>
                </a:solidFill>
                <a:effectLst/>
                <a:latin typeface="Courier"/>
              </a:rPr>
              <a:t>6</a:t>
            </a:r>
            <a:r>
              <a:rPr lang="en-US" sz="1700" b="0" dirty="0">
                <a:solidFill>
                  <a:srgbClr val="CCCCCC"/>
                </a:solidFill>
                <a:effectLst/>
                <a:latin typeface="Courier"/>
              </a:rPr>
              <a:t>, </a:t>
            </a:r>
            <a:r>
              <a:rPr lang="en-US" sz="1700" b="0" dirty="0">
                <a:solidFill>
                  <a:srgbClr val="B5CEA8"/>
                </a:solidFill>
                <a:effectLst/>
                <a:latin typeface="Courier"/>
              </a:rPr>
              <a:t>8</a:t>
            </a:r>
            <a:r>
              <a:rPr lang="en-US" sz="1700" b="0" dirty="0">
                <a:solidFill>
                  <a:srgbClr val="CCCCCC"/>
                </a:solidFill>
                <a:effectLst/>
                <a:latin typeface="Courier"/>
              </a:rPr>
              <a:t>, </a:t>
            </a:r>
            <a:r>
              <a:rPr lang="en-US" sz="1700" b="0" dirty="0">
                <a:solidFill>
                  <a:srgbClr val="B5CEA8"/>
                </a:solidFill>
                <a:effectLst/>
                <a:latin typeface="Courier"/>
              </a:rPr>
              <a:t>10</a:t>
            </a:r>
            <a:r>
              <a:rPr lang="en-US" sz="1700" b="0" dirty="0">
                <a:solidFill>
                  <a:srgbClr val="CCCCCC"/>
                </a:solidFill>
                <a:effectLst/>
                <a:latin typeface="Courier"/>
              </a:rPr>
              <a:t>])               </a:t>
            </a:r>
            <a:r>
              <a:rPr lang="en-US" sz="1700" b="0" dirty="0">
                <a:solidFill>
                  <a:srgbClr val="6A9955"/>
                </a:solidFill>
                <a:effectLst/>
                <a:latin typeface="Courier"/>
              </a:rPr>
              <a:t># target vector</a:t>
            </a:r>
            <a:endParaRPr lang="en-US" sz="1700" b="0" dirty="0">
              <a:solidFill>
                <a:srgbClr val="CCCCCC"/>
              </a:solidFill>
              <a:effectLst/>
              <a:latin typeface="Courier"/>
            </a:endParaRPr>
          </a:p>
          <a:p>
            <a:pPr>
              <a:lnSpc>
                <a:spcPts val="1425"/>
              </a:lnSpc>
              <a:spcAft>
                <a:spcPts val="200"/>
              </a:spcAft>
              <a:buNone/>
            </a:pPr>
            <a:br>
              <a:rPr lang="en-US" sz="1700" b="0" dirty="0">
                <a:solidFill>
                  <a:srgbClr val="CCCCCC"/>
                </a:solidFill>
                <a:effectLst/>
                <a:latin typeface="Courier"/>
              </a:rPr>
            </a:br>
            <a:endParaRPr lang="en-US" sz="1700" b="0" dirty="0">
              <a:solidFill>
                <a:srgbClr val="CCCCCC"/>
              </a:solidFill>
              <a:effectLst/>
              <a:latin typeface="Courier"/>
            </a:endParaRPr>
          </a:p>
          <a:p>
            <a:pPr>
              <a:lnSpc>
                <a:spcPts val="1425"/>
              </a:lnSpc>
              <a:spcAft>
                <a:spcPts val="200"/>
              </a:spcAft>
              <a:buNone/>
            </a:pPr>
            <a:r>
              <a:rPr lang="en-US" sz="1700" b="0" dirty="0">
                <a:solidFill>
                  <a:srgbClr val="6A9955"/>
                </a:solidFill>
                <a:effectLst/>
                <a:latin typeface="Courier"/>
              </a:rPr>
              <a:t># Instantiate and fit the model</a:t>
            </a:r>
            <a:endParaRPr lang="en-US" sz="1700" b="0" dirty="0">
              <a:solidFill>
                <a:srgbClr val="CCCCCC"/>
              </a:solidFill>
              <a:effectLst/>
              <a:latin typeface="Courier"/>
            </a:endParaRPr>
          </a:p>
          <a:p>
            <a:pPr>
              <a:lnSpc>
                <a:spcPts val="1425"/>
              </a:lnSpc>
              <a:spcAft>
                <a:spcPts val="200"/>
              </a:spcAft>
              <a:buNone/>
            </a:pPr>
            <a:r>
              <a:rPr lang="en-US" sz="1700" b="0" dirty="0">
                <a:solidFill>
                  <a:srgbClr val="CCCCCC"/>
                </a:solidFill>
                <a:effectLst/>
                <a:latin typeface="Courier"/>
              </a:rPr>
              <a:t>model </a:t>
            </a:r>
            <a:r>
              <a:rPr lang="en-US" sz="1700" b="0" dirty="0">
                <a:solidFill>
                  <a:srgbClr val="D4D4D4"/>
                </a:solidFill>
                <a:effectLst/>
                <a:latin typeface="Courier"/>
              </a:rPr>
              <a:t>=</a:t>
            </a:r>
            <a:r>
              <a:rPr lang="en-US" sz="1700" b="0" dirty="0">
                <a:solidFill>
                  <a:srgbClr val="CCCCCC"/>
                </a:solidFill>
                <a:effectLst/>
                <a:latin typeface="Courier"/>
              </a:rPr>
              <a:t> </a:t>
            </a:r>
            <a:r>
              <a:rPr lang="en-US" sz="1700" b="0" dirty="0" err="1">
                <a:solidFill>
                  <a:srgbClr val="CCCCCC"/>
                </a:solidFill>
                <a:effectLst/>
                <a:latin typeface="Courier"/>
              </a:rPr>
              <a:t>LinearRegression</a:t>
            </a:r>
            <a:r>
              <a:rPr lang="en-US" sz="1700" b="0" dirty="0">
                <a:solidFill>
                  <a:srgbClr val="CCCCCC"/>
                </a:solidFill>
                <a:effectLst/>
                <a:latin typeface="Courier"/>
              </a:rPr>
              <a:t>()</a:t>
            </a:r>
          </a:p>
          <a:p>
            <a:pPr>
              <a:lnSpc>
                <a:spcPts val="1425"/>
              </a:lnSpc>
              <a:spcAft>
                <a:spcPts val="200"/>
              </a:spcAft>
              <a:buNone/>
            </a:pPr>
            <a:r>
              <a:rPr lang="en-US" sz="1700" b="0" dirty="0" err="1">
                <a:solidFill>
                  <a:srgbClr val="CCCCCC"/>
                </a:solidFill>
                <a:effectLst/>
                <a:latin typeface="Courier"/>
              </a:rPr>
              <a:t>model.fit</a:t>
            </a:r>
            <a:r>
              <a:rPr lang="en-US" sz="1700" b="0" dirty="0">
                <a:solidFill>
                  <a:srgbClr val="CCCCCC"/>
                </a:solidFill>
                <a:effectLst/>
                <a:latin typeface="Courier"/>
              </a:rPr>
              <a:t>(X, y)</a:t>
            </a:r>
          </a:p>
          <a:p>
            <a:pPr>
              <a:lnSpc>
                <a:spcPts val="1425"/>
              </a:lnSpc>
              <a:spcAft>
                <a:spcPts val="200"/>
              </a:spcAft>
              <a:buNone/>
            </a:pPr>
            <a:br>
              <a:rPr lang="en-US" sz="1700" b="0" dirty="0">
                <a:solidFill>
                  <a:srgbClr val="CCCCCC"/>
                </a:solidFill>
                <a:effectLst/>
                <a:latin typeface="Courier"/>
              </a:rPr>
            </a:br>
            <a:endParaRPr lang="en-US" sz="1700" b="0" dirty="0">
              <a:solidFill>
                <a:srgbClr val="CCCCCC"/>
              </a:solidFill>
              <a:effectLst/>
              <a:latin typeface="Courier"/>
            </a:endParaRPr>
          </a:p>
          <a:p>
            <a:pPr>
              <a:lnSpc>
                <a:spcPts val="1425"/>
              </a:lnSpc>
              <a:spcAft>
                <a:spcPts val="200"/>
              </a:spcAft>
              <a:buNone/>
            </a:pPr>
            <a:r>
              <a:rPr lang="en-US" sz="1700" b="0" dirty="0">
                <a:solidFill>
                  <a:srgbClr val="6A9955"/>
                </a:solidFill>
                <a:effectLst/>
                <a:latin typeface="Courier"/>
              </a:rPr>
              <a:t># Make predictions</a:t>
            </a:r>
            <a:endParaRPr lang="en-US" sz="1700" b="0" dirty="0">
              <a:solidFill>
                <a:srgbClr val="CCCCCC"/>
              </a:solidFill>
              <a:effectLst/>
              <a:latin typeface="Courier"/>
            </a:endParaRPr>
          </a:p>
          <a:p>
            <a:pPr>
              <a:lnSpc>
                <a:spcPts val="1425"/>
              </a:lnSpc>
              <a:spcAft>
                <a:spcPts val="200"/>
              </a:spcAft>
              <a:buNone/>
            </a:pPr>
            <a:r>
              <a:rPr lang="en-US" sz="1700" b="0" dirty="0" err="1">
                <a:solidFill>
                  <a:srgbClr val="CCCCCC"/>
                </a:solidFill>
                <a:effectLst/>
                <a:latin typeface="Courier"/>
              </a:rPr>
              <a:t>y_pred</a:t>
            </a:r>
            <a:r>
              <a:rPr lang="en-US" sz="1700" b="0" dirty="0">
                <a:solidFill>
                  <a:srgbClr val="CCCCCC"/>
                </a:solidFill>
                <a:effectLst/>
                <a:latin typeface="Courier"/>
              </a:rPr>
              <a:t> </a:t>
            </a:r>
            <a:r>
              <a:rPr lang="en-US" sz="1700" b="0" dirty="0">
                <a:solidFill>
                  <a:srgbClr val="D4D4D4"/>
                </a:solidFill>
                <a:effectLst/>
                <a:latin typeface="Courier"/>
              </a:rPr>
              <a:t>=</a:t>
            </a:r>
            <a:r>
              <a:rPr lang="en-US" sz="1700" b="0" dirty="0">
                <a:solidFill>
                  <a:srgbClr val="CCCCCC"/>
                </a:solidFill>
                <a:effectLst/>
                <a:latin typeface="Courier"/>
              </a:rPr>
              <a:t> </a:t>
            </a:r>
            <a:r>
              <a:rPr lang="en-US" sz="1700" b="0" dirty="0" err="1">
                <a:solidFill>
                  <a:srgbClr val="CCCCCC"/>
                </a:solidFill>
                <a:effectLst/>
                <a:latin typeface="Courier"/>
              </a:rPr>
              <a:t>model.predict</a:t>
            </a:r>
            <a:r>
              <a:rPr lang="en-US" sz="1700" b="0" dirty="0">
                <a:solidFill>
                  <a:srgbClr val="CCCCCC"/>
                </a:solidFill>
                <a:effectLst/>
                <a:latin typeface="Courier"/>
              </a:rPr>
              <a:t>(X)</a:t>
            </a:r>
          </a:p>
          <a:p>
            <a:pPr>
              <a:lnSpc>
                <a:spcPts val="1425"/>
              </a:lnSpc>
              <a:spcAft>
                <a:spcPts val="200"/>
              </a:spcAft>
              <a:buNone/>
            </a:pPr>
            <a:br>
              <a:rPr lang="en-US" sz="1700" b="0" dirty="0">
                <a:solidFill>
                  <a:srgbClr val="CCCCCC"/>
                </a:solidFill>
                <a:effectLst/>
                <a:latin typeface="Courier"/>
              </a:rPr>
            </a:br>
            <a:endParaRPr lang="en-US" sz="1700" b="0" dirty="0">
              <a:solidFill>
                <a:srgbClr val="CCCCCC"/>
              </a:solidFill>
              <a:effectLst/>
              <a:latin typeface="Courier"/>
            </a:endParaRPr>
          </a:p>
          <a:p>
            <a:pPr>
              <a:lnSpc>
                <a:spcPts val="1425"/>
              </a:lnSpc>
              <a:spcAft>
                <a:spcPts val="200"/>
              </a:spcAft>
              <a:buNone/>
            </a:pPr>
            <a:r>
              <a:rPr lang="en-US" sz="1700" b="0" dirty="0">
                <a:solidFill>
                  <a:srgbClr val="6A9955"/>
                </a:solidFill>
                <a:effectLst/>
                <a:latin typeface="Courier"/>
              </a:rPr>
              <a:t># Inspect learned parameters</a:t>
            </a:r>
            <a:endParaRPr lang="en-US" sz="1700" b="0" dirty="0">
              <a:solidFill>
                <a:srgbClr val="CCCCCC"/>
              </a:solidFill>
              <a:effectLst/>
              <a:latin typeface="Courier"/>
            </a:endParaRPr>
          </a:p>
          <a:p>
            <a:pPr>
              <a:lnSpc>
                <a:spcPts val="1425"/>
              </a:lnSpc>
              <a:spcAft>
                <a:spcPts val="200"/>
              </a:spcAft>
              <a:buNone/>
            </a:pPr>
            <a:r>
              <a:rPr lang="en-US" sz="1700" b="0" dirty="0">
                <a:solidFill>
                  <a:srgbClr val="DCDCAA"/>
                </a:solidFill>
                <a:effectLst/>
                <a:latin typeface="Courier"/>
              </a:rPr>
              <a:t>print</a:t>
            </a:r>
            <a:r>
              <a:rPr lang="en-US" sz="1700" b="0" dirty="0">
                <a:solidFill>
                  <a:srgbClr val="CCCCCC"/>
                </a:solidFill>
                <a:effectLst/>
                <a:latin typeface="Courier"/>
              </a:rPr>
              <a:t>(</a:t>
            </a:r>
            <a:r>
              <a:rPr lang="en-US" sz="1700" b="0" dirty="0">
                <a:solidFill>
                  <a:srgbClr val="CE9178"/>
                </a:solidFill>
                <a:effectLst/>
                <a:latin typeface="Courier"/>
              </a:rPr>
              <a:t>"Slope:"</a:t>
            </a:r>
            <a:r>
              <a:rPr lang="en-US" sz="1700" b="0" dirty="0">
                <a:solidFill>
                  <a:srgbClr val="CCCCCC"/>
                </a:solidFill>
                <a:effectLst/>
                <a:latin typeface="Courier"/>
              </a:rPr>
              <a:t>, </a:t>
            </a:r>
            <a:r>
              <a:rPr lang="en-US" sz="1700" b="0" dirty="0" err="1">
                <a:solidFill>
                  <a:srgbClr val="CCCCCC"/>
                </a:solidFill>
                <a:effectLst/>
                <a:latin typeface="Courier"/>
              </a:rPr>
              <a:t>model.coef</a:t>
            </a:r>
            <a:r>
              <a:rPr lang="en-US" sz="1700" b="0" dirty="0">
                <a:solidFill>
                  <a:srgbClr val="CCCCCC"/>
                </a:solidFill>
                <a:effectLst/>
                <a:latin typeface="Courier"/>
              </a:rPr>
              <a:t>_[</a:t>
            </a:r>
            <a:r>
              <a:rPr lang="en-US" sz="1700" b="0" dirty="0">
                <a:solidFill>
                  <a:srgbClr val="B5CEA8"/>
                </a:solidFill>
                <a:effectLst/>
                <a:latin typeface="Courier"/>
              </a:rPr>
              <a:t>0</a:t>
            </a:r>
            <a:r>
              <a:rPr lang="en-US" sz="1700" b="0" dirty="0">
                <a:solidFill>
                  <a:srgbClr val="CCCCCC"/>
                </a:solidFill>
                <a:effectLst/>
                <a:latin typeface="Courier"/>
              </a:rPr>
              <a:t>])</a:t>
            </a:r>
          </a:p>
          <a:p>
            <a:pPr>
              <a:lnSpc>
                <a:spcPts val="1425"/>
              </a:lnSpc>
              <a:spcAft>
                <a:spcPts val="200"/>
              </a:spcAft>
              <a:buNone/>
            </a:pPr>
            <a:r>
              <a:rPr lang="en-US" sz="1700" b="0" dirty="0">
                <a:solidFill>
                  <a:srgbClr val="DCDCAA"/>
                </a:solidFill>
                <a:effectLst/>
                <a:latin typeface="Courier"/>
              </a:rPr>
              <a:t>print</a:t>
            </a:r>
            <a:r>
              <a:rPr lang="en-US" sz="1700" b="0" dirty="0">
                <a:solidFill>
                  <a:srgbClr val="CCCCCC"/>
                </a:solidFill>
                <a:effectLst/>
                <a:latin typeface="Courier"/>
              </a:rPr>
              <a:t>(</a:t>
            </a:r>
            <a:r>
              <a:rPr lang="en-US" sz="1700" b="0" dirty="0">
                <a:solidFill>
                  <a:srgbClr val="CE9178"/>
                </a:solidFill>
                <a:effectLst/>
                <a:latin typeface="Courier"/>
              </a:rPr>
              <a:t>"Intercept:"</a:t>
            </a:r>
            <a:r>
              <a:rPr lang="en-US" sz="1700" b="0" dirty="0">
                <a:solidFill>
                  <a:srgbClr val="CCCCCC"/>
                </a:solidFill>
                <a:effectLst/>
                <a:latin typeface="Courier"/>
              </a:rPr>
              <a:t>, </a:t>
            </a:r>
            <a:r>
              <a:rPr lang="en-US" sz="1700" b="0" dirty="0" err="1">
                <a:solidFill>
                  <a:srgbClr val="CCCCCC"/>
                </a:solidFill>
                <a:effectLst/>
                <a:latin typeface="Courier"/>
              </a:rPr>
              <a:t>model.intercept</a:t>
            </a:r>
            <a:r>
              <a:rPr lang="en-US" sz="1700" b="0" dirty="0">
                <a:solidFill>
                  <a:srgbClr val="CCCCCC"/>
                </a:solidFill>
                <a:effectLst/>
                <a:latin typeface="Courier"/>
              </a:rPr>
              <a:t>_)</a:t>
            </a:r>
          </a:p>
          <a:p>
            <a:pPr>
              <a:lnSpc>
                <a:spcPts val="1425"/>
              </a:lnSpc>
              <a:spcAft>
                <a:spcPts val="200"/>
              </a:spcAft>
              <a:buNone/>
            </a:pPr>
            <a:br>
              <a:rPr lang="en-US" sz="1700" b="0" dirty="0">
                <a:solidFill>
                  <a:srgbClr val="CCCCCC"/>
                </a:solidFill>
                <a:effectLst/>
                <a:latin typeface="Courier"/>
              </a:rPr>
            </a:br>
            <a:endParaRPr lang="en-US" sz="1700" b="0" dirty="0">
              <a:solidFill>
                <a:srgbClr val="CCCCCC"/>
              </a:solidFill>
              <a:effectLst/>
              <a:latin typeface="Courier"/>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 name="Become friends with the documentation"/>
          <p:cNvSpPr txBox="1">
            <a:spLocks noGrp="1"/>
          </p:cNvSpPr>
          <p:nvPr>
            <p:ph type="title"/>
          </p:nvPr>
        </p:nvSpPr>
        <p:spPr>
          <a:prstGeom prst="rect">
            <a:avLst/>
          </a:prstGeom>
        </p:spPr>
        <p:txBody>
          <a:bodyPr>
            <a:normAutofit fontScale="90000"/>
          </a:bodyPr>
          <a:lstStyle>
            <a:lvl1pPr defTabSz="208279">
              <a:defRPr sz="4920" spc="-49"/>
            </a:lvl1pPr>
          </a:lstStyle>
          <a:p>
            <a:r>
              <a:t>Become friends with the documentation</a:t>
            </a:r>
          </a:p>
        </p:txBody>
      </p:sp>
      <p:sp>
        <p:nvSpPr>
          <p:cNvPr id="657" name="A large part of learning Scikit-Learn is getting comfortable with the documentation…"/>
          <p:cNvSpPr txBox="1">
            <a:spLocks noGrp="1"/>
          </p:cNvSpPr>
          <p:nvPr>
            <p:ph type="body" idx="1"/>
          </p:nvPr>
        </p:nvSpPr>
        <p:spPr>
          <a:prstGeom prst="rect">
            <a:avLst/>
          </a:prstGeom>
        </p:spPr>
        <p:txBody>
          <a:bodyPr/>
          <a:lstStyle/>
          <a:p>
            <a:r>
              <a:rPr dirty="0"/>
              <a:t>A large part of learning Scikit-Learn is getting comfortable with the documentation</a:t>
            </a:r>
          </a:p>
          <a:p>
            <a:r>
              <a:rPr dirty="0"/>
              <a:t>The documentation is vast and sometimes intimidating but learning how to read it will help you know how to implement the right model for your situation</a:t>
            </a:r>
          </a:p>
          <a:p>
            <a:r>
              <a:rPr dirty="0">
                <a:hlinkClick r:id="rId2"/>
              </a:rPr>
              <a:t>https://scikit-learn.org/stable/</a:t>
            </a:r>
            <a:endParaRPr dirty="0"/>
          </a:p>
        </p:txBody>
      </p:sp>
    </p:spTree>
  </p:cSld>
  <p:clrMapOvr>
    <a:masterClrMapping/>
  </p:clrMapOvr>
  <p:transition spd="med"/>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502</TotalTime>
  <Words>698</Words>
  <Application>Microsoft Office PowerPoint</Application>
  <PresentationFormat>Widescreen</PresentationFormat>
  <Paragraphs>86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Calisto MT</vt:lpstr>
      <vt:lpstr>Courier</vt:lpstr>
      <vt:lpstr>Graphik</vt:lpstr>
      <vt:lpstr>Univers Condensed</vt:lpstr>
      <vt:lpstr>ChronicleVTI</vt:lpstr>
      <vt:lpstr>Introduction to  Scikit-Learn</vt:lpstr>
      <vt:lpstr>What is Scikit-Learn</vt:lpstr>
      <vt:lpstr>Scikit-Learn Design</vt:lpstr>
      <vt:lpstr>Scikit-Learn Design: Consistency</vt:lpstr>
      <vt:lpstr>Object-oriented modeling</vt:lpstr>
      <vt:lpstr>Simple Scikit-Learn Usage</vt:lpstr>
      <vt:lpstr>Preparing your data</vt:lpstr>
      <vt:lpstr>Example</vt:lpstr>
      <vt:lpstr>Become friends with the 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Jake Rhodes</dc:creator>
  <cp:lastModifiedBy>Jake Rhodes</cp:lastModifiedBy>
  <cp:revision>26</cp:revision>
  <dcterms:created xsi:type="dcterms:W3CDTF">2025-10-28T15:32:43Z</dcterms:created>
  <dcterms:modified xsi:type="dcterms:W3CDTF">2025-12-19T17:07:35Z</dcterms:modified>
</cp:coreProperties>
</file>