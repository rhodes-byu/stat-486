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2" r:id="rId45"/>
    <p:sldId id="300" r:id="rId46"/>
    <p:sldId id="301" r:id="rId4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1pPr>
    <a:lvl2pPr marL="0" marR="0" indent="4572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2pPr>
    <a:lvl3pPr marL="0" marR="0" indent="9144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3pPr>
    <a:lvl4pPr marL="0" marR="0" indent="13716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4pPr>
    <a:lvl5pPr marL="0" marR="0" indent="18288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5pPr>
    <a:lvl6pPr marL="0" marR="0" indent="22860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6pPr>
    <a:lvl7pPr marL="0" marR="0" indent="27432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7pPr>
    <a:lvl8pPr marL="0" marR="0" indent="32004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8pPr>
    <a:lvl9pPr marL="0" marR="0" indent="36576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48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" name="Shape 1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Spectral embedding</a:t>
            </a:r>
            <a:r>
              <a:rPr lang="en-US" dirty="0"/>
              <a:t> places data points in a low-dimensional space using the leading eigenvectors of a graph Laplacian so that strongly connected (similar) points lie close together.</a:t>
            </a:r>
          </a:p>
        </p:txBody>
      </p:sp>
    </p:spTree>
    <p:extLst>
      <p:ext uri="{BB962C8B-B14F-4D97-AF65-F5344CB8AC3E}">
        <p14:creationId xmlns:p14="http://schemas.microsoft.com/office/powerpoint/2010/main" val="252603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z="8200" b="1" spc="-164">
                <a:latin typeface="+mj-lt"/>
                <a:ea typeface="+mj-ea"/>
                <a:cs typeface="+mj-cs"/>
                <a:sym typeface="Avenir Next Regular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Line"/>
          <p:cNvSpPr/>
          <p:nvPr/>
        </p:nvSpPr>
        <p:spPr>
          <a:xfrm>
            <a:off x="92416" y="5839383"/>
            <a:ext cx="12819967" cy="1"/>
          </a:xfrm>
          <a:prstGeom prst="line">
            <a:avLst/>
          </a:prstGeom>
          <a:ln w="3429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" name="Line"/>
          <p:cNvSpPr/>
          <p:nvPr/>
        </p:nvSpPr>
        <p:spPr>
          <a:xfrm>
            <a:off x="92417" y="2011560"/>
            <a:ext cx="12819966" cy="1"/>
          </a:xfrm>
          <a:prstGeom prst="line">
            <a:avLst/>
          </a:prstGeom>
          <a:ln w="635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5" name="01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vocados and limes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b="1" spc="-164">
                <a:latin typeface="+mj-lt"/>
                <a:ea typeface="+mj-ea"/>
                <a:cs typeface="+mj-cs"/>
                <a:sym typeface="Avenir Next Regular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2304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6" name="01"/>
          <p:cNvSpPr txBox="1">
            <a:spLocks noGrp="1"/>
          </p:cNvSpPr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owl with salmon cakes, salad, and hummus 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</p:spPr>
        <p:txBody>
          <a:bodyPr numCol="2" spcCol="589358"/>
          <a:lstStyle>
            <a:lvl1pPr>
              <a:buClrTx/>
              <a:buSzPct val="123000"/>
              <a:buChar char="•"/>
            </a:lvl1pPr>
            <a:lvl2pPr marL="762000">
              <a:buClrTx/>
            </a:lvl2pPr>
            <a:lvl3pPr marL="1143000">
              <a:buClrTx/>
              <a:buChar char="•"/>
            </a:lvl3pPr>
            <a:lvl4pPr marL="1524000">
              <a:buClrTx/>
              <a:buChar char="•"/>
            </a:lvl4pPr>
            <a:lvl5pPr marL="1905000">
              <a:buSzPct val="1230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16579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3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>
            <a:lvl1pPr>
              <a:buClrTx/>
              <a:buSzPct val="123000"/>
              <a:buChar char="•"/>
            </a:lvl1pPr>
            <a:lvl2pPr marL="762000">
              <a:buClrTx/>
            </a:lvl2pPr>
            <a:lvl3pPr marL="1143000">
              <a:buClrTx/>
              <a:buChar char="•"/>
            </a:lvl3pPr>
            <a:lvl4pPr marL="1524000">
              <a:buClrTx/>
              <a:buChar char="•"/>
            </a:lvl4pPr>
            <a:lvl5pPr marL="1905000">
              <a:buSzPct val="1230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Line"/>
          <p:cNvSpPr/>
          <p:nvPr/>
        </p:nvSpPr>
        <p:spPr>
          <a:xfrm>
            <a:off x="12578" y="3010194"/>
            <a:ext cx="12979643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3" name="Line"/>
          <p:cNvSpPr/>
          <p:nvPr/>
        </p:nvSpPr>
        <p:spPr>
          <a:xfrm>
            <a:off x="12578" y="6423878"/>
            <a:ext cx="12979644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9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16579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3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Agenda Subtitle</a:t>
            </a:r>
          </a:p>
        </p:txBody>
      </p:sp>
      <p:sp>
        <p:nvSpPr>
          <p:cNvPr id="9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>
              <a:spcBef>
                <a:spcPts val="1300"/>
              </a:spcBef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0" name="Line"/>
          <p:cNvSpPr/>
          <p:nvPr/>
        </p:nvSpPr>
        <p:spPr>
          <a:xfrm>
            <a:off x="12578" y="3010194"/>
            <a:ext cx="12979643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01" name="Line"/>
          <p:cNvSpPr/>
          <p:nvPr/>
        </p:nvSpPr>
        <p:spPr>
          <a:xfrm>
            <a:off x="12578" y="6423878"/>
            <a:ext cx="12979644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0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2304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Attribution</a:t>
            </a:r>
          </a:p>
        </p:txBody>
      </p:sp>
      <p:sp>
        <p:nvSpPr>
          <p:cNvPr id="12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8" name="Bowl of salad with fried rice, boiled eggs, and chopsticks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9" name="Bowl with salmon cakes, salad, and hummus"/>
          <p:cNvSpPr>
            <a:spLocks noGrp="1"/>
          </p:cNvSpPr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8" name="01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1924756"/>
            <a:ext cx="11607800" cy="7640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2pPr marL="1016000"/>
            <a:lvl3pPr marL="1651000">
              <a:buChar char="‣"/>
            </a:lvl3pPr>
            <a:lvl4pPr marL="2286000">
              <a:buChar char="-"/>
            </a:lvl4pPr>
            <a:lvl5pPr marL="2921000">
              <a:buClrTx/>
              <a:buSzPct val="58999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Line"/>
          <p:cNvSpPr/>
          <p:nvPr/>
        </p:nvSpPr>
        <p:spPr>
          <a:xfrm>
            <a:off x="65804" y="1583266"/>
            <a:ext cx="12873192" cy="1"/>
          </a:xfrm>
          <a:prstGeom prst="line">
            <a:avLst/>
          </a:prstGeom>
          <a:ln w="508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" name="01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13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78000"/>
        <a:buFontTx/>
        <a:buChar char="❖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t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image" Target="../media/image19.tif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"/><Relationship Id="rId2" Type="http://schemas.openxmlformats.org/officeDocument/2006/relationships/image" Target="../media/image22.tif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"/><Relationship Id="rId2" Type="http://schemas.openxmlformats.org/officeDocument/2006/relationships/image" Target="../media/image24.ti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ti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"/><Relationship Id="rId2" Type="http://schemas.openxmlformats.org/officeDocument/2006/relationships/image" Target="../media/image33.ti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Dimension Reductio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Dimension Reduction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he set of problems that arise when modeling data in high-dimensional spac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en-US" dirty="0"/>
              <a:t>Challenges that arise when data lives in high-dimensional spaces, making distance, density, and learning less reliable</a:t>
            </a:r>
            <a:endParaRPr dirty="0"/>
          </a:p>
          <a:p>
            <a:r>
              <a:rPr lang="en-US" b="1" dirty="0"/>
              <a:t>As dimensionality increases:</a:t>
            </a:r>
            <a:endParaRPr lang="en-US" dirty="0"/>
          </a:p>
          <a:p>
            <a:pPr lvl="1"/>
            <a:r>
              <a:rPr lang="en-US" b="1" dirty="0"/>
              <a:t>Data becomes sparse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Points are far apart; local neighborhoods are harder to define </a:t>
            </a:r>
          </a:p>
          <a:p>
            <a:pPr lvl="1"/>
            <a:r>
              <a:rPr lang="en-US" b="1" dirty="0"/>
              <a:t>Distances lose meaning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Nearest and farthest points become similar </a:t>
            </a:r>
          </a:p>
          <a:p>
            <a:pPr lvl="2"/>
            <a:r>
              <a:rPr lang="en-US" i="1" dirty="0"/>
              <a:t>(low relative contrast → weak nearest-neighbor signals)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Learning becomes harder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Requires </a:t>
            </a:r>
            <a:r>
              <a:rPr lang="en-US" b="1" dirty="0"/>
              <a:t>exponentially more data</a:t>
            </a:r>
            <a:r>
              <a:rPr lang="en-US" dirty="0"/>
              <a:t> to generalize </a:t>
            </a:r>
          </a:p>
          <a:p>
            <a:pPr lvl="2"/>
            <a:r>
              <a:rPr lang="en-US" dirty="0"/>
              <a:t>Requires </a:t>
            </a:r>
            <a:r>
              <a:rPr lang="en-US" b="1" dirty="0"/>
              <a:t>more computation</a:t>
            </a:r>
            <a:r>
              <a:rPr lang="en-US" dirty="0"/>
              <a:t> for many algorithms</a:t>
            </a:r>
          </a:p>
          <a:p>
            <a:r>
              <a:rPr lang="en-US" dirty="0"/>
              <a:t>Many algorithms rely on meaningful distances—this breaks down in high dimensions</a:t>
            </a:r>
          </a:p>
        </p:txBody>
      </p:sp>
      <p:sp>
        <p:nvSpPr>
          <p:cNvPr id="157" name="Curse of Dimensionality"/>
          <p:cNvSpPr txBox="1">
            <a:spLocks noGrp="1"/>
          </p:cNvSpPr>
          <p:nvPr>
            <p:ph type="title"/>
          </p:nvPr>
        </p:nvSpPr>
        <p:spPr>
          <a:xfrm>
            <a:off x="698500" y="439092"/>
            <a:ext cx="11607800" cy="1016001"/>
          </a:xfrm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Curse of Dimensionality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ransformation from a high-dimensional space into a low-dimensional spac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373380" indent="-373380" defTabSz="1699251">
              <a:spcBef>
                <a:spcPts val="3100"/>
              </a:spcBef>
              <a:defRPr sz="2940"/>
            </a:pPr>
            <a:r>
              <a:rPr lang="en-US" dirty="0"/>
              <a:t>Transformation of data from a high-dimensional space to a lower-dimensional space</a:t>
            </a:r>
          </a:p>
          <a:p>
            <a:pPr marL="373380" indent="-373380" defTabSz="1699251">
              <a:spcBef>
                <a:spcPts val="3100"/>
              </a:spcBef>
              <a:defRPr sz="2940"/>
            </a:pPr>
            <a:r>
              <a:rPr lang="en-US" dirty="0"/>
              <a:t>Goals of dimension reduction:</a:t>
            </a:r>
          </a:p>
          <a:p>
            <a:pPr marL="1008380" lvl="1" indent="-373380" defTabSz="1699251">
              <a:spcBef>
                <a:spcPts val="3100"/>
              </a:spcBef>
              <a:defRPr sz="2940"/>
            </a:pPr>
            <a:r>
              <a:rPr lang="en-US" dirty="0"/>
              <a:t>Simplify the structure of the data  </a:t>
            </a:r>
          </a:p>
          <a:p>
            <a:pPr marL="1008380" lvl="1" indent="-373380" defTabSz="1699251">
              <a:spcBef>
                <a:spcPts val="3100"/>
              </a:spcBef>
              <a:defRPr sz="2940"/>
            </a:pPr>
            <a:r>
              <a:rPr lang="en-US" dirty="0"/>
              <a:t>Reduce computational cost  </a:t>
            </a:r>
          </a:p>
          <a:p>
            <a:pPr marL="1008380" lvl="1" indent="-373380" defTabSz="1699251">
              <a:spcBef>
                <a:spcPts val="3100"/>
              </a:spcBef>
              <a:defRPr sz="2940"/>
            </a:pPr>
            <a:r>
              <a:rPr lang="en-US" dirty="0"/>
              <a:t>Mitigate the curse of dimensionality  </a:t>
            </a:r>
          </a:p>
          <a:p>
            <a:pPr marL="1008380" lvl="1" indent="-373380" defTabSz="1699251">
              <a:spcBef>
                <a:spcPts val="3100"/>
              </a:spcBef>
              <a:defRPr sz="2940"/>
            </a:pPr>
            <a:r>
              <a:rPr lang="en-US" dirty="0"/>
              <a:t>Enable visualization (e.g., 2D or 3D plots)</a:t>
            </a:r>
          </a:p>
          <a:p>
            <a:pPr marL="373380" indent="-373380" defTabSz="1699251">
              <a:spcBef>
                <a:spcPts val="3100"/>
              </a:spcBef>
              <a:defRPr sz="2940"/>
            </a:pPr>
            <a:r>
              <a:rPr lang="en-US" dirty="0"/>
              <a:t>Two main approaches:</a:t>
            </a:r>
          </a:p>
          <a:p>
            <a:pPr marL="1008380" lvl="1" indent="-373380" defTabSz="1699251">
              <a:spcBef>
                <a:spcPts val="3100"/>
              </a:spcBef>
              <a:defRPr sz="2940"/>
            </a:pPr>
            <a:r>
              <a:rPr lang="en-US" dirty="0"/>
              <a:t>Projection (linear methods)</a:t>
            </a:r>
          </a:p>
          <a:p>
            <a:pPr marL="1008380" lvl="1" indent="-373380" defTabSz="1699251">
              <a:spcBef>
                <a:spcPts val="3100"/>
              </a:spcBef>
              <a:defRPr sz="2940"/>
            </a:pPr>
            <a:r>
              <a:rPr lang="en-US" dirty="0"/>
              <a:t>Manifold learning (nonlinear methods)</a:t>
            </a:r>
            <a:endParaRPr dirty="0"/>
          </a:p>
        </p:txBody>
      </p:sp>
      <p:sp>
        <p:nvSpPr>
          <p:cNvPr id="160" name="What is Dimension Redu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What is Dimension Reduction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Key Assumption: Data can be well-approximated in a lower-dimensional linear subspace…"/>
          <p:cNvSpPr txBox="1">
            <a:spLocks noGrp="1"/>
          </p:cNvSpPr>
          <p:nvPr>
            <p:ph type="body" sz="half" idx="1"/>
          </p:nvPr>
        </p:nvSpPr>
        <p:spPr>
          <a:xfrm>
            <a:off x="216382" y="2048376"/>
            <a:ext cx="5440769" cy="7640537"/>
          </a:xfrm>
          <a:prstGeom prst="rect">
            <a:avLst/>
          </a:prstGeom>
        </p:spPr>
        <p:txBody>
          <a:bodyPr/>
          <a:lstStyle/>
          <a:p>
            <a:pPr marL="358139" indent="-358139" defTabSz="1629894">
              <a:spcBef>
                <a:spcPts val="3000"/>
              </a:spcBef>
              <a:defRPr sz="2538">
                <a:solidFill>
                  <a:srgbClr val="005493"/>
                </a:solidFill>
              </a:defRPr>
            </a:pPr>
            <a:r>
              <a:rPr b="1"/>
              <a:t>Key Assumption:</a:t>
            </a:r>
            <a:br/>
            <a:r>
              <a:t>Data can be well-approximated in a lower-dimensional linear subspace</a:t>
            </a:r>
          </a:p>
          <a:p>
            <a:pPr marL="358139" indent="-358139" defTabSz="1629894">
              <a:spcBef>
                <a:spcPts val="3000"/>
              </a:spcBef>
              <a:defRPr sz="2538">
                <a:solidFill>
                  <a:srgbClr val="005493"/>
                </a:solidFill>
              </a:defRPr>
            </a:pPr>
            <a:r>
              <a:rPr b="1"/>
              <a:t>How It Works:</a:t>
            </a:r>
            <a:br/>
            <a:r>
              <a:t>Identify axes (or bases) in HD space that capture most variance and discard less informative dimensions</a:t>
            </a:r>
          </a:p>
          <a:p>
            <a:pPr marL="358139" indent="-358139" defTabSz="1629894">
              <a:spcBef>
                <a:spcPts val="3000"/>
              </a:spcBef>
              <a:defRPr sz="2538">
                <a:solidFill>
                  <a:srgbClr val="005493"/>
                </a:solidFill>
              </a:defRPr>
            </a:pPr>
            <a:r>
              <a:rPr b="1"/>
              <a:t>Examples:</a:t>
            </a:r>
            <a:br/>
            <a:r>
              <a:t>PCA, LDA, Random Projection</a:t>
            </a:r>
          </a:p>
          <a:p>
            <a:pPr marL="358139" indent="-358139" defTabSz="1629894">
              <a:spcBef>
                <a:spcPts val="3000"/>
              </a:spcBef>
              <a:defRPr sz="2538">
                <a:solidFill>
                  <a:srgbClr val="005493"/>
                </a:solidFill>
              </a:defRPr>
            </a:pPr>
            <a:r>
              <a:rPr b="1"/>
              <a:t>Analogy:</a:t>
            </a:r>
            <a:br/>
            <a:r>
              <a:t>Imagine casting a shadow of a 3D object onto a 2D plane.  We want to find the shadow that keeps as much structure as possible</a:t>
            </a:r>
          </a:p>
        </p:txBody>
      </p:sp>
      <p:sp>
        <p:nvSpPr>
          <p:cNvPr id="163" name="Projection"/>
          <p:cNvSpPr txBox="1">
            <a:spLocks noGrp="1"/>
          </p:cNvSpPr>
          <p:nvPr>
            <p:ph type="title"/>
          </p:nvPr>
        </p:nvSpPr>
        <p:spPr>
          <a:xfrm>
            <a:off x="630605" y="439092"/>
            <a:ext cx="3603179" cy="1016001"/>
          </a:xfrm>
          <a:prstGeom prst="rect">
            <a:avLst/>
          </a:prstGeom>
        </p:spPr>
        <p:txBody>
          <a:bodyPr/>
          <a:lstStyle>
            <a:lvl1pPr defTabSz="1525858">
              <a:defRPr sz="5280" spc="-105">
                <a:solidFill>
                  <a:srgbClr val="005493"/>
                </a:solidFill>
              </a:defRPr>
            </a:lvl1pPr>
          </a:lstStyle>
          <a:p>
            <a:r>
              <a:t>Projection                </a:t>
            </a:r>
          </a:p>
        </p:txBody>
      </p:sp>
      <p:sp>
        <p:nvSpPr>
          <p:cNvPr id="164" name="Key Assumption: Data lies on a lower-dimensional nonlinear manifold…"/>
          <p:cNvSpPr txBox="1"/>
          <p:nvPr/>
        </p:nvSpPr>
        <p:spPr>
          <a:xfrm>
            <a:off x="6821058" y="2048376"/>
            <a:ext cx="5440768" cy="7640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373379" indent="-373379" defTabSz="1699251">
              <a:lnSpc>
                <a:spcPct val="90000"/>
              </a:lnSpc>
              <a:spcBef>
                <a:spcPts val="3100"/>
              </a:spcBef>
              <a:buClr>
                <a:srgbClr val="8DA0CB"/>
              </a:buClr>
              <a:buSzPct val="78000"/>
              <a:buChar char="❖"/>
              <a:defRPr sz="2646">
                <a:solidFill>
                  <a:srgbClr val="4F8F00"/>
                </a:solidFill>
              </a:defRPr>
            </a:pPr>
            <a:r>
              <a:rPr b="1"/>
              <a:t>Key Assumption:</a:t>
            </a:r>
            <a:br/>
            <a:r>
              <a:t>Data lies on a lower-dimensional nonlinear manifold </a:t>
            </a:r>
          </a:p>
          <a:p>
            <a:pPr marL="373379" indent="-373379" defTabSz="1699251">
              <a:lnSpc>
                <a:spcPct val="90000"/>
              </a:lnSpc>
              <a:spcBef>
                <a:spcPts val="3100"/>
              </a:spcBef>
              <a:buClr>
                <a:srgbClr val="8DA0CB"/>
              </a:buClr>
              <a:buSzPct val="78000"/>
              <a:buChar char="❖"/>
              <a:defRPr sz="2646">
                <a:solidFill>
                  <a:srgbClr val="4F8F00"/>
                </a:solidFill>
              </a:defRPr>
            </a:pPr>
            <a:r>
              <a:rPr b="1"/>
              <a:t>How It Works:</a:t>
            </a:r>
            <a:br/>
            <a:r>
              <a:t>Preserve local relationships and geodesic distances rather than Euclidean distances</a:t>
            </a:r>
          </a:p>
          <a:p>
            <a:pPr marL="373379" indent="-373379" defTabSz="1699251">
              <a:lnSpc>
                <a:spcPct val="90000"/>
              </a:lnSpc>
              <a:spcBef>
                <a:spcPts val="3100"/>
              </a:spcBef>
              <a:buClr>
                <a:srgbClr val="8DA0CB"/>
              </a:buClr>
              <a:buSzPct val="78000"/>
              <a:buChar char="❖"/>
              <a:defRPr sz="2646">
                <a:solidFill>
                  <a:srgbClr val="4F8F00"/>
                </a:solidFill>
              </a:defRPr>
            </a:pPr>
            <a:r>
              <a:rPr b="1"/>
              <a:t>Examples:</a:t>
            </a:r>
            <a:br/>
            <a:r>
              <a:t>t-SNE, UMAP, Isomap, LLE</a:t>
            </a:r>
          </a:p>
          <a:p>
            <a:pPr marL="373379" indent="-373379" defTabSz="1699251">
              <a:lnSpc>
                <a:spcPct val="90000"/>
              </a:lnSpc>
              <a:spcBef>
                <a:spcPts val="3100"/>
              </a:spcBef>
              <a:buClr>
                <a:srgbClr val="8DA0CB"/>
              </a:buClr>
              <a:buSzPct val="78000"/>
              <a:buChar char="❖"/>
              <a:defRPr sz="2646">
                <a:solidFill>
                  <a:srgbClr val="4F8F00"/>
                </a:solidFill>
              </a:defRPr>
            </a:pPr>
            <a:r>
              <a:rPr b="1"/>
              <a:t>Analogy:</a:t>
            </a:r>
            <a:br/>
            <a:r>
              <a:t>Imagine a crumpled piece of paper (HD space).  If we flatten the paper without tearing, the true lower-dimensional structure is revealed</a:t>
            </a:r>
          </a:p>
        </p:txBody>
      </p:sp>
      <p:sp>
        <p:nvSpPr>
          <p:cNvPr id="165" name="Manifold"/>
          <p:cNvSpPr txBox="1"/>
          <p:nvPr/>
        </p:nvSpPr>
        <p:spPr>
          <a:xfrm>
            <a:off x="7235281" y="439092"/>
            <a:ext cx="360318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1525858">
              <a:lnSpc>
                <a:spcPct val="80000"/>
              </a:lnSpc>
              <a:defRPr sz="5280" spc="-105">
                <a:solidFill>
                  <a:srgbClr val="4F8F00"/>
                </a:solidFill>
                <a:latin typeface="+mn-lt"/>
                <a:ea typeface="+mn-ea"/>
                <a:cs typeface="+mn-cs"/>
                <a:sym typeface="Avenir Next Demi Bold"/>
              </a:defRPr>
            </a:lvl1pPr>
          </a:lstStyle>
          <a:p>
            <a:r>
              <a:t>Manifold                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rincipal Components Analysis (PCA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Principal Components Analysis (PCA)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One of the oldest and most common dimension reduction techniqu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en-US" dirty="0"/>
              <a:t>Principal Component Analysis (PCA)</a:t>
            </a:r>
          </a:p>
          <a:p>
            <a:pPr lvl="1"/>
            <a:r>
              <a:rPr lang="en-US" dirty="0"/>
              <a:t>One of the most widely used dimension reduction techniques</a:t>
            </a:r>
          </a:p>
          <a:p>
            <a:pPr lvl="1"/>
            <a:r>
              <a:rPr lang="en-US" dirty="0"/>
              <a:t>Dates back to the early 20th century</a:t>
            </a:r>
          </a:p>
          <a:p>
            <a:pPr lvl="1"/>
            <a:r>
              <a:rPr lang="en-US" dirty="0"/>
              <a:t>Transforms data into a new coordinate system:</a:t>
            </a:r>
          </a:p>
          <a:p>
            <a:pPr marL="0" indent="0">
              <a:buNone/>
            </a:pPr>
            <a:r>
              <a:rPr lang="en-US" dirty="0"/>
              <a:t>	→ Principal components</a:t>
            </a:r>
          </a:p>
          <a:p>
            <a:r>
              <a:rPr lang="en-US" dirty="0"/>
              <a:t>idea:</a:t>
            </a:r>
          </a:p>
          <a:p>
            <a:r>
              <a:rPr lang="en-US" dirty="0"/>
              <a:t>Capture the most important structure (variance) in the data using fewer dimensions</a:t>
            </a:r>
          </a:p>
          <a:p>
            <a:r>
              <a:rPr lang="en-US" dirty="0"/>
              <a:t>Applications:</a:t>
            </a:r>
          </a:p>
          <a:p>
            <a:pPr lvl="1"/>
            <a:r>
              <a:rPr lang="en-US" dirty="0"/>
              <a:t>Visualization</a:t>
            </a:r>
          </a:p>
          <a:p>
            <a:pPr lvl="1"/>
            <a:r>
              <a:rPr lang="en-US" dirty="0"/>
              <a:t>Feature extraction</a:t>
            </a:r>
          </a:p>
          <a:p>
            <a:pPr lvl="1"/>
            <a:r>
              <a:rPr lang="en-US" dirty="0"/>
              <a:t>Noise reduction</a:t>
            </a:r>
          </a:p>
          <a:p>
            <a:pPr lvl="1"/>
            <a:r>
              <a:rPr lang="en-US" dirty="0"/>
              <a:t>Preprocessing for machine learning models</a:t>
            </a:r>
            <a:endParaRPr dirty="0"/>
          </a:p>
        </p:txBody>
      </p:sp>
      <p:sp>
        <p:nvSpPr>
          <p:cNvPr id="170" name="PC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PCA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ind a linear transformation of the original data tha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PCA finds a linear transformation of the data such that:</a:t>
            </a:r>
          </a:p>
          <a:p>
            <a:r>
              <a:rPr lang="en-US" dirty="0"/>
              <a:t>The first principal component maximizes variance</a:t>
            </a:r>
          </a:p>
          <a:p>
            <a:r>
              <a:rPr lang="en-US" dirty="0"/>
              <a:t>Each subsequent component:</a:t>
            </a:r>
          </a:p>
          <a:p>
            <a:pPr lvl="1"/>
            <a:r>
              <a:rPr lang="en-US" dirty="0"/>
              <a:t>Is orthogonal to previous ones</a:t>
            </a:r>
          </a:p>
          <a:p>
            <a:pPr lvl="1"/>
            <a:r>
              <a:rPr lang="en-US" dirty="0"/>
              <a:t>Captures the next highest variance</a:t>
            </a:r>
          </a:p>
          <a:p>
            <a:r>
              <a:rPr lang="en-US" dirty="0"/>
              <a:t>Properties:</a:t>
            </a:r>
          </a:p>
          <a:p>
            <a:pPr lvl="1"/>
            <a:r>
              <a:rPr lang="en-US" dirty="0"/>
              <a:t>Components are uncorrelated</a:t>
            </a:r>
          </a:p>
          <a:p>
            <a:pPr lvl="1"/>
            <a:r>
              <a:rPr lang="en-US" dirty="0"/>
              <a:t>Ordered by importance (variance explained)</a:t>
            </a:r>
            <a:endParaRPr dirty="0"/>
          </a:p>
        </p:txBody>
      </p:sp>
      <p:sp>
        <p:nvSpPr>
          <p:cNvPr id="173" name="Basic Idea of PC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Basic Idea of PCA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Find the hyperplane that perseveres the largest amount of variance…"/>
          <p:cNvSpPr txBox="1">
            <a:spLocks noGrp="1"/>
          </p:cNvSpPr>
          <p:nvPr>
            <p:ph type="body" sz="half" idx="1"/>
          </p:nvPr>
        </p:nvSpPr>
        <p:spPr>
          <a:xfrm>
            <a:off x="698500" y="1924756"/>
            <a:ext cx="11607800" cy="2621696"/>
          </a:xfrm>
          <a:prstGeom prst="rect">
            <a:avLst/>
          </a:prstGeom>
        </p:spPr>
        <p:txBody>
          <a:bodyPr/>
          <a:lstStyle/>
          <a:p>
            <a:r>
              <a:t>Find the hyperplane that perseveres the largest amount of variance</a:t>
            </a:r>
          </a:p>
          <a:p>
            <a:r>
              <a:t>Project data onto that hyperplane</a:t>
            </a:r>
          </a:p>
        </p:txBody>
      </p:sp>
      <p:sp>
        <p:nvSpPr>
          <p:cNvPr id="179" name="PCA in dimension redu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PCA in dimension reduction</a:t>
            </a:r>
          </a:p>
        </p:txBody>
      </p:sp>
      <p:pic>
        <p:nvPicPr>
          <p:cNvPr id="180" name="mls2_0807.png" descr="mls2_08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71" y="4273727"/>
            <a:ext cx="10878040" cy="5121745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Image from &quot;Hands-On Machine Learning with Scikit-Learn &amp; TensorFlow&quot; by Aurelien Geron"/>
          <p:cNvSpPr txBox="1"/>
          <p:nvPr/>
        </p:nvSpPr>
        <p:spPr>
          <a:xfrm>
            <a:off x="1497393" y="9525000"/>
            <a:ext cx="5539614" cy="25031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84200">
              <a:defRPr sz="1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Image from "Hands-On Machine Learning with Scikit-Learn &amp; TensorFlow" by Aurelien Geron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An eigenvector is a special vector   such that when it is transformed by some matrix, say  , the product   has the same direction a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An eigenvector is a special vector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t> such that when it is transformed by some matrix, say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t>, the product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𝐴𝑣</m:t>
                    </m:r>
                  </m:oMath>
                </a14:m>
                <a:r>
                  <a:t> has the same direction as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/>
              </a:p>
              <a:p>
                <a:r>
                  <a:t>An eigenvalue is a scaler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t> that scales the eigenvector such that </a:t>
                </a:r>
                <a:br/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𝐴𝑣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/>
              </a:p>
              <a:p>
                <a:r>
                  <a:t>For an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 x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 symmetric matrix, there will be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 eigenvectors and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 eigenvalues</a:t>
                </a:r>
              </a:p>
              <a:p>
                <a:pPr lvl="1"/>
                <a:endParaRPr/>
              </a:p>
              <a:p>
                <a:pPr marL="0" lvl="1" indent="635000">
                  <a:buSzTx/>
                  <a:buNone/>
                  <a:defRPr sz="2500" i="1"/>
                </a:pPr>
                <a:br/>
                <a:br/>
                <a:br/>
                <a:r>
                  <a:t>Fun Fact: The word “eigen” is a German word that means “characteristic”</a:t>
                </a:r>
              </a:p>
            </p:txBody>
          </p:sp>
        </mc:Choice>
        <mc:Fallback>
          <p:sp>
            <p:nvSpPr>
              <p:cNvPr id="186" name="An eigenvector is a special vector   such that when it is transformed by some matrix, say  , the product   has the same direction a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197" r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Review of eigenvalues and 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Review of eigenvalues and vectors</a:t>
            </a:r>
          </a:p>
        </p:txBody>
      </p:sp>
      <p:sp>
        <p:nvSpPr>
          <p:cNvPr id="188" name="Computing eigen values and vectors in python:…"/>
          <p:cNvSpPr txBox="1"/>
          <p:nvPr/>
        </p:nvSpPr>
        <p:spPr>
          <a:xfrm>
            <a:off x="1530821" y="6056299"/>
            <a:ext cx="9943158" cy="927101"/>
          </a:xfrm>
          <a:prstGeom prst="rect">
            <a:avLst/>
          </a:prstGeom>
          <a:ln w="12700">
            <a:solidFill>
              <a:srgbClr val="005493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 i="1">
                <a:solidFill>
                  <a:srgbClr val="797979"/>
                </a:solidFill>
              </a:defRPr>
            </a:pPr>
            <a:r>
              <a:t>Computing eigen values and vectors in python:</a:t>
            </a:r>
          </a:p>
          <a:p>
            <a:pPr>
              <a:defRPr>
                <a:solidFill>
                  <a:srgbClr val="00549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eigen_values, eigen_vectors = np.linalg.eig(A)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rincipal components can be found b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Computing Principal Components</a:t>
            </a:r>
          </a:p>
          <a:p>
            <a:r>
              <a:rPr lang="en-US" dirty="0"/>
              <a:t>Step 1: Center the data</a:t>
            </a:r>
          </a:p>
          <a:p>
            <a:pPr lvl="1"/>
            <a:r>
              <a:rPr lang="en-US" dirty="0"/>
              <a:t>Subtract the mean from each feature</a:t>
            </a:r>
          </a:p>
          <a:p>
            <a:r>
              <a:rPr lang="en-US" dirty="0"/>
              <a:t>Step 2: Scale features</a:t>
            </a:r>
          </a:p>
          <a:p>
            <a:pPr lvl="1"/>
            <a:r>
              <a:rPr lang="en-US" dirty="0"/>
              <a:t>Important when features have different units</a:t>
            </a:r>
          </a:p>
          <a:p>
            <a:r>
              <a:rPr lang="en-US" dirty="0"/>
              <a:t>Step 3: Compute covariance matrix:</a:t>
            </a:r>
          </a:p>
          <a:p>
            <a:pPr marL="0" indent="0">
              <a:buNone/>
            </a:pPr>
            <a:r>
              <a:rPr lang="en-US" dirty="0"/>
              <a:t>	  </a:t>
            </a:r>
            <a:r>
              <a:rPr lang="el-GR" dirty="0"/>
              <a:t>Σ = (1/</a:t>
            </a:r>
            <a:r>
              <a:rPr lang="en-US" dirty="0"/>
              <a:t>n) XᵀX</a:t>
            </a:r>
          </a:p>
          <a:p>
            <a:r>
              <a:rPr lang="en-US" dirty="0"/>
              <a:t>Step 4: Compute eigenvalues and eigenvectors of </a:t>
            </a:r>
            <a:r>
              <a:rPr lang="el-GR" dirty="0"/>
              <a:t>Σ</a:t>
            </a:r>
          </a:p>
          <a:p>
            <a:pPr lvl="1"/>
            <a:r>
              <a:rPr lang="en-US" dirty="0"/>
              <a:t>Eigenvectors → principal directions</a:t>
            </a:r>
          </a:p>
          <a:p>
            <a:pPr lvl="1"/>
            <a:r>
              <a:rPr lang="en-US" dirty="0"/>
              <a:t>Eigenvalues → variance explained by each direction</a:t>
            </a:r>
            <a:endParaRPr dirty="0"/>
          </a:p>
        </p:txBody>
      </p:sp>
      <p:sp>
        <p:nvSpPr>
          <p:cNvPr id="184" name="Computing Principal Compon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Computing Principal Components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Compute the covariance matrix of the centered and scaled data,   sigma = np.cov(X_centered_and_scaled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98500" y="1857790"/>
                <a:ext cx="11959757" cy="7640537"/>
              </a:xfrm>
              <a:prstGeom prst="rect">
                <a:avLst/>
              </a:prstGeom>
            </p:spPr>
            <p:txBody>
              <a:bodyPr/>
              <a:lstStyle/>
              <a:p>
                <a:pPr marL="228600" indent="-228600">
                  <a:buSzPct val="100000"/>
                  <a:buAutoNum type="arabicPeriod"/>
                </a:pPr>
                <a:r>
                  <a:t>Compute the covariance matrix of the centered and scaled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br/>
                <a:r>
                  <a:rPr>
                    <a:solidFill>
                      <a:srgbClr val="005493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sigma = np.cov(X_centered_and_scaled)</a:t>
                </a:r>
              </a:p>
              <a:p>
                <a:pPr marL="228600" indent="-228600">
                  <a:buSzPct val="100000"/>
                  <a:buAutoNum type="arabicPeriod"/>
                </a:pPr>
                <a:r>
                  <a:t>Compute the eigenvectors and eigenvalues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/>
              </a:p>
              <a:p>
                <a:pPr marL="609600" lvl="1" indent="-228600">
                  <a:buSzPct val="100000"/>
                  <a:buChar char="❖"/>
                </a:pPr>
                <a:r>
                  <a:t> The eigenvectors are the principle components</a:t>
                </a:r>
              </a:p>
              <a:p>
                <a:pPr marL="228600" indent="-228600">
                  <a:buSzPct val="100000"/>
                  <a:buAutoNum type="arabicPeriod"/>
                </a:pPr>
                <a:r>
                  <a:t>Order the eigenvalues from largest to smallest</a:t>
                </a:r>
              </a:p>
              <a:p>
                <a:pPr marL="228600" indent="-228600">
                  <a:buSzPct val="100000"/>
                  <a:buAutoNum type="arabicPeriod"/>
                </a:pPr>
                <a:r>
                  <a:t>The percent of variance explained by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3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t> principal component: </a:t>
                </a:r>
                <a:br/>
                <a:br/>
                <a14:m>
                  <m:oMath xmlns:m="http://schemas.openxmlformats.org/officeDocument/2006/math"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/>
              </a:p>
            </p:txBody>
          </p:sp>
        </mc:Choice>
        <mc:Fallback>
          <p:sp>
            <p:nvSpPr>
              <p:cNvPr id="190" name="Compute the covariance matrix of the centered and scaled data,   sigma = np.cov(X_centered_and_scaled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98500" y="1857790"/>
                <a:ext cx="11959757" cy="7640537"/>
              </a:xfrm>
              <a:prstGeom prst="rect">
                <a:avLst/>
              </a:prstGeom>
              <a:blipFill>
                <a:blip r:embed="rId2"/>
                <a:stretch>
                  <a:fillRect l="-1581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PCA with eigenvalues and 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PCA with eigenvalues and vectors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Principal component projection (original data in pc space) is computed as:   where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98500" y="1857790"/>
                <a:ext cx="11607800" cy="76405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228600" indent="-228600">
                  <a:buSzPct val="100000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= matrix of top k eigenvectors</a:t>
                </a:r>
              </a:p>
              <a:p>
                <a:pPr marL="228600" indent="-228600">
                  <a:buSzPct val="100000"/>
                </a:pPr>
                <a:r>
                  <a:rPr lang="en-US" dirty="0"/>
                  <a:t>Low-dimensional representation:</a:t>
                </a:r>
              </a:p>
              <a:p>
                <a:pPr marL="228600" indent="-228600">
                  <a:buSzPct val="100000"/>
                </a:pPr>
                <a:endParaRPr lang="en-US" dirty="0"/>
              </a:p>
              <a:p>
                <a:pPr marL="0" indent="0"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228600" indent="-228600">
                  <a:buSzPct val="100000"/>
                </a:pPr>
                <a:r>
                  <a:rPr lang="en-US" dirty="0"/>
                  <a:t>Reconstruction (projection back to original space):</a:t>
                </a:r>
              </a:p>
              <a:p>
                <a:pPr marL="0" indent="0">
                  <a:buSzPct val="100000"/>
                  <a:buNone/>
                </a:pPr>
                <a14:m/>
                <a:endParaRPr lang="en-US" dirty="0"/>
              </a:p>
              <a:p>
                <a:pPr marL="228600" indent="-228600">
                  <a:buSzPct val="100000"/>
                </a:pPr>
                <a:r>
                  <a:rPr lang="en-US" dirty="0"/>
                  <a:t>This is the best rank-k approximation (in least-squares sense)</a:t>
                </a:r>
                <a:endParaRPr dirty="0"/>
              </a:p>
            </p:txBody>
          </p:sp>
        </mc:Choice>
        <mc:Fallback>
          <p:sp>
            <p:nvSpPr>
              <p:cNvPr id="193" name="Principal component projection (original data in pc space) is computed as:   wher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98500" y="1857790"/>
                <a:ext cx="11607800" cy="7640537"/>
              </a:xfrm>
              <a:prstGeom prst="rect">
                <a:avLst/>
              </a:prstGeom>
              <a:blipFill>
                <a:blip r:embed="rId2"/>
                <a:stretch>
                  <a:fillRect l="-183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Projection of original dat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Projection of original data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For data visualization, we would plot the first 2-3 principle component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For data visualization, we would plot the first 2-3 principle components</a:t>
                </a:r>
              </a:p>
              <a:p>
                <a:r>
                  <a:rPr lang="en-US" dirty="0"/>
                  <a:t>For dimension reduction, we would choose k </a:t>
                </a:r>
                <a14:m>
                  <m:oMath xmlns:m="http://schemas.openxmlformats.org/officeDocument/2006/math">
                    <m:r>
                      <a:rPr lang="en-US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such that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principal components explain a sufficient amount of variance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could be used as input features for another model</a:t>
                </a:r>
                <a:endParaRPr dirty="0"/>
              </a:p>
            </p:txBody>
          </p:sp>
        </mc:Choice>
        <mc:Fallback>
          <p:sp>
            <p:nvSpPr>
              <p:cNvPr id="196" name="For data visualization, we would plot the first 2-3 principle component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 r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PCA with eigenvalues and 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PCA with eigenvalues and vectors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Example:  MNIST (just 0s and 1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Example:  MNIST (just 0s and 1s)</a:t>
            </a:r>
          </a:p>
        </p:txBody>
      </p:sp>
      <p:pic>
        <p:nvPicPr>
          <p:cNvPr id="200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362" y="2548789"/>
            <a:ext cx="9094076" cy="69533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552700"/>
            <a:ext cx="9093200" cy="6952678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Example:  MNIST (just 0s and 1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Example:  MNIST (just 0s and 1s)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Example:  MNIST (just 0s and 1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Example:  MNIST (just 0s and 1s)</a:t>
            </a:r>
          </a:p>
        </p:txBody>
      </p:sp>
      <p:pic>
        <p:nvPicPr>
          <p:cNvPr id="206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656" y="2360231"/>
            <a:ext cx="9987488" cy="69001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From the SVD we have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From the SVD we have </a:t>
                </a:r>
                <a:br/>
                <a:br/>
                <a14:m>
                  <m:oMath xmlns:m="http://schemas.openxmlformats.org/officeDocument/2006/math">
                    <m:limLow>
                      <m:limLowPr>
                        <m:ctrlPr>
                          <a:rPr sz="3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li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Low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li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Low>
                    <m:limLow>
                      <m:limLow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li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Low>
                    <m:sSup>
                      <m:sSup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Low>
                          <m:limLowPr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lim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lim>
                        </m:limLow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/>
              </a:p>
              <a:p>
                <a:r>
                  <a:t>We can approximate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t> using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 singular values (and principal components)</a:t>
                </a:r>
                <a:br/>
                <a:br/>
                <a14:m>
                  <m:oMath xmlns:m="http://schemas.openxmlformats.org/officeDocument/2006/math">
                    <m:limLow>
                      <m:limLowPr>
                        <m:ctrlPr>
                          <a:rPr sz="3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li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Low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limLow>
                      <m:limLow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li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lim>
                    </m:limLow>
                    <m:limLow>
                      <m:limLow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li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lim>
                    </m:limLow>
                    <m:sSup>
                      <m:sSup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Low>
                          <m:limLowPr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lim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lim>
                        </m:limLow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/>
              </a:p>
              <a:p>
                <a:r>
                  <a:t>This could be useful for image (or other data) compression</a:t>
                </a:r>
              </a:p>
            </p:txBody>
          </p:sp>
        </mc:Choice>
        <mc:Fallback>
          <p:sp>
            <p:nvSpPr>
              <p:cNvPr id="208" name="From the SVD we hav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Projecting data to the lower space"/>
          <p:cNvSpPr txBox="1">
            <a:spLocks noGrp="1"/>
          </p:cNvSpPr>
          <p:nvPr>
            <p:ph type="title"/>
          </p:nvPr>
        </p:nvSpPr>
        <p:spPr>
          <a:xfrm>
            <a:off x="698500" y="439092"/>
            <a:ext cx="11607800" cy="1016001"/>
          </a:xfrm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Projecting data to the lower space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Data compression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Data compression example</a:t>
            </a:r>
          </a:p>
        </p:txBody>
      </p:sp>
      <p:pic>
        <p:nvPicPr>
          <p:cNvPr id="212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559" y="1830805"/>
            <a:ext cx="7761441" cy="78782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3" y="3205998"/>
            <a:ext cx="3772054" cy="3748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513" y="3111318"/>
            <a:ext cx="3962598" cy="39379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pasted-image.tiff" descr="pasted-image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250" y="3170099"/>
            <a:ext cx="3844300" cy="3820423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Example:  MNIST (just 0s and 1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Example:  MNIST (just 0s and 1s)</a:t>
            </a:r>
          </a:p>
        </p:txBody>
      </p:sp>
      <p:sp>
        <p:nvSpPr>
          <p:cNvPr id="218" name="Original (784 features)"/>
          <p:cNvSpPr txBox="1"/>
          <p:nvPr/>
        </p:nvSpPr>
        <p:spPr>
          <a:xfrm>
            <a:off x="655566" y="2572946"/>
            <a:ext cx="2961387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Original (784 features)</a:t>
            </a:r>
          </a:p>
        </p:txBody>
      </p:sp>
      <p:sp>
        <p:nvSpPr>
          <p:cNvPr id="219" name="200 Principal Components"/>
          <p:cNvSpPr txBox="1"/>
          <p:nvPr/>
        </p:nvSpPr>
        <p:spPr>
          <a:xfrm>
            <a:off x="4596168" y="2572946"/>
            <a:ext cx="3558465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200 Principal Components </a:t>
            </a:r>
          </a:p>
        </p:txBody>
      </p:sp>
      <p:sp>
        <p:nvSpPr>
          <p:cNvPr id="220" name="20 Principal Components"/>
          <p:cNvSpPr txBox="1"/>
          <p:nvPr/>
        </p:nvSpPr>
        <p:spPr>
          <a:xfrm>
            <a:off x="9011606" y="2572946"/>
            <a:ext cx="339641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20 Principal Components 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he principal components can be used as the features in another machine learning mode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principal components can be used as the features in another machine learning model</a:t>
            </a:r>
          </a:p>
          <a:p>
            <a:pPr lvl="1"/>
            <a:r>
              <a:t>Reduces the feature space and simplifies the model which can reduce overfitting </a:t>
            </a:r>
          </a:p>
          <a:p>
            <a:r>
              <a:t>Identify key features and highlight relationships by seeing which features contribute most to the first few principal components</a:t>
            </a:r>
          </a:p>
        </p:txBody>
      </p:sp>
      <p:sp>
        <p:nvSpPr>
          <p:cNvPr id="223" name="Other Uses of PC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Other Uses of PCA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he principal components are linear combinations of the original variabl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principal components are linear combinations of the original variables </a:t>
            </a:r>
          </a:p>
          <a:p>
            <a:r>
              <a:t>PCA works best for finding patterns that can be described by linear relationships</a:t>
            </a:r>
          </a:p>
          <a:p>
            <a:r>
              <a:t>PCA seeks to preserve pairwise distances globally which doesn’t always lead to helpful visualizations</a:t>
            </a:r>
          </a:p>
        </p:txBody>
      </p:sp>
      <p:sp>
        <p:nvSpPr>
          <p:cNvPr id="226" name="Limitations of PC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Limitations of PCA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Manifold Lear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Manifold Learning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Manifold learning refers to a group of algorithms that perform non-linear dimension reduc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Manifold learning refers to a group of algorithms that perform non-linear dimension reduction</a:t>
            </a:r>
          </a:p>
          <a:p>
            <a:r>
              <a:rPr dirty="0"/>
              <a:t>Some popular manifold learning algorithms:</a:t>
            </a:r>
          </a:p>
          <a:p>
            <a:pPr lvl="1"/>
            <a:r>
              <a:rPr dirty="0"/>
              <a:t>t-SNE</a:t>
            </a:r>
          </a:p>
          <a:p>
            <a:pPr lvl="1"/>
            <a:r>
              <a:rPr dirty="0"/>
              <a:t>UMAP</a:t>
            </a:r>
          </a:p>
          <a:p>
            <a:pPr lvl="1"/>
            <a:r>
              <a:rPr dirty="0"/>
              <a:t>Multidimensional scaling</a:t>
            </a:r>
          </a:p>
          <a:p>
            <a:pPr lvl="1"/>
            <a:r>
              <a:rPr dirty="0"/>
              <a:t>Isomap</a:t>
            </a:r>
            <a:endParaRPr lang="en-US" dirty="0"/>
          </a:p>
          <a:p>
            <a:pPr lvl="1"/>
            <a:r>
              <a:rPr lang="en-US" dirty="0"/>
              <a:t>PHATE</a:t>
            </a:r>
            <a:r>
              <a:rPr dirty="0"/>
              <a:t> </a:t>
            </a:r>
          </a:p>
        </p:txBody>
      </p:sp>
      <p:sp>
        <p:nvSpPr>
          <p:cNvPr id="231" name="Manifold Lear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Manifold Learning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-S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t-SNE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-distributed stochastic neighbor embedding (t-SNE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t-distributed stochastic neighbor embedding (t-SNE) </a:t>
            </a:r>
          </a:p>
          <a:p>
            <a:r>
              <a:t>Introduced in 2008</a:t>
            </a:r>
          </a:p>
          <a:p>
            <a:r>
              <a:t>Non-linear method </a:t>
            </a:r>
          </a:p>
          <a:p>
            <a:r>
              <a:t>Seeks to preserve pairwise similarities locally</a:t>
            </a:r>
          </a:p>
          <a:p>
            <a:r>
              <a:t>Particularly useful for visualizing high-dimensional data</a:t>
            </a:r>
          </a:p>
        </p:txBody>
      </p:sp>
      <p:sp>
        <p:nvSpPr>
          <p:cNvPr id="236" name="Introduction to t-S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Introduction to t-SNE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901" y="0"/>
            <a:ext cx="9412999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First measure the similarity between data points in high-dimensional spac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First measure the similarity between data points in high-dimensional space</a:t>
            </a:r>
          </a:p>
          <a:p>
            <a:r>
              <a:t>Then represent the similarities in lower-dimensional space</a:t>
            </a:r>
          </a:p>
          <a:p>
            <a:r>
              <a:t>Preserves the pairwise distance of points in both higher and lower dimensions</a:t>
            </a:r>
          </a:p>
        </p:txBody>
      </p:sp>
      <p:sp>
        <p:nvSpPr>
          <p:cNvPr id="241" name="Basic idea of t-S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Basic idea of t-SNE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Step 1:  Compute the high-dimensional similarity matrix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38227" y="1924756"/>
                <a:ext cx="11928346" cy="7640537"/>
              </a:xfrm>
              <a:prstGeom prst="rect">
                <a:avLst/>
              </a:prstGeom>
            </p:spPr>
            <p:txBody>
              <a:bodyPr/>
              <a:lstStyle/>
              <a:p>
                <a:pPr marL="365759" indent="-365759" defTabSz="1664572">
                  <a:spcBef>
                    <a:spcPts val="3000"/>
                  </a:spcBef>
                  <a:defRPr sz="2880"/>
                </a:pPr>
                <a:r>
                  <a:rPr lang="en-US" dirty="0"/>
                  <a:t>Step 1:  Compute the high-dimensional similarity matrix</a:t>
                </a:r>
              </a:p>
              <a:p>
                <a:pPr marL="975359" lvl="1" indent="-365759" defTabSz="1664572">
                  <a:spcBef>
                    <a:spcPts val="3000"/>
                  </a:spcBef>
                  <a:defRPr sz="2880"/>
                </a:pPr>
                <a:r>
                  <a:rPr lang="en-US" dirty="0"/>
                  <a:t>Compute the Euclidean distance between each pair of points (</a:t>
                </a:r>
                <a14:m>
                  <m:oMath xmlns:m="http://schemas.openxmlformats.org/officeDocument/2006/math">
                    <m:r>
                      <a:rPr lang="en-US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ar-AE" dirty="0"/>
                  <a:t>)</a:t>
                </a:r>
              </a:p>
              <a:p>
                <a:pPr marL="975359" lvl="1" indent="-365759" defTabSz="1664572">
                  <a:spcBef>
                    <a:spcPts val="3000"/>
                  </a:spcBef>
                  <a:defRPr sz="2880"/>
                </a:pPr>
                <a:r>
                  <a:rPr lang="en-US" dirty="0"/>
                  <a:t>For a specific pair,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compute the conditional probability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considers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as its neighbor using a normal distribution centered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with local bandwidth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3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(−||</m:t>
                        </m:r>
                        <m:sSub>
                          <m:sSub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sub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(−||</m:t>
                        </m:r>
                        <m:sSub>
                          <m:sSub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ar-AE" dirty="0"/>
              </a:p>
              <a:p>
                <a:pPr marL="975359" lvl="1" indent="-365759" defTabSz="1664572">
                  <a:spcBef>
                    <a:spcPts val="3000"/>
                  </a:spcBef>
                  <a:defRPr sz="2880"/>
                </a:pPr>
                <a:r>
                  <a:rPr lang="en-US" dirty="0"/>
                  <a:t>Symmetrize the probabilities using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3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ar-AE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ar-AE"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sz="3000" dirty="0"/>
              </a:p>
            </p:txBody>
          </p:sp>
        </mc:Choice>
        <mc:Fallback>
          <p:sp>
            <p:nvSpPr>
              <p:cNvPr id="243" name="Step 1:  Compute the high-dimensional similarity matrix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8227" y="1924756"/>
                <a:ext cx="11928346" cy="7640537"/>
              </a:xfrm>
              <a:prstGeom prst="rect">
                <a:avLst/>
              </a:prstGeom>
              <a:blipFill>
                <a:blip r:embed="rId2"/>
                <a:stretch>
                  <a:fillRect l="-1175" t="-1357" r="-1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How t-SNE 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How t-SNE works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Step 2:  Construct the low-dimensional map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Step 2:  Construct the low-dimensional map</a:t>
                </a:r>
              </a:p>
              <a:p>
                <a:pPr lvl="1"/>
                <a:r>
                  <a:rPr lang="en-US" dirty="0"/>
                  <a:t>Each high-dimensional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is mapped to a low-dimensional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𝑦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​ is the low-dimensional </a:t>
                </a:r>
                <a:r>
                  <a:rPr lang="en-US" i="1" dirty="0"/>
                  <a:t>embedding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Randomly place each point in the low-dimensional space</a:t>
                </a:r>
              </a:p>
              <a:p>
                <a:pPr lvl="1"/>
                <a:r>
                  <a:rPr lang="en-US" dirty="0"/>
                  <a:t>Compute the low-dimensional Euclidean distances (</a:t>
                </a:r>
                <a14:m>
                  <m:oMath xmlns:m="http://schemas.openxmlformats.org/officeDocument/2006/math">
                    <m:r>
                      <a:rPr lang="en-US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325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Compute the low-dimensional similarity using t-distribution with 1-degree of freedom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3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ar-AE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+||</m:t>
                        </m:r>
                        <m:sSub>
                          <m:sSub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sub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+||</m:t>
                        </m:r>
                        <m:sSub>
                          <m:sSub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br>
                  <a:rPr lang="en-US" dirty="0"/>
                </a:b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:r>
                  <a:rPr lang="en-US" b="1" dirty="0"/>
                  <a:t>soft measure of closeness in the embedding</a:t>
                </a:r>
                <a:r>
                  <a:rPr lang="en-US" dirty="0"/>
                  <a:t>, designed with heavy tails so that the map can spread out while still preserving local neighborhoods.</a:t>
                </a:r>
              </a:p>
              <a:p>
                <a:pPr lvl="1"/>
                <a:r>
                  <a:rPr lang="en-US" dirty="0"/>
                  <a:t>“Probability of picking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𝑦</m:t>
                        </m:r>
                      </m:e>
                      <m:sub>
                        <m:r>
                          <a:rPr lang="ar-AE" i="1"/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as a neighbor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𝑦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under a heavy-tailed distribution centered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𝑦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”</a:t>
                </a:r>
                <a:endParaRPr dirty="0"/>
              </a:p>
            </p:txBody>
          </p:sp>
        </mc:Choice>
        <mc:Fallback>
          <p:sp>
            <p:nvSpPr>
              <p:cNvPr id="246" name="Step 2:  Construct the low-dimensional map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103" t="-1995" r="-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How t-SNE 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How t-SNE works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Note: the t-distribution with 1 df is the same as Cauchy distribu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Note: the t-distribution with 1 df is the same as Cauchy distribution</a:t>
            </a:r>
          </a:p>
          <a:p>
            <a:r>
              <a:t>The t-distribution has thicker tails than the normal distribution</a:t>
            </a:r>
          </a:p>
          <a:p>
            <a:pPr lvl="1"/>
            <a:r>
              <a:t>It is used to help alleviate over crowding (where points tend to cluster together in the center of the map) </a:t>
            </a:r>
          </a:p>
          <a:p>
            <a:pPr lvl="1"/>
            <a:r>
              <a:t>Allows distant clusters to be more separated</a:t>
            </a:r>
          </a:p>
          <a:p>
            <a:pPr lvl="1"/>
            <a:r>
              <a:t>Helps speed optimization</a:t>
            </a:r>
          </a:p>
        </p:txBody>
      </p:sp>
      <p:sp>
        <p:nvSpPr>
          <p:cNvPr id="250" name="Why t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Why t?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Step 3:  Optimize projection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Step 3:  Optimize projection</a:t>
                </a:r>
              </a:p>
              <a:p>
                <a:pPr lvl="1"/>
                <a:r>
                  <a:t>Minimize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t> using Kullback-Leibler divergence:</a:t>
                </a:r>
                <a:br/>
                <a:br/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𝐾𝐿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limLow>
                      <m:limLow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lim>
                    </m:limLow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m:rPr>
                        <m:sty m:val="p"/>
                      </m:rP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br/>
                <a:endParaRPr/>
              </a:p>
              <a:p>
                <a:pPr lvl="2"/>
                <a:r>
                  <a:t>(KL divergence is a measure of how two probability distribution differ from each other) </a:t>
                </a:r>
              </a:p>
              <a:p>
                <a:pPr lvl="1"/>
                <a:r>
                  <a:t>Iteratively adjust the positions in the low-dimensional space until the KL divergence is minimized using gradient descent</a:t>
                </a:r>
              </a:p>
            </p:txBody>
          </p:sp>
        </mc:Choice>
        <mc:Fallback>
          <p:sp>
            <p:nvSpPr>
              <p:cNvPr id="252" name="Step 3:  Optimize projection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3" name="How t-SNE 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How t-SNE works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“Perplexity” is a measure of the effective number of neighbor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“Perplexity” is a measure of the effective number of neighbors</a:t>
                </a:r>
              </a:p>
              <a:p>
                <a:r>
                  <a:t>It is proportionally related to the standard deviation of the normal distribution (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t>) used in step 1</a:t>
                </a:r>
              </a:p>
              <a:p>
                <a:r>
                  <a:t>Perplexity is a knob than controls the balance between persevering local and global structure</a:t>
                </a:r>
              </a:p>
              <a:p>
                <a:pPr lvl="2"/>
                <a:r>
                  <a:t>High perplexity places more emphasis on global structure </a:t>
                </a:r>
              </a:p>
              <a:p>
                <a:pPr lvl="2"/>
                <a:r>
                  <a:t>Low perplexity places more emphasis on local structure</a:t>
                </a:r>
              </a:p>
            </p:txBody>
          </p:sp>
        </mc:Choice>
        <mc:Fallback>
          <p:sp>
            <p:nvSpPr>
              <p:cNvPr id="255" name="“Perplexity” is a measure of the effective number of neighbor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Perplex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Perplexity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" y="3060584"/>
            <a:ext cx="6442987" cy="4760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03" y="2977526"/>
            <a:ext cx="6442987" cy="4926320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t-SNE"/>
          <p:cNvSpPr txBox="1"/>
          <p:nvPr/>
        </p:nvSpPr>
        <p:spPr>
          <a:xfrm>
            <a:off x="2718087" y="2441787"/>
            <a:ext cx="101930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t-SNE</a:t>
            </a:r>
          </a:p>
        </p:txBody>
      </p:sp>
      <p:sp>
        <p:nvSpPr>
          <p:cNvPr id="261" name="PCA"/>
          <p:cNvSpPr txBox="1"/>
          <p:nvPr/>
        </p:nvSpPr>
        <p:spPr>
          <a:xfrm>
            <a:off x="9474722" y="2441787"/>
            <a:ext cx="82123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PCA</a:t>
            </a:r>
          </a:p>
        </p:txBody>
      </p:sp>
      <p:sp>
        <p:nvSpPr>
          <p:cNvPr id="262" name="Example:  MNIST (just 0s and 1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Example:  MNIST (just 0s and 1s)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-SNE"/>
          <p:cNvSpPr txBox="1"/>
          <p:nvPr/>
        </p:nvSpPr>
        <p:spPr>
          <a:xfrm>
            <a:off x="2718087" y="2441787"/>
            <a:ext cx="101930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t-SNE</a:t>
            </a:r>
          </a:p>
        </p:txBody>
      </p:sp>
      <p:sp>
        <p:nvSpPr>
          <p:cNvPr id="265" name="PCA"/>
          <p:cNvSpPr txBox="1"/>
          <p:nvPr/>
        </p:nvSpPr>
        <p:spPr>
          <a:xfrm>
            <a:off x="9474722" y="2441787"/>
            <a:ext cx="82123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PCA</a:t>
            </a:r>
          </a:p>
        </p:txBody>
      </p:sp>
      <p:sp>
        <p:nvSpPr>
          <p:cNvPr id="266" name="Example:  MNI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Example:  MNIST</a:t>
            </a:r>
          </a:p>
        </p:txBody>
      </p:sp>
      <p:pic>
        <p:nvPicPr>
          <p:cNvPr id="267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62" y="3031055"/>
            <a:ext cx="6613310" cy="485132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334" y="3084628"/>
            <a:ext cx="6363865" cy="47441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-SNE"/>
          <p:cNvSpPr txBox="1"/>
          <p:nvPr/>
        </p:nvSpPr>
        <p:spPr>
          <a:xfrm>
            <a:off x="2718087" y="2441787"/>
            <a:ext cx="101930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t-SNE</a:t>
            </a:r>
          </a:p>
        </p:txBody>
      </p:sp>
      <p:sp>
        <p:nvSpPr>
          <p:cNvPr id="271" name="PCA"/>
          <p:cNvSpPr txBox="1"/>
          <p:nvPr/>
        </p:nvSpPr>
        <p:spPr>
          <a:xfrm>
            <a:off x="9474722" y="2441787"/>
            <a:ext cx="82123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PCA</a:t>
            </a:r>
          </a:p>
        </p:txBody>
      </p:sp>
      <p:sp>
        <p:nvSpPr>
          <p:cNvPr id="272" name="Example:  dunes and yardang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Example:  dunes and yardangs </a:t>
            </a:r>
          </a:p>
        </p:txBody>
      </p:sp>
      <p:pic>
        <p:nvPicPr>
          <p:cNvPr id="273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30" y="3156780"/>
            <a:ext cx="6499218" cy="51492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5" y="3200142"/>
            <a:ext cx="6499217" cy="50625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Affect of perplexity valu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Affect of perplexity value</a:t>
            </a:r>
          </a:p>
        </p:txBody>
      </p:sp>
      <p:pic>
        <p:nvPicPr>
          <p:cNvPr id="277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19" y="3277319"/>
            <a:ext cx="4084508" cy="416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578" y="3277319"/>
            <a:ext cx="4084508" cy="416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pasted-image.tiff" descr="pasted-image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060" y="3294382"/>
            <a:ext cx="4084508" cy="4129147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Perplexity = 5"/>
          <p:cNvSpPr txBox="1"/>
          <p:nvPr/>
        </p:nvSpPr>
        <p:spPr>
          <a:xfrm>
            <a:off x="1400874" y="2548933"/>
            <a:ext cx="231119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Perplexity = 5</a:t>
            </a:r>
          </a:p>
        </p:txBody>
      </p:sp>
      <p:sp>
        <p:nvSpPr>
          <p:cNvPr id="281" name="Perplexity = 30"/>
          <p:cNvSpPr txBox="1"/>
          <p:nvPr/>
        </p:nvSpPr>
        <p:spPr>
          <a:xfrm>
            <a:off x="5494716" y="2548933"/>
            <a:ext cx="251744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Perplexity = 30</a:t>
            </a:r>
          </a:p>
        </p:txBody>
      </p:sp>
      <p:sp>
        <p:nvSpPr>
          <p:cNvPr id="282" name="Perplexity = 50"/>
          <p:cNvSpPr txBox="1"/>
          <p:nvPr/>
        </p:nvSpPr>
        <p:spPr>
          <a:xfrm>
            <a:off x="9588558" y="2448248"/>
            <a:ext cx="251744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Perplexity = 50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low, especially for large datase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Slow, especially for large datasets </a:t>
            </a:r>
          </a:p>
          <a:p>
            <a:pPr lvl="1"/>
            <a:r>
              <a:t>Computational complexity grows quadratically with the number of data points</a:t>
            </a:r>
          </a:p>
          <a:p>
            <a:r>
              <a:t>Very dependent on the perplexity hyperparameter </a:t>
            </a:r>
          </a:p>
          <a:p>
            <a:pPr lvl="1"/>
            <a:r>
              <a:t>Rule of thumb is a value between 5 and 50</a:t>
            </a:r>
          </a:p>
          <a:p>
            <a:pPr lvl="1"/>
            <a:r>
              <a:t>Scikit-learn default is 30 </a:t>
            </a:r>
          </a:p>
        </p:txBody>
      </p:sp>
      <p:sp>
        <p:nvSpPr>
          <p:cNvPr id="285" name="Limitations of t-S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Limitations of t-SNE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U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UMAP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Uniform Manifold Approximation and Projection was first published in 2018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Uniform Manifold Approximation and Projection was first published in 2018</a:t>
            </a:r>
          </a:p>
          <a:p>
            <a:r>
              <a:t>It is gaining popularity due to its efficiency and effectiveness</a:t>
            </a:r>
          </a:p>
          <a:p>
            <a:r>
              <a:t>The mathematical framework is based on Riemannian geometry and algebraic topology</a:t>
            </a:r>
          </a:p>
        </p:txBody>
      </p:sp>
      <p:sp>
        <p:nvSpPr>
          <p:cNvPr id="290" name="U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UMAP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he Big Picture of UMAP is very similar to that of t-S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Big Picture of UMAP is very similar to that of t-SNE</a:t>
            </a:r>
          </a:p>
          <a:p>
            <a:pPr lvl="1"/>
            <a:r>
              <a:t>Compute similarities in high-dimensional space</a:t>
            </a:r>
          </a:p>
          <a:p>
            <a:pPr lvl="1"/>
            <a:r>
              <a:t>Compute similarities in low-dimensional space</a:t>
            </a:r>
          </a:p>
          <a:p>
            <a:pPr lvl="1"/>
            <a:r>
              <a:t>Minimize the difference between two sets of similarities </a:t>
            </a:r>
          </a:p>
          <a:p>
            <a:r>
              <a:t>But the computation details are different and turn out to general be more efficient </a:t>
            </a:r>
          </a:p>
        </p:txBody>
      </p:sp>
      <p:sp>
        <p:nvSpPr>
          <p:cNvPr id="293" name="U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UMAP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5" name="Step 1: Compute the high-dimensional similaritie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Step 1: Compute the high-dimensional similarities </a:t>
                </a:r>
              </a:p>
              <a:p>
                <a:pPr lvl="1"/>
                <a:r>
                  <a:t>Compute pairwise Euclidean distances</a:t>
                </a:r>
              </a:p>
              <a:p>
                <a:pPr lvl="1"/>
                <a:r>
                  <a:t>Find the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t> nearest neighbors* </a:t>
                </a:r>
              </a:p>
              <a:p>
                <a:pPr lvl="1"/>
                <a:r>
                  <a:t>Construct a graph representation with points as nodes and edges connecting neighbors and the edge weight is the similarity </a:t>
                </a:r>
              </a:p>
              <a:p>
                <a:pPr lvl="1"/>
                <a:r>
                  <a:t>Compute similarity based on an exponential decay function such that the similarities sum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lvl="1"/>
                <a:r>
                  <a:t>Symmetrize the weights using the fuzzy union operation (from topology and fuzzy set theory)</a:t>
                </a:r>
              </a:p>
            </p:txBody>
          </p:sp>
        </mc:Choice>
        <mc:Fallback>
          <p:sp>
            <p:nvSpPr>
              <p:cNvPr id="295" name="Step 1: Compute the high-dimensional similariti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" name="How UMAP 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How UMAP works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7" name="*  is a hyperparameter that determines the size of the local neighborhood"/>
              <p:cNvSpPr txBox="1"/>
              <p:nvPr/>
            </p:nvSpPr>
            <p:spPr>
              <a:xfrm>
                <a:off x="179670" y="9282907"/>
                <a:ext cx="8243632" cy="46202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>
                  <a:defRPr sz="1900"/>
                </a:pPr>
                <a:r>
                  <a:t>*</a:t>
                </a:r>
                <a14:m>
                  <m:oMath xmlns:m="http://schemas.openxmlformats.org/officeDocument/2006/math">
                    <m:r>
                      <a:rPr sz="2050" i="1">
                        <a:solidFill>
                          <a:srgbClr val="5E5E5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t> is a hyperparameter that determines the size of the local neighborhood</a:t>
                </a:r>
              </a:p>
            </p:txBody>
          </p:sp>
        </mc:Choice>
        <mc:Fallback>
          <p:sp>
            <p:nvSpPr>
              <p:cNvPr id="297" name="*  is a hyperparameter that determines the size of the local neighborhoo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70" y="9282907"/>
                <a:ext cx="8243632" cy="462021"/>
              </a:xfrm>
              <a:prstGeom prst="rect">
                <a:avLst/>
              </a:prstGeom>
              <a:blipFill>
                <a:blip r:embed="rId3"/>
                <a:stretch>
                  <a:fillRect l="-1183" b="-1578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Step 2: Compute the low-dimensional similaritie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dirty="0"/>
                  <a:t>Step 2: Compute the low-dimensional similarities </a:t>
                </a:r>
              </a:p>
              <a:p>
                <a:pPr lvl="1"/>
                <a:r>
                  <a:rPr lang="en-US" dirty="0"/>
                  <a:t>Initialize low-dimensional representation using spectral embedding</a:t>
                </a:r>
              </a:p>
              <a:p>
                <a:pPr lvl="1"/>
                <a:r>
                  <a:rPr lang="en-US" dirty="0"/>
                  <a:t>Similarities are computed using fuzzy sets such that the membership strength is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ar-AE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32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32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sSub>
                          <m:sSub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</m:oMath>
                </a14:m>
                <a:br>
                  <a:rPr lang="ar-AE" dirty="0"/>
                </a:br>
                <a:br>
                  <a:rPr lang="ar-AE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chosen by the algorithm</a:t>
                </a:r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𝑏</m:t>
                    </m:r>
                  </m:oMath>
                </a14:m>
                <a:r>
                  <a:rPr lang="en-US" dirty="0"/>
                  <a:t>→ how quickly similarity decays with distance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𝑎</m:t>
                    </m:r>
                  </m:oMath>
                </a14:m>
                <a:r>
                  <a:rPr lang="en-US" dirty="0"/>
                  <a:t>→ scaling factor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​  = </a:t>
                </a:r>
                <a:r>
                  <a:rPr lang="en-US" b="1" dirty="0"/>
                  <a:t>strength of connection (similarity)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𝑦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en-US" b="1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𝑦</m:t>
                        </m:r>
                      </m:e>
                      <m:sub>
                        <m:r>
                          <a:rPr lang="ar-AE" i="1"/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in the embedding</a:t>
                </a:r>
                <a:endParaRPr dirty="0"/>
              </a:p>
            </p:txBody>
          </p:sp>
        </mc:Choice>
        <mc:Fallback>
          <p:sp>
            <p:nvSpPr>
              <p:cNvPr id="299" name="Step 2: Compute the low-dimensional similariti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313" t="-1516" r="-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How UMAP 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How UMAP works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2" name="Step 3: Optimize low-dimensional representation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Step 3: Optimize low-dimensional representation </a:t>
                </a:r>
              </a:p>
              <a:p>
                <a:pPr lvl="1"/>
                <a:r>
                  <a:rPr lang="en-US" b="1" dirty="0"/>
                  <a:t>Sample pairs of points:</a:t>
                </a:r>
                <a:endParaRPr lang="en-US" dirty="0"/>
              </a:p>
              <a:p>
                <a:pPr lvl="2"/>
                <a:r>
                  <a:rPr lang="en-US" dirty="0"/>
                  <a:t>A point </a:t>
                </a:r>
                <a14:m>
                  <m:oMath xmlns:m="http://schemas.openxmlformats.org/officeDocument/2006/math">
                    <m:r>
                      <a:rPr lang="en-US" i="1"/>
                      <m:t>𝑖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 </a:t>
                </a:r>
                <a:r>
                  <a:rPr lang="en-US" b="1" dirty="0"/>
                  <a:t>neighbor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𝑗</m:t>
                    </m:r>
                  </m:oMath>
                </a14:m>
                <a:r>
                  <a:rPr lang="en-US" dirty="0"/>
                  <a:t>(connected in high-dimensional graph) </a:t>
                </a:r>
              </a:p>
              <a:p>
                <a:pPr lvl="2"/>
                <a:r>
                  <a:rPr lang="en-US" dirty="0"/>
                  <a:t>A </a:t>
                </a:r>
                <a:r>
                  <a:rPr lang="en-US" b="1" dirty="0"/>
                  <a:t>non-neighbor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Update positions to match similarities:</a:t>
                </a:r>
                <a:endParaRPr lang="en-US" dirty="0"/>
              </a:p>
              <a:p>
                <a:pPr lvl="2"/>
                <a:r>
                  <a:rPr lang="en-US" dirty="0"/>
                  <a:t>Pull neighbors </a:t>
                </a:r>
                <a:r>
                  <a:rPr lang="en-US" b="1" dirty="0"/>
                  <a:t>closer together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Push non-neighbors </a:t>
                </a:r>
                <a:r>
                  <a:rPr lang="en-US" b="1" dirty="0"/>
                  <a:t>further apart</a:t>
                </a:r>
              </a:p>
              <a:p>
                <a:pPr lvl="1"/>
                <a:r>
                  <a:rPr lang="en-US" b="1" dirty="0"/>
                  <a:t>Objective:</a:t>
                </a:r>
                <a:r>
                  <a:rPr lang="en-US" dirty="0"/>
                  <a:t> minimize cross-entropy loss to make neighbors similar and non-neighbors dissimilar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6350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func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dirty="0"/>
                  <a:t>Uses stochastic gradient descent to minimize cost</a:t>
                </a:r>
              </a:p>
            </p:txBody>
          </p:sp>
        </mc:Choice>
        <mc:Fallback>
          <p:sp>
            <p:nvSpPr>
              <p:cNvPr id="302" name="Step 3: Optimize low-dimensional representation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103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3" name="How UMAP 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How UMAP works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F15DE7E-3726-58BC-0C87-1782C5AE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Key Assumption: Data can be well-approximated in a lower-dimensional linear subspace…">
                <a:extLst>
                  <a:ext uri="{FF2B5EF4-FFF2-40B4-BE49-F238E27FC236}">
                    <a16:creationId xmlns:a16="http://schemas.microsoft.com/office/drawing/2014/main" id="{A6AD9951-4927-8D1F-B9CA-F4C9DA0791C3}"/>
                  </a:ext>
                </a:extLst>
              </p:cNvPr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216382" y="2048376"/>
                <a:ext cx="5440769" cy="76405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900" dirty="0"/>
                  <a:t>Goal: Preserve local similarities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900" dirty="0"/>
                  <a:t>Uses Gaussian kernel in high-dimensional space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900" dirty="0"/>
                  <a:t>Uses adaptive bandwidth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sz="19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900" dirty="0"/>
                  <a:t>, </a:t>
                </a:r>
                <a:r>
                  <a:rPr lang="en-US" sz="1900" dirty="0"/>
                  <a:t>via perplexity)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900" dirty="0"/>
                  <a:t>Low-dimensional similarity: t-distribution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sz="19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ar-AE" sz="1900" b="0" i="0" smtClean="0">
                        <a:latin typeface="Cambria Math" panose="02040503050406030204" pitchFamily="18" charset="0"/>
                      </a:rPr>
                      <m:t>∝</m:t>
                    </m:r>
                    <m:d>
                      <m:dPr>
                        <m:endChr m:val=""/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900" b="0" i="0" smtClean="0">
                            <a:latin typeface="Cambria Math" panose="02040503050406030204" pitchFamily="18" charset="0"/>
                          </a:rPr>
                          <m:t>+∥</m:t>
                        </m:r>
                        <m:sSub>
                          <m:sSubPr>
                            <m:ctrlPr>
                              <a:rPr lang="ar-AE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9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19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ar-AE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900" b="0" i="0" smtClean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 sz="19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ar-AE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9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sz="19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19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ar-AE" sz="19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900" dirty="0"/>
                  <a:t>KL divergence loss: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𝐾𝐿</m:t>
                    </m:r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ar-AE" sz="1900" b="0" i="0" smtClean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sz="19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ar-AE" sz="19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900" dirty="0"/>
                  <a:t>Strong focus on local structure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900" dirty="0"/>
                  <a:t>Often separates clusters well, but distorts global distances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900" dirty="0"/>
                  <a:t>Perplexity controls neighborhood size Typically slower, less scalable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900" dirty="0"/>
                  <a:t>Initialization often random</a:t>
                </a:r>
              </a:p>
            </p:txBody>
          </p:sp>
        </mc:Choice>
        <mc:Fallback>
          <p:sp>
            <p:nvSpPr>
              <p:cNvPr id="162" name="Key Assumption: Data can be well-approximated in a lower-dimensional linear subspace…">
                <a:extLst>
                  <a:ext uri="{FF2B5EF4-FFF2-40B4-BE49-F238E27FC236}">
                    <a16:creationId xmlns:a16="http://schemas.microsoft.com/office/drawing/2014/main" id="{A6AD9951-4927-8D1F-B9CA-F4C9DA0791C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216382" y="2048376"/>
                <a:ext cx="5440769" cy="7640537"/>
              </a:xfrm>
              <a:prstGeom prst="rect">
                <a:avLst/>
              </a:prstGeom>
              <a:blipFill>
                <a:blip r:embed="rId2"/>
                <a:stretch>
                  <a:fillRect l="-1008" t="-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Projection">
            <a:extLst>
              <a:ext uri="{FF2B5EF4-FFF2-40B4-BE49-F238E27FC236}">
                <a16:creationId xmlns:a16="http://schemas.microsoft.com/office/drawing/2014/main" id="{E40695A3-CA38-99FB-5080-42B89E0E9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605" y="439092"/>
            <a:ext cx="3603179" cy="1016001"/>
          </a:xfrm>
          <a:prstGeom prst="rect">
            <a:avLst/>
          </a:prstGeom>
        </p:spPr>
        <p:txBody>
          <a:bodyPr/>
          <a:lstStyle>
            <a:lvl1pPr defTabSz="1525858">
              <a:defRPr sz="5280" spc="-105">
                <a:solidFill>
                  <a:srgbClr val="005493"/>
                </a:solidFill>
              </a:defRPr>
            </a:lvl1pPr>
          </a:lstStyle>
          <a:p>
            <a:r>
              <a:rPr lang="en-US" dirty="0"/>
              <a:t>T-SNE</a:t>
            </a:r>
            <a:r>
              <a:rPr dirty="0"/>
              <a:t>            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Key Assumption: Data lies on a lower-dimensional nonlinear manifold…">
                <a:extLst>
                  <a:ext uri="{FF2B5EF4-FFF2-40B4-BE49-F238E27FC236}">
                    <a16:creationId xmlns:a16="http://schemas.microsoft.com/office/drawing/2014/main" id="{2F90894D-1428-AEF3-2373-A8925E3AEEFD}"/>
                  </a:ext>
                </a:extLst>
              </p:cNvPr>
              <p:cNvSpPr txBox="1"/>
              <p:nvPr/>
            </p:nvSpPr>
            <p:spPr>
              <a:xfrm>
                <a:off x="6821058" y="2048376"/>
                <a:ext cx="5440768" cy="764053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 fontScale="92500"/>
              </a:bodyPr>
              <a:lstStyle/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000000"/>
                    </a:solidFill>
                  </a:rPr>
                  <a:t>Goal: Preserve local structure + global structure </a:t>
                </a: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000000"/>
                    </a:solidFill>
                  </a:rPr>
                  <a:t>Uses k-nearest neighbor graph </a:t>
                </a: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000000"/>
                    </a:solidFill>
                  </a:rPr>
                  <a:t>Uses fixed neighborhood size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100" dirty="0">
                    <a:solidFill>
                      <a:srgbClr val="000000"/>
                    </a:solidFill>
                  </a:rPr>
                  <a:t> neighbors) </a:t>
                </a: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000000"/>
                    </a:solidFill>
                  </a:rPr>
                  <a:t>Low-dimensional similarity: smooth heavy-tailed </a:t>
                </a: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10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sz="2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 sz="2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ar-AE" sz="21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100">
                            <a:solidFill>
                              <a:srgbClr val="000000"/>
                            </a:solidFill>
                          </a:rPr>
                        </m:ctrlPr>
                      </m:fPr>
                      <m:num>
                        <m:r>
                          <a:rPr lang="ar-AE" sz="21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1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1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ar-AE" sz="21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ar-AE" sz="2100" b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sz="2100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ar-AE" sz="21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ar-AE" sz="21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ar-AE" sz="21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100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ar-AE" sz="21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ar-AE" sz="21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sSup>
                          <m:sSupPr>
                            <m:ctrlPr>
                              <a:rPr lang="ar-AE" sz="2100">
                                <a:solidFill>
                                  <a:srgbClr val="000000"/>
                                </a:solidFill>
                              </a:rPr>
                            </m:ctrlPr>
                          </m:sSupPr>
                          <m:e>
                            <m:r>
                              <a:rPr lang="ar-AE" sz="2100" b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 sz="2100" b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ar-AE" sz="21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</m:oMath>
                </a14:m>
                <a:endParaRPr lang="ar-AE" sz="2100" dirty="0">
                  <a:solidFill>
                    <a:srgbClr val="000000"/>
                  </a:solidFill>
                </a:endParaRP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000000"/>
                    </a:solidFill>
                  </a:rPr>
                  <a:t>Cross-entropy loss between high- and low-dimensional similarities </a:t>
                </a: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000000"/>
                    </a:solidFill>
                  </a:rPr>
                  <a:t>Balances local and global structure </a:t>
                </a: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000000"/>
                    </a:solidFill>
                  </a:rPr>
                  <a:t>Better global layout and continuity </a:t>
                </a: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 err="1">
                    <a:solidFill>
                      <a:srgbClr val="000000"/>
                    </a:solidFill>
                  </a:rPr>
                  <a:t>n_neighbors</a:t>
                </a:r>
                <a:r>
                  <a:rPr lang="en-US" sz="2100" dirty="0">
                    <a:solidFill>
                      <a:srgbClr val="000000"/>
                    </a:solidFill>
                  </a:rPr>
                  <a:t> controls neighborhood size (fixed) </a:t>
                </a: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000000"/>
                    </a:solidFill>
                  </a:rPr>
                  <a:t>Typically faster, more scalable </a:t>
                </a:r>
              </a:p>
              <a:p>
                <a:pPr marL="381000" indent="-381000">
                  <a:lnSpc>
                    <a:spcPct val="80000"/>
                  </a:lnSpc>
                  <a:spcBef>
                    <a:spcPts val="3200"/>
                  </a:spcBef>
                  <a:buClr>
                    <a:srgbClr val="8DA0CB"/>
                  </a:buClr>
                  <a:buSzPct val="78000"/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000000"/>
                    </a:solidFill>
                  </a:rPr>
                  <a:t>Initialization often spectral embedding</a:t>
                </a:r>
              </a:p>
            </p:txBody>
          </p:sp>
        </mc:Choice>
        <mc:Fallback>
          <p:sp>
            <p:nvSpPr>
              <p:cNvPr id="164" name="Key Assumption: Data lies on a lower-dimensional nonlinear manifold…">
                <a:extLst>
                  <a:ext uri="{FF2B5EF4-FFF2-40B4-BE49-F238E27FC236}">
                    <a16:creationId xmlns:a16="http://schemas.microsoft.com/office/drawing/2014/main" id="{2F90894D-1428-AEF3-2373-A8925E3AE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058" y="2048376"/>
                <a:ext cx="5440768" cy="7640537"/>
              </a:xfrm>
              <a:prstGeom prst="rect">
                <a:avLst/>
              </a:prstGeom>
              <a:blipFill>
                <a:blip r:embed="rId3"/>
                <a:stretch>
                  <a:fillRect l="-1121" t="-95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Manifold">
            <a:extLst>
              <a:ext uri="{FF2B5EF4-FFF2-40B4-BE49-F238E27FC236}">
                <a16:creationId xmlns:a16="http://schemas.microsoft.com/office/drawing/2014/main" id="{3ABF65EB-A2DA-A174-3156-DDCEDD5A9C02}"/>
              </a:ext>
            </a:extLst>
          </p:cNvPr>
          <p:cNvSpPr txBox="1"/>
          <p:nvPr/>
        </p:nvSpPr>
        <p:spPr>
          <a:xfrm>
            <a:off x="7235281" y="439092"/>
            <a:ext cx="360318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1525858">
              <a:lnSpc>
                <a:spcPct val="80000"/>
              </a:lnSpc>
              <a:defRPr sz="5280" spc="-105">
                <a:solidFill>
                  <a:srgbClr val="4F8F00"/>
                </a:solidFill>
                <a:latin typeface="+mn-lt"/>
                <a:ea typeface="+mn-ea"/>
                <a:cs typeface="+mn-cs"/>
                <a:sym typeface="Avenir Next Demi Bold"/>
              </a:defRPr>
            </a:lvl1pPr>
          </a:lstStyle>
          <a:p>
            <a:r>
              <a:rPr lang="en-US" dirty="0"/>
              <a:t>UMAP</a:t>
            </a:r>
            <a:r>
              <a:rPr dirty="0"/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56846623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Faster, especially for large datase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Faster, especially for large datasets</a:t>
            </a:r>
          </a:p>
          <a:p>
            <a:r>
              <a:t>Preserves more global structure </a:t>
            </a:r>
          </a:p>
          <a:p>
            <a:r>
              <a:t>Easier to parallelize </a:t>
            </a:r>
          </a:p>
        </p:txBody>
      </p:sp>
      <p:sp>
        <p:nvSpPr>
          <p:cNvPr id="306" name="Advantages of UMAP (over tSNE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Advantages of UMAP (over tSNE)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MNIST: PCA vs tSNE vs U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MNIST: PCA vs tSNE vs UMAP</a:t>
            </a:r>
          </a:p>
        </p:txBody>
      </p:sp>
      <p:pic>
        <p:nvPicPr>
          <p:cNvPr id="309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2277" y="2203687"/>
            <a:ext cx="4977899" cy="3294668"/>
          </a:xfrm>
          <a:prstGeom prst="rect">
            <a:avLst/>
          </a:prstGeom>
          <a:ln w="12700">
            <a:miter lim="400000"/>
          </a:ln>
        </p:spPr>
      </p:pic>
      <p:sp>
        <p:nvSpPr>
          <p:cNvPr id="310" name="Time:…"/>
          <p:cNvSpPr txBox="1"/>
          <p:nvPr/>
        </p:nvSpPr>
        <p:spPr>
          <a:xfrm>
            <a:off x="228968" y="5673345"/>
            <a:ext cx="1658761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 b="1">
                <a:solidFill>
                  <a:srgbClr val="941751"/>
                </a:solidFill>
              </a:defRPr>
            </a:pPr>
            <a:r>
              <a:t>Time: </a:t>
            </a:r>
          </a:p>
          <a:p>
            <a:pPr>
              <a:defRPr sz="2100" b="1">
                <a:solidFill>
                  <a:srgbClr val="941751"/>
                </a:solidFill>
              </a:defRPr>
            </a:pPr>
            <a:r>
              <a:t>1.2 seconds</a:t>
            </a:r>
          </a:p>
        </p:txBody>
      </p:sp>
      <p:sp>
        <p:nvSpPr>
          <p:cNvPr id="311" name="Note: First two PC only explain 17% of total variance"/>
          <p:cNvSpPr txBox="1"/>
          <p:nvPr/>
        </p:nvSpPr>
        <p:spPr>
          <a:xfrm>
            <a:off x="214365" y="6686537"/>
            <a:ext cx="410461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 i="1">
                <a:solidFill>
                  <a:srgbClr val="000000"/>
                </a:solidFill>
              </a:defRPr>
            </a:lvl1pPr>
          </a:lstStyle>
          <a:p>
            <a:r>
              <a:t>Note: First two PC only explain 17% of total variance</a:t>
            </a:r>
          </a:p>
        </p:txBody>
      </p:sp>
      <p:sp>
        <p:nvSpPr>
          <p:cNvPr id="312" name="Time:…"/>
          <p:cNvSpPr txBox="1"/>
          <p:nvPr/>
        </p:nvSpPr>
        <p:spPr>
          <a:xfrm>
            <a:off x="9092141" y="5673345"/>
            <a:ext cx="1831049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 b="1">
                <a:solidFill>
                  <a:srgbClr val="005493"/>
                </a:solidFill>
              </a:defRPr>
            </a:pPr>
            <a:r>
              <a:t>Time: </a:t>
            </a:r>
          </a:p>
          <a:p>
            <a:pPr>
              <a:defRPr sz="2100" b="1">
                <a:solidFill>
                  <a:srgbClr val="005493"/>
                </a:solidFill>
              </a:defRPr>
            </a:pPr>
            <a:r>
              <a:t>28.7 seconds</a:t>
            </a:r>
          </a:p>
        </p:txBody>
      </p:sp>
      <p:sp>
        <p:nvSpPr>
          <p:cNvPr id="313" name="Time:…"/>
          <p:cNvSpPr txBox="1"/>
          <p:nvPr/>
        </p:nvSpPr>
        <p:spPr>
          <a:xfrm>
            <a:off x="4655663" y="5489195"/>
            <a:ext cx="200333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 b="1">
                <a:solidFill>
                  <a:srgbClr val="4F8F00"/>
                </a:solidFill>
              </a:defRPr>
            </a:pPr>
            <a:r>
              <a:t>Time: </a:t>
            </a:r>
          </a:p>
          <a:p>
            <a:pPr>
              <a:defRPr sz="2100" b="1">
                <a:solidFill>
                  <a:srgbClr val="4F8F00"/>
                </a:solidFill>
              </a:defRPr>
            </a:pPr>
            <a:r>
              <a:t>198.3 seconds</a:t>
            </a:r>
          </a:p>
          <a:p>
            <a:pPr>
              <a:defRPr sz="2100" b="1">
                <a:solidFill>
                  <a:srgbClr val="4F8F00"/>
                </a:solidFill>
              </a:defRPr>
            </a:pPr>
            <a:r>
              <a:t>(~3.3 minutes)</a:t>
            </a:r>
          </a:p>
        </p:txBody>
      </p:sp>
      <p:pic>
        <p:nvPicPr>
          <p:cNvPr id="314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018" y="2207349"/>
            <a:ext cx="5179384" cy="33319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5" name="pasted-image.tiff" descr="pasted-image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162" y="2207349"/>
            <a:ext cx="5078267" cy="3287343"/>
          </a:xfrm>
          <a:prstGeom prst="rect">
            <a:avLst/>
          </a:prstGeom>
          <a:ln w="12700">
            <a:miter lim="400000"/>
          </a:ln>
        </p:spPr>
      </p:pic>
      <p:pic>
        <p:nvPicPr>
          <p:cNvPr id="316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9030" y="5782411"/>
            <a:ext cx="1075732" cy="3765059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PCA"/>
          <p:cNvSpPr txBox="1"/>
          <p:nvPr/>
        </p:nvSpPr>
        <p:spPr>
          <a:xfrm>
            <a:off x="1715593" y="1710266"/>
            <a:ext cx="84434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t>PCA</a:t>
            </a:r>
          </a:p>
        </p:txBody>
      </p:sp>
      <p:sp>
        <p:nvSpPr>
          <p:cNvPr id="318" name="UMAP"/>
          <p:cNvSpPr txBox="1"/>
          <p:nvPr/>
        </p:nvSpPr>
        <p:spPr>
          <a:xfrm>
            <a:off x="10663122" y="1710266"/>
            <a:ext cx="120314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t>UMAP</a:t>
            </a:r>
          </a:p>
        </p:txBody>
      </p:sp>
      <p:sp>
        <p:nvSpPr>
          <p:cNvPr id="319" name="t-SNE"/>
          <p:cNvSpPr txBox="1"/>
          <p:nvPr/>
        </p:nvSpPr>
        <p:spPr>
          <a:xfrm>
            <a:off x="6080226" y="1710266"/>
            <a:ext cx="106517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t>t-SNE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venir Next Regular"/>
        <a:ea typeface="Avenir Next Regular"/>
        <a:cs typeface="Avenir Next Regular"/>
      </a:majorFont>
      <a:minorFont>
        <a:latin typeface="Avenir Next Demi Bold"/>
        <a:ea typeface="Avenir Next Demi Bold"/>
        <a:cs typeface="Avenir Next Demi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venir Next Regular"/>
        <a:ea typeface="Avenir Next Regular"/>
        <a:cs typeface="Avenir Next Regular"/>
      </a:majorFont>
      <a:minorFont>
        <a:latin typeface="Avenir Next Demi Bold"/>
        <a:ea typeface="Avenir Next Demi Bold"/>
        <a:cs typeface="Avenir Next Demi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2012</Words>
  <Application>Microsoft Office PowerPoint</Application>
  <PresentationFormat>Custom</PresentationFormat>
  <Paragraphs>265</Paragraphs>
  <Slides>46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Avenir Next Demi Bold</vt:lpstr>
      <vt:lpstr>Avenir Next Medium</vt:lpstr>
      <vt:lpstr>Avenir Next Regular</vt:lpstr>
      <vt:lpstr>Cambria Math</vt:lpstr>
      <vt:lpstr>Courier</vt:lpstr>
      <vt:lpstr>Helvetica Neue</vt:lpstr>
      <vt:lpstr>Helvetica Neue Medium</vt:lpstr>
      <vt:lpstr>21_BasicWhite</vt:lpstr>
      <vt:lpstr>Dimension Reduction</vt:lpstr>
      <vt:lpstr>Curse of Dimensionality</vt:lpstr>
      <vt:lpstr>What is Dimension Reduction</vt:lpstr>
      <vt:lpstr>Projection                </vt:lpstr>
      <vt:lpstr>Principal Components Analysis (PCA)</vt:lpstr>
      <vt:lpstr>PCA</vt:lpstr>
      <vt:lpstr>Basic Idea of PCA</vt:lpstr>
      <vt:lpstr>PCA in dimension reduction</vt:lpstr>
      <vt:lpstr>Review of eigenvalues and vectors</vt:lpstr>
      <vt:lpstr>Computing Principal Components</vt:lpstr>
      <vt:lpstr>PCA with eigenvalues and vectors</vt:lpstr>
      <vt:lpstr>Projection of original data</vt:lpstr>
      <vt:lpstr>PCA with eigenvalues and vectors</vt:lpstr>
      <vt:lpstr>Example:  MNIST (just 0s and 1s)</vt:lpstr>
      <vt:lpstr>Example:  MNIST (just 0s and 1s)</vt:lpstr>
      <vt:lpstr>Example:  MNIST (just 0s and 1s)</vt:lpstr>
      <vt:lpstr>Projecting data to the lower space</vt:lpstr>
      <vt:lpstr>Data compression example</vt:lpstr>
      <vt:lpstr>Example:  MNIST (just 0s and 1s)</vt:lpstr>
      <vt:lpstr>Other Uses of PCA</vt:lpstr>
      <vt:lpstr>Limitations of PCA</vt:lpstr>
      <vt:lpstr>Manifold Learning</vt:lpstr>
      <vt:lpstr>Manifold Learning</vt:lpstr>
      <vt:lpstr>t-SNE</vt:lpstr>
      <vt:lpstr>Introduction to t-SNE</vt:lpstr>
      <vt:lpstr>PowerPoint Presentation</vt:lpstr>
      <vt:lpstr>Basic idea of t-SNE</vt:lpstr>
      <vt:lpstr>How t-SNE works</vt:lpstr>
      <vt:lpstr>How t-SNE works</vt:lpstr>
      <vt:lpstr>Why t?</vt:lpstr>
      <vt:lpstr>How t-SNE works</vt:lpstr>
      <vt:lpstr>Perplexity</vt:lpstr>
      <vt:lpstr>Example:  MNIST (just 0s and 1s)</vt:lpstr>
      <vt:lpstr>Example:  MNIST</vt:lpstr>
      <vt:lpstr>Example:  dunes and yardangs </vt:lpstr>
      <vt:lpstr>Affect of perplexity value</vt:lpstr>
      <vt:lpstr>Limitations of t-SNE</vt:lpstr>
      <vt:lpstr>UMAP</vt:lpstr>
      <vt:lpstr>UMAP</vt:lpstr>
      <vt:lpstr>UMAP</vt:lpstr>
      <vt:lpstr>How UMAP works</vt:lpstr>
      <vt:lpstr>How UMAP works</vt:lpstr>
      <vt:lpstr>How UMAP works</vt:lpstr>
      <vt:lpstr>T-SNE                </vt:lpstr>
      <vt:lpstr>Advantages of UMAP (over tSNE)</vt:lpstr>
      <vt:lpstr>MNIST: PCA vs tSNE vs UMAP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Jake Rhodes</dc:creator>
  <cp:lastModifiedBy>Jake Rhodes</cp:lastModifiedBy>
  <cp:revision>6</cp:revision>
  <dcterms:modified xsi:type="dcterms:W3CDTF">2026-03-25T13:06:44Z</dcterms:modified>
</cp:coreProperties>
</file>