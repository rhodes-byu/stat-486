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6" r:id="rId33"/>
    <p:sldId id="287" r:id="rId34"/>
  </p:sldIdLst>
  <p:sldSz cx="13004800" cy="9753600"/>
  <p:notesSz cx="6858000" cy="9144000"/>
  <p:defaultTextStyle>
    <a:defPPr>
      <a:defRPr lang="en-US"/>
    </a:defPPr>
    <a:lvl1pPr algn="l" defTabSz="1733550" rtl="0" eaLnBrk="0" fontAlgn="base" hangingPunct="0">
      <a:spcBef>
        <a:spcPct val="0"/>
      </a:spcBef>
      <a:spcAft>
        <a:spcPct val="0"/>
      </a:spcAft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1pPr>
    <a:lvl2pPr indent="457200" algn="l" defTabSz="1733550" rtl="0" eaLnBrk="0" fontAlgn="base" hangingPunct="0">
      <a:spcBef>
        <a:spcPct val="0"/>
      </a:spcBef>
      <a:spcAft>
        <a:spcPct val="0"/>
      </a:spcAft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2pPr>
    <a:lvl3pPr indent="914400" algn="l" defTabSz="1733550" rtl="0" eaLnBrk="0" fontAlgn="base" hangingPunct="0">
      <a:spcBef>
        <a:spcPct val="0"/>
      </a:spcBef>
      <a:spcAft>
        <a:spcPct val="0"/>
      </a:spcAft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3pPr>
    <a:lvl4pPr indent="1371600" algn="l" defTabSz="1733550" rtl="0" eaLnBrk="0" fontAlgn="base" hangingPunct="0">
      <a:spcBef>
        <a:spcPct val="0"/>
      </a:spcBef>
      <a:spcAft>
        <a:spcPct val="0"/>
      </a:spcAft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4pPr>
    <a:lvl5pPr indent="1828800" algn="l" defTabSz="1733550" rtl="0" eaLnBrk="0" fontAlgn="base" hangingPunct="0">
      <a:spcBef>
        <a:spcPct val="0"/>
      </a:spcBef>
      <a:spcAft>
        <a:spcPct val="0"/>
      </a:spcAft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5pPr>
    <a:lvl6pPr marL="2286000" algn="l" defTabSz="914400" rtl="0" eaLnBrk="1" latinLnBrk="0" hangingPunct="1"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6pPr>
    <a:lvl7pPr marL="2743200" algn="l" defTabSz="914400" rtl="0" eaLnBrk="1" latinLnBrk="0" hangingPunct="1"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7pPr>
    <a:lvl8pPr marL="3200400" algn="l" defTabSz="914400" rtl="0" eaLnBrk="1" latinLnBrk="0" hangingPunct="1"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8pPr>
    <a:lvl9pPr marL="3657600" algn="l" defTabSz="914400" rtl="0" eaLnBrk="1" latinLnBrk="0" hangingPunct="1">
      <a:defRPr sz="2800" kern="1200">
        <a:solidFill>
          <a:srgbClr val="5E5E5E"/>
        </a:solidFill>
        <a:latin typeface="Avenir Next Regular"/>
        <a:ea typeface="Avenir Next Regular"/>
        <a:cs typeface="Avenir Next Regular"/>
        <a:sym typeface="Avenir Next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8" autoAdjust="0"/>
  </p:normalViewPr>
  <p:slideViewPr>
    <p:cSldViewPr snapToGrid="0">
      <p:cViewPr>
        <p:scale>
          <a:sx n="75" d="100"/>
          <a:sy n="75" d="100"/>
        </p:scale>
        <p:origin x="1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151">
            <a:extLst>
              <a:ext uri="{FF2B5EF4-FFF2-40B4-BE49-F238E27FC236}">
                <a16:creationId xmlns:a16="http://schemas.microsoft.com/office/drawing/2014/main" id="{3574283A-9612-1FC9-C325-701E36EF69B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Shape 152">
            <a:extLst>
              <a:ext uri="{FF2B5EF4-FFF2-40B4-BE49-F238E27FC236}">
                <a16:creationId xmlns:a16="http://schemas.microsoft.com/office/drawing/2014/main" id="{290E7D3E-5159-3BB5-8733-24DE85EAFA59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1pPr>
    <a:lvl2pPr marL="742950" indent="-28575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2pPr>
    <a:lvl3pPr marL="11430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3pPr>
    <a:lvl4pPr marL="16002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4pPr>
    <a:lvl5pPr marL="20574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This plot shows </a:t>
            </a:r>
            <a:r>
              <a:rPr lang="en-US" sz="2200" b="0" i="1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global feature importance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using the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mean absolute SHAP value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across all samples.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Each bar answers the question: </a:t>
            </a:r>
            <a:r>
              <a:rPr lang="en-US" sz="2200" b="0" i="1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On average, how much does this feature change the model’s predictions?</a:t>
            </a:r>
            <a:endParaRPr lang="en-US" sz="2200" b="0" i="0" dirty="0">
              <a:solidFill>
                <a:schemeClr val="tx1"/>
              </a:solidFill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The direction of the effect is ignored here — we only care about magnitude. A larger bar means the model relies on that feature more often or more strongly.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It’s important to emphasize that this is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not causal importance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 It tells us how much the model uses a feature, not whether the feature causes the outcome.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96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This plot shows </a:t>
            </a:r>
            <a:r>
              <a:rPr lang="en-US" sz="2200" b="0" i="1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how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a feature affects predictions, not just how important it is.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The x‑axis is the actual feature value, and the y‑axis is the SHAP value — how much that feature pushes the prediction up or down.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Positive SHAP values increase the prediction; negative values decrease it.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Vertical spread indicates nonlinear or context‑dependent effects, meaning the same feature value can have different impacts depending on other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0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beeswarm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plot combines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global importance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direction of influence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Features are sorted by overall importance from top to bottom. Each dot represents one data point.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The x‑axis shows the SHAP value, and color represents the feature value.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Wide horizontal spread indicates a highly influential feature.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If high and low feature values appear on both sides, that suggests interactions or nonlinear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94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This plot explains </a:t>
            </a:r>
            <a:r>
              <a:rPr lang="en-US" sz="2200" b="0" i="1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one specific prediction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We start from the baseline prediction, which is the model’s average output.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Each bar shows how a feature pushes the prediction up or down for this instance.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Red bars increase the prediction; blue bars decrease it.</a:t>
            </a:r>
          </a:p>
          <a:p>
            <a:pPr fontAlgn="t"/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All contributions sum exactly to the final prediction, illustrating the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efficiency property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of SHAP.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4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>
            <a:extLst>
              <a:ext uri="{FF2B5EF4-FFF2-40B4-BE49-F238E27FC236}">
                <a16:creationId xmlns:a16="http://schemas.microsoft.com/office/drawing/2014/main" id="{B21DB221-69F6-C493-5624-499209F00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75" y="5838825"/>
            <a:ext cx="12820650" cy="0"/>
          </a:xfrm>
          <a:prstGeom prst="line">
            <a:avLst/>
          </a:prstGeom>
          <a:noFill/>
          <a:ln w="3429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9B18C3A6-8BCD-DF55-1337-3CCD9865F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75" y="2011363"/>
            <a:ext cx="12820650" cy="0"/>
          </a:xfrm>
          <a:prstGeom prst="line">
            <a:avLst/>
          </a:prstGeom>
          <a:noFill/>
          <a:ln w="635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12" name="Presentation Title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b="1" spc="-164">
                <a:latin typeface="+mj-lt"/>
                <a:ea typeface="+mj-ea"/>
                <a:cs typeface="+mj-cs"/>
                <a:sym typeface="Avenir Next Regular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A9BDC2C-26B4-437B-9457-E5E639DB931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6353175" y="9220200"/>
            <a:ext cx="298450" cy="287338"/>
          </a:xfrm>
        </p:spPr>
        <p:txBody>
          <a:bodyPr/>
          <a:lstStyle>
            <a:lvl1pPr>
              <a:defRPr/>
            </a:lvl1pPr>
          </a:lstStyle>
          <a:p>
            <a:fld id="{CE977EC7-8784-4422-8795-41A7302DBB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54662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vocados and limes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23" name="Presentation Title"/>
          <p:cNvSpPr txBox="1">
            <a:spLocks noGrp="1"/>
          </p:cNvSpPr>
          <p:nvPr>
            <p:ph type="title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b="1" spc="-164">
                <a:latin typeface="+mj-lt"/>
                <a:ea typeface="+mj-ea"/>
                <a:cs typeface="+mj-cs"/>
                <a:sym typeface="Avenir Next Regular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5" name="Author and Date"/>
          <p:cNvSpPr txBox="1">
            <a:spLocks noGrp="1"/>
          </p:cNvSpPr>
          <p:nvPr>
            <p:ph type="body" sz="quarter" idx="22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6D4DCEE-C3E2-FDCB-776F-BD8C1246F52C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96BA0C8F-9797-4454-8FAE-703DAF77F6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9024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owl with salmon cakes, salad, and hummus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5" name="Slide Title"/>
          <p:cNvSpPr txBox="1">
            <a:spLocks noGrp="1"/>
          </p:cNvSpPr>
          <p:nvPr>
            <p:ph type="title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0D2A226-4E17-54C4-9000-D3FE9D3F817E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B7988FBD-AF0C-4D16-83FC-5C944EF2C3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73358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97501D2-FB34-EF83-5113-887F9DAB0864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BF8AB-F4E7-4CA4-B274-00F722B11A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46502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61" name="Slide Title"/>
          <p:cNvSpPr txBox="1">
            <a:spLocks noGrp="1"/>
          </p:cNvSpPr>
          <p:nvPr>
            <p:ph type="title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16579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3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>
            <a:lvl1pPr>
              <a:buClrTx/>
              <a:buSzPct val="123000"/>
              <a:buChar char="•"/>
            </a:lvl1pPr>
            <a:lvl2pPr marL="762000">
              <a:buClrTx/>
            </a:lvl2pPr>
            <a:lvl3pPr marL="1143000">
              <a:buClrTx/>
              <a:buChar char="•"/>
            </a:lvl3pPr>
            <a:lvl4pPr marL="1524000">
              <a:buClrTx/>
              <a:buChar char="•"/>
            </a:lvl4pPr>
            <a:lvl5pPr marL="1905000">
              <a:buSzPct val="12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51ED5C-4E92-4292-5BC2-6EA49A5E56CA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D15143BC-258C-46AD-9DDC-21939B61BB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38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>
            <a:extLst>
              <a:ext uri="{FF2B5EF4-FFF2-40B4-BE49-F238E27FC236}">
                <a16:creationId xmlns:a16="http://schemas.microsoft.com/office/drawing/2014/main" id="{34FE5643-0895-6936-809B-47D0652F7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" y="3009900"/>
            <a:ext cx="12979400" cy="0"/>
          </a:xfrm>
          <a:prstGeom prst="line">
            <a:avLst/>
          </a:prstGeom>
          <a:noFill/>
          <a:ln w="254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2CF3EC2C-E44A-3013-58F5-C70D1E09A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" y="6424613"/>
            <a:ext cx="12979400" cy="0"/>
          </a:xfrm>
          <a:prstGeom prst="line">
            <a:avLst/>
          </a:prstGeom>
          <a:noFill/>
          <a:ln w="254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71" name="Section Title"/>
          <p:cNvSpPr txBox="1">
            <a:spLocks noGrp="1"/>
          </p:cNvSpPr>
          <p:nvPr>
            <p:ph type="title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8AB0858-A9CE-B1A9-EF31-64684A8D918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9DFF50-3A6B-4379-8E68-900E7A45AA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41322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50DF2E9-531A-D136-D35A-9DC36746897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15D5BF-22B5-4093-9D40-7964DD0FB7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62055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genda Title"/>
          <p:cNvSpPr txBox="1">
            <a:spLocks noGrp="1"/>
          </p:cNvSpPr>
          <p:nvPr>
            <p:ph type="title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16579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3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Body Level One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A18387F-635B-2376-E830-33F33F784DA8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C457A9A7-9693-445F-A7B2-8E2A9530B3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1778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>
            <a:extLst>
              <a:ext uri="{FF2B5EF4-FFF2-40B4-BE49-F238E27FC236}">
                <a16:creationId xmlns:a16="http://schemas.microsoft.com/office/drawing/2014/main" id="{2CD65A1C-23FF-9C8E-24F3-754550BEF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" y="3009900"/>
            <a:ext cx="12979400" cy="0"/>
          </a:xfrm>
          <a:prstGeom prst="line">
            <a:avLst/>
          </a:prstGeom>
          <a:noFill/>
          <a:ln w="254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68BFCD0D-99FB-461A-1CAE-FE0C14861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" y="6424613"/>
            <a:ext cx="12979400" cy="0"/>
          </a:xfrm>
          <a:prstGeom prst="line">
            <a:avLst/>
          </a:prstGeom>
          <a:noFill/>
          <a:ln w="254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9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0847D57-2DF0-C135-6FB6-1168D5B6A24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387D373-DD22-4553-8E6F-E15856B769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05374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act information"/>
          <p:cNvSpPr txBox="1">
            <a:spLocks noGrp="1"/>
          </p:cNvSpPr>
          <p:nvPr>
            <p:ph type="body" sz="quarter" idx="2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668C4C06-5799-596A-DA02-C61F92F19185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3D43BFC8-4B29-42A2-92E8-DBDB78E8E0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29666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9" name="Attribution"/>
          <p:cNvSpPr txBox="1">
            <a:spLocks noGrp="1"/>
          </p:cNvSpPr>
          <p:nvPr>
            <p:ph type="body" sz="quarter" idx="2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87D3F3B-F4D5-03D7-BB94-6C1FCB4DC889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47D20A59-DCE8-4C53-9B65-4678340A1E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7496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128" name="Bowl of salad with fried rice, boiled eggs, and chopsticks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129" name="Bowl with salmon cakes, salad, and hummus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0420BCA-ECDD-0798-422A-7BA96EF03E70}"/>
              </a:ext>
            </a:extLst>
          </p:cNvPr>
          <p:cNvSpPr txBox="1">
            <a:spLocks noGrp="1" noChangeArrowheads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7D1C0F8B-4A20-4DD2-876A-72769D751F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248405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Avenir Next Regular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3CCCE6F-BF46-CB73-DFDE-EC770F864FE5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xfrm>
            <a:off x="6353175" y="9220200"/>
            <a:ext cx="298450" cy="28733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67062BB-0472-4EB2-9459-55CFDD9C52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02095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8969A83E-FE0F-3D17-A4D0-E2572FD3B24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D95802-E2EA-411C-97C9-58BCAD9830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90107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ody Level One…">
            <a:extLst>
              <a:ext uri="{FF2B5EF4-FFF2-40B4-BE49-F238E27FC236}">
                <a16:creationId xmlns:a16="http://schemas.microsoft.com/office/drawing/2014/main" id="{5D2B718D-ACE8-223C-B30F-7BB890D0DE9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8500" y="1924050"/>
            <a:ext cx="11607800" cy="764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venir Next Regular"/>
              </a:rPr>
              <a:t>Slide bullet text</a:t>
            </a:r>
          </a:p>
          <a:p>
            <a:pPr lvl="1"/>
            <a:endParaRPr lang="en-US" altLang="en-US">
              <a:sym typeface="Avenir Next Regular"/>
            </a:endParaRPr>
          </a:p>
          <a:p>
            <a:pPr lvl="2"/>
            <a:endParaRPr lang="en-US" altLang="en-US">
              <a:sym typeface="Avenir Next Regular"/>
            </a:endParaRPr>
          </a:p>
          <a:p>
            <a:pPr lvl="3"/>
            <a:endParaRPr lang="en-US" altLang="en-US">
              <a:sym typeface="Avenir Next Regular"/>
            </a:endParaRPr>
          </a:p>
          <a:p>
            <a:pPr lvl="4"/>
            <a:endParaRPr lang="en-US" altLang="en-US">
              <a:sym typeface="Avenir Next Regular"/>
            </a:endParaRP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2401A8AD-6F89-5138-799C-5F594B3C547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8500" y="439738"/>
            <a:ext cx="11607800" cy="101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1028" name="Line">
            <a:extLst>
              <a:ext uri="{FF2B5EF4-FFF2-40B4-BE49-F238E27FC236}">
                <a16:creationId xmlns:a16="http://schemas.microsoft.com/office/drawing/2014/main" id="{1A2E1F42-1CFC-A217-2481-46E094780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8" y="1582738"/>
            <a:ext cx="12874625" cy="0"/>
          </a:xfrm>
          <a:prstGeom prst="line">
            <a:avLst/>
          </a:prstGeom>
          <a:noFill/>
          <a:ln w="50800">
            <a:solidFill>
              <a:srgbClr val="FF7E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1029" name="Slide Number">
            <a:extLst>
              <a:ext uri="{FF2B5EF4-FFF2-40B4-BE49-F238E27FC236}">
                <a16:creationId xmlns:a16="http://schemas.microsoft.com/office/drawing/2014/main" id="{7CF3E5FD-8E24-A221-77E6-71EF7DB02FA6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6350000" y="9220200"/>
            <a:ext cx="2984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  <a:spAutoFit/>
          </a:bodyPr>
          <a:lstStyle>
            <a:lvl1pPr algn="ctr" defTabSz="584200" eaLnBrk="1">
              <a:defRPr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386968F3-5264-44C5-A81A-0F62F7CA49A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76" r:id="rId4"/>
    <p:sldLayoutId id="2147483682" r:id="rId5"/>
    <p:sldLayoutId id="2147483683" r:id="rId6"/>
    <p:sldLayoutId id="2147483678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transition spd="med"/>
  <p:txStyles>
    <p:titleStyle>
      <a:lvl1pPr algn="l" defTabSz="17335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6000" spc="-119">
          <a:solidFill>
            <a:srgbClr val="000000"/>
          </a:solidFill>
          <a:latin typeface="+mn-lt"/>
          <a:ea typeface="+mn-ea"/>
          <a:cs typeface="+mn-cs"/>
          <a:sym typeface="Avenir Next Demi Bold"/>
        </a:defRPr>
      </a:lvl1pPr>
      <a:lvl2pPr algn="l" defTabSz="17335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6000" spc="-119">
          <a:solidFill>
            <a:srgbClr val="000000"/>
          </a:solidFill>
          <a:latin typeface="+mn-lt"/>
          <a:ea typeface="+mn-ea"/>
          <a:cs typeface="+mn-cs"/>
          <a:sym typeface="Avenir Next Demi Bold"/>
        </a:defRPr>
      </a:lvl2pPr>
      <a:lvl3pPr algn="l" defTabSz="17335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6000" spc="-119">
          <a:solidFill>
            <a:srgbClr val="000000"/>
          </a:solidFill>
          <a:latin typeface="+mn-lt"/>
          <a:ea typeface="+mn-ea"/>
          <a:cs typeface="+mn-cs"/>
          <a:sym typeface="Avenir Next Demi Bold"/>
        </a:defRPr>
      </a:lvl3pPr>
      <a:lvl4pPr algn="l" defTabSz="17335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6000" spc="-119">
          <a:solidFill>
            <a:srgbClr val="000000"/>
          </a:solidFill>
          <a:latin typeface="+mn-lt"/>
          <a:ea typeface="+mn-ea"/>
          <a:cs typeface="+mn-cs"/>
          <a:sym typeface="Avenir Next Demi Bold"/>
        </a:defRPr>
      </a:lvl4pPr>
      <a:lvl5pPr algn="l" defTabSz="17335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6000" spc="-119">
          <a:solidFill>
            <a:srgbClr val="000000"/>
          </a:solidFill>
          <a:latin typeface="+mn-lt"/>
          <a:ea typeface="+mn-ea"/>
          <a:cs typeface="+mn-cs"/>
          <a:sym typeface="Avenir Next Demi Bold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9pPr>
    </p:titleStyle>
    <p:bodyStyle>
      <a:lvl1pPr marL="381000" indent="-381000" algn="l" defTabSz="1733550" rtl="0" eaLnBrk="0" fontAlgn="base" hangingPunct="0">
        <a:lnSpc>
          <a:spcPct val="90000"/>
        </a:lnSpc>
        <a:spcBef>
          <a:spcPts val="3200"/>
        </a:spcBef>
        <a:spcAft>
          <a:spcPct val="0"/>
        </a:spcAft>
        <a:buClr>
          <a:srgbClr val="8DA0CB"/>
        </a:buClr>
        <a:buSzPct val="78000"/>
        <a:buChar char="❖"/>
        <a:defRPr sz="3000">
          <a:solidFill>
            <a:srgbClr val="000000"/>
          </a:solidFill>
          <a:latin typeface="+mj-lt"/>
          <a:ea typeface="+mj-ea"/>
          <a:cs typeface="+mj-cs"/>
          <a:sym typeface="Avenir Next Regular"/>
        </a:defRPr>
      </a:lvl1pPr>
      <a:lvl2pPr marL="762000" indent="-381000" algn="l" defTabSz="1733550" rtl="0" eaLnBrk="0" fontAlgn="base" hangingPunct="0">
        <a:lnSpc>
          <a:spcPct val="90000"/>
        </a:lnSpc>
        <a:spcBef>
          <a:spcPts val="3200"/>
        </a:spcBef>
        <a:spcAft>
          <a:spcPct val="0"/>
        </a:spcAft>
        <a:buClr>
          <a:srgbClr val="8DA0CB"/>
        </a:buClr>
        <a:buSzPct val="123000"/>
        <a:buChar char="•"/>
        <a:defRPr sz="3000">
          <a:solidFill>
            <a:srgbClr val="000000"/>
          </a:solidFill>
          <a:latin typeface="+mj-lt"/>
          <a:ea typeface="+mj-ea"/>
          <a:cs typeface="+mj-cs"/>
          <a:sym typeface="Avenir Next Regular"/>
        </a:defRPr>
      </a:lvl2pPr>
      <a:lvl3pPr marL="1143000" indent="-381000" algn="l" defTabSz="1733550" rtl="0" eaLnBrk="0" fontAlgn="base" hangingPunct="0">
        <a:lnSpc>
          <a:spcPct val="90000"/>
        </a:lnSpc>
        <a:spcBef>
          <a:spcPts val="3200"/>
        </a:spcBef>
        <a:spcAft>
          <a:spcPct val="0"/>
        </a:spcAft>
        <a:buClr>
          <a:srgbClr val="8DA0CB"/>
        </a:buClr>
        <a:buSzPct val="123000"/>
        <a:buChar char="•"/>
        <a:defRPr sz="3000">
          <a:solidFill>
            <a:srgbClr val="000000"/>
          </a:solidFill>
          <a:latin typeface="+mj-lt"/>
          <a:ea typeface="+mj-ea"/>
          <a:cs typeface="+mj-cs"/>
          <a:sym typeface="Avenir Next Regular"/>
        </a:defRPr>
      </a:lvl3pPr>
      <a:lvl4pPr marL="1524000" indent="-381000" algn="l" defTabSz="1733550" rtl="0" eaLnBrk="0" fontAlgn="base" hangingPunct="0">
        <a:lnSpc>
          <a:spcPct val="90000"/>
        </a:lnSpc>
        <a:spcBef>
          <a:spcPts val="3200"/>
        </a:spcBef>
        <a:spcAft>
          <a:spcPct val="0"/>
        </a:spcAft>
        <a:buClr>
          <a:srgbClr val="8DA0CB"/>
        </a:buClr>
        <a:buSzPct val="123000"/>
        <a:buChar char="•"/>
        <a:defRPr sz="3000">
          <a:solidFill>
            <a:srgbClr val="000000"/>
          </a:solidFill>
          <a:latin typeface="+mj-lt"/>
          <a:ea typeface="+mj-ea"/>
          <a:cs typeface="+mj-cs"/>
          <a:sym typeface="Avenir Next Regular"/>
        </a:defRPr>
      </a:lvl4pPr>
      <a:lvl5pPr marL="1905000" indent="-381000" algn="l" defTabSz="1733550" rtl="0" eaLnBrk="0" fontAlgn="base" hangingPunct="0">
        <a:lnSpc>
          <a:spcPct val="90000"/>
        </a:lnSpc>
        <a:spcBef>
          <a:spcPts val="3200"/>
        </a:spcBef>
        <a:spcAft>
          <a:spcPct val="0"/>
        </a:spcAft>
        <a:buClr>
          <a:srgbClr val="8DA0CB"/>
        </a:buClr>
        <a:buSzPct val="123000"/>
        <a:buChar char="•"/>
        <a:defRPr sz="3000">
          <a:solidFill>
            <a:srgbClr val="000000"/>
          </a:solidFill>
          <a:latin typeface="+mj-lt"/>
          <a:ea typeface="+mj-ea"/>
          <a:cs typeface="+mj-cs"/>
          <a:sym typeface="Avenir Next Regular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Explainable AI with SHAP">
            <a:extLst>
              <a:ext uri="{FF2B5EF4-FFF2-40B4-BE49-F238E27FC236}">
                <a16:creationId xmlns:a16="http://schemas.microsoft.com/office/drawing/2014/main" id="{A0CACCFD-5DC5-BEF7-C2A7-D23492C5802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98500" y="1854200"/>
            <a:ext cx="11609388" cy="3302000"/>
          </a:xfrm>
        </p:spPr>
        <p:txBody>
          <a:bodyPr/>
          <a:lstStyle/>
          <a:p>
            <a:pPr defTabSz="17339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Explainable AI with SHAP 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xplainable AI/ML aims to create models and methods that are transparent, interpretable, and explainable…">
            <a:extLst>
              <a:ext uri="{FF2B5EF4-FFF2-40B4-BE49-F238E27FC236}">
                <a16:creationId xmlns:a16="http://schemas.microsoft.com/office/drawing/2014/main" id="{06AF5185-23CC-A175-E72C-B9EAEA34BF4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98500" y="1709738"/>
            <a:ext cx="11607800" cy="8054975"/>
          </a:xfrm>
        </p:spPr>
        <p:txBody>
          <a:bodyPr/>
          <a:lstStyle/>
          <a:p>
            <a:pPr eaLnBrk="1" hangingPunct="1"/>
            <a:r>
              <a:rPr lang="en-US" altLang="en-US"/>
              <a:t>Explainable AI/ML aims to create models and methods that are transparent, interpretable, and explainable</a:t>
            </a:r>
          </a:p>
          <a:p>
            <a:pPr eaLnBrk="1" hangingPunct="1"/>
            <a:r>
              <a:rPr lang="en-US" altLang="en-US"/>
              <a:t>One goal is to help ensure that AI and ML are ethical and accountable</a:t>
            </a:r>
          </a:p>
          <a:p>
            <a:pPr eaLnBrk="1" hangingPunct="1"/>
            <a:r>
              <a:rPr lang="en-US" altLang="en-US"/>
              <a:t>There are several techniques that aim to make ML models explainable</a:t>
            </a:r>
          </a:p>
          <a:p>
            <a:pPr marL="1016000" lvl="1" eaLnBrk="1" hangingPunct="1"/>
            <a:r>
              <a:rPr lang="en-US" altLang="en-US"/>
              <a:t>Interpretable models</a:t>
            </a:r>
          </a:p>
          <a:p>
            <a:pPr marL="1016000" lvl="1" eaLnBrk="1" hangingPunct="1"/>
            <a:r>
              <a:rPr lang="en-US" altLang="en-US"/>
              <a:t>Model agnostic methods (local and global)</a:t>
            </a:r>
          </a:p>
          <a:p>
            <a:pPr marL="1016000" lvl="1" eaLnBrk="1" hangingPunct="1"/>
            <a:r>
              <a:rPr lang="en-US" altLang="en-US"/>
              <a:t>A common model agnostic local method:</a:t>
            </a:r>
          </a:p>
          <a:p>
            <a:pPr marL="1651000" lvl="2" eaLnBrk="1" hangingPunct="1">
              <a:buFontTx/>
              <a:buChar char="‣"/>
            </a:pPr>
            <a:r>
              <a:rPr lang="en-US" altLang="en-US">
                <a:solidFill>
                  <a:srgbClr val="FF7E79"/>
                </a:solidFill>
              </a:rPr>
              <a:t>SHAP (</a:t>
            </a:r>
            <a:r>
              <a:rPr lang="en-US" altLang="en-US" b="1">
                <a:solidFill>
                  <a:srgbClr val="FF7E79"/>
                </a:solidFill>
              </a:rPr>
              <a:t>SH</a:t>
            </a:r>
            <a:r>
              <a:rPr lang="en-US" altLang="en-US">
                <a:solidFill>
                  <a:srgbClr val="FF7E79"/>
                </a:solidFill>
              </a:rPr>
              <a:t>apley </a:t>
            </a:r>
            <a:r>
              <a:rPr lang="en-US" altLang="en-US" b="1">
                <a:solidFill>
                  <a:srgbClr val="FF7E79"/>
                </a:solidFill>
              </a:rPr>
              <a:t>A</a:t>
            </a:r>
            <a:r>
              <a:rPr lang="en-US" altLang="en-US">
                <a:solidFill>
                  <a:srgbClr val="FF7E79"/>
                </a:solidFill>
              </a:rPr>
              <a:t>dditive ex</a:t>
            </a:r>
            <a:r>
              <a:rPr lang="en-US" altLang="en-US" b="1">
                <a:solidFill>
                  <a:srgbClr val="FF7E79"/>
                </a:solidFill>
              </a:rPr>
              <a:t>P</a:t>
            </a:r>
            <a:r>
              <a:rPr lang="en-US" altLang="en-US">
                <a:solidFill>
                  <a:srgbClr val="FF7E79"/>
                </a:solidFill>
              </a:rPr>
              <a:t>lanations)</a:t>
            </a:r>
          </a:p>
        </p:txBody>
      </p:sp>
      <p:sp>
        <p:nvSpPr>
          <p:cNvPr id="157" name="Explainable AI">
            <a:extLst>
              <a:ext uri="{FF2B5EF4-FFF2-40B4-BE49-F238E27FC236}">
                <a16:creationId xmlns:a16="http://schemas.microsoft.com/office/drawing/2014/main" id="{E3EAC0F7-686E-7031-5F76-9934797B2BD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dirty="0"/>
              <a:t>Explainable AI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ley Values">
            <a:extLst>
              <a:ext uri="{FF2B5EF4-FFF2-40B4-BE49-F238E27FC236}">
                <a16:creationId xmlns:a16="http://schemas.microsoft.com/office/drawing/2014/main" id="{FC73E221-619A-7699-B4F1-F31D4B04AA0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7339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ley values are a concept in cooperative game theory…">
            <a:extLst>
              <a:ext uri="{FF2B5EF4-FFF2-40B4-BE49-F238E27FC236}">
                <a16:creationId xmlns:a16="http://schemas.microsoft.com/office/drawing/2014/main" id="{6A398CF5-8316-E6D8-5C43-AAB94A080F1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Shapley values are a concept in cooperative game theory</a:t>
            </a:r>
          </a:p>
          <a:p>
            <a:pPr eaLnBrk="1" hangingPunct="1"/>
            <a:r>
              <a:rPr lang="en-US" altLang="en-US"/>
              <a:t>Introduced by Lloyd Shapley in 1951</a:t>
            </a:r>
          </a:p>
          <a:p>
            <a:pPr eaLnBrk="1" hangingPunct="1"/>
            <a:r>
              <a:rPr lang="en-US" altLang="en-US"/>
              <a:t>Shapley won the Nobel Prize in Economics for this contribution in 2012</a:t>
            </a:r>
          </a:p>
          <a:p>
            <a:pPr eaLnBrk="1" hangingPunct="1"/>
            <a:r>
              <a:rPr lang="en-US" altLang="en-US"/>
              <a:t>Shapley values try to solve this problem:</a:t>
            </a:r>
          </a:p>
          <a:p>
            <a:pPr marL="1016000" lvl="1" eaLnBrk="1" hangingPunct="1"/>
            <a:r>
              <a:rPr lang="en-US" altLang="en-US" i="1"/>
              <a:t>Setup</a:t>
            </a:r>
            <a:r>
              <a:rPr lang="en-US" altLang="en-US"/>
              <a:t>: A coalition of players cooperate to produce a value </a:t>
            </a:r>
          </a:p>
          <a:p>
            <a:pPr marL="1016000" lvl="1" eaLnBrk="1" hangingPunct="1"/>
            <a:r>
              <a:rPr lang="en-US" altLang="en-US"/>
              <a:t>How much did each player contribution to the value?</a:t>
            </a:r>
          </a:p>
          <a:p>
            <a:pPr marL="1016000" lvl="1" eaLnBrk="1" hangingPunct="1"/>
            <a:r>
              <a:rPr lang="en-US" altLang="en-US"/>
              <a:t>What payoff can each player reasonably expect?</a:t>
            </a:r>
          </a:p>
        </p:txBody>
      </p:sp>
      <p:sp>
        <p:nvSpPr>
          <p:cNvPr id="162" name="Shapley Values">
            <a:extLst>
              <a:ext uri="{FF2B5EF4-FFF2-40B4-BE49-F238E27FC236}">
                <a16:creationId xmlns:a16="http://schemas.microsoft.com/office/drawing/2014/main" id="{69179558-F789-F026-1833-F70FBD079EF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ley Values">
            <a:extLst>
              <a:ext uri="{FF2B5EF4-FFF2-40B4-BE49-F238E27FC236}">
                <a16:creationId xmlns:a16="http://schemas.microsoft.com/office/drawing/2014/main" id="{02A0590F-36DD-D70F-3DE8-FCDA42CA55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19459" name="Rounded Rectangle">
            <a:extLst>
              <a:ext uri="{FF2B5EF4-FFF2-40B4-BE49-F238E27FC236}">
                <a16:creationId xmlns:a16="http://schemas.microsoft.com/office/drawing/2014/main" id="{F11ECCA6-42F8-CCBB-0ACC-9C723EFBA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2698750"/>
            <a:ext cx="1565275" cy="5843588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460" name="Rectangle">
            <a:extLst>
              <a:ext uri="{FF2B5EF4-FFF2-40B4-BE49-F238E27FC236}">
                <a16:creationId xmlns:a16="http://schemas.microsoft.com/office/drawing/2014/main" id="{3F7BD8C1-1E8E-5A0F-044C-913887677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4240213"/>
            <a:ext cx="2257425" cy="27606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461" name="1">
            <a:extLst>
              <a:ext uri="{FF2B5EF4-FFF2-40B4-BE49-F238E27FC236}">
                <a16:creationId xmlns:a16="http://schemas.microsoft.com/office/drawing/2014/main" id="{A1B1E976-A858-148A-E593-63B01B9F8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2840038"/>
            <a:ext cx="1270000" cy="1270000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9462" name="2">
            <a:extLst>
              <a:ext uri="{FF2B5EF4-FFF2-40B4-BE49-F238E27FC236}">
                <a16:creationId xmlns:a16="http://schemas.microsoft.com/office/drawing/2014/main" id="{061705A3-F76F-B265-D84D-341D0B063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4241800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463" name="3">
            <a:extLst>
              <a:ext uri="{FF2B5EF4-FFF2-40B4-BE49-F238E27FC236}">
                <a16:creationId xmlns:a16="http://schemas.microsoft.com/office/drawing/2014/main" id="{C72E0151-111D-4CD4-1EDD-254E250FB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5643563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9464" name="4">
            <a:extLst>
              <a:ext uri="{FF2B5EF4-FFF2-40B4-BE49-F238E27FC236}">
                <a16:creationId xmlns:a16="http://schemas.microsoft.com/office/drawing/2014/main" id="{6A92AB0A-B9BE-B320-3976-5CE6A5B15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7045325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19465" name="Line Line" descr="Line Line">
            <a:extLst>
              <a:ext uri="{FF2B5EF4-FFF2-40B4-BE49-F238E27FC236}">
                <a16:creationId xmlns:a16="http://schemas.microsoft.com/office/drawing/2014/main" id="{E23CAD52-4076-843E-3D9D-B8BE7935E77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8" y="5335588"/>
            <a:ext cx="190976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6" name="Coalition">
            <a:extLst>
              <a:ext uri="{FF2B5EF4-FFF2-40B4-BE49-F238E27FC236}">
                <a16:creationId xmlns:a16="http://schemas.microsoft.com/office/drawing/2014/main" id="{5AEF87FB-BEBA-FB4D-9663-D3C45FFE0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475" y="1931988"/>
            <a:ext cx="1577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/>
              <a:t>Coalition</a:t>
            </a:r>
          </a:p>
        </p:txBody>
      </p:sp>
      <p:sp>
        <p:nvSpPr>
          <p:cNvPr id="19467" name="Value">
            <a:extLst>
              <a:ext uri="{FF2B5EF4-FFF2-40B4-BE49-F238E27FC236}">
                <a16:creationId xmlns:a16="http://schemas.microsoft.com/office/drawing/2014/main" id="{8C11CF03-7344-D41A-B5F0-FA8110EE0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3413" y="3409950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/>
              <a:t>Value</a:t>
            </a:r>
          </a:p>
        </p:txBody>
      </p:sp>
      <p:sp>
        <p:nvSpPr>
          <p:cNvPr id="19468" name="Example: Prize is $10,000">
            <a:extLst>
              <a:ext uri="{FF2B5EF4-FFF2-40B4-BE49-F238E27FC236}">
                <a16:creationId xmlns:a16="http://schemas.microsoft.com/office/drawing/2014/main" id="{02285E23-8BD2-E074-6D1E-F5F090B0A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8896350"/>
            <a:ext cx="31146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Prize is $10,000 </a:t>
            </a:r>
          </a:p>
        </p:txBody>
      </p:sp>
      <p:sp>
        <p:nvSpPr>
          <p:cNvPr id="19469" name="Example: Kaggle or Hackathon Competition">
            <a:extLst>
              <a:ext uri="{FF2B5EF4-FFF2-40B4-BE49-F238E27FC236}">
                <a16:creationId xmlns:a16="http://schemas.microsoft.com/office/drawing/2014/main" id="{4D7C9A17-C24E-AA99-56E0-BBC3D206A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5781675"/>
            <a:ext cx="3113087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Kaggle or Hackathon Competition </a:t>
            </a:r>
          </a:p>
        </p:txBody>
      </p:sp>
      <p:sp>
        <p:nvSpPr>
          <p:cNvPr id="19470" name="Example: Team">
            <a:extLst>
              <a:ext uri="{FF2B5EF4-FFF2-40B4-BE49-F238E27FC236}">
                <a16:creationId xmlns:a16="http://schemas.microsoft.com/office/drawing/2014/main" id="{32035E9F-9364-7B3A-3BFC-C8AFE7043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8896350"/>
            <a:ext cx="198596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Team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ley Values">
            <a:extLst>
              <a:ext uri="{FF2B5EF4-FFF2-40B4-BE49-F238E27FC236}">
                <a16:creationId xmlns:a16="http://schemas.microsoft.com/office/drawing/2014/main" id="{2195CAD6-BEDF-05B6-5CF6-30B0CD1EAB6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20483" name="Rounded Rectangle">
            <a:extLst>
              <a:ext uri="{FF2B5EF4-FFF2-40B4-BE49-F238E27FC236}">
                <a16:creationId xmlns:a16="http://schemas.microsoft.com/office/drawing/2014/main" id="{FA77E94F-91CD-2BC4-3E4F-2BD78B823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2698750"/>
            <a:ext cx="1565275" cy="5843588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484" name="Rectangle">
            <a:extLst>
              <a:ext uri="{FF2B5EF4-FFF2-40B4-BE49-F238E27FC236}">
                <a16:creationId xmlns:a16="http://schemas.microsoft.com/office/drawing/2014/main" id="{98B41493-61E3-D44F-BAAB-9BB4F2B33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4240213"/>
            <a:ext cx="2257425" cy="27606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485" name="1">
            <a:extLst>
              <a:ext uri="{FF2B5EF4-FFF2-40B4-BE49-F238E27FC236}">
                <a16:creationId xmlns:a16="http://schemas.microsoft.com/office/drawing/2014/main" id="{4181FA9D-98CA-8047-CF52-19AE0EF65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2840038"/>
            <a:ext cx="1270000" cy="1270000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0486" name="2">
            <a:extLst>
              <a:ext uri="{FF2B5EF4-FFF2-40B4-BE49-F238E27FC236}">
                <a16:creationId xmlns:a16="http://schemas.microsoft.com/office/drawing/2014/main" id="{AB4AC855-768D-7C7E-B43C-B1C6F2DB2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4241800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487" name="3">
            <a:extLst>
              <a:ext uri="{FF2B5EF4-FFF2-40B4-BE49-F238E27FC236}">
                <a16:creationId xmlns:a16="http://schemas.microsoft.com/office/drawing/2014/main" id="{F0FB0518-ABE4-A94F-6051-201F8AC30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5643563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0488" name="4">
            <a:extLst>
              <a:ext uri="{FF2B5EF4-FFF2-40B4-BE49-F238E27FC236}">
                <a16:creationId xmlns:a16="http://schemas.microsoft.com/office/drawing/2014/main" id="{84338696-9738-86B0-B813-ADA30975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7045325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20489" name="Line Line" descr="Line Line">
            <a:extLst>
              <a:ext uri="{FF2B5EF4-FFF2-40B4-BE49-F238E27FC236}">
                <a16:creationId xmlns:a16="http://schemas.microsoft.com/office/drawing/2014/main" id="{E2B0834B-2718-8A8B-FBDC-7501B1F034D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8" y="5335588"/>
            <a:ext cx="190976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0" name="Coalition">
            <a:extLst>
              <a:ext uri="{FF2B5EF4-FFF2-40B4-BE49-F238E27FC236}">
                <a16:creationId xmlns:a16="http://schemas.microsoft.com/office/drawing/2014/main" id="{67E19AC5-2FF5-A057-34FA-65777EA3C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475" y="1931988"/>
            <a:ext cx="1577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/>
              <a:t>Coalition</a:t>
            </a:r>
          </a:p>
        </p:txBody>
      </p:sp>
      <p:sp>
        <p:nvSpPr>
          <p:cNvPr id="20491" name="Value">
            <a:extLst>
              <a:ext uri="{FF2B5EF4-FFF2-40B4-BE49-F238E27FC236}">
                <a16:creationId xmlns:a16="http://schemas.microsoft.com/office/drawing/2014/main" id="{B0FE2ADD-A828-A620-2138-B478D4029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3413" y="3409950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/>
              <a:t>Value</a:t>
            </a:r>
          </a:p>
        </p:txBody>
      </p:sp>
      <p:sp>
        <p:nvSpPr>
          <p:cNvPr id="20492" name="$3000">
            <a:extLst>
              <a:ext uri="{FF2B5EF4-FFF2-40B4-BE49-F238E27FC236}">
                <a16:creationId xmlns:a16="http://schemas.microsoft.com/office/drawing/2014/main" id="{6A412904-E14C-6CEE-1D1C-05E62C1A5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4267200"/>
            <a:ext cx="2193925" cy="787400"/>
          </a:xfrm>
          <a:prstGeom prst="rect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$3000</a:t>
            </a:r>
          </a:p>
        </p:txBody>
      </p:sp>
      <p:sp>
        <p:nvSpPr>
          <p:cNvPr id="20493" name="$2000">
            <a:extLst>
              <a:ext uri="{FF2B5EF4-FFF2-40B4-BE49-F238E27FC236}">
                <a16:creationId xmlns:a16="http://schemas.microsoft.com/office/drawing/2014/main" id="{E6908815-921C-8343-5C4F-2B2A3020C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4960938"/>
            <a:ext cx="2193925" cy="584200"/>
          </a:xfrm>
          <a:prstGeom prst="rect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$2000</a:t>
            </a:r>
          </a:p>
        </p:txBody>
      </p:sp>
      <p:sp>
        <p:nvSpPr>
          <p:cNvPr id="20494" name="$4000">
            <a:extLst>
              <a:ext uri="{FF2B5EF4-FFF2-40B4-BE49-F238E27FC236}">
                <a16:creationId xmlns:a16="http://schemas.microsoft.com/office/drawing/2014/main" id="{2C12BF1A-DC2A-8289-A228-1FAED4C2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5838825"/>
            <a:ext cx="2193925" cy="1130300"/>
          </a:xfrm>
          <a:prstGeom prst="rect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$4000</a:t>
            </a:r>
          </a:p>
        </p:txBody>
      </p:sp>
      <p:sp>
        <p:nvSpPr>
          <p:cNvPr id="20495" name="$1000">
            <a:extLst>
              <a:ext uri="{FF2B5EF4-FFF2-40B4-BE49-F238E27FC236}">
                <a16:creationId xmlns:a16="http://schemas.microsoft.com/office/drawing/2014/main" id="{8ECE5222-9BB6-9171-F4EE-20CA04FBE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5462588"/>
            <a:ext cx="2193925" cy="444500"/>
          </a:xfrm>
          <a:prstGeom prst="rect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$1000</a:t>
            </a:r>
          </a:p>
        </p:txBody>
      </p:sp>
      <p:sp>
        <p:nvSpPr>
          <p:cNvPr id="20496" name="Example: Kaggle or Hackathon Competition">
            <a:extLst>
              <a:ext uri="{FF2B5EF4-FFF2-40B4-BE49-F238E27FC236}">
                <a16:creationId xmlns:a16="http://schemas.microsoft.com/office/drawing/2014/main" id="{06AAEB24-8B37-9CEC-4294-593B249C7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5781675"/>
            <a:ext cx="3113087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Kaggle or Hackathon Competition </a:t>
            </a:r>
          </a:p>
        </p:txBody>
      </p:sp>
      <p:sp>
        <p:nvSpPr>
          <p:cNvPr id="20497" name="Example: Prize is $10,000">
            <a:extLst>
              <a:ext uri="{FF2B5EF4-FFF2-40B4-BE49-F238E27FC236}">
                <a16:creationId xmlns:a16="http://schemas.microsoft.com/office/drawing/2014/main" id="{F668D897-C0E5-5445-5C6B-313B95655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8896350"/>
            <a:ext cx="31146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Prize is $10,000 </a:t>
            </a:r>
          </a:p>
        </p:txBody>
      </p:sp>
      <p:sp>
        <p:nvSpPr>
          <p:cNvPr id="20498" name="How should each player be rewarded?">
            <a:extLst>
              <a:ext uri="{FF2B5EF4-FFF2-40B4-BE49-F238E27FC236}">
                <a16:creationId xmlns:a16="http://schemas.microsoft.com/office/drawing/2014/main" id="{FA302F13-F298-0DBA-D6A7-DE89591EE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9700" y="3082925"/>
            <a:ext cx="241935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How should each player be rewarded?</a:t>
            </a:r>
          </a:p>
        </p:txBody>
      </p:sp>
      <p:sp>
        <p:nvSpPr>
          <p:cNvPr id="20499" name="Example: Team">
            <a:extLst>
              <a:ext uri="{FF2B5EF4-FFF2-40B4-BE49-F238E27FC236}">
                <a16:creationId xmlns:a16="http://schemas.microsoft.com/office/drawing/2014/main" id="{12E97B50-F56E-C689-F75A-F347105E9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8896350"/>
            <a:ext cx="198596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Team</a:t>
            </a:r>
          </a:p>
        </p:txBody>
      </p:sp>
      <p:sp>
        <p:nvSpPr>
          <p:cNvPr id="20500" name="What if there are interactions between team members?…">
            <a:extLst>
              <a:ext uri="{FF2B5EF4-FFF2-40B4-BE49-F238E27FC236}">
                <a16:creationId xmlns:a16="http://schemas.microsoft.com/office/drawing/2014/main" id="{F074ED9C-757E-AA97-DBE6-F4543396A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9700" y="4618038"/>
            <a:ext cx="241935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>
            <a:spAutoFit/>
          </a:bodyPr>
          <a:lstStyle/>
          <a:p>
            <a:pPr eaLnBrk="1"/>
            <a:r>
              <a:rPr lang="en-US" altLang="en-US" sz="2000"/>
              <a:t>What if there are interactions between team members? </a:t>
            </a:r>
          </a:p>
          <a:p>
            <a:pPr eaLnBrk="1"/>
            <a:endParaRPr lang="en-US" altLang="en-US" sz="2000"/>
          </a:p>
          <a:p>
            <a:pPr eaLnBrk="1"/>
            <a:r>
              <a:rPr lang="en-US" altLang="en-US" sz="2000"/>
              <a:t>(Certain combinations of members work better or worse than the sum of the parts)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ley Values">
            <a:extLst>
              <a:ext uri="{FF2B5EF4-FFF2-40B4-BE49-F238E27FC236}">
                <a16:creationId xmlns:a16="http://schemas.microsoft.com/office/drawing/2014/main" id="{12676FFB-D811-3ECD-EEF6-35DE102800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21507" name="For each individual, compute the marginal contribution by comparing the value for a coalition with the member and without the member">
            <a:extLst>
              <a:ext uri="{FF2B5EF4-FFF2-40B4-BE49-F238E27FC236}">
                <a16:creationId xmlns:a16="http://schemas.microsoft.com/office/drawing/2014/main" id="{60A25279-0198-2C40-F041-0654BF51DB28}"/>
              </a:ext>
            </a:extLst>
          </p:cNvPr>
          <p:cNvSpPr txBox="1">
            <a:spLocks noGrp="1" noChangeArrowheads="1"/>
          </p:cNvSpPr>
          <p:nvPr>
            <p:ph type="body" sz="quarter" idx="4294967295"/>
          </p:nvPr>
        </p:nvSpPr>
        <p:spPr>
          <a:xfrm>
            <a:off x="698500" y="1924050"/>
            <a:ext cx="11607800" cy="1689100"/>
          </a:xfrm>
        </p:spPr>
        <p:txBody>
          <a:bodyPr/>
          <a:lstStyle/>
          <a:p>
            <a:pPr eaLnBrk="1" hangingPunct="1"/>
            <a:r>
              <a:rPr lang="en-US" altLang="en-US"/>
              <a:t>For each individual, compute the marginal contribution by comparing the value for a coalition with the member and without the member</a:t>
            </a:r>
          </a:p>
        </p:txBody>
      </p:sp>
      <p:sp>
        <p:nvSpPr>
          <p:cNvPr id="21508" name="Rounded Rectangle">
            <a:extLst>
              <a:ext uri="{FF2B5EF4-FFF2-40B4-BE49-F238E27FC236}">
                <a16:creationId xmlns:a16="http://schemas.microsoft.com/office/drawing/2014/main" id="{561F4464-8332-F649-3C70-31F604296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3649663"/>
            <a:ext cx="1565275" cy="5845175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09" name="1">
            <a:extLst>
              <a:ext uri="{FF2B5EF4-FFF2-40B4-BE49-F238E27FC236}">
                <a16:creationId xmlns:a16="http://schemas.microsoft.com/office/drawing/2014/main" id="{1874C4EC-B39F-A109-78DB-D0A3870EB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3790950"/>
            <a:ext cx="1270000" cy="1270000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1510" name="2">
            <a:extLst>
              <a:ext uri="{FF2B5EF4-FFF2-40B4-BE49-F238E27FC236}">
                <a16:creationId xmlns:a16="http://schemas.microsoft.com/office/drawing/2014/main" id="{FBA0C750-E984-589B-34F4-74FF18C80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5194300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511" name="3">
            <a:extLst>
              <a:ext uri="{FF2B5EF4-FFF2-40B4-BE49-F238E27FC236}">
                <a16:creationId xmlns:a16="http://schemas.microsoft.com/office/drawing/2014/main" id="{26F29B86-6A36-DC6C-6B58-EA1D532F7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6596063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1512" name="4">
            <a:extLst>
              <a:ext uri="{FF2B5EF4-FFF2-40B4-BE49-F238E27FC236}">
                <a16:creationId xmlns:a16="http://schemas.microsoft.com/office/drawing/2014/main" id="{F2D7210D-A0CF-16C8-F6F3-A04FAF43B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7997825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21513" name="Line Line" descr="Line Line">
            <a:extLst>
              <a:ext uri="{FF2B5EF4-FFF2-40B4-BE49-F238E27FC236}">
                <a16:creationId xmlns:a16="http://schemas.microsoft.com/office/drawing/2014/main" id="{8004879A-3362-E176-7515-24AF361CFC0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6405563"/>
            <a:ext cx="1346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4" name="Rectangle">
            <a:extLst>
              <a:ext uri="{FF2B5EF4-FFF2-40B4-BE49-F238E27FC236}">
                <a16:creationId xmlns:a16="http://schemas.microsoft.com/office/drawing/2014/main" id="{9DE8DBD5-684F-5DDD-951E-08FA27999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5192713"/>
            <a:ext cx="1563688" cy="27606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15" name="Rectangle">
            <a:extLst>
              <a:ext uri="{FF2B5EF4-FFF2-40B4-BE49-F238E27FC236}">
                <a16:creationId xmlns:a16="http://schemas.microsoft.com/office/drawing/2014/main" id="{3AE97E19-AD9C-142E-833A-0933F9818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5219700"/>
            <a:ext cx="1503362" cy="927100"/>
          </a:xfrm>
          <a:prstGeom prst="rect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16" name="Rectangle">
            <a:extLst>
              <a:ext uri="{FF2B5EF4-FFF2-40B4-BE49-F238E27FC236}">
                <a16:creationId xmlns:a16="http://schemas.microsoft.com/office/drawing/2014/main" id="{9EFA7C83-06B9-AA93-5D77-D576C54C6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5991225"/>
            <a:ext cx="1501775" cy="584200"/>
          </a:xfrm>
          <a:prstGeom prst="rect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17" name="Rectangle">
            <a:extLst>
              <a:ext uri="{FF2B5EF4-FFF2-40B4-BE49-F238E27FC236}">
                <a16:creationId xmlns:a16="http://schemas.microsoft.com/office/drawing/2014/main" id="{C743FBC2-1721-F8CB-0B77-3F9EAA721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7140575"/>
            <a:ext cx="1501775" cy="779463"/>
          </a:xfrm>
          <a:prstGeom prst="rect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18" name="Rectangle">
            <a:extLst>
              <a:ext uri="{FF2B5EF4-FFF2-40B4-BE49-F238E27FC236}">
                <a16:creationId xmlns:a16="http://schemas.microsoft.com/office/drawing/2014/main" id="{E7CB21FA-2266-B1DD-67FC-2BB922282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6578600"/>
            <a:ext cx="1501775" cy="584200"/>
          </a:xfrm>
          <a:prstGeom prst="rect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19" name="Rounded Rectangle">
            <a:extLst>
              <a:ext uri="{FF2B5EF4-FFF2-40B4-BE49-F238E27FC236}">
                <a16:creationId xmlns:a16="http://schemas.microsoft.com/office/drawing/2014/main" id="{862BDCD1-CA60-A577-DBF1-5E2EA90A9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088" y="4308475"/>
            <a:ext cx="1565275" cy="4527550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20" name="2">
            <a:extLst>
              <a:ext uri="{FF2B5EF4-FFF2-40B4-BE49-F238E27FC236}">
                <a16:creationId xmlns:a16="http://schemas.microsoft.com/office/drawing/2014/main" id="{65F24F64-8169-54A7-1B83-73537242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4535488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521" name="3">
            <a:extLst>
              <a:ext uri="{FF2B5EF4-FFF2-40B4-BE49-F238E27FC236}">
                <a16:creationId xmlns:a16="http://schemas.microsoft.com/office/drawing/2014/main" id="{12DF5035-0B9E-4C1E-5D2D-E2C0247CD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5937250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1522" name="4">
            <a:extLst>
              <a:ext uri="{FF2B5EF4-FFF2-40B4-BE49-F238E27FC236}">
                <a16:creationId xmlns:a16="http://schemas.microsoft.com/office/drawing/2014/main" id="{E1851A8E-22A1-186E-F1F4-4E6BD9246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7339013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21523" name="Line Line" descr="Line Line">
            <a:extLst>
              <a:ext uri="{FF2B5EF4-FFF2-40B4-BE49-F238E27FC236}">
                <a16:creationId xmlns:a16="http://schemas.microsoft.com/office/drawing/2014/main" id="{2D27F286-271E-6674-EDF6-E8BABC12E0C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763" y="6405563"/>
            <a:ext cx="1346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4" name="Rectangle">
            <a:extLst>
              <a:ext uri="{FF2B5EF4-FFF2-40B4-BE49-F238E27FC236}">
                <a16:creationId xmlns:a16="http://schemas.microsoft.com/office/drawing/2014/main" id="{850688B0-87C3-0B09-DFDC-D6438B2EF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6550" y="5789613"/>
            <a:ext cx="1565275" cy="21637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25" name="Rectangle">
            <a:extLst>
              <a:ext uri="{FF2B5EF4-FFF2-40B4-BE49-F238E27FC236}">
                <a16:creationId xmlns:a16="http://schemas.microsoft.com/office/drawing/2014/main" id="{82B52F7B-9603-373D-F4FB-E8984D5F9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8300" y="5821363"/>
            <a:ext cx="1501775" cy="779462"/>
          </a:xfrm>
          <a:prstGeom prst="rect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26" name="Rectangle">
            <a:extLst>
              <a:ext uri="{FF2B5EF4-FFF2-40B4-BE49-F238E27FC236}">
                <a16:creationId xmlns:a16="http://schemas.microsoft.com/office/drawing/2014/main" id="{14EA5993-364C-37F5-758A-B8FDCA75E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8300" y="7140575"/>
            <a:ext cx="1501775" cy="779463"/>
          </a:xfrm>
          <a:prstGeom prst="rect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527" name="Rectangle">
            <a:extLst>
              <a:ext uri="{FF2B5EF4-FFF2-40B4-BE49-F238E27FC236}">
                <a16:creationId xmlns:a16="http://schemas.microsoft.com/office/drawing/2014/main" id="{BF6750D7-B15E-AE91-8D39-AFBCE2E6B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8300" y="6578600"/>
            <a:ext cx="1501775" cy="584200"/>
          </a:xfrm>
          <a:prstGeom prst="rect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4CC7CE-B3BE-4389-6855-14AB0D303B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219" r="59127"/>
          <a:stretch>
            <a:fillRect/>
          </a:stretch>
        </p:blipFill>
        <p:spPr>
          <a:xfrm>
            <a:off x="4455319" y="8300685"/>
            <a:ext cx="1001712" cy="4487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D775A4-1FC2-084E-C4ED-FCAF28A8F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632" t="37981" r="16123" b="13696"/>
          <a:stretch>
            <a:fillRect/>
          </a:stretch>
        </p:blipFill>
        <p:spPr>
          <a:xfrm>
            <a:off x="10920809" y="8250239"/>
            <a:ext cx="716756" cy="30638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ley Values">
            <a:extLst>
              <a:ext uri="{FF2B5EF4-FFF2-40B4-BE49-F238E27FC236}">
                <a16:creationId xmlns:a16="http://schemas.microsoft.com/office/drawing/2014/main" id="{3C2C6295-8949-5D0D-8591-CAE85887F83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22531" name="For each individual, compute the marginal contribution by comparing the value for a coalition with the member and without the member">
            <a:extLst>
              <a:ext uri="{FF2B5EF4-FFF2-40B4-BE49-F238E27FC236}">
                <a16:creationId xmlns:a16="http://schemas.microsoft.com/office/drawing/2014/main" id="{A37D2C9C-D10C-4B51-42CA-5C7209FBB1B3}"/>
              </a:ext>
            </a:extLst>
          </p:cNvPr>
          <p:cNvSpPr txBox="1">
            <a:spLocks noGrp="1" noChangeArrowheads="1"/>
          </p:cNvSpPr>
          <p:nvPr>
            <p:ph type="body" sz="quarter" idx="4294967295"/>
          </p:nvPr>
        </p:nvSpPr>
        <p:spPr>
          <a:xfrm>
            <a:off x="698500" y="1924050"/>
            <a:ext cx="11607800" cy="1689100"/>
          </a:xfrm>
        </p:spPr>
        <p:txBody>
          <a:bodyPr/>
          <a:lstStyle/>
          <a:p>
            <a:pPr eaLnBrk="1" hangingPunct="1"/>
            <a:r>
              <a:rPr lang="en-US" altLang="en-US"/>
              <a:t>For each individual, compute the marginal contribution by comparing the value for a coalition with the member and without the member</a:t>
            </a:r>
          </a:p>
        </p:txBody>
      </p:sp>
      <p:sp>
        <p:nvSpPr>
          <p:cNvPr id="22532" name="Rounded Rectangle">
            <a:extLst>
              <a:ext uri="{FF2B5EF4-FFF2-40B4-BE49-F238E27FC236}">
                <a16:creationId xmlns:a16="http://schemas.microsoft.com/office/drawing/2014/main" id="{BAB62B3E-4DFC-514C-BAE6-D117146DE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3649663"/>
            <a:ext cx="1565275" cy="5845175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33" name="1">
            <a:extLst>
              <a:ext uri="{FF2B5EF4-FFF2-40B4-BE49-F238E27FC236}">
                <a16:creationId xmlns:a16="http://schemas.microsoft.com/office/drawing/2014/main" id="{9E582213-F863-C5AF-4054-4F7FC5919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3790950"/>
            <a:ext cx="1270000" cy="1270000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2534" name="2">
            <a:extLst>
              <a:ext uri="{FF2B5EF4-FFF2-40B4-BE49-F238E27FC236}">
                <a16:creationId xmlns:a16="http://schemas.microsoft.com/office/drawing/2014/main" id="{E0E68AEB-78B8-2AC3-CECC-542EC116D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5194300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2535" name="3">
            <a:extLst>
              <a:ext uri="{FF2B5EF4-FFF2-40B4-BE49-F238E27FC236}">
                <a16:creationId xmlns:a16="http://schemas.microsoft.com/office/drawing/2014/main" id="{57C046B6-9A8E-A757-305D-1B39E0F33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6596063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2536" name="4">
            <a:extLst>
              <a:ext uri="{FF2B5EF4-FFF2-40B4-BE49-F238E27FC236}">
                <a16:creationId xmlns:a16="http://schemas.microsoft.com/office/drawing/2014/main" id="{2684B68A-E381-BF1B-3D6C-29FF559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7997825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22537" name="Line Line" descr="Line Line">
            <a:extLst>
              <a:ext uri="{FF2B5EF4-FFF2-40B4-BE49-F238E27FC236}">
                <a16:creationId xmlns:a16="http://schemas.microsoft.com/office/drawing/2014/main" id="{D10B76BF-0C40-8AA5-9A41-EDFC958BD05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6405563"/>
            <a:ext cx="1346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8" name="Rectangle">
            <a:extLst>
              <a:ext uri="{FF2B5EF4-FFF2-40B4-BE49-F238E27FC236}">
                <a16:creationId xmlns:a16="http://schemas.microsoft.com/office/drawing/2014/main" id="{7459435A-433F-8442-83E2-445E4DF93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5192713"/>
            <a:ext cx="1563688" cy="27606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39" name="Rectangle">
            <a:extLst>
              <a:ext uri="{FF2B5EF4-FFF2-40B4-BE49-F238E27FC236}">
                <a16:creationId xmlns:a16="http://schemas.microsoft.com/office/drawing/2014/main" id="{C0F3E9FB-BF96-CC3B-EBCD-3966B693E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5219700"/>
            <a:ext cx="1503362" cy="927100"/>
          </a:xfrm>
          <a:prstGeom prst="rect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40" name="Rectangle">
            <a:extLst>
              <a:ext uri="{FF2B5EF4-FFF2-40B4-BE49-F238E27FC236}">
                <a16:creationId xmlns:a16="http://schemas.microsoft.com/office/drawing/2014/main" id="{D60DF7A7-2FA0-B110-B616-18F29CD83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5991225"/>
            <a:ext cx="1501775" cy="584200"/>
          </a:xfrm>
          <a:prstGeom prst="rect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41" name="Rectangle">
            <a:extLst>
              <a:ext uri="{FF2B5EF4-FFF2-40B4-BE49-F238E27FC236}">
                <a16:creationId xmlns:a16="http://schemas.microsoft.com/office/drawing/2014/main" id="{BD842F84-2A03-83B5-FC61-39439ED54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7140575"/>
            <a:ext cx="1501775" cy="779463"/>
          </a:xfrm>
          <a:prstGeom prst="rect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42" name="Rectangle">
            <a:extLst>
              <a:ext uri="{FF2B5EF4-FFF2-40B4-BE49-F238E27FC236}">
                <a16:creationId xmlns:a16="http://schemas.microsoft.com/office/drawing/2014/main" id="{720F671F-7F34-C7D5-6DCB-C245AB23D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6578600"/>
            <a:ext cx="1501775" cy="584200"/>
          </a:xfrm>
          <a:prstGeom prst="rect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43" name="Rounded Rectangle">
            <a:extLst>
              <a:ext uri="{FF2B5EF4-FFF2-40B4-BE49-F238E27FC236}">
                <a16:creationId xmlns:a16="http://schemas.microsoft.com/office/drawing/2014/main" id="{C3823759-77E5-F905-1FDB-7EA755453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088" y="4308475"/>
            <a:ext cx="1565275" cy="4527550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44" name="2">
            <a:extLst>
              <a:ext uri="{FF2B5EF4-FFF2-40B4-BE49-F238E27FC236}">
                <a16:creationId xmlns:a16="http://schemas.microsoft.com/office/drawing/2014/main" id="{CAC9735D-5C40-AD23-2233-7E502926F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4535488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2545" name="3">
            <a:extLst>
              <a:ext uri="{FF2B5EF4-FFF2-40B4-BE49-F238E27FC236}">
                <a16:creationId xmlns:a16="http://schemas.microsoft.com/office/drawing/2014/main" id="{87DC2F41-27FE-C27C-5A87-A54FF377E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5937250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2546" name="4">
            <a:extLst>
              <a:ext uri="{FF2B5EF4-FFF2-40B4-BE49-F238E27FC236}">
                <a16:creationId xmlns:a16="http://schemas.microsoft.com/office/drawing/2014/main" id="{6BBEB468-DB68-D16B-5D83-E0CCE8796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7339013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22547" name="Line Line" descr="Line Line">
            <a:extLst>
              <a:ext uri="{FF2B5EF4-FFF2-40B4-BE49-F238E27FC236}">
                <a16:creationId xmlns:a16="http://schemas.microsoft.com/office/drawing/2014/main" id="{70EB6E67-2E9D-EEBF-060E-B069347EA03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763" y="6405563"/>
            <a:ext cx="1346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8" name="Rectangle">
            <a:extLst>
              <a:ext uri="{FF2B5EF4-FFF2-40B4-BE49-F238E27FC236}">
                <a16:creationId xmlns:a16="http://schemas.microsoft.com/office/drawing/2014/main" id="{1970ADF9-9574-BC62-2DB0-406D77CD1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6550" y="5789613"/>
            <a:ext cx="1565275" cy="21637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49" name="Rectangle">
            <a:extLst>
              <a:ext uri="{FF2B5EF4-FFF2-40B4-BE49-F238E27FC236}">
                <a16:creationId xmlns:a16="http://schemas.microsoft.com/office/drawing/2014/main" id="{291E71FE-010E-7A8B-1840-C6C1FE95D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0" y="5821363"/>
            <a:ext cx="1501775" cy="779462"/>
          </a:xfrm>
          <a:prstGeom prst="rect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50" name="Rectangle">
            <a:extLst>
              <a:ext uri="{FF2B5EF4-FFF2-40B4-BE49-F238E27FC236}">
                <a16:creationId xmlns:a16="http://schemas.microsoft.com/office/drawing/2014/main" id="{748CD70E-B1F5-3EB2-2419-EAC2016BC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0" y="7140575"/>
            <a:ext cx="1501775" cy="779463"/>
          </a:xfrm>
          <a:prstGeom prst="rect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51" name="Rectangle">
            <a:extLst>
              <a:ext uri="{FF2B5EF4-FFF2-40B4-BE49-F238E27FC236}">
                <a16:creationId xmlns:a16="http://schemas.microsoft.com/office/drawing/2014/main" id="{83DC00BF-FFB3-A2C3-A630-CE32BCAE3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0" y="6578600"/>
            <a:ext cx="1501775" cy="584200"/>
          </a:xfrm>
          <a:prstGeom prst="rect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552" name="Rectangle">
            <a:extLst>
              <a:ext uri="{FF2B5EF4-FFF2-40B4-BE49-F238E27FC236}">
                <a16:creationId xmlns:a16="http://schemas.microsoft.com/office/drawing/2014/main" id="{E45D98DF-D815-273A-8790-1487B415F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6550" y="5192713"/>
            <a:ext cx="1565275" cy="2760662"/>
          </a:xfrm>
          <a:prstGeom prst="rect">
            <a:avLst/>
          </a:prstGeom>
          <a:noFill/>
          <a:ln w="63500">
            <a:solidFill>
              <a:srgbClr val="000000"/>
            </a:solidFill>
            <a:prstDash val="sysDot"/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4" name="Text">
            <a:extLst>
              <a:ext uri="{FF2B5EF4-FFF2-40B4-BE49-F238E27FC236}">
                <a16:creationId xmlns:a16="http://schemas.microsoft.com/office/drawing/2014/main" id="{3F82B831-A6B7-4DFB-26FD-CC74A739887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149344" y="3930535"/>
            <a:ext cx="2449920" cy="63274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2556" name="Line">
            <a:extLst>
              <a:ext uri="{FF2B5EF4-FFF2-40B4-BE49-F238E27FC236}">
                <a16:creationId xmlns:a16="http://schemas.microsoft.com/office/drawing/2014/main" id="{2F212AF6-6D0D-FBAD-EA6E-9674E5381B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72825" y="4906963"/>
            <a:ext cx="541338" cy="541337"/>
          </a:xfrm>
          <a:prstGeom prst="line">
            <a:avLst/>
          </a:prstGeom>
          <a:noFill/>
          <a:ln w="25400">
            <a:solidFill>
              <a:srgbClr val="000000"/>
            </a:solidFill>
            <a:miter lim="4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22557" name="Marginal contribution of Member 1 to Coalition(234)">
            <a:extLst>
              <a:ext uri="{FF2B5EF4-FFF2-40B4-BE49-F238E27FC236}">
                <a16:creationId xmlns:a16="http://schemas.microsoft.com/office/drawing/2014/main" id="{11B96EA9-FB3B-6B1C-F3E2-C136CEB23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7725" y="3238500"/>
            <a:ext cx="308292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1800"/>
              <a:t>Marginal contribution of Member 1 to Coalition(234) </a:t>
            </a:r>
          </a:p>
        </p:txBody>
      </p:sp>
      <p:sp>
        <p:nvSpPr>
          <p:cNvPr id="22558" name="Rectangle">
            <a:extLst>
              <a:ext uri="{FF2B5EF4-FFF2-40B4-BE49-F238E27FC236}">
                <a16:creationId xmlns:a16="http://schemas.microsoft.com/office/drawing/2014/main" id="{2E3738CF-271A-9429-71EE-AC90EC820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3175" y="4521200"/>
            <a:ext cx="1501775" cy="58420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3959E-7001-F443-C21E-4335953EB3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219" r="59127"/>
          <a:stretch>
            <a:fillRect/>
          </a:stretch>
        </p:blipFill>
        <p:spPr>
          <a:xfrm>
            <a:off x="4455319" y="8482013"/>
            <a:ext cx="1001712" cy="44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83134E-066E-34B7-A26B-B27DB55392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32" t="37981" r="16123" b="13696"/>
          <a:stretch>
            <a:fillRect/>
          </a:stretch>
        </p:blipFill>
        <p:spPr>
          <a:xfrm>
            <a:off x="10871200" y="8550275"/>
            <a:ext cx="716756" cy="30638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ley Values">
            <a:extLst>
              <a:ext uri="{FF2B5EF4-FFF2-40B4-BE49-F238E27FC236}">
                <a16:creationId xmlns:a16="http://schemas.microsoft.com/office/drawing/2014/main" id="{4FA54A22-B776-9B2D-65B9-96067B66936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23555" name="Compute the marginal contribution of each member to all combinations of coalitions with and without that member">
            <a:extLst>
              <a:ext uri="{FF2B5EF4-FFF2-40B4-BE49-F238E27FC236}">
                <a16:creationId xmlns:a16="http://schemas.microsoft.com/office/drawing/2014/main" id="{A8128D2D-A829-A3C0-C6AC-AFDAE319D98A}"/>
              </a:ext>
            </a:extLst>
          </p:cNvPr>
          <p:cNvSpPr txBox="1">
            <a:spLocks noGrp="1" noChangeArrowheads="1"/>
          </p:cNvSpPr>
          <p:nvPr>
            <p:ph type="body" sz="quarter" idx="4294967295"/>
          </p:nvPr>
        </p:nvSpPr>
        <p:spPr>
          <a:xfrm>
            <a:off x="698500" y="1924050"/>
            <a:ext cx="11607800" cy="1689100"/>
          </a:xfrm>
        </p:spPr>
        <p:txBody>
          <a:bodyPr/>
          <a:lstStyle/>
          <a:p>
            <a:pPr eaLnBrk="1" hangingPunct="1"/>
            <a:r>
              <a:rPr lang="en-US" altLang="en-US"/>
              <a:t>Compute the marginal contribution of each member to all combinations of coalitions with and without that member</a:t>
            </a:r>
          </a:p>
        </p:txBody>
      </p:sp>
      <p:sp>
        <p:nvSpPr>
          <p:cNvPr id="23556" name="Circle">
            <a:extLst>
              <a:ext uri="{FF2B5EF4-FFF2-40B4-BE49-F238E27FC236}">
                <a16:creationId xmlns:a16="http://schemas.microsoft.com/office/drawing/2014/main" id="{1574401E-1FE9-FACA-207B-EF7F9AFAF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3254375"/>
            <a:ext cx="523875" cy="519113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57" name="Circle">
            <a:extLst>
              <a:ext uri="{FF2B5EF4-FFF2-40B4-BE49-F238E27FC236}">
                <a16:creationId xmlns:a16="http://schemas.microsoft.com/office/drawing/2014/main" id="{0365243D-DE47-71F1-3409-EC48F6FEE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5011738"/>
            <a:ext cx="523875" cy="519112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58" name="Circle">
            <a:extLst>
              <a:ext uri="{FF2B5EF4-FFF2-40B4-BE49-F238E27FC236}">
                <a16:creationId xmlns:a16="http://schemas.microsoft.com/office/drawing/2014/main" id="{1E538C34-D34A-8F82-E4ED-4C99E9EAF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3841750"/>
            <a:ext cx="523875" cy="519113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59" name="Circle">
            <a:extLst>
              <a:ext uri="{FF2B5EF4-FFF2-40B4-BE49-F238E27FC236}">
                <a16:creationId xmlns:a16="http://schemas.microsoft.com/office/drawing/2014/main" id="{5D9854AB-C6AF-7C7F-8C21-D059FD0EB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4425950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0" name="Rounded Rectangle">
            <a:extLst>
              <a:ext uri="{FF2B5EF4-FFF2-40B4-BE49-F238E27FC236}">
                <a16:creationId xmlns:a16="http://schemas.microsoft.com/office/drawing/2014/main" id="{43C4D384-7252-E1BC-EA9F-75AB87F65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3" y="3189288"/>
            <a:ext cx="673100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1" name="VS">
            <a:extLst>
              <a:ext uri="{FF2B5EF4-FFF2-40B4-BE49-F238E27FC236}">
                <a16:creationId xmlns:a16="http://schemas.microsoft.com/office/drawing/2014/main" id="{BF41E894-0699-080E-D084-87B076B07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4040188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562" name="Circle">
            <a:extLst>
              <a:ext uri="{FF2B5EF4-FFF2-40B4-BE49-F238E27FC236}">
                <a16:creationId xmlns:a16="http://schemas.microsoft.com/office/drawing/2014/main" id="{5038DA67-B122-C955-B6E3-FC3275261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011738"/>
            <a:ext cx="523875" cy="519112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3" name="Circle">
            <a:extLst>
              <a:ext uri="{FF2B5EF4-FFF2-40B4-BE49-F238E27FC236}">
                <a16:creationId xmlns:a16="http://schemas.microsoft.com/office/drawing/2014/main" id="{79119420-B77C-E84C-2BEC-012BBAC5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841750"/>
            <a:ext cx="523875" cy="519113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4" name="Circle">
            <a:extLst>
              <a:ext uri="{FF2B5EF4-FFF2-40B4-BE49-F238E27FC236}">
                <a16:creationId xmlns:a16="http://schemas.microsoft.com/office/drawing/2014/main" id="{F3CD023D-E219-420E-8E92-4F1133B1E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4425950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5" name="Rounded Rectangle">
            <a:extLst>
              <a:ext uri="{FF2B5EF4-FFF2-40B4-BE49-F238E27FC236}">
                <a16:creationId xmlns:a16="http://schemas.microsoft.com/office/drawing/2014/main" id="{2B1E00C7-59A9-7BD1-3B59-6ED198F57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8" y="3189288"/>
            <a:ext cx="674687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6" name="Circle">
            <a:extLst>
              <a:ext uri="{FF2B5EF4-FFF2-40B4-BE49-F238E27FC236}">
                <a16:creationId xmlns:a16="http://schemas.microsoft.com/office/drawing/2014/main" id="{137E3596-4D59-7ABF-2159-94BCBEE9D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3254375"/>
            <a:ext cx="523875" cy="519113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7" name="Circle">
            <a:extLst>
              <a:ext uri="{FF2B5EF4-FFF2-40B4-BE49-F238E27FC236}">
                <a16:creationId xmlns:a16="http://schemas.microsoft.com/office/drawing/2014/main" id="{2F05BDFC-EB28-ED3E-C5A8-349434C01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3841750"/>
            <a:ext cx="523875" cy="519113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8" name="Circle">
            <a:extLst>
              <a:ext uri="{FF2B5EF4-FFF2-40B4-BE49-F238E27FC236}">
                <a16:creationId xmlns:a16="http://schemas.microsoft.com/office/drawing/2014/main" id="{E6BABC56-6C63-E84F-EA90-16731C643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4425950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69" name="Rounded Rectangle">
            <a:extLst>
              <a:ext uri="{FF2B5EF4-FFF2-40B4-BE49-F238E27FC236}">
                <a16:creationId xmlns:a16="http://schemas.microsoft.com/office/drawing/2014/main" id="{AEFAED90-BAD6-6040-2485-735067E1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3189288"/>
            <a:ext cx="674687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0" name="VS">
            <a:extLst>
              <a:ext uri="{FF2B5EF4-FFF2-40B4-BE49-F238E27FC236}">
                <a16:creationId xmlns:a16="http://schemas.microsoft.com/office/drawing/2014/main" id="{53B378B5-9DB3-761F-0300-EB9AE5F6C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13" y="4040188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571" name="Circle">
            <a:extLst>
              <a:ext uri="{FF2B5EF4-FFF2-40B4-BE49-F238E27FC236}">
                <a16:creationId xmlns:a16="http://schemas.microsoft.com/office/drawing/2014/main" id="{2B30103C-8257-0529-C2CB-A71536F3A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3841750"/>
            <a:ext cx="523875" cy="519113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2" name="Circle">
            <a:extLst>
              <a:ext uri="{FF2B5EF4-FFF2-40B4-BE49-F238E27FC236}">
                <a16:creationId xmlns:a16="http://schemas.microsoft.com/office/drawing/2014/main" id="{DA2AE04E-AD05-E0DA-92D5-D2E6D037E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4425950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3" name="Rounded Rectangle">
            <a:extLst>
              <a:ext uri="{FF2B5EF4-FFF2-40B4-BE49-F238E27FC236}">
                <a16:creationId xmlns:a16="http://schemas.microsoft.com/office/drawing/2014/main" id="{4104116E-8C7D-9A5F-E0EC-45C022D55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3189288"/>
            <a:ext cx="674687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4" name="Circle">
            <a:extLst>
              <a:ext uri="{FF2B5EF4-FFF2-40B4-BE49-F238E27FC236}">
                <a16:creationId xmlns:a16="http://schemas.microsoft.com/office/drawing/2014/main" id="{69175534-FBE8-DB28-CD91-9764A8749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254375"/>
            <a:ext cx="523875" cy="519113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5" name="Circle">
            <a:extLst>
              <a:ext uri="{FF2B5EF4-FFF2-40B4-BE49-F238E27FC236}">
                <a16:creationId xmlns:a16="http://schemas.microsoft.com/office/drawing/2014/main" id="{6BC67CE4-4BD7-67DC-05E1-ABAF233DF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5011738"/>
            <a:ext cx="523875" cy="519112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6" name="Circle">
            <a:extLst>
              <a:ext uri="{FF2B5EF4-FFF2-40B4-BE49-F238E27FC236}">
                <a16:creationId xmlns:a16="http://schemas.microsoft.com/office/drawing/2014/main" id="{8C2C08E2-070B-287A-1F99-13CDF9F9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841750"/>
            <a:ext cx="523875" cy="519113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7" name="Rounded Rectangle">
            <a:extLst>
              <a:ext uri="{FF2B5EF4-FFF2-40B4-BE49-F238E27FC236}">
                <a16:creationId xmlns:a16="http://schemas.microsoft.com/office/drawing/2014/main" id="{3D942B48-CADD-92D9-2DD1-E13F4D2B9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3189288"/>
            <a:ext cx="674688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78" name="VS">
            <a:extLst>
              <a:ext uri="{FF2B5EF4-FFF2-40B4-BE49-F238E27FC236}">
                <a16:creationId xmlns:a16="http://schemas.microsoft.com/office/drawing/2014/main" id="{10DB23CD-2109-9652-B36E-94501D6C5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3" y="4040188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579" name="Circle">
            <a:extLst>
              <a:ext uri="{FF2B5EF4-FFF2-40B4-BE49-F238E27FC236}">
                <a16:creationId xmlns:a16="http://schemas.microsoft.com/office/drawing/2014/main" id="{4FFB6A26-B572-6809-DD0A-C4C0B1D67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850" y="5011738"/>
            <a:ext cx="523875" cy="519112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0" name="Circle">
            <a:extLst>
              <a:ext uri="{FF2B5EF4-FFF2-40B4-BE49-F238E27FC236}">
                <a16:creationId xmlns:a16="http://schemas.microsoft.com/office/drawing/2014/main" id="{30CEA3F6-9C55-E179-D668-2041EBCBD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850" y="3841750"/>
            <a:ext cx="523875" cy="519113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1" name="Rounded Rectangle">
            <a:extLst>
              <a:ext uri="{FF2B5EF4-FFF2-40B4-BE49-F238E27FC236}">
                <a16:creationId xmlns:a16="http://schemas.microsoft.com/office/drawing/2014/main" id="{308BAF4A-86DB-9BF5-F5E6-5015F417C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938" y="3189288"/>
            <a:ext cx="673100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2" name="Circle">
            <a:extLst>
              <a:ext uri="{FF2B5EF4-FFF2-40B4-BE49-F238E27FC236}">
                <a16:creationId xmlns:a16="http://schemas.microsoft.com/office/drawing/2014/main" id="{F82E6B1C-40C4-0405-D762-D637FEE7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1025" y="3254375"/>
            <a:ext cx="523875" cy="519113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3" name="Circle">
            <a:extLst>
              <a:ext uri="{FF2B5EF4-FFF2-40B4-BE49-F238E27FC236}">
                <a16:creationId xmlns:a16="http://schemas.microsoft.com/office/drawing/2014/main" id="{D380B31D-91A7-2048-0D16-A9C37B86E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1025" y="5011738"/>
            <a:ext cx="523875" cy="519112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4" name="Circle">
            <a:extLst>
              <a:ext uri="{FF2B5EF4-FFF2-40B4-BE49-F238E27FC236}">
                <a16:creationId xmlns:a16="http://schemas.microsoft.com/office/drawing/2014/main" id="{44FEBE21-FAEB-BA90-1D65-B5F7B27A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1025" y="4425950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5" name="Rounded Rectangle">
            <a:extLst>
              <a:ext uri="{FF2B5EF4-FFF2-40B4-BE49-F238E27FC236}">
                <a16:creationId xmlns:a16="http://schemas.microsoft.com/office/drawing/2014/main" id="{172AC200-36DA-F32E-2C6E-2A165847F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113" y="3189288"/>
            <a:ext cx="674687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6" name="VS">
            <a:extLst>
              <a:ext uri="{FF2B5EF4-FFF2-40B4-BE49-F238E27FC236}">
                <a16:creationId xmlns:a16="http://schemas.microsoft.com/office/drawing/2014/main" id="{995D845F-8349-0C66-FA99-0633A829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8413" y="4040188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587" name="Circle">
            <a:extLst>
              <a:ext uri="{FF2B5EF4-FFF2-40B4-BE49-F238E27FC236}">
                <a16:creationId xmlns:a16="http://schemas.microsoft.com/office/drawing/2014/main" id="{DD72FB41-C027-A833-556E-2A849BF32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450" y="5011738"/>
            <a:ext cx="523875" cy="519112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8" name="Circle">
            <a:extLst>
              <a:ext uri="{FF2B5EF4-FFF2-40B4-BE49-F238E27FC236}">
                <a16:creationId xmlns:a16="http://schemas.microsoft.com/office/drawing/2014/main" id="{A8D48767-6719-8411-B9F7-28BF5DEB0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450" y="4425950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89" name="Rounded Rectangle">
            <a:extLst>
              <a:ext uri="{FF2B5EF4-FFF2-40B4-BE49-F238E27FC236}">
                <a16:creationId xmlns:a16="http://schemas.microsoft.com/office/drawing/2014/main" id="{7D3C5360-12AC-BB48-6955-1D8D0F325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0538" y="3189288"/>
            <a:ext cx="674687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0" name="Circle">
            <a:extLst>
              <a:ext uri="{FF2B5EF4-FFF2-40B4-BE49-F238E27FC236}">
                <a16:creationId xmlns:a16="http://schemas.microsoft.com/office/drawing/2014/main" id="{791037F9-742E-726E-F219-C7D5E95BB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6669088"/>
            <a:ext cx="523875" cy="519112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1" name="Circle">
            <a:extLst>
              <a:ext uri="{FF2B5EF4-FFF2-40B4-BE49-F238E27FC236}">
                <a16:creationId xmlns:a16="http://schemas.microsoft.com/office/drawing/2014/main" id="{ED7FBCF8-7354-6637-F565-70EE95555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7256463"/>
            <a:ext cx="523875" cy="519112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2" name="Rounded Rectangle">
            <a:extLst>
              <a:ext uri="{FF2B5EF4-FFF2-40B4-BE49-F238E27FC236}">
                <a16:creationId xmlns:a16="http://schemas.microsoft.com/office/drawing/2014/main" id="{1BEEF908-D699-02F1-6E6E-40BA5C4E2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3" y="6605588"/>
            <a:ext cx="673100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3" name="VS">
            <a:extLst>
              <a:ext uri="{FF2B5EF4-FFF2-40B4-BE49-F238E27FC236}">
                <a16:creationId xmlns:a16="http://schemas.microsoft.com/office/drawing/2014/main" id="{1C73B7C9-F8DE-DFCF-2B5E-21EE0DE44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7454900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594" name="Circle">
            <a:extLst>
              <a:ext uri="{FF2B5EF4-FFF2-40B4-BE49-F238E27FC236}">
                <a16:creationId xmlns:a16="http://schemas.microsoft.com/office/drawing/2014/main" id="{6F3EF875-2FCF-C2B0-5BE3-FB775DFF6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7256463"/>
            <a:ext cx="523875" cy="519112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5" name="Rounded Rectangle">
            <a:extLst>
              <a:ext uri="{FF2B5EF4-FFF2-40B4-BE49-F238E27FC236}">
                <a16:creationId xmlns:a16="http://schemas.microsoft.com/office/drawing/2014/main" id="{B0CCA3E1-FE59-7043-8607-09BA8827C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8" y="6605588"/>
            <a:ext cx="674687" cy="2417762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6" name="Circle">
            <a:extLst>
              <a:ext uri="{FF2B5EF4-FFF2-40B4-BE49-F238E27FC236}">
                <a16:creationId xmlns:a16="http://schemas.microsoft.com/office/drawing/2014/main" id="{3BAC41F6-F86E-753F-74BB-660C9FAE5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6675438"/>
            <a:ext cx="523875" cy="519112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7" name="Circle">
            <a:extLst>
              <a:ext uri="{FF2B5EF4-FFF2-40B4-BE49-F238E27FC236}">
                <a16:creationId xmlns:a16="http://schemas.microsoft.com/office/drawing/2014/main" id="{E1782295-53A0-D4C8-46FF-5C0EDE959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7847013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8" name="Rounded Rectangle">
            <a:extLst>
              <a:ext uri="{FF2B5EF4-FFF2-40B4-BE49-F238E27FC236}">
                <a16:creationId xmlns:a16="http://schemas.microsoft.com/office/drawing/2014/main" id="{D3795912-89E2-1EE2-DC92-7A60F640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6610350"/>
            <a:ext cx="674688" cy="2417763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599" name="VS">
            <a:extLst>
              <a:ext uri="{FF2B5EF4-FFF2-40B4-BE49-F238E27FC236}">
                <a16:creationId xmlns:a16="http://schemas.microsoft.com/office/drawing/2014/main" id="{A913A0E8-6EDC-DC4E-5565-A8D261867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113" y="7461250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600" name="Circle">
            <a:extLst>
              <a:ext uri="{FF2B5EF4-FFF2-40B4-BE49-F238E27FC236}">
                <a16:creationId xmlns:a16="http://schemas.microsoft.com/office/drawing/2014/main" id="{939301B6-927A-40DC-1DD5-05A7E777B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7847013"/>
            <a:ext cx="523875" cy="5207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1" name="Rounded Rectangle">
            <a:extLst>
              <a:ext uri="{FF2B5EF4-FFF2-40B4-BE49-F238E27FC236}">
                <a16:creationId xmlns:a16="http://schemas.microsoft.com/office/drawing/2014/main" id="{AF0D4EDE-6990-5F21-F63D-C769213A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6610350"/>
            <a:ext cx="674687" cy="2417763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2" name="Circle">
            <a:extLst>
              <a:ext uri="{FF2B5EF4-FFF2-40B4-BE49-F238E27FC236}">
                <a16:creationId xmlns:a16="http://schemas.microsoft.com/office/drawing/2014/main" id="{A4646150-CAA9-9A38-A524-A48BE457A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6675438"/>
            <a:ext cx="523875" cy="519112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3" name="Circle">
            <a:extLst>
              <a:ext uri="{FF2B5EF4-FFF2-40B4-BE49-F238E27FC236}">
                <a16:creationId xmlns:a16="http://schemas.microsoft.com/office/drawing/2014/main" id="{B7D88A17-ACBE-BE02-2895-E68B02132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8432800"/>
            <a:ext cx="523875" cy="5207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4" name="Rounded Rectangle">
            <a:extLst>
              <a:ext uri="{FF2B5EF4-FFF2-40B4-BE49-F238E27FC236}">
                <a16:creationId xmlns:a16="http://schemas.microsoft.com/office/drawing/2014/main" id="{43865B8D-2B06-BA76-661E-79CB9E362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6610350"/>
            <a:ext cx="674688" cy="2417763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5" name="VS">
            <a:extLst>
              <a:ext uri="{FF2B5EF4-FFF2-40B4-BE49-F238E27FC236}">
                <a16:creationId xmlns:a16="http://schemas.microsoft.com/office/drawing/2014/main" id="{62B9DF4A-4D99-97DE-2062-AFFACC419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9913" y="7461250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606" name="Circle">
            <a:extLst>
              <a:ext uri="{FF2B5EF4-FFF2-40B4-BE49-F238E27FC236}">
                <a16:creationId xmlns:a16="http://schemas.microsoft.com/office/drawing/2014/main" id="{C80FD5A8-110E-2150-3744-EF61B603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363" y="8432800"/>
            <a:ext cx="523875" cy="5207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7" name="Rounded Rectangle">
            <a:extLst>
              <a:ext uri="{FF2B5EF4-FFF2-40B4-BE49-F238E27FC236}">
                <a16:creationId xmlns:a16="http://schemas.microsoft.com/office/drawing/2014/main" id="{81002D9D-AEBD-FFCE-E97D-72A0DE61E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0450" y="6610350"/>
            <a:ext cx="674688" cy="2417763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8" name="Circle">
            <a:extLst>
              <a:ext uri="{FF2B5EF4-FFF2-40B4-BE49-F238E27FC236}">
                <a16:creationId xmlns:a16="http://schemas.microsoft.com/office/drawing/2014/main" id="{354F627C-705D-F79E-44CA-747C73CA5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25" y="6675438"/>
            <a:ext cx="522288" cy="519112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09" name="Rounded Rectangle">
            <a:extLst>
              <a:ext uri="{FF2B5EF4-FFF2-40B4-BE49-F238E27FC236}">
                <a16:creationId xmlns:a16="http://schemas.microsoft.com/office/drawing/2014/main" id="{052ABF53-BD47-86C5-C9CF-9BD2B4AA6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25" y="6610350"/>
            <a:ext cx="674688" cy="2417763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610" name="VS">
            <a:extLst>
              <a:ext uri="{FF2B5EF4-FFF2-40B4-BE49-F238E27FC236}">
                <a16:creationId xmlns:a16="http://schemas.microsoft.com/office/drawing/2014/main" id="{0FC3C95B-9CEC-336E-CFB1-241D470AA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6513" y="7461250"/>
            <a:ext cx="415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2000">
                <a:solidFill>
                  <a:srgbClr val="000000"/>
                </a:solidFill>
              </a:rPr>
              <a:t>VS</a:t>
            </a:r>
          </a:p>
        </p:txBody>
      </p:sp>
      <p:sp>
        <p:nvSpPr>
          <p:cNvPr id="23611" name="Rounded Rectangle">
            <a:extLst>
              <a:ext uri="{FF2B5EF4-FFF2-40B4-BE49-F238E27FC236}">
                <a16:creationId xmlns:a16="http://schemas.microsoft.com/office/drawing/2014/main" id="{6C3EFA9A-A038-788A-7851-179049A5F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7050" y="6610350"/>
            <a:ext cx="674688" cy="2417763"/>
          </a:xfrm>
          <a:prstGeom prst="roundRect">
            <a:avLst>
              <a:gd name="adj" fmla="val 28236"/>
            </a:avLst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7" name="Text">
            <a:extLst>
              <a:ext uri="{FF2B5EF4-FFF2-40B4-BE49-F238E27FC236}">
                <a16:creationId xmlns:a16="http://schemas.microsoft.com/office/drawing/2014/main" id="{DC56E114-EF0E-C700-3AF9-775644BD64C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2622" y="5599079"/>
            <a:ext cx="929552" cy="584201"/>
          </a:xfrm>
          <a:prstGeom prst="rect">
            <a:avLst/>
          </a:prstGeom>
          <a:blipFill>
            <a:blip r:embed="rId2"/>
            <a:stretch>
              <a:fillRect l="-2632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13" name="Rectangle">
            <a:extLst>
              <a:ext uri="{FF2B5EF4-FFF2-40B4-BE49-F238E27FC236}">
                <a16:creationId xmlns:a16="http://schemas.microsoft.com/office/drawing/2014/main" id="{51E19ECF-C095-7F46-4C63-B5CE8C2B5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5680075"/>
            <a:ext cx="806450" cy="422275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9" name="Text">
            <a:extLst>
              <a:ext uri="{FF2B5EF4-FFF2-40B4-BE49-F238E27FC236}">
                <a16:creationId xmlns:a16="http://schemas.microsoft.com/office/drawing/2014/main" id="{6EDCC823-AB70-22EF-1F1C-3A259D1CC85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99800" y="5599079"/>
            <a:ext cx="929552" cy="584201"/>
          </a:xfrm>
          <a:prstGeom prst="rect">
            <a:avLst/>
          </a:prstGeom>
          <a:blipFill>
            <a:blip r:embed="rId3"/>
            <a:stretch>
              <a:fillRect l="-2632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15" name="Rectangle">
            <a:extLst>
              <a:ext uri="{FF2B5EF4-FFF2-40B4-BE49-F238E27FC236}">
                <a16:creationId xmlns:a16="http://schemas.microsoft.com/office/drawing/2014/main" id="{67522E69-A93B-66AC-BA2F-71423DE8C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5680075"/>
            <a:ext cx="806450" cy="57785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1" name="Text">
            <a:extLst>
              <a:ext uri="{FF2B5EF4-FFF2-40B4-BE49-F238E27FC236}">
                <a16:creationId xmlns:a16="http://schemas.microsoft.com/office/drawing/2014/main" id="{F7608E4D-9607-7D3C-AF55-16F94BAD5BD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50579" y="5614756"/>
            <a:ext cx="929552" cy="584201"/>
          </a:xfrm>
          <a:prstGeom prst="rect">
            <a:avLst/>
          </a:prstGeom>
          <a:blipFill>
            <a:blip r:embed="rId4"/>
            <a:stretch>
              <a:fillRect l="-1961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17" name="Rectangle">
            <a:extLst>
              <a:ext uri="{FF2B5EF4-FFF2-40B4-BE49-F238E27FC236}">
                <a16:creationId xmlns:a16="http://schemas.microsoft.com/office/drawing/2014/main" id="{107CEBFF-4E82-95DA-7BCC-70E12BCFC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963" y="5843588"/>
            <a:ext cx="806450" cy="250825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3" name="Text">
            <a:extLst>
              <a:ext uri="{FF2B5EF4-FFF2-40B4-BE49-F238E27FC236}">
                <a16:creationId xmlns:a16="http://schemas.microsoft.com/office/drawing/2014/main" id="{E3C7F430-454E-4617-ADB0-7DB22C4105A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842238" y="5599079"/>
            <a:ext cx="929553" cy="584201"/>
          </a:xfrm>
          <a:prstGeom prst="rect">
            <a:avLst/>
          </a:prstGeom>
          <a:blipFill>
            <a:blip r:embed="rId5"/>
            <a:stretch>
              <a:fillRect l="-2632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19" name="Rectangle">
            <a:extLst>
              <a:ext uri="{FF2B5EF4-FFF2-40B4-BE49-F238E27FC236}">
                <a16:creationId xmlns:a16="http://schemas.microsoft.com/office/drawing/2014/main" id="{FDB63CE2-4785-D958-57AD-F0257582A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8775" y="5695950"/>
            <a:ext cx="806450" cy="58420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5" name="Text">
            <a:extLst>
              <a:ext uri="{FF2B5EF4-FFF2-40B4-BE49-F238E27FC236}">
                <a16:creationId xmlns:a16="http://schemas.microsoft.com/office/drawing/2014/main" id="{86EAC510-8646-171D-039E-8B268AA127E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8082" y="9019778"/>
            <a:ext cx="929553" cy="584201"/>
          </a:xfrm>
          <a:prstGeom prst="rect">
            <a:avLst/>
          </a:prstGeom>
          <a:blipFill>
            <a:blip r:embed="rId6"/>
            <a:stretch>
              <a:fillRect l="-1961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21" name="Rectangle">
            <a:extLst>
              <a:ext uri="{FF2B5EF4-FFF2-40B4-BE49-F238E27FC236}">
                <a16:creationId xmlns:a16="http://schemas.microsoft.com/office/drawing/2014/main" id="{2F201D1F-7C00-A8BD-226C-A4FDC44C8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9101138"/>
            <a:ext cx="806450" cy="52070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7" name="Text">
            <a:extLst>
              <a:ext uri="{FF2B5EF4-FFF2-40B4-BE49-F238E27FC236}">
                <a16:creationId xmlns:a16="http://schemas.microsoft.com/office/drawing/2014/main" id="{555B9C90-27D4-DE9B-A540-E68CB544C82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72814" y="8930878"/>
            <a:ext cx="929552" cy="584201"/>
          </a:xfrm>
          <a:prstGeom prst="rect">
            <a:avLst/>
          </a:prstGeom>
          <a:blipFill>
            <a:blip r:embed="rId7"/>
            <a:stretch>
              <a:fillRect l="-2632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23" name="Rectangle">
            <a:extLst>
              <a:ext uri="{FF2B5EF4-FFF2-40B4-BE49-F238E27FC236}">
                <a16:creationId xmlns:a16="http://schemas.microsoft.com/office/drawing/2014/main" id="{A66354E6-32F2-170F-2BA5-55127EFA2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175" y="9182100"/>
            <a:ext cx="806450" cy="250825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9" name="Text">
            <a:extLst>
              <a:ext uri="{FF2B5EF4-FFF2-40B4-BE49-F238E27FC236}">
                <a16:creationId xmlns:a16="http://schemas.microsoft.com/office/drawing/2014/main" id="{B9ECD1A9-34CD-2217-D8A7-81D5919C119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25656" y="9015914"/>
            <a:ext cx="929552" cy="584201"/>
          </a:xfrm>
          <a:prstGeom prst="rect">
            <a:avLst/>
          </a:prstGeom>
          <a:blipFill>
            <a:blip r:embed="rId8"/>
            <a:stretch>
              <a:fillRect l="-2632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25" name="Rectangle">
            <a:extLst>
              <a:ext uri="{FF2B5EF4-FFF2-40B4-BE49-F238E27FC236}">
                <a16:creationId xmlns:a16="http://schemas.microsoft.com/office/drawing/2014/main" id="{CC9A86DE-E20B-A7A8-9B7B-3D80F2842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963" y="9271000"/>
            <a:ext cx="806450" cy="24765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1" name="Text">
            <a:extLst>
              <a:ext uri="{FF2B5EF4-FFF2-40B4-BE49-F238E27FC236}">
                <a16:creationId xmlns:a16="http://schemas.microsoft.com/office/drawing/2014/main" id="{2A8714B2-F86C-E9A7-C9C7-5DC42134138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65211" y="9019778"/>
            <a:ext cx="929553" cy="584201"/>
          </a:xfrm>
          <a:prstGeom prst="rect">
            <a:avLst/>
          </a:prstGeom>
          <a:blipFill>
            <a:blip r:embed="rId9"/>
            <a:stretch>
              <a:fillRect l="-2632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3627" name="Rectangle">
            <a:extLst>
              <a:ext uri="{FF2B5EF4-FFF2-40B4-BE49-F238E27FC236}">
                <a16:creationId xmlns:a16="http://schemas.microsoft.com/office/drawing/2014/main" id="{3B323D63-5F84-DE45-A3EA-CA44A60C5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8775" y="8723313"/>
            <a:ext cx="806450" cy="998537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ley Values">
            <a:extLst>
              <a:ext uri="{FF2B5EF4-FFF2-40B4-BE49-F238E27FC236}">
                <a16:creationId xmlns:a16="http://schemas.microsoft.com/office/drawing/2014/main" id="{C545638E-21F4-567C-A161-AC8FDA8A10F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24579" name="Compute the marginal contribution of each member to all combinations of coalitions with and without that member…">
            <a:extLst>
              <a:ext uri="{FF2B5EF4-FFF2-40B4-BE49-F238E27FC236}">
                <a16:creationId xmlns:a16="http://schemas.microsoft.com/office/drawing/2014/main" id="{EB6E2D98-FE65-3472-E80B-6B0CA3B03E50}"/>
              </a:ext>
            </a:extLst>
          </p:cNvPr>
          <p:cNvSpPr txBox="1">
            <a:spLocks noGrp="1" noChangeArrowheads="1"/>
          </p:cNvSpPr>
          <p:nvPr>
            <p:ph type="body" sz="half" idx="4294967295"/>
          </p:nvPr>
        </p:nvSpPr>
        <p:spPr>
          <a:xfrm>
            <a:off x="698500" y="1924050"/>
            <a:ext cx="11607800" cy="2686050"/>
          </a:xfrm>
        </p:spPr>
        <p:txBody>
          <a:bodyPr/>
          <a:lstStyle/>
          <a:p>
            <a:pPr eaLnBrk="1" hangingPunct="1"/>
            <a:r>
              <a:rPr lang="en-US" altLang="en-US"/>
              <a:t>Compute the marginal contribution of each member to all combinations of coalitions with and without that member</a:t>
            </a:r>
          </a:p>
          <a:p>
            <a:pPr eaLnBrk="1" hangingPunct="1"/>
            <a:r>
              <a:rPr lang="en-US" altLang="en-US"/>
              <a:t>The Shapley value is the average marginal contribution for each member averaged across the coalition comparisons</a:t>
            </a:r>
          </a:p>
        </p:txBody>
      </p:sp>
      <p:sp>
        <p:nvSpPr>
          <p:cNvPr id="24580" name="Rectangle">
            <a:extLst>
              <a:ext uri="{FF2B5EF4-FFF2-40B4-BE49-F238E27FC236}">
                <a16:creationId xmlns:a16="http://schemas.microsoft.com/office/drawing/2014/main" id="{E8BE71FC-10CC-9359-70BB-DF30DF94B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5680075"/>
            <a:ext cx="806450" cy="422275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1" name="Rectangle">
            <a:extLst>
              <a:ext uri="{FF2B5EF4-FFF2-40B4-BE49-F238E27FC236}">
                <a16:creationId xmlns:a16="http://schemas.microsoft.com/office/drawing/2014/main" id="{FD4ED43D-0E7E-446B-9368-E6F04CD49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63" y="5602288"/>
            <a:ext cx="804862" cy="57785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2" name="Rectangle">
            <a:extLst>
              <a:ext uri="{FF2B5EF4-FFF2-40B4-BE49-F238E27FC236}">
                <a16:creationId xmlns:a16="http://schemas.microsoft.com/office/drawing/2014/main" id="{C5FF79AC-25ED-9DBF-B6BB-C1C38F0D8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038" y="5765800"/>
            <a:ext cx="806450" cy="250825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3" name="Rectangle">
            <a:extLst>
              <a:ext uri="{FF2B5EF4-FFF2-40B4-BE49-F238E27FC236}">
                <a16:creationId xmlns:a16="http://schemas.microsoft.com/office/drawing/2014/main" id="{AD36A1C4-7477-5EC6-395D-F9B957F0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5611813"/>
            <a:ext cx="806450" cy="58420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4" name="Rectangle">
            <a:extLst>
              <a:ext uri="{FF2B5EF4-FFF2-40B4-BE49-F238E27FC236}">
                <a16:creationId xmlns:a16="http://schemas.microsoft.com/office/drawing/2014/main" id="{AFF2893B-90DC-066A-C1DD-D6B04CE0E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5630863"/>
            <a:ext cx="806450" cy="52070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5" name="Rectangle">
            <a:extLst>
              <a:ext uri="{FF2B5EF4-FFF2-40B4-BE49-F238E27FC236}">
                <a16:creationId xmlns:a16="http://schemas.microsoft.com/office/drawing/2014/main" id="{5A08B286-6DBC-542A-433A-BA287EFE8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5778500"/>
            <a:ext cx="806450" cy="250825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6" name="Rectangle">
            <a:extLst>
              <a:ext uri="{FF2B5EF4-FFF2-40B4-BE49-F238E27FC236}">
                <a16:creationId xmlns:a16="http://schemas.microsoft.com/office/drawing/2014/main" id="{537AF3F6-B719-70FE-0C52-C7B22F4E1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713" y="5765800"/>
            <a:ext cx="804862" cy="247650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7" name="Rectangle">
            <a:extLst>
              <a:ext uri="{FF2B5EF4-FFF2-40B4-BE49-F238E27FC236}">
                <a16:creationId xmlns:a16="http://schemas.microsoft.com/office/drawing/2014/main" id="{9432CF02-CA17-A266-979E-5AA42D4EC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4088" y="5391150"/>
            <a:ext cx="806450" cy="998538"/>
          </a:xfrm>
          <a:prstGeom prst="rect">
            <a:avLst/>
          </a:prstGeom>
          <a:solidFill>
            <a:srgbClr val="94175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589" name="=">
            <a:extLst>
              <a:ext uri="{FF2B5EF4-FFF2-40B4-BE49-F238E27FC236}">
                <a16:creationId xmlns:a16="http://schemas.microsoft.com/office/drawing/2014/main" id="{3CA59956-6431-D273-A1A0-46B8BE3DC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3450" y="5611813"/>
            <a:ext cx="352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24591" name="Line">
            <a:extLst>
              <a:ext uri="{FF2B5EF4-FFF2-40B4-BE49-F238E27FC236}">
                <a16:creationId xmlns:a16="http://schemas.microsoft.com/office/drawing/2014/main" id="{0E60A63D-8A67-613C-8920-9B4BF4640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2988" y="6664325"/>
            <a:ext cx="8085137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24592" name="8">
            <a:extLst>
              <a:ext uri="{FF2B5EF4-FFF2-40B4-BE49-F238E27FC236}">
                <a16:creationId xmlns:a16="http://schemas.microsoft.com/office/drawing/2014/main" id="{1CF2654B-7F68-22ED-226C-ECB7CD90C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863" y="6767513"/>
            <a:ext cx="320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>
                <a:solidFill>
                  <a:srgbClr val="000000"/>
                </a:solidFill>
              </a:rPr>
              <a:t>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05C9E-7AFF-BF37-559D-24504688C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891" y="5630863"/>
            <a:ext cx="912491" cy="72637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ley Values">
            <a:extLst>
              <a:ext uri="{FF2B5EF4-FFF2-40B4-BE49-F238E27FC236}">
                <a16:creationId xmlns:a16="http://schemas.microsoft.com/office/drawing/2014/main" id="{E88A1792-BF1C-D397-C348-9BBB94E6537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Values</a:t>
            </a:r>
          </a:p>
        </p:txBody>
      </p:sp>
      <p:sp>
        <p:nvSpPr>
          <p:cNvPr id="25607" name="Repeat for all coalition members to get the Shapley values for each member">
            <a:extLst>
              <a:ext uri="{FF2B5EF4-FFF2-40B4-BE49-F238E27FC236}">
                <a16:creationId xmlns:a16="http://schemas.microsoft.com/office/drawing/2014/main" id="{77E447D9-AC48-A2EB-7757-A05A460137D5}"/>
              </a:ext>
            </a:extLst>
          </p:cNvPr>
          <p:cNvSpPr txBox="1">
            <a:spLocks noGrp="1" noChangeArrowheads="1"/>
          </p:cNvSpPr>
          <p:nvPr>
            <p:ph type="body" sz="half" idx="4294967295"/>
          </p:nvPr>
        </p:nvSpPr>
        <p:spPr>
          <a:xfrm>
            <a:off x="698500" y="1814513"/>
            <a:ext cx="11607800" cy="2686050"/>
          </a:xfrm>
        </p:spPr>
        <p:txBody>
          <a:bodyPr/>
          <a:lstStyle/>
          <a:p>
            <a:pPr eaLnBrk="1" hangingPunct="1"/>
            <a:r>
              <a:rPr lang="en-US" altLang="en-US"/>
              <a:t>Repeat for all coalition members to get the Shapley values for each member</a:t>
            </a:r>
          </a:p>
        </p:txBody>
      </p:sp>
      <p:sp>
        <p:nvSpPr>
          <p:cNvPr id="25612" name="Rounded Rectangle">
            <a:extLst>
              <a:ext uri="{FF2B5EF4-FFF2-40B4-BE49-F238E27FC236}">
                <a16:creationId xmlns:a16="http://schemas.microsoft.com/office/drawing/2014/main" id="{A5CE061A-F29B-368C-68E7-ECF3A6C3A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3303588"/>
            <a:ext cx="1565275" cy="5845175"/>
          </a:xfrm>
          <a:prstGeom prst="roundRect">
            <a:avLst>
              <a:gd name="adj" fmla="val 12176"/>
            </a:avLst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614" name="1">
            <a:extLst>
              <a:ext uri="{FF2B5EF4-FFF2-40B4-BE49-F238E27FC236}">
                <a16:creationId xmlns:a16="http://schemas.microsoft.com/office/drawing/2014/main" id="{4C45488D-6331-7FC0-426A-C1E8FE6CF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3444875"/>
            <a:ext cx="1270000" cy="1270000"/>
          </a:xfrm>
          <a:prstGeom prst="ellipse">
            <a:avLst/>
          </a:prstGeom>
          <a:solidFill>
            <a:srgbClr val="0054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5615" name="2">
            <a:extLst>
              <a:ext uri="{FF2B5EF4-FFF2-40B4-BE49-F238E27FC236}">
                <a16:creationId xmlns:a16="http://schemas.microsoft.com/office/drawing/2014/main" id="{C8992056-CF8A-0B2C-E8E2-EBE2EF93E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4846638"/>
            <a:ext cx="1270000" cy="1270000"/>
          </a:xfrm>
          <a:prstGeom prst="ellipse">
            <a:avLst/>
          </a:prstGeom>
          <a:solidFill>
            <a:srgbClr val="00919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5616" name="3">
            <a:extLst>
              <a:ext uri="{FF2B5EF4-FFF2-40B4-BE49-F238E27FC236}">
                <a16:creationId xmlns:a16="http://schemas.microsoft.com/office/drawing/2014/main" id="{F15DDA95-DD56-9F63-06EF-EC32BD23D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6248400"/>
            <a:ext cx="1270000" cy="1270000"/>
          </a:xfrm>
          <a:prstGeom prst="ellipse">
            <a:avLst/>
          </a:prstGeom>
          <a:solidFill>
            <a:srgbClr val="FF7E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5617" name="4">
            <a:extLst>
              <a:ext uri="{FF2B5EF4-FFF2-40B4-BE49-F238E27FC236}">
                <a16:creationId xmlns:a16="http://schemas.microsoft.com/office/drawing/2014/main" id="{75C35C22-73D6-D05C-E95B-0521F041D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7651750"/>
            <a:ext cx="1270000" cy="1270000"/>
          </a:xfrm>
          <a:prstGeom prst="ellipse">
            <a:avLst/>
          </a:prstGeom>
          <a:solidFill>
            <a:srgbClr val="FFD47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r>
              <a:rPr lang="en-US" altLang="en-US"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pic>
        <p:nvPicPr>
          <p:cNvPr id="25618" name="Line Line" descr="Line Line">
            <a:extLst>
              <a:ext uri="{FF2B5EF4-FFF2-40B4-BE49-F238E27FC236}">
                <a16:creationId xmlns:a16="http://schemas.microsoft.com/office/drawing/2014/main" id="{862533D9-EE1F-5588-651A-7F678BD97A5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50" y="5942013"/>
            <a:ext cx="1909763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473FEA-3170-69B8-E5D5-B265B5A0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699" y="4391603"/>
            <a:ext cx="2553057" cy="31008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elect a feature, say  , to determine its importance…">
            <a:extLst>
              <a:ext uri="{FF2B5EF4-FFF2-40B4-BE49-F238E27FC236}">
                <a16:creationId xmlns:a16="http://schemas.microsoft.com/office/drawing/2014/main" id="{323A86DE-BA24-B345-F998-76BB5F16CEC5}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698500" y="1924756"/>
            <a:ext cx="11607800" cy="7640537"/>
          </a:xfrm>
          <a:blipFill>
            <a:blip r:embed="rId2"/>
            <a:stretch>
              <a:fillRect l="-1313" t="-958" r="-2258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370" name="In Machine Learning">
            <a:extLst>
              <a:ext uri="{FF2B5EF4-FFF2-40B4-BE49-F238E27FC236}">
                <a16:creationId xmlns:a16="http://schemas.microsoft.com/office/drawing/2014/main" id="{40C9F7E0-20A7-A10B-B4B6-6E3845D0C03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In Machine Learning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ley Additive exPlanations">
            <a:extLst>
              <a:ext uri="{FF2B5EF4-FFF2-40B4-BE49-F238E27FC236}">
                <a16:creationId xmlns:a16="http://schemas.microsoft.com/office/drawing/2014/main" id="{2BC1C976-1299-84FC-27C4-437090FB756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7339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rgbClr val="009193"/>
                </a:solidFill>
              </a:rPr>
              <a:t>SH</a:t>
            </a:r>
            <a:r>
              <a:t>apley </a:t>
            </a:r>
            <a:r>
              <a:rPr>
                <a:solidFill>
                  <a:srgbClr val="009193"/>
                </a:solidFill>
              </a:rPr>
              <a:t>A</a:t>
            </a:r>
            <a:r>
              <a:t>dditive ex</a:t>
            </a:r>
            <a:r>
              <a:rPr>
                <a:solidFill>
                  <a:srgbClr val="009193"/>
                </a:solidFill>
              </a:rPr>
              <a:t>P</a:t>
            </a:r>
            <a:r>
              <a:t>lanations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In 2017, Lundberg and Lee extended the idea of Shapley values to explainable machine learning">
            <a:extLst>
              <a:ext uri="{FF2B5EF4-FFF2-40B4-BE49-F238E27FC236}">
                <a16:creationId xmlns:a16="http://schemas.microsoft.com/office/drawing/2014/main" id="{EEB60F43-4AA8-5D1B-1CC9-B6B5FFC1AA73}"/>
              </a:ext>
            </a:extLst>
          </p:cNvPr>
          <p:cNvSpPr txBox="1">
            <a:spLocks noGrp="1" noChangeArrowheads="1"/>
          </p:cNvSpPr>
          <p:nvPr>
            <p:ph type="body" sz="quarter" idx="1"/>
          </p:nvPr>
        </p:nvSpPr>
        <p:spPr>
          <a:xfrm>
            <a:off x="698500" y="1924050"/>
            <a:ext cx="11607800" cy="1468438"/>
          </a:xfrm>
        </p:spPr>
        <p:txBody>
          <a:bodyPr/>
          <a:lstStyle/>
          <a:p>
            <a:pPr eaLnBrk="1" hangingPunct="1"/>
            <a:r>
              <a:rPr lang="en-US" altLang="en-US"/>
              <a:t>In 2017, Lundberg and Lee extended the idea of Shapley values to explainable machine learning</a:t>
            </a:r>
          </a:p>
        </p:txBody>
      </p:sp>
      <p:sp>
        <p:nvSpPr>
          <p:cNvPr id="375" name="Shapley applied to explainable AI">
            <a:extLst>
              <a:ext uri="{FF2B5EF4-FFF2-40B4-BE49-F238E27FC236}">
                <a16:creationId xmlns:a16="http://schemas.microsoft.com/office/drawing/2014/main" id="{93D76BF9-120A-8765-E78C-8E450454C55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Shapley applied to explainable AI</a:t>
            </a:r>
          </a:p>
        </p:txBody>
      </p:sp>
      <p:pic>
        <p:nvPicPr>
          <p:cNvPr id="28676" name="Image" descr="Image">
            <a:extLst>
              <a:ext uri="{FF2B5EF4-FFF2-40B4-BE49-F238E27FC236}">
                <a16:creationId xmlns:a16="http://schemas.microsoft.com/office/drawing/2014/main" id="{0162437B-0025-13B1-8BBC-62C60996C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5" y="3257550"/>
            <a:ext cx="6381750" cy="629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">
            <a:extLst>
              <a:ext uri="{FF2B5EF4-FFF2-40B4-BE49-F238E27FC236}">
                <a16:creationId xmlns:a16="http://schemas.microsoft.com/office/drawing/2014/main" id="{142A0091-2B8D-9E62-CA16-6785A56623A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</a:t>
            </a:r>
          </a:p>
        </p:txBody>
      </p:sp>
      <p:sp>
        <p:nvSpPr>
          <p:cNvPr id="29700" name="Rectangle">
            <a:extLst>
              <a:ext uri="{FF2B5EF4-FFF2-40B4-BE49-F238E27FC236}">
                <a16:creationId xmlns:a16="http://schemas.microsoft.com/office/drawing/2014/main" id="{F9F5DF70-82C6-1DF4-8AA1-365A67943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6263" y="4263232"/>
            <a:ext cx="2257425" cy="2760662"/>
          </a:xfrm>
          <a:prstGeom prst="rect">
            <a:avLst/>
          </a:prstGeom>
          <a:noFill/>
          <a:ln w="635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0800" tIns="50800" rIns="50800" bIns="50800" anchor="ctr"/>
          <a:lstStyle>
            <a:lvl1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defTabSz="584200"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4572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9144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13716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1828800" indent="1828800" defTabSz="584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algn="ctr" eaLnBrk="1"/>
            <a:endParaRPr lang="en-US" altLang="en-US" sz="2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9705" name="Line Line" descr="Line Line">
            <a:extLst>
              <a:ext uri="{FF2B5EF4-FFF2-40B4-BE49-F238E27FC236}">
                <a16:creationId xmlns:a16="http://schemas.microsoft.com/office/drawing/2014/main" id="{DADC6EAA-0328-32CA-880B-00092DABD62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8" y="5335588"/>
            <a:ext cx="190976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Example: Prediction">
            <a:extLst>
              <a:ext uri="{FF2B5EF4-FFF2-40B4-BE49-F238E27FC236}">
                <a16:creationId xmlns:a16="http://schemas.microsoft.com/office/drawing/2014/main" id="{9A4B16A3-01A1-E7AE-D2D1-F53C37E6C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726" y="7108825"/>
            <a:ext cx="31146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 dirty="0"/>
              <a:t>Example: Prediction </a:t>
            </a:r>
          </a:p>
        </p:txBody>
      </p:sp>
      <p:sp>
        <p:nvSpPr>
          <p:cNvPr id="29707" name="Example: ML Blackbox model">
            <a:extLst>
              <a:ext uri="{FF2B5EF4-FFF2-40B4-BE49-F238E27FC236}">
                <a16:creationId xmlns:a16="http://schemas.microsoft.com/office/drawing/2014/main" id="{F08D48B6-38BC-2468-2DB2-0D8240871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5781675"/>
            <a:ext cx="3113087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ML Blackbox model </a:t>
            </a:r>
          </a:p>
        </p:txBody>
      </p:sp>
      <p:sp>
        <p:nvSpPr>
          <p:cNvPr id="29708" name="Example: Features">
            <a:extLst>
              <a:ext uri="{FF2B5EF4-FFF2-40B4-BE49-F238E27FC236}">
                <a16:creationId xmlns:a16="http://schemas.microsoft.com/office/drawing/2014/main" id="{75AFB633-61CC-6E21-044D-CEFA0E2F2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8724900"/>
            <a:ext cx="23209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 sz="2000"/>
              <a:t>Example: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35346-93E0-F3A7-E8EC-277A471ED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49" y="2538579"/>
            <a:ext cx="1577594" cy="55940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 values">
            <a:extLst>
              <a:ext uri="{FF2B5EF4-FFF2-40B4-BE49-F238E27FC236}">
                <a16:creationId xmlns:a16="http://schemas.microsoft.com/office/drawing/2014/main" id="{0FE4F370-708F-F2D5-F7D3-E425ED11E61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SHAP values </a:t>
            </a:r>
          </a:p>
        </p:txBody>
      </p:sp>
      <p:sp>
        <p:nvSpPr>
          <p:cNvPr id="397" name="is the set of all features…">
            <a:extLst>
              <a:ext uri="{FF2B5EF4-FFF2-40B4-BE49-F238E27FC236}">
                <a16:creationId xmlns:a16="http://schemas.microsoft.com/office/drawing/2014/main" id="{3DC807C7-B37B-A2AF-ACD1-D195F077F72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8500" y="4202239"/>
            <a:ext cx="11607800" cy="4844557"/>
          </a:xfrm>
          <a:prstGeom prst="rect">
            <a:avLst/>
          </a:prstGeom>
          <a:blipFill>
            <a:blip r:embed="rId2"/>
            <a:stretch>
              <a:fillRect l="-1313" t="-1887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FCB870-934A-1EE5-085C-40704E30B359}"/>
                  </a:ext>
                </a:extLst>
              </p:cNvPr>
              <p:cNvSpPr txBox="1"/>
              <p:nvPr/>
            </p:nvSpPr>
            <p:spPr>
              <a:xfrm>
                <a:off x="1663700" y="1841506"/>
                <a:ext cx="9969500" cy="19749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For a given input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, the SHAP value for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ar-AE" i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∖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b="0" i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|!</m:t>
                              </m:r>
                              <m:d>
                                <m:dPr>
                                  <m:ctrlPr>
                                    <a:rPr lang="ar-AE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ar-AE" i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|−</m:t>
                                  </m:r>
                                  <m:r>
                                    <a:rPr lang="ar-AE" i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ar-AE" i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ar-AE" i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ar-AE" i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ar-AE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  <m:r>
                            <a:rPr lang="ar-AE" i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FCB870-934A-1EE5-085C-40704E30B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841506"/>
                <a:ext cx="9969500" cy="1974964"/>
              </a:xfrm>
              <a:prstGeom prst="rect">
                <a:avLst/>
              </a:prstGeom>
              <a:blipFill>
                <a:blip r:embed="rId3"/>
                <a:stretch>
                  <a:fillRect l="-1284" t="-277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1746" name="These properties are directly derived from the axioms of Shapley values in cooperative game theory…">
                <a:extLst>
                  <a:ext uri="{FF2B5EF4-FFF2-40B4-BE49-F238E27FC236}">
                    <a16:creationId xmlns:a16="http://schemas.microsoft.com/office/drawing/2014/main" id="{5507457D-E881-E3C3-F75E-2164963173DC}"/>
                  </a:ext>
                </a:extLst>
              </p:cNvPr>
              <p:cNvSpPr txBox="1"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These properties are directly derived from the axioms of Shapley values in cooperative game theory</a:t>
                </a:r>
              </a:p>
              <a:p>
                <a:pPr marL="1016000" lvl="1" eaLnBrk="1" hangingPunct="1"/>
                <a:r>
                  <a:rPr lang="en-US" altLang="en-US" dirty="0"/>
                  <a:t>Efficiency (sum to model output)</a:t>
                </a:r>
              </a:p>
              <a:p>
                <a:pPr marL="1016000" lvl="1" eaLnBrk="1" hangingPunct="1"/>
                <a:r>
                  <a:rPr lang="en-US" altLang="en-US" dirty="0"/>
                  <a:t>Symmetry (fairness)                        if features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dirty="0"/>
                  <a:t> contribute equally</a:t>
                </a:r>
              </a:p>
              <a:p>
                <a:pPr marL="1016000" lvl="1" eaLnBrk="1" hangingPunct="1"/>
                <a:r>
                  <a:rPr lang="en-US" altLang="en-US" dirty="0"/>
                  <a:t>Additivity (consistency)</a:t>
                </a:r>
              </a:p>
              <a:p>
                <a:pPr eaLnBrk="1" hangingPunct="1"/>
                <a:r>
                  <a:rPr lang="en-US" altLang="en-US" dirty="0"/>
                  <a:t>SHAP is the only feature attribution method that satisfies these properties</a:t>
                </a:r>
              </a:p>
              <a:p>
                <a:pPr marL="1016000" lvl="1" eaLnBrk="1" hangingPunct="1"/>
                <a:r>
                  <a:rPr lang="en-US" altLang="en-US" dirty="0"/>
                  <a:t>Mathematically justifies and makes SHAP more trustworthy compared to other methods</a:t>
                </a:r>
              </a:p>
            </p:txBody>
          </p:sp>
        </mc:Choice>
        <mc:Fallback>
          <p:sp>
            <p:nvSpPr>
              <p:cNvPr id="31746" name="These properties are directly derived from the axioms of Shapley values in cooperative game theory…">
                <a:extLst>
                  <a:ext uri="{FF2B5EF4-FFF2-40B4-BE49-F238E27FC236}">
                    <a16:creationId xmlns:a16="http://schemas.microsoft.com/office/drawing/2014/main" id="{5507457D-E881-E3C3-F75E-2164963173D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313" t="-1596" r="-1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0" name="Properties of SHAP">
            <a:extLst>
              <a:ext uri="{FF2B5EF4-FFF2-40B4-BE49-F238E27FC236}">
                <a16:creationId xmlns:a16="http://schemas.microsoft.com/office/drawing/2014/main" id="{F91E8899-6806-DC6C-2BDE-681549FA8B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dirty="0"/>
              <a:t>Properties of SHAP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512EB-DC02-03E6-EBA2-21C5251F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776" y="2870201"/>
            <a:ext cx="4307147" cy="1044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37F681-0857-177A-FDEA-A7E19C2AF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339" y="3915157"/>
            <a:ext cx="1541562" cy="57257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he sum of all SHAP values for a given instances equals the difference between the model’s prediction and the baseline expectation…">
            <a:extLst>
              <a:ext uri="{FF2B5EF4-FFF2-40B4-BE49-F238E27FC236}">
                <a16:creationId xmlns:a16="http://schemas.microsoft.com/office/drawing/2014/main" id="{7C4A8073-D882-642C-D328-E60B750E7F54}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698500" y="1924756"/>
            <a:ext cx="11607800" cy="7640537"/>
          </a:xfrm>
          <a:blipFill>
            <a:blip r:embed="rId2"/>
            <a:stretch>
              <a:fillRect r="-893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03" name="Properties of SHAP: Efficiency">
            <a:extLst>
              <a:ext uri="{FF2B5EF4-FFF2-40B4-BE49-F238E27FC236}">
                <a16:creationId xmlns:a16="http://schemas.microsoft.com/office/drawing/2014/main" id="{AD9DAC8A-3BCA-63F7-8C78-CF30D13FF15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Properties of SHAP: Efficiency 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If   for all  , then…">
            <a:extLst>
              <a:ext uri="{FF2B5EF4-FFF2-40B4-BE49-F238E27FC236}">
                <a16:creationId xmlns:a16="http://schemas.microsoft.com/office/drawing/2014/main" id="{BFB9C5D9-9901-5A93-6D3E-0CCB33500500}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698500" y="1949480"/>
            <a:ext cx="11607800" cy="7640537"/>
          </a:xfrm>
          <a:blipFill>
            <a:blip r:embed="rId2"/>
            <a:stretch>
              <a:fillRect l="-1313" t="-958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06" name="Properties of SHAP: Symmetry">
            <a:extLst>
              <a:ext uri="{FF2B5EF4-FFF2-40B4-BE49-F238E27FC236}">
                <a16:creationId xmlns:a16="http://schemas.microsoft.com/office/drawing/2014/main" id="{1CBB646A-C0FE-E2B5-6B9A-2C69472A405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Properties of SHAP: Symmetry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Mathematical Consistency…">
            <a:extLst>
              <a:ext uri="{FF2B5EF4-FFF2-40B4-BE49-F238E27FC236}">
                <a16:creationId xmlns:a16="http://schemas.microsoft.com/office/drawing/2014/main" id="{17D17AD3-92DB-3929-792B-1A3084E8B6B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98500" y="1949450"/>
            <a:ext cx="11607800" cy="7640638"/>
          </a:xfrm>
        </p:spPr>
        <p:txBody>
          <a:bodyPr/>
          <a:lstStyle/>
          <a:p>
            <a:pPr eaLnBrk="1" hangingPunct="1"/>
            <a:r>
              <a:rPr lang="en-US" altLang="en-US"/>
              <a:t>Mathematical Consistency</a:t>
            </a:r>
          </a:p>
          <a:p>
            <a:pPr marL="1016000" lvl="1" eaLnBrk="1" hangingPunct="1"/>
            <a:r>
              <a:rPr lang="en-US" altLang="en-US"/>
              <a:t>If a model changes to depend more on a feature, the SHAP value for that feature should not decrease</a:t>
            </a:r>
          </a:p>
          <a:p>
            <a:pPr marL="1016000" lvl="1" eaLnBrk="1" hangingPunct="1"/>
            <a:r>
              <a:rPr lang="en-US" altLang="en-US"/>
              <a:t>This ensure that SHAP values are consistent across different models</a:t>
            </a:r>
          </a:p>
        </p:txBody>
      </p:sp>
      <p:sp>
        <p:nvSpPr>
          <p:cNvPr id="409" name="Properties of SHAP: Additivity">
            <a:extLst>
              <a:ext uri="{FF2B5EF4-FFF2-40B4-BE49-F238E27FC236}">
                <a16:creationId xmlns:a16="http://schemas.microsoft.com/office/drawing/2014/main" id="{AA3933B7-BAB7-452E-3CF0-6C6C5C95DD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Properties of SHAP: Additivity 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(Slightly different meaning than the mathematical consistency property)…">
            <a:extLst>
              <a:ext uri="{FF2B5EF4-FFF2-40B4-BE49-F238E27FC236}">
                <a16:creationId xmlns:a16="http://schemas.microsoft.com/office/drawing/2014/main" id="{0AD86FC0-EDF5-B9C7-7859-87BD93A609E2}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698500" y="1924756"/>
            <a:ext cx="11607800" cy="7640537"/>
          </a:xfrm>
          <a:blipFill>
            <a:blip r:embed="rId2"/>
            <a:stretch>
              <a:fillRect l="-1313" t="-1516" r="-1471"/>
            </a:stretch>
          </a:blipFill>
          <a:ln w="12700">
            <a:miter lim="400000"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12" name="SHapley Additive exPlanations">
            <a:extLst>
              <a:ext uri="{FF2B5EF4-FFF2-40B4-BE49-F238E27FC236}">
                <a16:creationId xmlns:a16="http://schemas.microsoft.com/office/drawing/2014/main" id="{85A60CAC-C6BB-8DC5-55EC-63B6703D4A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265768" eaLnBrk="1" fontAlgn="auto" hangingPunct="1">
              <a:spcBef>
                <a:spcPts val="0"/>
              </a:spcBef>
              <a:spcAft>
                <a:spcPts val="0"/>
              </a:spcAft>
              <a:defRPr sz="5986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5986">
                <a:solidFill>
                  <a:srgbClr val="009193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SH</a:t>
            </a:r>
            <a:r>
              <a:rPr sz="5986"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apley</a:t>
            </a:r>
            <a:r>
              <a:rPr sz="5986"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sz="5986" b="1">
                <a:solidFill>
                  <a:srgbClr val="0091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sz="5986" b="1">
                <a:latin typeface="Helvetica Neue"/>
                <a:ea typeface="Helvetica Neue"/>
                <a:cs typeface="Helvetica Neue"/>
                <a:sym typeface="Helvetica Neue"/>
              </a:rPr>
              <a:t>dditive</a:t>
            </a:r>
            <a:r>
              <a:rPr sz="5986"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sz="5986"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ex</a:t>
            </a:r>
            <a:r>
              <a:rPr sz="5986">
                <a:solidFill>
                  <a:srgbClr val="009193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</a:t>
            </a:r>
            <a:r>
              <a:rPr sz="5986"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lanations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Kernel SHAP (slow but model agnostic)…">
            <a:extLst>
              <a:ext uri="{FF2B5EF4-FFF2-40B4-BE49-F238E27FC236}">
                <a16:creationId xmlns:a16="http://schemas.microsoft.com/office/drawing/2014/main" id="{8699129B-C30E-F2CC-A800-7E7101B2B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500" y="1801813"/>
            <a:ext cx="11607800" cy="7640637"/>
          </a:xfrm>
        </p:spPr>
        <p:txBody>
          <a:bodyPr>
            <a:normAutofit/>
          </a:bodyPr>
          <a:lstStyle/>
          <a:p>
            <a:pPr marL="365759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Kernel SHAP </a:t>
            </a:r>
            <a:r>
              <a:rPr sz="2880" i="1">
                <a:latin typeface="Avenir Next Ultra Light"/>
                <a:ea typeface="Avenir Next Ultra Light"/>
                <a:cs typeface="Avenir Next Ultra Light"/>
                <a:sym typeface="Avenir Next Ultra Light"/>
              </a:rPr>
              <a:t>(slow but model agnostic)</a:t>
            </a:r>
          </a:p>
          <a:p>
            <a:pPr marL="975359" lvl="1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Works for any model</a:t>
            </a:r>
          </a:p>
          <a:p>
            <a:pPr marL="975359" lvl="1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Uses random sampling and wtd regression to estimate values</a:t>
            </a:r>
          </a:p>
          <a:p>
            <a:pPr marL="365759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Tree SHAP </a:t>
            </a:r>
            <a:r>
              <a:rPr sz="2880" i="1">
                <a:latin typeface="Avenir Next Ultra Light"/>
                <a:ea typeface="Avenir Next Ultra Light"/>
                <a:cs typeface="Avenir Next Ultra Light"/>
                <a:sym typeface="Avenir Next Ultra Light"/>
              </a:rPr>
              <a:t>(fast but only works for tree based models)</a:t>
            </a:r>
          </a:p>
          <a:p>
            <a:pPr marL="975359" lvl="1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Optimized for tree models (RF, Boosting)</a:t>
            </a:r>
          </a:p>
          <a:p>
            <a:pPr marL="975359" lvl="1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Uses dynamic programming to compute SHAP value exactly</a:t>
            </a:r>
          </a:p>
          <a:p>
            <a:pPr marL="365759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Deep SHAP </a:t>
            </a:r>
            <a:r>
              <a:rPr sz="2880" i="1">
                <a:latin typeface="Avenir Next Ultra Light"/>
                <a:ea typeface="Avenir Next Ultra Light"/>
                <a:cs typeface="Avenir Next Ultra Light"/>
                <a:sym typeface="Avenir Next Ultra Light"/>
              </a:rPr>
              <a:t>(faster than kernel SHAP)</a:t>
            </a:r>
          </a:p>
          <a:p>
            <a:pPr marL="975359" lvl="1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Optimized for neural networks</a:t>
            </a:r>
          </a:p>
          <a:p>
            <a:pPr marL="975359" lvl="1" indent="-365759" defTabSz="1664572" eaLnBrk="1" fontAlgn="auto" hangingPunct="1">
              <a:spcBef>
                <a:spcPts val="3000"/>
              </a:spcBef>
              <a:spcAft>
                <a:spcPts val="0"/>
              </a:spcAft>
              <a:defRPr sz="2880"/>
            </a:pPr>
            <a:r>
              <a:rPr sz="2880"/>
              <a:t>Uses back propagation and DeepLIFT to estimate SHAP values</a:t>
            </a:r>
          </a:p>
        </p:txBody>
      </p:sp>
      <p:sp>
        <p:nvSpPr>
          <p:cNvPr id="415" name="Types of SHAP">
            <a:extLst>
              <a:ext uri="{FF2B5EF4-FFF2-40B4-BE49-F238E27FC236}">
                <a16:creationId xmlns:a16="http://schemas.microsoft.com/office/drawing/2014/main" id="{ABB0ECB9-02FA-B4AA-CFDC-839A3DB262C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Types of SHAP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 is a local explanation technique…">
            <a:extLst>
              <a:ext uri="{FF2B5EF4-FFF2-40B4-BE49-F238E27FC236}">
                <a16:creationId xmlns:a16="http://schemas.microsoft.com/office/drawing/2014/main" id="{B07141FF-3A7B-2B95-C0B9-96D6FF0E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1733930" eaLnBrk="1" fontAlgn="auto" hangingPunct="1">
              <a:spcAft>
                <a:spcPts val="0"/>
              </a:spcAft>
              <a:defRPr/>
            </a:pPr>
            <a:r>
              <a:t>SHAP is a local explanation technique</a:t>
            </a:r>
          </a:p>
          <a:p>
            <a:pPr marL="1016000" lvl="1" defTabSz="1733930" eaLnBrk="1" fontAlgn="auto" hangingPunct="1">
              <a:spcAft>
                <a:spcPts val="0"/>
              </a:spcAft>
              <a:defRPr/>
            </a:pPr>
            <a:r>
              <a:t>Designed to explain how each feature contributes to the final prediction of</a:t>
            </a:r>
            <a:r>
              <a:rPr i="1">
                <a:latin typeface="+mn-lt"/>
                <a:ea typeface="+mn-ea"/>
                <a:cs typeface="+mn-cs"/>
                <a:sym typeface="Avenir Next Demi Bold"/>
              </a:rPr>
              <a:t> an individual prediction</a:t>
            </a:r>
          </a:p>
          <a:p>
            <a:pPr defTabSz="1733930" eaLnBrk="1" fontAlgn="auto" hangingPunct="1">
              <a:spcAft>
                <a:spcPts val="0"/>
              </a:spcAft>
              <a:defRPr/>
            </a:pPr>
            <a:r>
              <a:t>Global explanations can be computed by aggregation </a:t>
            </a:r>
          </a:p>
        </p:txBody>
      </p:sp>
      <p:sp>
        <p:nvSpPr>
          <p:cNvPr id="418" name="Local Explainability">
            <a:extLst>
              <a:ext uri="{FF2B5EF4-FFF2-40B4-BE49-F238E27FC236}">
                <a16:creationId xmlns:a16="http://schemas.microsoft.com/office/drawing/2014/main" id="{F104C0E3-3A20-6F08-F802-F52A0BCD68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Local Explainability 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Example: Human- vs Natural-Started Fire">
            <a:extLst>
              <a:ext uri="{FF2B5EF4-FFF2-40B4-BE49-F238E27FC236}">
                <a16:creationId xmlns:a16="http://schemas.microsoft.com/office/drawing/2014/main" id="{4D7B8485-3169-640D-D4F2-47F418A08A2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7339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Example:</a:t>
            </a:r>
            <a:br/>
            <a:r>
              <a:rPr sz="7300" spc="-145">
                <a:latin typeface="Helvetica Neue Thin"/>
                <a:ea typeface="Helvetica Neue Thin"/>
                <a:cs typeface="Helvetica Neue Thin"/>
                <a:sym typeface="Helvetica Neue Thin"/>
              </a:rPr>
              <a:t>Human- vs Natural-Started Fire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lobal Importances:">
            <a:extLst>
              <a:ext uri="{FF2B5EF4-FFF2-40B4-BE49-F238E27FC236}">
                <a16:creationId xmlns:a16="http://schemas.microsoft.com/office/drawing/2014/main" id="{05D0034F-2477-8743-CC1D-A7993F6F3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163513"/>
            <a:ext cx="4240212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3300" b="1">
                <a:solidFill>
                  <a:srgbClr val="000000"/>
                </a:solidFill>
              </a:rPr>
              <a:t>Global Importances:</a:t>
            </a:r>
            <a:br>
              <a:rPr lang="en-US" altLang="en-US" sz="3300" b="1">
                <a:solidFill>
                  <a:srgbClr val="000000"/>
                </a:solidFill>
              </a:rPr>
            </a:br>
            <a:endParaRPr lang="en-US" altLang="en-US" sz="3300" b="1">
              <a:solidFill>
                <a:srgbClr val="000000"/>
              </a:solidFill>
            </a:endParaRPr>
          </a:p>
        </p:txBody>
      </p:sp>
      <p:sp>
        <p:nvSpPr>
          <p:cNvPr id="39939" name="Mean absolute SHAP value over all the samples">
            <a:extLst>
              <a:ext uri="{FF2B5EF4-FFF2-40B4-BE49-F238E27FC236}">
                <a16:creationId xmlns:a16="http://schemas.microsoft.com/office/drawing/2014/main" id="{8B9E2C05-6B69-C5A3-3A9B-DBB2DA181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1090613"/>
            <a:ext cx="900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/>
              <a:t>Mean absolute SHAP value over all the samples</a:t>
            </a:r>
          </a:p>
        </p:txBody>
      </p:sp>
      <p:pic>
        <p:nvPicPr>
          <p:cNvPr id="39940" name="pasted-movie.png" descr="pasted-movie.png">
            <a:extLst>
              <a:ext uri="{FF2B5EF4-FFF2-40B4-BE49-F238E27FC236}">
                <a16:creationId xmlns:a16="http://schemas.microsoft.com/office/drawing/2014/main" id="{764869F6-25A0-FAAE-B692-55219022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3236913"/>
            <a:ext cx="102235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Global Importances:">
            <a:extLst>
              <a:ext uri="{FF2B5EF4-FFF2-40B4-BE49-F238E27FC236}">
                <a16:creationId xmlns:a16="http://schemas.microsoft.com/office/drawing/2014/main" id="{B25590E4-1AF9-B78A-C6C7-3F6C099AA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163513"/>
            <a:ext cx="4240212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3300" b="1">
                <a:solidFill>
                  <a:srgbClr val="000000"/>
                </a:solidFill>
              </a:rPr>
              <a:t>Global Importances:</a:t>
            </a:r>
            <a:br>
              <a:rPr lang="en-US" altLang="en-US" sz="3300" b="1">
                <a:solidFill>
                  <a:srgbClr val="000000"/>
                </a:solidFill>
              </a:rPr>
            </a:br>
            <a:endParaRPr lang="en-US" altLang="en-US" sz="3300" b="1">
              <a:solidFill>
                <a:srgbClr val="000000"/>
              </a:solidFill>
            </a:endParaRPr>
          </a:p>
        </p:txBody>
      </p:sp>
      <p:pic>
        <p:nvPicPr>
          <p:cNvPr id="40963" name="pasted-movie.png" descr="pasted-movie.png">
            <a:extLst>
              <a:ext uri="{FF2B5EF4-FFF2-40B4-BE49-F238E27FC236}">
                <a16:creationId xmlns:a16="http://schemas.microsoft.com/office/drawing/2014/main" id="{B1880809-99D9-93CF-5DF5-3185934B0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4125"/>
            <a:ext cx="130048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4" name="Scatterplots of feature value vs SHAP value">
            <a:extLst>
              <a:ext uri="{FF2B5EF4-FFF2-40B4-BE49-F238E27FC236}">
                <a16:creationId xmlns:a16="http://schemas.microsoft.com/office/drawing/2014/main" id="{A0F1D0B4-3509-56FD-06B3-A47A858F4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1090613"/>
            <a:ext cx="900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/>
              <a:t>Scatterplots of feature value vs SHAP value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lobal Importances:">
            <a:extLst>
              <a:ext uri="{FF2B5EF4-FFF2-40B4-BE49-F238E27FC236}">
                <a16:creationId xmlns:a16="http://schemas.microsoft.com/office/drawing/2014/main" id="{3F63EA98-2995-1F01-73B1-5DE27CE98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163513"/>
            <a:ext cx="4240212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eaLnBrk="1"/>
            <a:r>
              <a:rPr lang="en-US" altLang="en-US" sz="3300" b="1">
                <a:solidFill>
                  <a:srgbClr val="000000"/>
                </a:solidFill>
              </a:rPr>
              <a:t>Global Importances:</a:t>
            </a:r>
            <a:br>
              <a:rPr lang="en-US" altLang="en-US" sz="3300" b="1">
                <a:solidFill>
                  <a:srgbClr val="000000"/>
                </a:solidFill>
              </a:rPr>
            </a:br>
            <a:endParaRPr lang="en-US" altLang="en-US" sz="3300" b="1">
              <a:solidFill>
                <a:srgbClr val="000000"/>
              </a:solidFill>
            </a:endParaRPr>
          </a:p>
        </p:txBody>
      </p:sp>
      <p:sp>
        <p:nvSpPr>
          <p:cNvPr id="41987" name="Beeswarm Plot">
            <a:extLst>
              <a:ext uri="{FF2B5EF4-FFF2-40B4-BE49-F238E27FC236}">
                <a16:creationId xmlns:a16="http://schemas.microsoft.com/office/drawing/2014/main" id="{93EA0BAD-A9C3-C4E5-7A2D-A8FBD6436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1090613"/>
            <a:ext cx="900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/>
              <a:t>Beeswarm Plot</a:t>
            </a:r>
          </a:p>
        </p:txBody>
      </p:sp>
      <p:pic>
        <p:nvPicPr>
          <p:cNvPr id="41988" name="pasted-movie.png" descr="pasted-movie.png">
            <a:extLst>
              <a:ext uri="{FF2B5EF4-FFF2-40B4-BE49-F238E27FC236}">
                <a16:creationId xmlns:a16="http://schemas.microsoft.com/office/drawing/2014/main" id="{AF93DE7F-7115-10B0-A46B-D68A5F0DE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2463800"/>
            <a:ext cx="9664700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Local Importance: Waterfall plot">
            <a:extLst>
              <a:ext uri="{FF2B5EF4-FFF2-40B4-BE49-F238E27FC236}">
                <a16:creationId xmlns:a16="http://schemas.microsoft.com/office/drawing/2014/main" id="{42628BDB-EA08-2933-6286-D59C38A915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Local Importance: Waterfall plot</a:t>
            </a:r>
          </a:p>
        </p:txBody>
      </p:sp>
      <p:sp>
        <p:nvSpPr>
          <p:cNvPr id="43011" name="(Single prediction)">
            <a:extLst>
              <a:ext uri="{FF2B5EF4-FFF2-40B4-BE49-F238E27FC236}">
                <a16:creationId xmlns:a16="http://schemas.microsoft.com/office/drawing/2014/main" id="{E20A9E9E-3A93-3FD7-D340-961010E6E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1709738"/>
            <a:ext cx="900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/>
              <a:t>(Single prediction)</a:t>
            </a:r>
          </a:p>
        </p:txBody>
      </p:sp>
      <p:pic>
        <p:nvPicPr>
          <p:cNvPr id="43012" name="pasted-movie.png" descr="pasted-movie.png">
            <a:extLst>
              <a:ext uri="{FF2B5EF4-FFF2-40B4-BE49-F238E27FC236}">
                <a16:creationId xmlns:a16="http://schemas.microsoft.com/office/drawing/2014/main" id="{51A80F7F-B39C-2BAF-204F-FD4B9AF31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2744788"/>
            <a:ext cx="11341100" cy="557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Local Importance: Bar plot">
            <a:extLst>
              <a:ext uri="{FF2B5EF4-FFF2-40B4-BE49-F238E27FC236}">
                <a16:creationId xmlns:a16="http://schemas.microsoft.com/office/drawing/2014/main" id="{89A7F4F5-5436-63E5-CE58-6E5B40035A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Local Importance: Bar plot</a:t>
            </a:r>
          </a:p>
        </p:txBody>
      </p:sp>
      <p:pic>
        <p:nvPicPr>
          <p:cNvPr id="44035" name="pasted-movie.png" descr="pasted-movie.png">
            <a:extLst>
              <a:ext uri="{FF2B5EF4-FFF2-40B4-BE49-F238E27FC236}">
                <a16:creationId xmlns:a16="http://schemas.microsoft.com/office/drawing/2014/main" id="{59A8A10E-E4A3-8C04-3372-BB9BDA97D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2865438"/>
            <a:ext cx="9934575" cy="466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4036" name="(Single prediction)">
            <a:extLst>
              <a:ext uri="{FF2B5EF4-FFF2-40B4-BE49-F238E27FC236}">
                <a16:creationId xmlns:a16="http://schemas.microsoft.com/office/drawing/2014/main" id="{CAA3EF49-EA14-D759-E855-B3DA6B982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1709738"/>
            <a:ext cx="900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/>
              <a:t>(Single prediction)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Local Importance: Force plot">
            <a:extLst>
              <a:ext uri="{FF2B5EF4-FFF2-40B4-BE49-F238E27FC236}">
                <a16:creationId xmlns:a16="http://schemas.microsoft.com/office/drawing/2014/main" id="{0E60842A-C560-EEC1-6C20-1181EBF7E3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Local Importance: Force plot</a:t>
            </a:r>
          </a:p>
        </p:txBody>
      </p:sp>
      <p:sp>
        <p:nvSpPr>
          <p:cNvPr id="45059" name="(Single prediction)">
            <a:extLst>
              <a:ext uri="{FF2B5EF4-FFF2-40B4-BE49-F238E27FC236}">
                <a16:creationId xmlns:a16="http://schemas.microsoft.com/office/drawing/2014/main" id="{796EBB61-C087-5456-0E9E-D0ECA9308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1709738"/>
            <a:ext cx="900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/>
            <a:r>
              <a:rPr lang="en-US" altLang="en-US"/>
              <a:t>(Single prediction)</a:t>
            </a:r>
          </a:p>
        </p:txBody>
      </p:sp>
      <p:pic>
        <p:nvPicPr>
          <p:cNvPr id="45060" name="pasted-movie.png" descr="pasted-movie.png">
            <a:extLst>
              <a:ext uri="{FF2B5EF4-FFF2-40B4-BE49-F238E27FC236}">
                <a16:creationId xmlns:a16="http://schemas.microsoft.com/office/drawing/2014/main" id="{5486CB2C-DE1D-057A-BB20-3020B8850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90975"/>
            <a:ext cx="130048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1AC99C-1850-497F-4BD6-C9B63198B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SHAP gives us two views of a model:</a:t>
            </a:r>
          </a:p>
          <a:p>
            <a:pPr lvl="1"/>
            <a:r>
              <a:rPr lang="en-US" dirty="0"/>
              <a:t>Global: which features matter overall</a:t>
            </a:r>
          </a:p>
          <a:p>
            <a:pPr lvl="2"/>
            <a:r>
              <a:rPr lang="en-US" dirty="0"/>
              <a:t>Bar plots tell us how much a feature matters.</a:t>
            </a:r>
          </a:p>
          <a:p>
            <a:pPr lvl="2"/>
            <a:r>
              <a:rPr lang="en-US" dirty="0"/>
              <a:t>Scatter and </a:t>
            </a:r>
            <a:r>
              <a:rPr lang="en-US" dirty="0" err="1"/>
              <a:t>beeswarm</a:t>
            </a:r>
            <a:r>
              <a:rPr lang="en-US" dirty="0"/>
              <a:t> plots tell us how it affects predictions</a:t>
            </a:r>
          </a:p>
          <a:p>
            <a:pPr lvl="1"/>
            <a:r>
              <a:rPr lang="en-US" dirty="0"/>
              <a:t>Local: why a specific prediction happened</a:t>
            </a:r>
          </a:p>
          <a:p>
            <a:pPr lvl="2"/>
            <a:r>
              <a:rPr lang="en-US" dirty="0"/>
              <a:t>Waterfall plots show the model’s reasoning step by step.”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FC9097-2625-EB17-AAD8-ECB8841D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Value Overview</a:t>
            </a:r>
          </a:p>
        </p:txBody>
      </p:sp>
    </p:spTree>
    <p:extLst>
      <p:ext uri="{BB962C8B-B14F-4D97-AF65-F5344CB8AC3E}">
        <p14:creationId xmlns:p14="http://schemas.microsoft.com/office/powerpoint/2010/main" val="97159149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But it still has a few limitations:…">
            <a:extLst>
              <a:ext uri="{FF2B5EF4-FFF2-40B4-BE49-F238E27FC236}">
                <a16:creationId xmlns:a16="http://schemas.microsoft.com/office/drawing/2014/main" id="{105AA094-C7AF-A547-0B1A-E6E02677955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But it still has a few limitations:</a:t>
            </a:r>
          </a:p>
          <a:p>
            <a:pPr marL="1016000" lvl="1" eaLnBrk="1" hangingPunct="1"/>
            <a:r>
              <a:rPr lang="en-US" altLang="en-US"/>
              <a:t>Slow (especially kernel SHAP)</a:t>
            </a:r>
          </a:p>
          <a:p>
            <a:pPr marL="1016000" lvl="1" eaLnBrk="1" hangingPunct="1"/>
            <a:r>
              <a:rPr lang="en-US" altLang="en-US"/>
              <a:t>Can be hard to interpret</a:t>
            </a:r>
          </a:p>
          <a:p>
            <a:pPr marL="1016000" lvl="1" eaLnBrk="1" hangingPunct="1"/>
            <a:r>
              <a:rPr lang="en-US" altLang="en-US"/>
              <a:t>Misleading when features are correlated</a:t>
            </a:r>
          </a:p>
          <a:p>
            <a:pPr marL="1651000" lvl="2" eaLnBrk="1" hangingPunct="1">
              <a:buFontTx/>
              <a:buChar char="‣"/>
            </a:pPr>
            <a:r>
              <a:rPr lang="en-US" altLang="en-US"/>
              <a:t>SHAP assumes that features are independent</a:t>
            </a:r>
          </a:p>
          <a:p>
            <a:pPr marL="1651000" lvl="2" eaLnBrk="1" hangingPunct="1">
              <a:buFontTx/>
              <a:buChar char="‣"/>
            </a:pPr>
            <a:r>
              <a:rPr lang="en-US" altLang="en-US"/>
              <a:t>If features are correlated, SHAP can arbitrarily split their importance or attribute too much importance to one and downplaying the other </a:t>
            </a:r>
          </a:p>
        </p:txBody>
      </p:sp>
      <p:sp>
        <p:nvSpPr>
          <p:cNvPr id="447" name="Disadvantages">
            <a:extLst>
              <a:ext uri="{FF2B5EF4-FFF2-40B4-BE49-F238E27FC236}">
                <a16:creationId xmlns:a16="http://schemas.microsoft.com/office/drawing/2014/main" id="{835822A4-2865-9718-BBCB-7B1DE64DC09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Disadvantages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HAP is one way to help explain model predictions…">
            <a:extLst>
              <a:ext uri="{FF2B5EF4-FFF2-40B4-BE49-F238E27FC236}">
                <a16:creationId xmlns:a16="http://schemas.microsoft.com/office/drawing/2014/main" id="{A02A67FE-7F50-6E5F-4BB6-BE48A8F7141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SHAP is one way to help explain model predictions</a:t>
            </a:r>
          </a:p>
          <a:p>
            <a:pPr eaLnBrk="1" hangingPunct="1"/>
            <a:r>
              <a:rPr lang="en-US" altLang="en-US"/>
              <a:t>It is a powerful and theoretically sound method for interpreting machine learning models</a:t>
            </a:r>
          </a:p>
          <a:p>
            <a:pPr eaLnBrk="1" hangingPunct="1"/>
            <a:r>
              <a:rPr lang="en-US" altLang="en-US"/>
              <a:t>The shap library in python provides (fairly) fast implementation and lots of examples</a:t>
            </a:r>
          </a:p>
          <a:p>
            <a:pPr eaLnBrk="1" hangingPunct="1"/>
            <a:r>
              <a:rPr lang="en-US" altLang="en-US"/>
              <a:t>Be cautious of assigning causation </a:t>
            </a:r>
          </a:p>
        </p:txBody>
      </p:sp>
      <p:sp>
        <p:nvSpPr>
          <p:cNvPr id="450" name="Summary">
            <a:extLst>
              <a:ext uri="{FF2B5EF4-FFF2-40B4-BE49-F238E27FC236}">
                <a16:creationId xmlns:a16="http://schemas.microsoft.com/office/drawing/2014/main" id="{66DC4A6C-A39C-D577-97E5-5C626E673C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defTabSz="1525858">
              <a:defRPr sz="5280" spc="-105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Summary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venir Next Regular"/>
        <a:ea typeface="Avenir Next Regular"/>
        <a:cs typeface="Avenir Next Regular"/>
      </a:majorFont>
      <a:minorFont>
        <a:latin typeface="Avenir Next Demi Bold"/>
        <a:ea typeface="Avenir Next Demi Bold"/>
        <a:cs typeface="Avenir Next Demi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venir Next Regular"/>
        <a:ea typeface="Avenir Next Regular"/>
        <a:cs typeface="Avenir Next Regular"/>
      </a:majorFont>
      <a:minorFont>
        <a:latin typeface="Avenir Next Demi Bold"/>
        <a:ea typeface="Avenir Next Demi Bold"/>
        <a:cs typeface="Avenir Next Demi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1200</Words>
  <Application>Microsoft Office PowerPoint</Application>
  <PresentationFormat>Custom</PresentationFormat>
  <Paragraphs>189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Avenir Next Demi Bold</vt:lpstr>
      <vt:lpstr>Avenir Next Medium</vt:lpstr>
      <vt:lpstr>Avenir Next Regular</vt:lpstr>
      <vt:lpstr>Avenir Next Ultra Light</vt:lpstr>
      <vt:lpstr>Cambria Math</vt:lpstr>
      <vt:lpstr>Helvetica Neue</vt:lpstr>
      <vt:lpstr>Helvetica Neue Medium</vt:lpstr>
      <vt:lpstr>Helvetica Neue Thin</vt:lpstr>
      <vt:lpstr>Helvetica Neue UltraLight</vt:lpstr>
      <vt:lpstr>21_BasicWhite</vt:lpstr>
      <vt:lpstr>Explainable AI with SHAP  </vt:lpstr>
      <vt:lpstr>Explainable AI</vt:lpstr>
      <vt:lpstr>Shapley Values</vt:lpstr>
      <vt:lpstr>Shapley Values</vt:lpstr>
      <vt:lpstr>Shapley Values</vt:lpstr>
      <vt:lpstr>Shapley Values</vt:lpstr>
      <vt:lpstr>Shapley Values</vt:lpstr>
      <vt:lpstr>Shapley Values</vt:lpstr>
      <vt:lpstr>Shapley Values</vt:lpstr>
      <vt:lpstr>Shapley Values</vt:lpstr>
      <vt:lpstr>Shapley Values</vt:lpstr>
      <vt:lpstr>In Machine Learning</vt:lpstr>
      <vt:lpstr>SHapley Additive exPlanations</vt:lpstr>
      <vt:lpstr>Shapley applied to explainable AI</vt:lpstr>
      <vt:lpstr>SHAP</vt:lpstr>
      <vt:lpstr>SHAP values </vt:lpstr>
      <vt:lpstr>Properties of SHAP</vt:lpstr>
      <vt:lpstr>Properties of SHAP: Efficiency </vt:lpstr>
      <vt:lpstr>Properties of SHAP: Symmetry </vt:lpstr>
      <vt:lpstr>Properties of SHAP: Additivity </vt:lpstr>
      <vt:lpstr>SHapley Additive exPlanations</vt:lpstr>
      <vt:lpstr>Types of SHAP</vt:lpstr>
      <vt:lpstr>Local Explainability </vt:lpstr>
      <vt:lpstr>Example: Human- vs Natural-Started Fire</vt:lpstr>
      <vt:lpstr>PowerPoint Presentation</vt:lpstr>
      <vt:lpstr>PowerPoint Presentation</vt:lpstr>
      <vt:lpstr>PowerPoint Presentation</vt:lpstr>
      <vt:lpstr>Local Importance: Waterfall plot</vt:lpstr>
      <vt:lpstr>Local Importance: Bar plot</vt:lpstr>
      <vt:lpstr>Local Importance: Force plot</vt:lpstr>
      <vt:lpstr>SHAP Value Overview</vt:lpstr>
      <vt:lpstr>Disadvantages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with SHAP</dc:title>
  <dc:creator>Jake Rhodes</dc:creator>
  <cp:lastModifiedBy>Jake Rhodes</cp:lastModifiedBy>
  <cp:revision>3</cp:revision>
  <dcterms:modified xsi:type="dcterms:W3CDTF">2026-03-20T16:56:08Z</dcterms:modified>
</cp:coreProperties>
</file>