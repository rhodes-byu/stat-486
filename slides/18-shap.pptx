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6" r:id="rId17"/>
    <p:sldId id="271" r:id="rId18"/>
    <p:sldId id="272" r:id="rId19"/>
    <p:sldId id="273" r:id="rId20"/>
    <p:sldId id="274" r:id="rId21"/>
    <p:sldId id="275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8" r:id="rId32"/>
    <p:sldId id="286" r:id="rId33"/>
    <p:sldId id="287" r:id="rId34"/>
  </p:sldIdLst>
  <p:sldSz cx="13004800" cy="9753600"/>
  <p:notesSz cx="6858000" cy="9144000"/>
  <p:defaultTextStyle>
    <a:defPPr>
      <a:defRPr lang="en-US"/>
    </a:defPPr>
    <a:lvl1pPr algn="l" defTabSz="1733550" rtl="0" eaLnBrk="0" fontAlgn="base" hangingPunct="0">
      <a:spcBef>
        <a:spcPct val="0"/>
      </a:spcBef>
      <a:spcAft>
        <a:spcPct val="0"/>
      </a:spcAft>
      <a:defRPr sz="2800" kern="1200">
        <a:solidFill>
          <a:srgbClr val="5E5E5E"/>
        </a:solidFill>
        <a:latin typeface="Avenir Next Regular"/>
        <a:ea typeface="Avenir Next Regular"/>
        <a:cs typeface="Avenir Next Regular"/>
        <a:sym typeface="Avenir Next Regular"/>
      </a:defRPr>
    </a:lvl1pPr>
    <a:lvl2pPr indent="457200" algn="l" defTabSz="1733550" rtl="0" eaLnBrk="0" fontAlgn="base" hangingPunct="0">
      <a:spcBef>
        <a:spcPct val="0"/>
      </a:spcBef>
      <a:spcAft>
        <a:spcPct val="0"/>
      </a:spcAft>
      <a:defRPr sz="2800" kern="1200">
        <a:solidFill>
          <a:srgbClr val="5E5E5E"/>
        </a:solidFill>
        <a:latin typeface="Avenir Next Regular"/>
        <a:ea typeface="Avenir Next Regular"/>
        <a:cs typeface="Avenir Next Regular"/>
        <a:sym typeface="Avenir Next Regular"/>
      </a:defRPr>
    </a:lvl2pPr>
    <a:lvl3pPr indent="914400" algn="l" defTabSz="1733550" rtl="0" eaLnBrk="0" fontAlgn="base" hangingPunct="0">
      <a:spcBef>
        <a:spcPct val="0"/>
      </a:spcBef>
      <a:spcAft>
        <a:spcPct val="0"/>
      </a:spcAft>
      <a:defRPr sz="2800" kern="1200">
        <a:solidFill>
          <a:srgbClr val="5E5E5E"/>
        </a:solidFill>
        <a:latin typeface="Avenir Next Regular"/>
        <a:ea typeface="Avenir Next Regular"/>
        <a:cs typeface="Avenir Next Regular"/>
        <a:sym typeface="Avenir Next Regular"/>
      </a:defRPr>
    </a:lvl3pPr>
    <a:lvl4pPr indent="1371600" algn="l" defTabSz="1733550" rtl="0" eaLnBrk="0" fontAlgn="base" hangingPunct="0">
      <a:spcBef>
        <a:spcPct val="0"/>
      </a:spcBef>
      <a:spcAft>
        <a:spcPct val="0"/>
      </a:spcAft>
      <a:defRPr sz="2800" kern="1200">
        <a:solidFill>
          <a:srgbClr val="5E5E5E"/>
        </a:solidFill>
        <a:latin typeface="Avenir Next Regular"/>
        <a:ea typeface="Avenir Next Regular"/>
        <a:cs typeface="Avenir Next Regular"/>
        <a:sym typeface="Avenir Next Regular"/>
      </a:defRPr>
    </a:lvl4pPr>
    <a:lvl5pPr indent="1828800" algn="l" defTabSz="1733550" rtl="0" eaLnBrk="0" fontAlgn="base" hangingPunct="0">
      <a:spcBef>
        <a:spcPct val="0"/>
      </a:spcBef>
      <a:spcAft>
        <a:spcPct val="0"/>
      </a:spcAft>
      <a:defRPr sz="2800" kern="1200">
        <a:solidFill>
          <a:srgbClr val="5E5E5E"/>
        </a:solidFill>
        <a:latin typeface="Avenir Next Regular"/>
        <a:ea typeface="Avenir Next Regular"/>
        <a:cs typeface="Avenir Next Regular"/>
        <a:sym typeface="Avenir Next Regular"/>
      </a:defRPr>
    </a:lvl5pPr>
    <a:lvl6pPr marL="2286000" algn="l" defTabSz="914400" rtl="0" eaLnBrk="1" latinLnBrk="0" hangingPunct="1">
      <a:defRPr sz="2800" kern="1200">
        <a:solidFill>
          <a:srgbClr val="5E5E5E"/>
        </a:solidFill>
        <a:latin typeface="Avenir Next Regular"/>
        <a:ea typeface="Avenir Next Regular"/>
        <a:cs typeface="Avenir Next Regular"/>
        <a:sym typeface="Avenir Next Regular"/>
      </a:defRPr>
    </a:lvl6pPr>
    <a:lvl7pPr marL="2743200" algn="l" defTabSz="914400" rtl="0" eaLnBrk="1" latinLnBrk="0" hangingPunct="1">
      <a:defRPr sz="2800" kern="1200">
        <a:solidFill>
          <a:srgbClr val="5E5E5E"/>
        </a:solidFill>
        <a:latin typeface="Avenir Next Regular"/>
        <a:ea typeface="Avenir Next Regular"/>
        <a:cs typeface="Avenir Next Regular"/>
        <a:sym typeface="Avenir Next Regular"/>
      </a:defRPr>
    </a:lvl7pPr>
    <a:lvl8pPr marL="3200400" algn="l" defTabSz="914400" rtl="0" eaLnBrk="1" latinLnBrk="0" hangingPunct="1">
      <a:defRPr sz="2800" kern="1200">
        <a:solidFill>
          <a:srgbClr val="5E5E5E"/>
        </a:solidFill>
        <a:latin typeface="Avenir Next Regular"/>
        <a:ea typeface="Avenir Next Regular"/>
        <a:cs typeface="Avenir Next Regular"/>
        <a:sym typeface="Avenir Next Regular"/>
      </a:defRPr>
    </a:lvl8pPr>
    <a:lvl9pPr marL="3657600" algn="l" defTabSz="914400" rtl="0" eaLnBrk="1" latinLnBrk="0" hangingPunct="1">
      <a:defRPr sz="2800" kern="1200">
        <a:solidFill>
          <a:srgbClr val="5E5E5E"/>
        </a:solidFill>
        <a:latin typeface="Avenir Next Regular"/>
        <a:ea typeface="Avenir Next Regular"/>
        <a:cs typeface="Avenir Next Regular"/>
        <a:sym typeface="Avenir Next Regular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254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solidFill>
            <a:schemeClr val="accent1">
              <a:lumOff val="16847"/>
            </a:schemeClr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838383"/>
              </a:solidFill>
              <a:prstDash val="solid"/>
              <a:miter lim="400000"/>
            </a:ln>
          </a:left>
          <a:right>
            <a:ln w="12700" cap="flat">
              <a:solidFill>
                <a:srgbClr val="838383"/>
              </a:solidFill>
              <a:prstDash val="solid"/>
              <a:miter lim="400000"/>
            </a:ln>
          </a:right>
          <a:top>
            <a:ln w="12700" cap="flat">
              <a:solidFill>
                <a:srgbClr val="838383"/>
              </a:solidFill>
              <a:prstDash val="solid"/>
              <a:miter lim="400000"/>
            </a:ln>
          </a:top>
          <a:bottom>
            <a:ln w="12700" cap="flat">
              <a:solidFill>
                <a:srgbClr val="838383"/>
              </a:solidFill>
              <a:prstDash val="solid"/>
              <a:miter lim="400000"/>
            </a:ln>
          </a:bottom>
          <a:insideH>
            <a:ln w="12700" cap="flat">
              <a:solidFill>
                <a:srgbClr val="838383"/>
              </a:solidFill>
              <a:prstDash val="solid"/>
              <a:miter lim="400000"/>
            </a:ln>
          </a:insideH>
          <a:insideV>
            <a:ln w="12700" cap="flat">
              <a:solidFill>
                <a:srgbClr val="83838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808080"/>
              </a:solidFill>
              <a:prstDash val="solid"/>
              <a:miter lim="400000"/>
            </a:ln>
          </a:right>
          <a:top>
            <a:ln w="12700" cap="flat">
              <a:solidFill>
                <a:srgbClr val="808080"/>
              </a:solidFill>
              <a:prstDash val="solid"/>
              <a:miter lim="400000"/>
            </a:ln>
          </a:top>
          <a:bottom>
            <a:ln w="12700" cap="flat">
              <a:solidFill>
                <a:srgbClr val="808080"/>
              </a:solidFill>
              <a:prstDash val="solid"/>
              <a:miter lim="400000"/>
            </a:ln>
          </a:bottom>
          <a:insideH>
            <a:ln w="12700" cap="flat">
              <a:solidFill>
                <a:srgbClr val="808080"/>
              </a:solidFill>
              <a:prstDash val="solid"/>
              <a:miter lim="400000"/>
            </a:ln>
          </a:insideH>
          <a:insideV>
            <a:ln w="12700" cap="flat">
              <a:solidFill>
                <a:srgbClr val="808080"/>
              </a:solidFill>
              <a:prstDash val="solid"/>
              <a:miter lim="400000"/>
            </a:ln>
          </a:insideV>
        </a:tcBdr>
        <a:fill>
          <a:solidFill>
            <a:srgbClr val="88FA4F"/>
          </a:solidFill>
        </a:fill>
      </a:tcStyle>
    </a:firstCol>
    <a:lastRow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chemeClr val="accent3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4D4D4D"/>
              </a:solidFill>
              <a:prstDash val="solid"/>
              <a:miter lim="400000"/>
            </a:ln>
          </a:right>
          <a:top>
            <a:ln w="12700" cap="flat">
              <a:solidFill>
                <a:srgbClr val="4D4D4D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4D4D4D"/>
              </a:solidFill>
              <a:prstDash val="solid"/>
              <a:miter lim="400000"/>
            </a:ln>
          </a:insideH>
          <a:insideV>
            <a:ln w="12700" cap="flat">
              <a:solidFill>
                <a:srgbClr val="4D4D4D"/>
              </a:solidFill>
              <a:prstDash val="solid"/>
              <a:miter lim="400000"/>
            </a:ln>
          </a:insideV>
        </a:tcBdr>
        <a:fill>
          <a:solidFill>
            <a:srgbClr val="60D937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/>
      <a:tcStyle>
        <a:tcBdr/>
        <a:fill>
          <a:solidFill>
            <a:schemeClr val="accent4">
              <a:hueOff val="348544"/>
              <a:lumOff val="7139"/>
            </a:schemeClr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8BB00"/>
          </a:solidFill>
        </a:fill>
      </a:tcStyle>
    </a:firstCol>
    <a:la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25400" cap="flat">
              <a:solidFill>
                <a:srgbClr val="F8BA00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464646"/>
              </a:solidFill>
              <a:prstDash val="solid"/>
              <a:miter lim="400000"/>
            </a:ln>
          </a:left>
          <a:right>
            <a:ln w="12700" cap="flat">
              <a:solidFill>
                <a:srgbClr val="464646"/>
              </a:solidFill>
              <a:prstDash val="solid"/>
              <a:miter lim="400000"/>
            </a:ln>
          </a:right>
          <a:top>
            <a:ln w="12700" cap="flat">
              <a:solidFill>
                <a:srgbClr val="464646"/>
              </a:solidFill>
              <a:prstDash val="solid"/>
              <a:miter lim="400000"/>
            </a:ln>
          </a:top>
          <a:bottom>
            <a:ln w="12700" cap="flat">
              <a:solidFill>
                <a:srgbClr val="464646"/>
              </a:solidFill>
              <a:prstDash val="solid"/>
              <a:miter lim="400000"/>
            </a:ln>
          </a:bottom>
          <a:insideH>
            <a:ln w="12700" cap="flat">
              <a:solidFill>
                <a:srgbClr val="464646"/>
              </a:solidFill>
              <a:prstDash val="solid"/>
              <a:miter lim="400000"/>
            </a:ln>
          </a:insideH>
          <a:insideV>
            <a:ln w="12700" cap="flat">
              <a:solidFill>
                <a:srgbClr val="46464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D4D5D5"/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C3C3C3"/>
              </a:solidFill>
              <a:prstDash val="solid"/>
              <a:miter lim="400000"/>
            </a:ln>
          </a:top>
          <a:bottom>
            <a:ln w="12700" cap="flat">
              <a:solidFill>
                <a:srgbClr val="C3C3C3"/>
              </a:solidFill>
              <a:prstDash val="solid"/>
              <a:miter lim="400000"/>
            </a:ln>
          </a:bottom>
          <a:insideH>
            <a:ln w="12700" cap="flat">
              <a:solidFill>
                <a:srgbClr val="C3C3C3"/>
              </a:solidFill>
              <a:prstDash val="solid"/>
              <a:miter lim="400000"/>
            </a:ln>
          </a:insideH>
          <a:insideV>
            <a:ln w="12700" cap="flat">
              <a:solidFill>
                <a:srgbClr val="C3C3C3"/>
              </a:solidFill>
              <a:prstDash val="solid"/>
              <a:miter lim="400000"/>
            </a:ln>
          </a:insideV>
        </a:tcBdr>
        <a:fill>
          <a:solidFill>
            <a:srgbClr val="CB2A7B"/>
          </a:solidFill>
        </a:fill>
      </a:tcStyle>
    </a:firstCol>
    <a:lastRow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25400" cap="flat">
              <a:solidFill>
                <a:srgbClr val="CB297B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A6AAA9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991A5F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6C6C6C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6C6C6C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6C6C6C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D6DCE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5088" autoAdjust="0"/>
  </p:normalViewPr>
  <p:slideViewPr>
    <p:cSldViewPr snapToGrid="0">
      <p:cViewPr varScale="1">
        <p:scale>
          <a:sx n="43" d="100"/>
          <a:sy n="43" d="100"/>
        </p:scale>
        <p:origin x="1444" y="2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hape 151">
            <a:extLst>
              <a:ext uri="{FF2B5EF4-FFF2-40B4-BE49-F238E27FC236}">
                <a16:creationId xmlns:a16="http://schemas.microsoft.com/office/drawing/2014/main" id="{3574283A-9612-1FC9-C325-701E36EF69B0}"/>
              </a:ext>
            </a:extLst>
          </p:cNvPr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  <p:sp>
        <p:nvSpPr>
          <p:cNvPr id="14339" name="Shape 152">
            <a:extLst>
              <a:ext uri="{FF2B5EF4-FFF2-40B4-BE49-F238E27FC236}">
                <a16:creationId xmlns:a16="http://schemas.microsoft.com/office/drawing/2014/main" id="{290E7D3E-5159-3BB5-8733-24DE85EAFA59}"/>
              </a:ext>
            </a:extLst>
          </p:cNvPr>
          <p:cNvSpPr>
            <a:spLocks noGrp="1" noChangeArrowheads="1"/>
          </p:cNvSpPr>
          <p:nvPr>
            <p:ph type="body" sz="quarter" idx="1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altLang="en-US">
              <a:sym typeface="Helvetica Neue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lnSpc>
        <a:spcPct val="118000"/>
      </a:lnSpc>
      <a:spcBef>
        <a:spcPct val="30000"/>
      </a:spcBef>
      <a:spcAft>
        <a:spcPct val="0"/>
      </a:spcAft>
      <a:defRPr sz="2200">
        <a:solidFill>
          <a:schemeClr val="tx1"/>
        </a:solidFill>
        <a:latin typeface="Helvetica Neue"/>
        <a:ea typeface="Helvetica Neue"/>
        <a:cs typeface="Helvetica Neue"/>
        <a:sym typeface="Helvetica Neue"/>
      </a:defRPr>
    </a:lvl1pPr>
    <a:lvl2pPr marL="742950" indent="-285750" algn="l" defTabSz="457200" rtl="0" eaLnBrk="0" fontAlgn="base" hangingPunct="0">
      <a:lnSpc>
        <a:spcPct val="118000"/>
      </a:lnSpc>
      <a:spcBef>
        <a:spcPct val="30000"/>
      </a:spcBef>
      <a:spcAft>
        <a:spcPct val="0"/>
      </a:spcAft>
      <a:defRPr sz="2200">
        <a:solidFill>
          <a:schemeClr val="tx1"/>
        </a:solidFill>
        <a:latin typeface="Helvetica Neue"/>
        <a:ea typeface="Helvetica Neue"/>
        <a:cs typeface="Helvetica Neue"/>
        <a:sym typeface="Helvetica Neue"/>
      </a:defRPr>
    </a:lvl2pPr>
    <a:lvl3pPr marL="1143000" indent="-228600" algn="l" defTabSz="457200" rtl="0" eaLnBrk="0" fontAlgn="base" hangingPunct="0">
      <a:lnSpc>
        <a:spcPct val="118000"/>
      </a:lnSpc>
      <a:spcBef>
        <a:spcPct val="30000"/>
      </a:spcBef>
      <a:spcAft>
        <a:spcPct val="0"/>
      </a:spcAft>
      <a:defRPr sz="2200">
        <a:solidFill>
          <a:schemeClr val="tx1"/>
        </a:solidFill>
        <a:latin typeface="Helvetica Neue"/>
        <a:ea typeface="Helvetica Neue"/>
        <a:cs typeface="Helvetica Neue"/>
        <a:sym typeface="Helvetica Neue"/>
      </a:defRPr>
    </a:lvl3pPr>
    <a:lvl4pPr marL="1600200" indent="-228600" algn="l" defTabSz="457200" rtl="0" eaLnBrk="0" fontAlgn="base" hangingPunct="0">
      <a:lnSpc>
        <a:spcPct val="118000"/>
      </a:lnSpc>
      <a:spcBef>
        <a:spcPct val="30000"/>
      </a:spcBef>
      <a:spcAft>
        <a:spcPct val="0"/>
      </a:spcAft>
      <a:defRPr sz="2200">
        <a:solidFill>
          <a:schemeClr val="tx1"/>
        </a:solidFill>
        <a:latin typeface="Helvetica Neue"/>
        <a:ea typeface="Helvetica Neue"/>
        <a:cs typeface="Helvetica Neue"/>
        <a:sym typeface="Helvetica Neue"/>
      </a:defRPr>
    </a:lvl4pPr>
    <a:lvl5pPr marL="2057400" indent="-228600" algn="l" defTabSz="457200" rtl="0" eaLnBrk="0" fontAlgn="base" hangingPunct="0">
      <a:lnSpc>
        <a:spcPct val="118000"/>
      </a:lnSpc>
      <a:spcBef>
        <a:spcPct val="30000"/>
      </a:spcBef>
      <a:spcAft>
        <a:spcPct val="0"/>
      </a:spcAft>
      <a:defRPr sz="2200">
        <a:solidFill>
          <a:schemeClr val="tx1"/>
        </a:solidFill>
        <a:latin typeface="Helvetica Neue"/>
        <a:ea typeface="Helvetica Neue"/>
        <a:cs typeface="Helvetica Neue"/>
        <a:sym typeface="Helvetica Neue"/>
      </a:defRPr>
    </a:lvl5pPr>
    <a:lvl6pPr indent="11430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6pPr>
    <a:lvl7pPr indent="1371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7pPr>
    <a:lvl8pPr indent="1600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8pPr>
    <a:lvl9pPr indent="1828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SHAP computes the average marginal contribution of j.</a:t>
            </a:r>
          </a:p>
        </p:txBody>
      </p:sp>
    </p:spTree>
    <p:extLst>
      <p:ext uri="{BB962C8B-B14F-4D97-AF65-F5344CB8AC3E}">
        <p14:creationId xmlns:p14="http://schemas.microsoft.com/office/powerpoint/2010/main" val="27683238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r>
              <a:rPr lang="en-US" sz="2200" b="0" i="0" dirty="0">
                <a:solidFill>
                  <a:schemeClr val="tx1"/>
                </a:solidFill>
                <a:effectLst/>
                <a:latin typeface="Helvetica Neue"/>
                <a:ea typeface="Helvetica Neue"/>
                <a:cs typeface="Helvetica Neue"/>
                <a:sym typeface="Helvetica Neue"/>
              </a:rPr>
              <a:t>This plot shows </a:t>
            </a:r>
            <a:r>
              <a:rPr lang="en-US" sz="2200" b="0" i="1" dirty="0">
                <a:solidFill>
                  <a:schemeClr val="tx1"/>
                </a:solidFill>
                <a:effectLst/>
                <a:latin typeface="Helvetica Neue"/>
                <a:ea typeface="Helvetica Neue"/>
                <a:cs typeface="Helvetica Neue"/>
                <a:sym typeface="Helvetica Neue"/>
              </a:rPr>
              <a:t>global feature importance</a:t>
            </a:r>
            <a:r>
              <a:rPr lang="en-US" sz="2200" b="0" i="0" dirty="0">
                <a:solidFill>
                  <a:schemeClr val="tx1"/>
                </a:solidFill>
                <a:effectLst/>
                <a:latin typeface="Helvetica Neue"/>
                <a:ea typeface="Helvetica Neue"/>
                <a:cs typeface="Helvetica Neue"/>
                <a:sym typeface="Helvetica Neue"/>
              </a:rPr>
              <a:t> using the </a:t>
            </a:r>
            <a:r>
              <a:rPr lang="en-US" sz="2200" b="1" i="0" dirty="0">
                <a:solidFill>
                  <a:schemeClr val="tx1"/>
                </a:solidFill>
                <a:effectLst/>
                <a:latin typeface="Helvetica Neue"/>
                <a:ea typeface="Helvetica Neue"/>
                <a:cs typeface="Helvetica Neue"/>
                <a:sym typeface="Helvetica Neue"/>
              </a:rPr>
              <a:t>mean absolute SHAP value</a:t>
            </a:r>
            <a:r>
              <a:rPr lang="en-US" sz="2200" b="0" i="0" dirty="0">
                <a:solidFill>
                  <a:schemeClr val="tx1"/>
                </a:solidFill>
                <a:effectLst/>
                <a:latin typeface="Helvetica Neue"/>
                <a:ea typeface="Helvetica Neue"/>
                <a:cs typeface="Helvetica Neue"/>
                <a:sym typeface="Helvetica Neue"/>
              </a:rPr>
              <a:t> across all samples.</a:t>
            </a:r>
          </a:p>
          <a:p>
            <a:pPr fontAlgn="t"/>
            <a:r>
              <a:rPr lang="en-US" sz="2200" b="0" i="0" dirty="0">
                <a:solidFill>
                  <a:schemeClr val="tx1"/>
                </a:solidFill>
                <a:effectLst/>
                <a:latin typeface="Helvetica Neue"/>
                <a:ea typeface="Helvetica Neue"/>
                <a:cs typeface="Helvetica Neue"/>
                <a:sym typeface="Helvetica Neue"/>
              </a:rPr>
              <a:t>Each bar answers the question: </a:t>
            </a:r>
            <a:r>
              <a:rPr lang="en-US" sz="2200" b="0" i="1" dirty="0">
                <a:solidFill>
                  <a:schemeClr val="tx1"/>
                </a:solidFill>
                <a:effectLst/>
                <a:latin typeface="Helvetica Neue"/>
                <a:ea typeface="Helvetica Neue"/>
                <a:cs typeface="Helvetica Neue"/>
                <a:sym typeface="Helvetica Neue"/>
              </a:rPr>
              <a:t>On average, how much does this feature change the model’s predictions?</a:t>
            </a:r>
            <a:endParaRPr lang="en-US" sz="2200" b="0" i="0" dirty="0">
              <a:solidFill>
                <a:schemeClr val="tx1"/>
              </a:solidFill>
              <a:effectLst/>
              <a:latin typeface="Helvetica Neue"/>
              <a:ea typeface="Helvetica Neue"/>
              <a:cs typeface="Helvetica Neue"/>
              <a:sym typeface="Helvetica Neue"/>
            </a:endParaRPr>
          </a:p>
          <a:p>
            <a:pPr fontAlgn="t"/>
            <a:r>
              <a:rPr lang="en-US" sz="2200" b="0" i="0" dirty="0">
                <a:solidFill>
                  <a:schemeClr val="tx1"/>
                </a:solidFill>
                <a:effectLst/>
                <a:latin typeface="Helvetica Neue"/>
                <a:ea typeface="Helvetica Neue"/>
                <a:cs typeface="Helvetica Neue"/>
                <a:sym typeface="Helvetica Neue"/>
              </a:rPr>
              <a:t>The direction of the effect is ignored here — we only care about magnitude. A larger bar means the model relies on that feature more often or more strongly.</a:t>
            </a:r>
          </a:p>
          <a:p>
            <a:pPr fontAlgn="t"/>
            <a:r>
              <a:rPr lang="en-US" sz="2200" b="0" i="0" dirty="0">
                <a:solidFill>
                  <a:schemeClr val="tx1"/>
                </a:solidFill>
                <a:effectLst/>
                <a:latin typeface="Helvetica Neue"/>
                <a:ea typeface="Helvetica Neue"/>
                <a:cs typeface="Helvetica Neue"/>
                <a:sym typeface="Helvetica Neue"/>
              </a:rPr>
              <a:t>It’s important to emphasize that this is </a:t>
            </a:r>
            <a:r>
              <a:rPr lang="en-US" sz="2200" b="1" i="0" dirty="0">
                <a:solidFill>
                  <a:schemeClr val="tx1"/>
                </a:solidFill>
                <a:effectLst/>
                <a:latin typeface="Helvetica Neue"/>
                <a:ea typeface="Helvetica Neue"/>
                <a:cs typeface="Helvetica Neue"/>
                <a:sym typeface="Helvetica Neue"/>
              </a:rPr>
              <a:t>not causal importance</a:t>
            </a:r>
            <a:r>
              <a:rPr lang="en-US" sz="2200" b="0" i="0" dirty="0">
                <a:solidFill>
                  <a:schemeClr val="tx1"/>
                </a:solidFill>
                <a:effectLst/>
                <a:latin typeface="Helvetica Neue"/>
                <a:ea typeface="Helvetica Neue"/>
                <a:cs typeface="Helvetica Neue"/>
                <a:sym typeface="Helvetica Neue"/>
              </a:rPr>
              <a:t>. It tells us how much the model uses a feature, not whether the feature causes the outcome.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40966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r>
              <a:rPr lang="en-US" sz="2200" b="0" i="0" dirty="0">
                <a:solidFill>
                  <a:schemeClr val="tx1"/>
                </a:solidFill>
                <a:effectLst/>
                <a:latin typeface="Helvetica Neue"/>
                <a:ea typeface="Helvetica Neue"/>
                <a:cs typeface="Helvetica Neue"/>
                <a:sym typeface="Helvetica Neue"/>
              </a:rPr>
              <a:t>This plot shows </a:t>
            </a:r>
            <a:r>
              <a:rPr lang="en-US" sz="2200" b="0" i="1" dirty="0">
                <a:solidFill>
                  <a:schemeClr val="tx1"/>
                </a:solidFill>
                <a:effectLst/>
                <a:latin typeface="Helvetica Neue"/>
                <a:ea typeface="Helvetica Neue"/>
                <a:cs typeface="Helvetica Neue"/>
                <a:sym typeface="Helvetica Neue"/>
              </a:rPr>
              <a:t>how</a:t>
            </a:r>
            <a:r>
              <a:rPr lang="en-US" sz="2200" b="0" i="0" dirty="0">
                <a:solidFill>
                  <a:schemeClr val="tx1"/>
                </a:solidFill>
                <a:effectLst/>
                <a:latin typeface="Helvetica Neue"/>
                <a:ea typeface="Helvetica Neue"/>
                <a:cs typeface="Helvetica Neue"/>
                <a:sym typeface="Helvetica Neue"/>
              </a:rPr>
              <a:t> a feature affects predictions, not just how important it is.</a:t>
            </a:r>
          </a:p>
          <a:p>
            <a:pPr fontAlgn="t"/>
            <a:r>
              <a:rPr lang="en-US" sz="2200" b="0" i="0" dirty="0">
                <a:solidFill>
                  <a:schemeClr val="tx1"/>
                </a:solidFill>
                <a:effectLst/>
                <a:latin typeface="Helvetica Neue"/>
                <a:ea typeface="Helvetica Neue"/>
                <a:cs typeface="Helvetica Neue"/>
                <a:sym typeface="Helvetica Neue"/>
              </a:rPr>
              <a:t>The x‑axis is the actual feature value, and the y‑axis is the SHAP value — how much that feature pushes the prediction up or down.</a:t>
            </a:r>
          </a:p>
          <a:p>
            <a:pPr fontAlgn="t"/>
            <a:r>
              <a:rPr lang="en-US" sz="2200" b="0" i="0" dirty="0">
                <a:solidFill>
                  <a:schemeClr val="tx1"/>
                </a:solidFill>
                <a:effectLst/>
                <a:latin typeface="Helvetica Neue"/>
                <a:ea typeface="Helvetica Neue"/>
                <a:cs typeface="Helvetica Neue"/>
                <a:sym typeface="Helvetica Neue"/>
              </a:rPr>
              <a:t>Positive SHAP values increase the prediction; negative values decrease it.</a:t>
            </a:r>
          </a:p>
          <a:p>
            <a:pPr fontAlgn="t"/>
            <a:r>
              <a:rPr lang="en-US" sz="2200" b="0" i="0" dirty="0">
                <a:solidFill>
                  <a:schemeClr val="tx1"/>
                </a:solidFill>
                <a:effectLst/>
                <a:latin typeface="Helvetica Neue"/>
                <a:ea typeface="Helvetica Neue"/>
                <a:cs typeface="Helvetica Neue"/>
                <a:sym typeface="Helvetica Neue"/>
              </a:rPr>
              <a:t>Vertical spread indicates nonlinear or context‑dependent effects, meaning the same feature value can have different impacts depending on other features.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59093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r>
              <a:rPr lang="en-US" sz="2200" b="0" i="0" dirty="0">
                <a:solidFill>
                  <a:schemeClr val="tx1"/>
                </a:solidFill>
                <a:effectLst/>
                <a:latin typeface="Helvetica Neue"/>
                <a:ea typeface="Helvetica Neue"/>
                <a:cs typeface="Helvetica Neue"/>
                <a:sym typeface="Helvetica Neue"/>
              </a:rPr>
              <a:t>The </a:t>
            </a:r>
            <a:r>
              <a:rPr lang="en-US" sz="2200" b="0" i="0" dirty="0" err="1">
                <a:solidFill>
                  <a:schemeClr val="tx1"/>
                </a:solidFill>
                <a:effectLst/>
                <a:latin typeface="Helvetica Neue"/>
                <a:ea typeface="Helvetica Neue"/>
                <a:cs typeface="Helvetica Neue"/>
                <a:sym typeface="Helvetica Neue"/>
              </a:rPr>
              <a:t>beeswarm</a:t>
            </a:r>
            <a:r>
              <a:rPr lang="en-US" sz="2200" b="0" i="0" dirty="0">
                <a:solidFill>
                  <a:schemeClr val="tx1"/>
                </a:solidFill>
                <a:effectLst/>
                <a:latin typeface="Helvetica Neue"/>
                <a:ea typeface="Helvetica Neue"/>
                <a:cs typeface="Helvetica Neue"/>
                <a:sym typeface="Helvetica Neue"/>
              </a:rPr>
              <a:t> plot combines </a:t>
            </a:r>
            <a:r>
              <a:rPr lang="en-US" sz="2200" b="1" i="0" dirty="0">
                <a:solidFill>
                  <a:schemeClr val="tx1"/>
                </a:solidFill>
                <a:effectLst/>
                <a:latin typeface="Helvetica Neue"/>
                <a:ea typeface="Helvetica Neue"/>
                <a:cs typeface="Helvetica Neue"/>
                <a:sym typeface="Helvetica Neue"/>
              </a:rPr>
              <a:t>global importance</a:t>
            </a:r>
            <a:r>
              <a:rPr lang="en-US" sz="2200" b="0" i="0" dirty="0">
                <a:solidFill>
                  <a:schemeClr val="tx1"/>
                </a:solidFill>
                <a:effectLst/>
                <a:latin typeface="Helvetica Neue"/>
                <a:ea typeface="Helvetica Neue"/>
                <a:cs typeface="Helvetica Neue"/>
                <a:sym typeface="Helvetica Neue"/>
              </a:rPr>
              <a:t> with </a:t>
            </a:r>
            <a:r>
              <a:rPr lang="en-US" sz="2200" b="1" i="0" dirty="0">
                <a:solidFill>
                  <a:schemeClr val="tx1"/>
                </a:solidFill>
                <a:effectLst/>
                <a:latin typeface="Helvetica Neue"/>
                <a:ea typeface="Helvetica Neue"/>
                <a:cs typeface="Helvetica Neue"/>
                <a:sym typeface="Helvetica Neue"/>
              </a:rPr>
              <a:t>direction of influence</a:t>
            </a:r>
            <a:r>
              <a:rPr lang="en-US" sz="2200" b="0" i="0" dirty="0">
                <a:solidFill>
                  <a:schemeClr val="tx1"/>
                </a:solidFill>
                <a:effectLst/>
                <a:latin typeface="Helvetica Neue"/>
                <a:ea typeface="Helvetica Neue"/>
                <a:cs typeface="Helvetica Neue"/>
                <a:sym typeface="Helvetica Neue"/>
              </a:rPr>
              <a:t>.</a:t>
            </a:r>
          </a:p>
          <a:p>
            <a:pPr fontAlgn="t"/>
            <a:r>
              <a:rPr lang="en-US" sz="2200" b="0" i="0" dirty="0">
                <a:solidFill>
                  <a:schemeClr val="tx1"/>
                </a:solidFill>
                <a:effectLst/>
                <a:latin typeface="Helvetica Neue"/>
                <a:ea typeface="Helvetica Neue"/>
                <a:cs typeface="Helvetica Neue"/>
                <a:sym typeface="Helvetica Neue"/>
              </a:rPr>
              <a:t>Features are sorted by overall importance from top to bottom. Each dot represents one data point.</a:t>
            </a:r>
          </a:p>
          <a:p>
            <a:pPr fontAlgn="t"/>
            <a:r>
              <a:rPr lang="en-US" sz="2200" b="0" i="0" dirty="0">
                <a:solidFill>
                  <a:schemeClr val="tx1"/>
                </a:solidFill>
                <a:effectLst/>
                <a:latin typeface="Helvetica Neue"/>
                <a:ea typeface="Helvetica Neue"/>
                <a:cs typeface="Helvetica Neue"/>
                <a:sym typeface="Helvetica Neue"/>
              </a:rPr>
              <a:t>The x‑axis shows the SHAP value, and color represents the feature value.</a:t>
            </a:r>
          </a:p>
          <a:p>
            <a:pPr fontAlgn="t"/>
            <a:r>
              <a:rPr lang="en-US" sz="2200" b="0" i="0" dirty="0">
                <a:solidFill>
                  <a:schemeClr val="tx1"/>
                </a:solidFill>
                <a:effectLst/>
                <a:latin typeface="Helvetica Neue"/>
                <a:ea typeface="Helvetica Neue"/>
                <a:cs typeface="Helvetica Neue"/>
                <a:sym typeface="Helvetica Neue"/>
              </a:rPr>
              <a:t>Wide horizontal spread indicates a highly influential feature.</a:t>
            </a:r>
          </a:p>
          <a:p>
            <a:pPr fontAlgn="t"/>
            <a:r>
              <a:rPr lang="en-US" sz="2200" b="0" i="0" dirty="0">
                <a:solidFill>
                  <a:schemeClr val="tx1"/>
                </a:solidFill>
                <a:effectLst/>
                <a:latin typeface="Helvetica Neue"/>
                <a:ea typeface="Helvetica Neue"/>
                <a:cs typeface="Helvetica Neue"/>
                <a:sym typeface="Helvetica Neue"/>
              </a:rPr>
              <a:t>If high and low feature values appear on both sides, that suggests interactions or nonlinear behavior.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499482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r>
              <a:rPr lang="en-US" sz="2200" b="0" i="0" dirty="0">
                <a:solidFill>
                  <a:schemeClr val="tx1"/>
                </a:solidFill>
                <a:effectLst/>
                <a:latin typeface="Helvetica Neue"/>
                <a:ea typeface="Helvetica Neue"/>
                <a:cs typeface="Helvetica Neue"/>
                <a:sym typeface="Helvetica Neue"/>
              </a:rPr>
              <a:t>This plot explains </a:t>
            </a:r>
            <a:r>
              <a:rPr lang="en-US" sz="2200" b="0" i="1" dirty="0">
                <a:solidFill>
                  <a:schemeClr val="tx1"/>
                </a:solidFill>
                <a:effectLst/>
                <a:latin typeface="Helvetica Neue"/>
                <a:ea typeface="Helvetica Neue"/>
                <a:cs typeface="Helvetica Neue"/>
                <a:sym typeface="Helvetica Neue"/>
              </a:rPr>
              <a:t>one specific prediction</a:t>
            </a:r>
            <a:r>
              <a:rPr lang="en-US" sz="2200" b="0" i="0" dirty="0">
                <a:solidFill>
                  <a:schemeClr val="tx1"/>
                </a:solidFill>
                <a:effectLst/>
                <a:latin typeface="Helvetica Neue"/>
                <a:ea typeface="Helvetica Neue"/>
                <a:cs typeface="Helvetica Neue"/>
                <a:sym typeface="Helvetica Neue"/>
              </a:rPr>
              <a:t>.</a:t>
            </a:r>
          </a:p>
          <a:p>
            <a:pPr fontAlgn="t"/>
            <a:r>
              <a:rPr lang="en-US" sz="2200" b="0" i="0" dirty="0">
                <a:solidFill>
                  <a:schemeClr val="tx1"/>
                </a:solidFill>
                <a:effectLst/>
                <a:latin typeface="Helvetica Neue"/>
                <a:ea typeface="Helvetica Neue"/>
                <a:cs typeface="Helvetica Neue"/>
                <a:sym typeface="Helvetica Neue"/>
              </a:rPr>
              <a:t>We start from the baseline prediction, which is the model’s average output.</a:t>
            </a:r>
          </a:p>
          <a:p>
            <a:pPr fontAlgn="t"/>
            <a:r>
              <a:rPr lang="en-US" sz="2200" b="0" i="0" dirty="0">
                <a:solidFill>
                  <a:schemeClr val="tx1"/>
                </a:solidFill>
                <a:effectLst/>
                <a:latin typeface="Helvetica Neue"/>
                <a:ea typeface="Helvetica Neue"/>
                <a:cs typeface="Helvetica Neue"/>
                <a:sym typeface="Helvetica Neue"/>
              </a:rPr>
              <a:t>Each bar shows how a feature pushes the prediction up or down for this instance.</a:t>
            </a:r>
          </a:p>
          <a:p>
            <a:pPr fontAlgn="t"/>
            <a:r>
              <a:rPr lang="en-US" sz="2200" b="0" i="0" dirty="0">
                <a:solidFill>
                  <a:schemeClr val="tx1"/>
                </a:solidFill>
                <a:effectLst/>
                <a:latin typeface="Helvetica Neue"/>
                <a:ea typeface="Helvetica Neue"/>
                <a:cs typeface="Helvetica Neue"/>
                <a:sym typeface="Helvetica Neue"/>
              </a:rPr>
              <a:t>Red bars increase the prediction; blue bars decrease it.</a:t>
            </a:r>
          </a:p>
          <a:p>
            <a:pPr fontAlgn="t"/>
            <a:r>
              <a:rPr lang="en-US" sz="2200" b="0" i="0" dirty="0">
                <a:solidFill>
                  <a:schemeClr val="tx1"/>
                </a:solidFill>
                <a:effectLst/>
                <a:latin typeface="Helvetica Neue"/>
                <a:ea typeface="Helvetica Neue"/>
                <a:cs typeface="Helvetica Neue"/>
                <a:sym typeface="Helvetica Neue"/>
              </a:rPr>
              <a:t>All contributions sum exactly to the final prediction, illustrating the </a:t>
            </a:r>
            <a:r>
              <a:rPr lang="en-US" sz="2200" b="1" i="0" dirty="0">
                <a:solidFill>
                  <a:schemeClr val="tx1"/>
                </a:solidFill>
                <a:effectLst/>
                <a:latin typeface="Helvetica Neue"/>
                <a:ea typeface="Helvetica Neue"/>
                <a:cs typeface="Helvetica Neue"/>
                <a:sym typeface="Helvetica Neue"/>
              </a:rPr>
              <a:t>efficiency property</a:t>
            </a:r>
            <a:r>
              <a:rPr lang="en-US" sz="2200" b="0" i="0" dirty="0">
                <a:solidFill>
                  <a:schemeClr val="tx1"/>
                </a:solidFill>
                <a:effectLst/>
                <a:latin typeface="Helvetica Neue"/>
                <a:ea typeface="Helvetica Neue"/>
                <a:cs typeface="Helvetica Neue"/>
                <a:sym typeface="Helvetica Neue"/>
              </a:rPr>
              <a:t> of SHAP.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33459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ine">
            <a:extLst>
              <a:ext uri="{FF2B5EF4-FFF2-40B4-BE49-F238E27FC236}">
                <a16:creationId xmlns:a16="http://schemas.microsoft.com/office/drawing/2014/main" id="{B21DB221-69F6-C493-5624-499209F00DE4}"/>
              </a:ext>
            </a:extLst>
          </p:cNvPr>
          <p:cNvSpPr>
            <a:spLocks noChangeShapeType="1"/>
          </p:cNvSpPr>
          <p:nvPr/>
        </p:nvSpPr>
        <p:spPr bwMode="auto">
          <a:xfrm>
            <a:off x="92075" y="5838825"/>
            <a:ext cx="12820650" cy="0"/>
          </a:xfrm>
          <a:prstGeom prst="line">
            <a:avLst/>
          </a:prstGeom>
          <a:noFill/>
          <a:ln w="342900">
            <a:solidFill>
              <a:srgbClr val="FF7E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en-US"/>
          </a:p>
        </p:txBody>
      </p:sp>
      <p:sp>
        <p:nvSpPr>
          <p:cNvPr id="3" name="Line">
            <a:extLst>
              <a:ext uri="{FF2B5EF4-FFF2-40B4-BE49-F238E27FC236}">
                <a16:creationId xmlns:a16="http://schemas.microsoft.com/office/drawing/2014/main" id="{9B18C3A6-8BCD-DF55-1337-3CCD9865F8A1}"/>
              </a:ext>
            </a:extLst>
          </p:cNvPr>
          <p:cNvSpPr>
            <a:spLocks noChangeShapeType="1"/>
          </p:cNvSpPr>
          <p:nvPr/>
        </p:nvSpPr>
        <p:spPr bwMode="auto">
          <a:xfrm>
            <a:off x="92075" y="2011363"/>
            <a:ext cx="12820650" cy="0"/>
          </a:xfrm>
          <a:prstGeom prst="line">
            <a:avLst/>
          </a:prstGeom>
          <a:noFill/>
          <a:ln w="63500">
            <a:solidFill>
              <a:srgbClr val="FF7E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en-US"/>
          </a:p>
        </p:txBody>
      </p:sp>
      <p:sp>
        <p:nvSpPr>
          <p:cNvPr id="12" name="Presentation Title"/>
          <p:cNvSpPr txBox="1">
            <a:spLocks noGrp="1"/>
          </p:cNvSpPr>
          <p:nvPr>
            <p:ph type="title"/>
          </p:nvPr>
        </p:nvSpPr>
        <p:spPr>
          <a:xfrm>
            <a:off x="698500" y="1854200"/>
            <a:ext cx="11609057" cy="3302000"/>
          </a:xfrm>
          <a:prstGeom prst="rect">
            <a:avLst/>
          </a:prstGeom>
        </p:spPr>
        <p:txBody>
          <a:bodyPr anchor="b"/>
          <a:lstStyle>
            <a:lvl1pPr>
              <a:defRPr sz="8200" b="1" spc="-164">
                <a:latin typeface="+mj-lt"/>
                <a:ea typeface="+mj-ea"/>
                <a:cs typeface="+mj-cs"/>
                <a:sym typeface="Avenir Next Regular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2A9BDC2C-26B4-437B-9457-E5E639DB9318}"/>
              </a:ext>
            </a:extLst>
          </p:cNvPr>
          <p:cNvSpPr txBox="1">
            <a:spLocks noGrp="1" noChangeArrowheads="1"/>
          </p:cNvSpPr>
          <p:nvPr>
            <p:ph type="sldNum" sz="quarter" idx="10"/>
          </p:nvPr>
        </p:nvSpPr>
        <p:spPr>
          <a:xfrm>
            <a:off x="6353175" y="9220200"/>
            <a:ext cx="298450" cy="287338"/>
          </a:xfrm>
        </p:spPr>
        <p:txBody>
          <a:bodyPr/>
          <a:lstStyle>
            <a:lvl1pPr>
              <a:defRPr/>
            </a:lvl1pPr>
          </a:lstStyle>
          <a:p>
            <a:fld id="{CE977EC7-8784-4422-8795-41A7302DBB3A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643546625"/>
      </p:ext>
    </p:extLst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Avocados and limes"/>
          <p:cNvSpPr>
            <a:spLocks noGrp="1"/>
          </p:cNvSpPr>
          <p:nvPr>
            <p:ph type="pic" idx="21"/>
          </p:nvPr>
        </p:nvSpPr>
        <p:spPr>
          <a:xfrm>
            <a:off x="-376767" y="-915894"/>
            <a:ext cx="17835652" cy="10682195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 lvl="0"/>
            <a:endParaRPr noProof="0">
              <a:sym typeface="Avenir Next Regular"/>
            </a:endParaRPr>
          </a:p>
        </p:txBody>
      </p:sp>
      <p:sp>
        <p:nvSpPr>
          <p:cNvPr id="23" name="Presentation Title"/>
          <p:cNvSpPr txBox="1">
            <a:spLocks noGrp="1"/>
          </p:cNvSpPr>
          <p:nvPr>
            <p:ph type="title"/>
          </p:nvPr>
        </p:nvSpPr>
        <p:spPr>
          <a:xfrm>
            <a:off x="698500" y="5181600"/>
            <a:ext cx="11607800" cy="3302000"/>
          </a:xfrm>
          <a:prstGeom prst="rect">
            <a:avLst/>
          </a:prstGeom>
        </p:spPr>
        <p:txBody>
          <a:bodyPr anchor="b"/>
          <a:lstStyle>
            <a:lvl1pPr>
              <a:defRPr sz="8200" b="1" spc="-164">
                <a:latin typeface="+mj-lt"/>
                <a:ea typeface="+mj-ea"/>
                <a:cs typeface="+mj-cs"/>
                <a:sym typeface="Avenir Next Regular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2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698500" y="8432800"/>
            <a:ext cx="11607800" cy="689769"/>
          </a:xfrm>
          <a:prstGeom prst="rect">
            <a:avLst/>
          </a:prstGeom>
        </p:spPr>
        <p:txBody>
          <a:bodyPr/>
          <a:lstStyle>
            <a:lvl1pPr marL="0" indent="0" defTabSz="587022">
              <a:lnSpc>
                <a:spcPct val="100000"/>
              </a:lnSpc>
              <a:spcBef>
                <a:spcPts val="0"/>
              </a:spcBef>
              <a:buClrTx/>
              <a:buSzTx/>
              <a:buNone/>
              <a:defRPr sz="3800">
                <a:latin typeface="Avenir Next Medium"/>
                <a:ea typeface="Avenir Next Medium"/>
                <a:cs typeface="Avenir Next Medium"/>
                <a:sym typeface="Avenir Next Medium"/>
              </a:defRPr>
            </a:lvl1pPr>
            <a:lvl2pPr marL="0" indent="457200" defTabSz="587022">
              <a:lnSpc>
                <a:spcPct val="100000"/>
              </a:lnSpc>
              <a:spcBef>
                <a:spcPts val="0"/>
              </a:spcBef>
              <a:buClrTx/>
              <a:buSzTx/>
              <a:buNone/>
              <a:defRPr sz="3800">
                <a:latin typeface="Avenir Next Medium"/>
                <a:ea typeface="Avenir Next Medium"/>
                <a:cs typeface="Avenir Next Medium"/>
                <a:sym typeface="Avenir Next Medium"/>
              </a:defRPr>
            </a:lvl2pPr>
            <a:lvl3pPr marL="0" indent="914400" defTabSz="587022">
              <a:lnSpc>
                <a:spcPct val="100000"/>
              </a:lnSpc>
              <a:spcBef>
                <a:spcPts val="0"/>
              </a:spcBef>
              <a:buClrTx/>
              <a:buSzTx/>
              <a:buNone/>
              <a:defRPr sz="3800">
                <a:latin typeface="Avenir Next Medium"/>
                <a:ea typeface="Avenir Next Medium"/>
                <a:cs typeface="Avenir Next Medium"/>
                <a:sym typeface="Avenir Next Medium"/>
              </a:defRPr>
            </a:lvl3pPr>
            <a:lvl4pPr marL="0" indent="1371600" defTabSz="587022">
              <a:lnSpc>
                <a:spcPct val="100000"/>
              </a:lnSpc>
              <a:spcBef>
                <a:spcPts val="0"/>
              </a:spcBef>
              <a:buClrTx/>
              <a:buSzTx/>
              <a:buNone/>
              <a:defRPr sz="3800">
                <a:latin typeface="Avenir Next Medium"/>
                <a:ea typeface="Avenir Next Medium"/>
                <a:cs typeface="Avenir Next Medium"/>
                <a:sym typeface="Avenir Next Medium"/>
              </a:defRPr>
            </a:lvl4pPr>
            <a:lvl5pPr marL="0" indent="1828800" defTabSz="587022">
              <a:lnSpc>
                <a:spcPct val="100000"/>
              </a:lnSpc>
              <a:spcBef>
                <a:spcPts val="0"/>
              </a:spcBef>
              <a:buSzTx/>
              <a:buNone/>
              <a:defRPr sz="3800">
                <a:latin typeface="Avenir Next Medium"/>
                <a:ea typeface="Avenir Next Medium"/>
                <a:cs typeface="Avenir Next Medium"/>
                <a:sym typeface="Avenir Next Medium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25" name="Author and Date"/>
          <p:cNvSpPr txBox="1">
            <a:spLocks noGrp="1"/>
          </p:cNvSpPr>
          <p:nvPr>
            <p:ph type="body" sz="quarter" idx="22"/>
          </p:nvPr>
        </p:nvSpPr>
        <p:spPr>
          <a:xfrm>
            <a:off x="698500" y="571500"/>
            <a:ext cx="11607801" cy="461059"/>
          </a:xfrm>
          <a:prstGeom prst="rect">
            <a:avLst/>
          </a:prstGeom>
        </p:spPr>
        <p:txBody>
          <a:bodyPr/>
          <a:lstStyle>
            <a:lvl1pPr marL="0" indent="0" defTabSz="563541">
              <a:lnSpc>
                <a:spcPct val="100000"/>
              </a:lnSpc>
              <a:spcBef>
                <a:spcPts val="0"/>
              </a:spcBef>
              <a:buClrTx/>
              <a:buSzTx/>
              <a:buNone/>
              <a:defRPr sz="2304" b="1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Slide Number">
            <a:extLst>
              <a:ext uri="{FF2B5EF4-FFF2-40B4-BE49-F238E27FC236}">
                <a16:creationId xmlns:a16="http://schemas.microsoft.com/office/drawing/2014/main" id="{D6D4DCEE-C3E2-FDCB-776F-BD8C1246F52C}"/>
              </a:ext>
            </a:extLst>
          </p:cNvPr>
          <p:cNvSpPr txBox="1">
            <a:spLocks noGrp="1" noChangeArrowheads="1"/>
          </p:cNvSpPr>
          <p:nvPr>
            <p:ph type="sldNum" sz="quarter" idx="23"/>
          </p:nvPr>
        </p:nvSpPr>
        <p:spPr/>
        <p:txBody>
          <a:bodyPr/>
          <a:lstStyle>
            <a:lvl1pPr>
              <a:defRPr/>
            </a:lvl1pPr>
          </a:lstStyle>
          <a:p>
            <a:fld id="{96BA0C8F-9797-4454-8FAE-703DAF77F6FD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85690246"/>
      </p:ext>
    </p:extLst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&amp; Photo 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Bowl with salmon cakes, salad, and hummus "/>
          <p:cNvSpPr>
            <a:spLocks noGrp="1"/>
          </p:cNvSpPr>
          <p:nvPr>
            <p:ph type="pic" idx="21"/>
          </p:nvPr>
        </p:nvSpPr>
        <p:spPr>
          <a:xfrm>
            <a:off x="5319129" y="495299"/>
            <a:ext cx="7543801" cy="8780059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 lvl="0"/>
            <a:endParaRPr noProof="0">
              <a:sym typeface="Avenir Next Regular"/>
            </a:endParaRPr>
          </a:p>
        </p:txBody>
      </p:sp>
      <p:sp>
        <p:nvSpPr>
          <p:cNvPr id="3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698500" y="5003800"/>
            <a:ext cx="5105400" cy="4044566"/>
          </a:xfrm>
          <a:prstGeom prst="rect">
            <a:avLst/>
          </a:prstGeom>
        </p:spPr>
        <p:txBody>
          <a:bodyPr/>
          <a:lstStyle>
            <a:lvl1pPr marL="0" indent="0" defTabSz="587022">
              <a:lnSpc>
                <a:spcPct val="100000"/>
              </a:lnSpc>
              <a:spcBef>
                <a:spcPts val="0"/>
              </a:spcBef>
              <a:buClrTx/>
              <a:buSzTx/>
              <a:buNone/>
              <a:defRPr sz="3800">
                <a:latin typeface="Avenir Next Medium"/>
                <a:ea typeface="Avenir Next Medium"/>
                <a:cs typeface="Avenir Next Medium"/>
                <a:sym typeface="Avenir Next Medium"/>
              </a:defRPr>
            </a:lvl1pPr>
            <a:lvl2pPr marL="0" indent="457200" defTabSz="587022">
              <a:lnSpc>
                <a:spcPct val="100000"/>
              </a:lnSpc>
              <a:spcBef>
                <a:spcPts val="0"/>
              </a:spcBef>
              <a:buClrTx/>
              <a:buSzTx/>
              <a:buNone/>
              <a:defRPr sz="3800">
                <a:latin typeface="Avenir Next Medium"/>
                <a:ea typeface="Avenir Next Medium"/>
                <a:cs typeface="Avenir Next Medium"/>
                <a:sym typeface="Avenir Next Medium"/>
              </a:defRPr>
            </a:lvl2pPr>
            <a:lvl3pPr marL="0" indent="914400" defTabSz="587022">
              <a:lnSpc>
                <a:spcPct val="100000"/>
              </a:lnSpc>
              <a:spcBef>
                <a:spcPts val="0"/>
              </a:spcBef>
              <a:buClrTx/>
              <a:buSzTx/>
              <a:buNone/>
              <a:defRPr sz="3800">
                <a:latin typeface="Avenir Next Medium"/>
                <a:ea typeface="Avenir Next Medium"/>
                <a:cs typeface="Avenir Next Medium"/>
                <a:sym typeface="Avenir Next Medium"/>
              </a:defRPr>
            </a:lvl3pPr>
            <a:lvl4pPr marL="0" indent="1371600" defTabSz="587022">
              <a:lnSpc>
                <a:spcPct val="100000"/>
              </a:lnSpc>
              <a:spcBef>
                <a:spcPts val="0"/>
              </a:spcBef>
              <a:buClrTx/>
              <a:buSzTx/>
              <a:buNone/>
              <a:defRPr sz="3800">
                <a:latin typeface="Avenir Next Medium"/>
                <a:ea typeface="Avenir Next Medium"/>
                <a:cs typeface="Avenir Next Medium"/>
                <a:sym typeface="Avenir Next Medium"/>
              </a:defRPr>
            </a:lvl4pPr>
            <a:lvl5pPr marL="0" indent="1828800" defTabSz="587022">
              <a:lnSpc>
                <a:spcPct val="100000"/>
              </a:lnSpc>
              <a:spcBef>
                <a:spcPts val="0"/>
              </a:spcBef>
              <a:buSzTx/>
              <a:buNone/>
              <a:defRPr sz="3800">
                <a:latin typeface="Avenir Next Medium"/>
                <a:ea typeface="Avenir Next Medium"/>
                <a:cs typeface="Avenir Next Medium"/>
                <a:sym typeface="Avenir Next Medium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35" name="Slide Title"/>
          <p:cNvSpPr txBox="1">
            <a:spLocks noGrp="1"/>
          </p:cNvSpPr>
          <p:nvPr>
            <p:ph type="title"/>
          </p:nvPr>
        </p:nvSpPr>
        <p:spPr>
          <a:xfrm>
            <a:off x="698500" y="692534"/>
            <a:ext cx="5105400" cy="4387466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2" name="Slide Number">
            <a:extLst>
              <a:ext uri="{FF2B5EF4-FFF2-40B4-BE49-F238E27FC236}">
                <a16:creationId xmlns:a16="http://schemas.microsoft.com/office/drawing/2014/main" id="{A0D2A226-4E17-54C4-9000-D3FE9D3F817E}"/>
              </a:ext>
            </a:extLst>
          </p:cNvPr>
          <p:cNvSpPr txBox="1">
            <a:spLocks noGrp="1" noChangeArrowheads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B7988FBD-AF0C-4D16-83FC-5C944EF2C38D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98733586"/>
      </p:ext>
    </p:extLst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4" name="Slide 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2" name="Slide Number">
            <a:extLst>
              <a:ext uri="{FF2B5EF4-FFF2-40B4-BE49-F238E27FC236}">
                <a16:creationId xmlns:a16="http://schemas.microsoft.com/office/drawing/2014/main" id="{597501D2-FB34-EF83-5113-887F9DAB0864}"/>
              </a:ext>
            </a:extLst>
          </p:cNvPr>
          <p:cNvSpPr txBox="1"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7ABF8AB-F4E7-4CA4-B274-00F722B11A56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13465020"/>
      </p:ext>
    </p:extLst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Bowl of pappardelle pasta with parsley butter, roasted hazelnuts, and shaved parmesan cheese"/>
          <p:cNvSpPr>
            <a:spLocks noGrp="1"/>
          </p:cNvSpPr>
          <p:nvPr>
            <p:ph type="pic" idx="21"/>
          </p:nvPr>
        </p:nvSpPr>
        <p:spPr>
          <a:xfrm>
            <a:off x="6172200" y="596900"/>
            <a:ext cx="6448425" cy="85979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 lvl="0"/>
            <a:endParaRPr noProof="0">
              <a:sym typeface="Avenir Next Regular"/>
            </a:endParaRPr>
          </a:p>
        </p:txBody>
      </p:sp>
      <p:sp>
        <p:nvSpPr>
          <p:cNvPr id="61" name="Slide Title"/>
          <p:cNvSpPr txBox="1">
            <a:spLocks noGrp="1"/>
          </p:cNvSpPr>
          <p:nvPr>
            <p:ph type="title"/>
          </p:nvPr>
        </p:nvSpPr>
        <p:spPr>
          <a:xfrm>
            <a:off x="698500" y="444500"/>
            <a:ext cx="5105400" cy="1016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62" name="Slide Subtitle"/>
          <p:cNvSpPr txBox="1">
            <a:spLocks noGrp="1"/>
          </p:cNvSpPr>
          <p:nvPr>
            <p:ph type="body" sz="quarter" idx="22"/>
          </p:nvPr>
        </p:nvSpPr>
        <p:spPr>
          <a:xfrm>
            <a:off x="698500" y="1412977"/>
            <a:ext cx="5105400" cy="671803"/>
          </a:xfrm>
          <a:prstGeom prst="rect">
            <a:avLst/>
          </a:prstGeom>
        </p:spPr>
        <p:txBody>
          <a:bodyPr/>
          <a:lstStyle>
            <a:lvl1pPr marL="0" indent="0" defTabSz="516579">
              <a:lnSpc>
                <a:spcPct val="100000"/>
              </a:lnSpc>
              <a:spcBef>
                <a:spcPts val="0"/>
              </a:spcBef>
              <a:buClrTx/>
              <a:buSzTx/>
              <a:buNone/>
              <a:defRPr sz="3343">
                <a:latin typeface="Avenir Next Medium"/>
                <a:ea typeface="Avenir Next Medium"/>
                <a:cs typeface="Avenir Next Medium"/>
                <a:sym typeface="Avenir Next Medium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3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698500" y="3480196"/>
            <a:ext cx="5105400" cy="5593161"/>
          </a:xfrm>
          <a:prstGeom prst="rect">
            <a:avLst/>
          </a:prstGeom>
        </p:spPr>
        <p:txBody>
          <a:bodyPr/>
          <a:lstStyle>
            <a:lvl1pPr>
              <a:buClrTx/>
              <a:buSzPct val="123000"/>
              <a:buChar char="•"/>
            </a:lvl1pPr>
            <a:lvl2pPr marL="762000">
              <a:buClrTx/>
            </a:lvl2pPr>
            <a:lvl3pPr marL="1143000">
              <a:buClrTx/>
              <a:buChar char="•"/>
            </a:lvl3pPr>
            <a:lvl4pPr marL="1524000">
              <a:buClrTx/>
              <a:buChar char="•"/>
            </a:lvl4pPr>
            <a:lvl5pPr marL="1905000">
              <a:buSzPct val="123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2" name="Slide Number">
            <a:extLst>
              <a:ext uri="{FF2B5EF4-FFF2-40B4-BE49-F238E27FC236}">
                <a16:creationId xmlns:a16="http://schemas.microsoft.com/office/drawing/2014/main" id="{D251ED5C-4E92-4292-5BC2-6EA49A5E56CA}"/>
              </a:ext>
            </a:extLst>
          </p:cNvPr>
          <p:cNvSpPr txBox="1">
            <a:spLocks noGrp="1" noChangeArrowheads="1"/>
          </p:cNvSpPr>
          <p:nvPr>
            <p:ph type="sldNum" sz="quarter" idx="23"/>
          </p:nvPr>
        </p:nvSpPr>
        <p:spPr/>
        <p:txBody>
          <a:bodyPr/>
          <a:lstStyle>
            <a:lvl1pPr>
              <a:defRPr/>
            </a:lvl1pPr>
          </a:lstStyle>
          <a:p>
            <a:fld id="{D15143BC-258C-46AD-9DDC-21939B61BB30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733830"/>
      </p:ext>
    </p:extLst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ine">
            <a:extLst>
              <a:ext uri="{FF2B5EF4-FFF2-40B4-BE49-F238E27FC236}">
                <a16:creationId xmlns:a16="http://schemas.microsoft.com/office/drawing/2014/main" id="{34FE5643-0895-6936-809B-47D0652F7486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" y="3009900"/>
            <a:ext cx="12979400" cy="0"/>
          </a:xfrm>
          <a:prstGeom prst="line">
            <a:avLst/>
          </a:prstGeom>
          <a:noFill/>
          <a:ln w="25400">
            <a:solidFill>
              <a:srgbClr val="FF7E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en-US"/>
          </a:p>
        </p:txBody>
      </p:sp>
      <p:sp>
        <p:nvSpPr>
          <p:cNvPr id="3" name="Line">
            <a:extLst>
              <a:ext uri="{FF2B5EF4-FFF2-40B4-BE49-F238E27FC236}">
                <a16:creationId xmlns:a16="http://schemas.microsoft.com/office/drawing/2014/main" id="{2CF3EC2C-E44A-3013-58F5-C70D1E09A3A0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" y="6424613"/>
            <a:ext cx="12979400" cy="0"/>
          </a:xfrm>
          <a:prstGeom prst="line">
            <a:avLst/>
          </a:prstGeom>
          <a:noFill/>
          <a:ln w="25400">
            <a:solidFill>
              <a:srgbClr val="FF7E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en-US"/>
          </a:p>
        </p:txBody>
      </p:sp>
      <p:sp>
        <p:nvSpPr>
          <p:cNvPr id="71" name="Section Title"/>
          <p:cNvSpPr txBox="1">
            <a:spLocks noGrp="1"/>
          </p:cNvSpPr>
          <p:nvPr>
            <p:ph type="title"/>
          </p:nvPr>
        </p:nvSpPr>
        <p:spPr>
          <a:xfrm>
            <a:off x="698500" y="3225800"/>
            <a:ext cx="11607800" cy="3302000"/>
          </a:xfrm>
          <a:prstGeom prst="rect">
            <a:avLst/>
          </a:prstGeom>
        </p:spPr>
        <p:txBody>
          <a:bodyPr anchor="ctr"/>
          <a:lstStyle>
            <a:lvl1pPr>
              <a:defRPr sz="8200" spc="-164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58AB0858-A9CE-B1A9-EF31-64684A8D918E}"/>
              </a:ext>
            </a:extLst>
          </p:cNvPr>
          <p:cNvSpPr txBox="1"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BA9DFF50-3A6B-4379-8E68-900E7A45AA35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465413228"/>
      </p:ext>
    </p:extLst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lide 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2" name="Slide Number">
            <a:extLst>
              <a:ext uri="{FF2B5EF4-FFF2-40B4-BE49-F238E27FC236}">
                <a16:creationId xmlns:a16="http://schemas.microsoft.com/office/drawing/2014/main" id="{150DF2E9-531A-D136-D35A-9DC367468976}"/>
              </a:ext>
            </a:extLst>
          </p:cNvPr>
          <p:cNvSpPr txBox="1"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A15D5BF-22B5-4093-9D40-7964DD0FB735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75620551"/>
      </p:ext>
    </p:extLst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Agenda Title"/>
          <p:cNvSpPr txBox="1">
            <a:spLocks noGrp="1"/>
          </p:cNvSpPr>
          <p:nvPr>
            <p:ph type="title"/>
          </p:nvPr>
        </p:nvSpPr>
        <p:spPr>
          <a:xfrm>
            <a:off x="698500" y="444500"/>
            <a:ext cx="11607800" cy="1016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90" name="Agenda Subtitle"/>
          <p:cNvSpPr txBox="1">
            <a:spLocks noGrp="1"/>
          </p:cNvSpPr>
          <p:nvPr>
            <p:ph type="body" sz="quarter" idx="21"/>
          </p:nvPr>
        </p:nvSpPr>
        <p:spPr>
          <a:xfrm>
            <a:off x="698500" y="1409700"/>
            <a:ext cx="11607801" cy="671802"/>
          </a:xfrm>
          <a:prstGeom prst="rect">
            <a:avLst/>
          </a:prstGeom>
        </p:spPr>
        <p:txBody>
          <a:bodyPr/>
          <a:lstStyle>
            <a:lvl1pPr marL="0" indent="0" defTabSz="516579">
              <a:lnSpc>
                <a:spcPct val="100000"/>
              </a:lnSpc>
              <a:spcBef>
                <a:spcPts val="0"/>
              </a:spcBef>
              <a:buClrTx/>
              <a:buSzTx/>
              <a:buNone/>
              <a:defRPr sz="3343">
                <a:latin typeface="Avenir Next Medium"/>
                <a:ea typeface="Avenir Next Medium"/>
                <a:cs typeface="Avenir Next Medium"/>
                <a:sym typeface="Avenir Next Medium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1" name="Body Level One…"/>
          <p:cNvSpPr txBox="1">
            <a:spLocks noGrp="1"/>
          </p:cNvSpPr>
          <p:nvPr>
            <p:ph type="body" idx="1"/>
          </p:nvPr>
        </p:nvSpPr>
        <p:spPr>
          <a:xfrm>
            <a:off x="698500" y="2959100"/>
            <a:ext cx="11607800" cy="6096000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1300"/>
              </a:spcBef>
              <a:buClrTx/>
              <a:buSzTx/>
              <a:buNone/>
              <a:defRPr sz="3800" spc="-38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indent="457200">
              <a:spcBef>
                <a:spcPts val="1300"/>
              </a:spcBef>
              <a:buClrTx/>
              <a:buSzTx/>
              <a:buNone/>
              <a:defRPr sz="3800" spc="-38"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indent="914400">
              <a:spcBef>
                <a:spcPts val="1300"/>
              </a:spcBef>
              <a:buClrTx/>
              <a:buSzTx/>
              <a:buNone/>
              <a:defRPr sz="3800" spc="-38"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indent="1371600">
              <a:spcBef>
                <a:spcPts val="1300"/>
              </a:spcBef>
              <a:buClrTx/>
              <a:buSzTx/>
              <a:buNone/>
              <a:defRPr sz="3800" spc="-38"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indent="1828800">
              <a:spcBef>
                <a:spcPts val="1300"/>
              </a:spcBef>
              <a:buSzTx/>
              <a:buNone/>
              <a:defRPr sz="3800" spc="-38">
                <a:latin typeface="Helvetica Neue"/>
                <a:ea typeface="Helvetica Neue"/>
                <a:cs typeface="Helvetica Neue"/>
                <a:sym typeface="Helvetica Neue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2" name="Slide Number">
            <a:extLst>
              <a:ext uri="{FF2B5EF4-FFF2-40B4-BE49-F238E27FC236}">
                <a16:creationId xmlns:a16="http://schemas.microsoft.com/office/drawing/2014/main" id="{4A18387F-635B-2376-E830-33F33F784DA8}"/>
              </a:ext>
            </a:extLst>
          </p:cNvPr>
          <p:cNvSpPr txBox="1">
            <a:spLocks noGrp="1" noChangeArrowheads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C457A9A7-9693-445F-A7B2-8E2A9530B37F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59617780"/>
      </p:ext>
    </p:extLst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ine">
            <a:extLst>
              <a:ext uri="{FF2B5EF4-FFF2-40B4-BE49-F238E27FC236}">
                <a16:creationId xmlns:a16="http://schemas.microsoft.com/office/drawing/2014/main" id="{2CD65A1C-23FF-9C8E-24F3-754550BEFA3F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" y="3009900"/>
            <a:ext cx="12979400" cy="0"/>
          </a:xfrm>
          <a:prstGeom prst="line">
            <a:avLst/>
          </a:prstGeom>
          <a:noFill/>
          <a:ln w="25400">
            <a:solidFill>
              <a:srgbClr val="FF7E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en-US"/>
          </a:p>
        </p:txBody>
      </p:sp>
      <p:sp>
        <p:nvSpPr>
          <p:cNvPr id="3" name="Line">
            <a:extLst>
              <a:ext uri="{FF2B5EF4-FFF2-40B4-BE49-F238E27FC236}">
                <a16:creationId xmlns:a16="http://schemas.microsoft.com/office/drawing/2014/main" id="{68BFCD0D-99FB-461A-1CAE-FE0C14861B79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00" y="6424613"/>
            <a:ext cx="12979400" cy="0"/>
          </a:xfrm>
          <a:prstGeom prst="line">
            <a:avLst/>
          </a:prstGeom>
          <a:noFill/>
          <a:ln w="25400">
            <a:solidFill>
              <a:srgbClr val="FF7E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en-US"/>
          </a:p>
        </p:txBody>
      </p:sp>
      <p:sp>
        <p:nvSpPr>
          <p:cNvPr id="99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698500" y="3568700"/>
            <a:ext cx="11607800" cy="2617788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ClrTx/>
              <a:buSzTx/>
              <a:buNone/>
              <a:defRPr sz="8200" spc="-164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ClrTx/>
              <a:buSzTx/>
              <a:buNone/>
              <a:defRPr sz="8200" spc="-164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ClrTx/>
              <a:buSzTx/>
              <a:buNone/>
              <a:defRPr sz="8200" spc="-164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ClrTx/>
              <a:buSzTx/>
              <a:buNone/>
              <a:defRPr sz="8200" spc="-164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sz="8200" spc="-164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50847D57-2DF0-C135-6FB6-1168D5B6A243}"/>
              </a:ext>
            </a:extLst>
          </p:cNvPr>
          <p:cNvSpPr txBox="1"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0387D373-DD22-4553-8E6F-E15856B76908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960537463"/>
      </p:ext>
    </p:extLst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Big F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Fact information"/>
          <p:cNvSpPr txBox="1">
            <a:spLocks noGrp="1"/>
          </p:cNvSpPr>
          <p:nvPr>
            <p:ph type="body" sz="quarter" idx="21"/>
          </p:nvPr>
        </p:nvSpPr>
        <p:spPr>
          <a:xfrm>
            <a:off x="698500" y="6209979"/>
            <a:ext cx="11607800" cy="671803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ClrTx/>
              <a:buSzTx/>
              <a:buNone/>
              <a:defRPr sz="3800" b="1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0" name="Body Level One…"/>
          <p:cNvSpPr txBox="1">
            <a:spLocks noGrp="1"/>
          </p:cNvSpPr>
          <p:nvPr>
            <p:ph type="body" idx="1"/>
          </p:nvPr>
        </p:nvSpPr>
        <p:spPr>
          <a:xfrm>
            <a:off x="698500" y="999066"/>
            <a:ext cx="11607800" cy="5210914"/>
          </a:xfrm>
          <a:prstGeom prst="rect">
            <a:avLst/>
          </a:prstGeom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buClrTx/>
              <a:buSzTx/>
              <a:buNone/>
              <a:defRPr sz="17600" b="1" spc="-176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ClrTx/>
              <a:buSzTx/>
              <a:buNone/>
              <a:defRPr sz="17600" b="1" spc="-176"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ClrTx/>
              <a:buSzTx/>
              <a:buNone/>
              <a:defRPr sz="17600" b="1" spc="-176"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ClrTx/>
              <a:buSzTx/>
              <a:buNone/>
              <a:defRPr sz="17600" b="1" spc="-176"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sz="17600" b="1" spc="-176">
                <a:latin typeface="Helvetica Neue"/>
                <a:ea typeface="Helvetica Neue"/>
                <a:cs typeface="Helvetica Neue"/>
                <a:sym typeface="Helvetica Neue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2" name="Slide Number">
            <a:extLst>
              <a:ext uri="{FF2B5EF4-FFF2-40B4-BE49-F238E27FC236}">
                <a16:creationId xmlns:a16="http://schemas.microsoft.com/office/drawing/2014/main" id="{668C4C06-5799-596A-DA02-C61F92F19185}"/>
              </a:ext>
            </a:extLst>
          </p:cNvPr>
          <p:cNvSpPr txBox="1">
            <a:spLocks noGrp="1" noChangeArrowheads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3D43BFC8-4B29-42A2-92E8-DBDB78E8E0C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68296666"/>
      </p:ext>
    </p:extLst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736600" y="3721100"/>
            <a:ext cx="11531600" cy="2324100"/>
          </a:xfrm>
          <a:prstGeom prst="rect">
            <a:avLst/>
          </a:prstGeom>
        </p:spPr>
        <p:txBody>
          <a:bodyPr anchor="ctr"/>
          <a:lstStyle>
            <a:lvl1pPr marL="457200" indent="-342900">
              <a:spcBef>
                <a:spcPts val="0"/>
              </a:spcBef>
              <a:buClrTx/>
              <a:buSzTx/>
              <a:buNone/>
              <a:defRPr sz="6000" spc="-119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457200" indent="114300">
              <a:spcBef>
                <a:spcPts val="0"/>
              </a:spcBef>
              <a:buClrTx/>
              <a:buSzTx/>
              <a:buNone/>
              <a:defRPr sz="6000" spc="-119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457200" indent="571500">
              <a:spcBef>
                <a:spcPts val="0"/>
              </a:spcBef>
              <a:buClrTx/>
              <a:buSzTx/>
              <a:buNone/>
              <a:defRPr sz="6000" spc="-119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457200" indent="1028700">
              <a:spcBef>
                <a:spcPts val="0"/>
              </a:spcBef>
              <a:buClrTx/>
              <a:buSzTx/>
              <a:buNone/>
              <a:defRPr sz="6000" spc="-119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457200" indent="1485900">
              <a:spcBef>
                <a:spcPts val="0"/>
              </a:spcBef>
              <a:buSzTx/>
              <a:buNone/>
              <a:defRPr sz="6000" spc="-119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119" name="Attribution"/>
          <p:cNvSpPr txBox="1">
            <a:spLocks noGrp="1"/>
          </p:cNvSpPr>
          <p:nvPr>
            <p:ph type="body" sz="quarter" idx="21"/>
          </p:nvPr>
        </p:nvSpPr>
        <p:spPr>
          <a:xfrm>
            <a:off x="1219200" y="6426200"/>
            <a:ext cx="11049000" cy="461059"/>
          </a:xfrm>
          <a:prstGeom prst="rect">
            <a:avLst/>
          </a:prstGeom>
        </p:spPr>
        <p:txBody>
          <a:bodyPr/>
          <a:lstStyle>
            <a:lvl1pPr marL="0" indent="0" defTabSz="563541">
              <a:lnSpc>
                <a:spcPct val="100000"/>
              </a:lnSpc>
              <a:spcBef>
                <a:spcPts val="0"/>
              </a:spcBef>
              <a:buClrTx/>
              <a:buSzTx/>
              <a:buNone/>
              <a:defRPr sz="2304" b="1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Slide Number">
            <a:extLst>
              <a:ext uri="{FF2B5EF4-FFF2-40B4-BE49-F238E27FC236}">
                <a16:creationId xmlns:a16="http://schemas.microsoft.com/office/drawing/2014/main" id="{A87D3F3B-F4D5-03D7-BB94-6C1FCB4DC889}"/>
              </a:ext>
            </a:extLst>
          </p:cNvPr>
          <p:cNvSpPr txBox="1">
            <a:spLocks noGrp="1" noChangeArrowheads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47D20A59-DCE8-4C53-9B65-4678340A1EF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0174967"/>
      </p:ext>
    </p:extLst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Bowl of pappardelle pasta with parsley butter, roasted hazelnuts, and shaved parmesan cheese"/>
          <p:cNvSpPr>
            <a:spLocks noGrp="1"/>
          </p:cNvSpPr>
          <p:nvPr>
            <p:ph type="pic" idx="21"/>
          </p:nvPr>
        </p:nvSpPr>
        <p:spPr>
          <a:xfrm>
            <a:off x="-2082800" y="687558"/>
            <a:ext cx="11165190" cy="8373892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 lvl="0"/>
            <a:endParaRPr noProof="0">
              <a:sym typeface="Avenir Next Regular"/>
            </a:endParaRPr>
          </a:p>
        </p:txBody>
      </p:sp>
      <p:sp>
        <p:nvSpPr>
          <p:cNvPr id="128" name="Bowl of salad with fried rice, boiled eggs, and chopsticks"/>
          <p:cNvSpPr>
            <a:spLocks noGrp="1"/>
          </p:cNvSpPr>
          <p:nvPr>
            <p:ph type="pic" sz="half" idx="22"/>
          </p:nvPr>
        </p:nvSpPr>
        <p:spPr>
          <a:xfrm>
            <a:off x="6597650" y="292100"/>
            <a:ext cx="5740400" cy="459232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 lvl="0"/>
            <a:endParaRPr noProof="0">
              <a:sym typeface="Avenir Next Regular"/>
            </a:endParaRPr>
          </a:p>
        </p:txBody>
      </p:sp>
      <p:sp>
        <p:nvSpPr>
          <p:cNvPr id="129" name="Bowl with salmon cakes, salad, and hummus"/>
          <p:cNvSpPr>
            <a:spLocks noGrp="1"/>
          </p:cNvSpPr>
          <p:nvPr>
            <p:ph type="pic" idx="23"/>
          </p:nvPr>
        </p:nvSpPr>
        <p:spPr>
          <a:xfrm>
            <a:off x="4984750" y="2749413"/>
            <a:ext cx="7937500" cy="9238277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 lvl="0"/>
            <a:endParaRPr noProof="0">
              <a:sym typeface="Avenir Next Regular"/>
            </a:endParaRPr>
          </a:p>
        </p:txBody>
      </p:sp>
      <p:sp>
        <p:nvSpPr>
          <p:cNvPr id="2" name="Slide Number">
            <a:extLst>
              <a:ext uri="{FF2B5EF4-FFF2-40B4-BE49-F238E27FC236}">
                <a16:creationId xmlns:a16="http://schemas.microsoft.com/office/drawing/2014/main" id="{A0420BCA-ECDD-0798-422A-7BA96EF03E70}"/>
              </a:ext>
            </a:extLst>
          </p:cNvPr>
          <p:cNvSpPr txBox="1">
            <a:spLocks noGrp="1" noChangeArrowheads="1"/>
          </p:cNvSpPr>
          <p:nvPr>
            <p:ph type="sldNum" sz="quarter" idx="24"/>
          </p:nvPr>
        </p:nvSpPr>
        <p:spPr/>
        <p:txBody>
          <a:bodyPr/>
          <a:lstStyle>
            <a:lvl1pPr>
              <a:defRPr/>
            </a:lvl1pPr>
          </a:lstStyle>
          <a:p>
            <a:fld id="{7D1C0F8B-4A20-4DD2-876A-72769D751F96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32484059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Bowl of salad with fried rice, boiled eggs, and chopsticks"/>
          <p:cNvSpPr>
            <a:spLocks noGrp="1"/>
          </p:cNvSpPr>
          <p:nvPr>
            <p:ph type="pic" idx="21"/>
          </p:nvPr>
        </p:nvSpPr>
        <p:spPr>
          <a:xfrm>
            <a:off x="-1016000" y="-1054100"/>
            <a:ext cx="14427200" cy="1154176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 lvl="0"/>
            <a:endParaRPr noProof="0">
              <a:sym typeface="Avenir Next Regular"/>
            </a:endParaRPr>
          </a:p>
        </p:txBody>
      </p:sp>
      <p:sp>
        <p:nvSpPr>
          <p:cNvPr id="2" name="Slide Number">
            <a:extLst>
              <a:ext uri="{FF2B5EF4-FFF2-40B4-BE49-F238E27FC236}">
                <a16:creationId xmlns:a16="http://schemas.microsoft.com/office/drawing/2014/main" id="{73CCCE6F-BF46-CB73-DFDE-EC770F864FE5}"/>
              </a:ext>
            </a:extLst>
          </p:cNvPr>
          <p:cNvSpPr txBox="1">
            <a:spLocks noGrp="1" noChangeArrowheads="1"/>
          </p:cNvSpPr>
          <p:nvPr>
            <p:ph type="sldNum" sz="quarter" idx="22"/>
          </p:nvPr>
        </p:nvSpPr>
        <p:spPr>
          <a:xfrm>
            <a:off x="6353175" y="9220200"/>
            <a:ext cx="298450" cy="287338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667062BB-0472-4EB2-9459-55CFDD9C522E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19020959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">
            <a:extLst>
              <a:ext uri="{FF2B5EF4-FFF2-40B4-BE49-F238E27FC236}">
                <a16:creationId xmlns:a16="http://schemas.microsoft.com/office/drawing/2014/main" id="{8969A83E-FE0F-3D17-A4D0-E2572FD3B24E}"/>
              </a:ext>
            </a:extLst>
          </p:cNvPr>
          <p:cNvSpPr txBox="1"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1D95802-E2EA-411C-97C9-58BCAD983009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242901070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Body Level One…">
            <a:extLst>
              <a:ext uri="{FF2B5EF4-FFF2-40B4-BE49-F238E27FC236}">
                <a16:creationId xmlns:a16="http://schemas.microsoft.com/office/drawing/2014/main" id="{5D2B718D-ACE8-223C-B30F-7BB890D0DE99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698500" y="1924050"/>
            <a:ext cx="11607800" cy="7640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vert="horz" wrap="square" lIns="50800" tIns="50800" rIns="50800" bIns="508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>
                <a:sym typeface="Avenir Next Regular"/>
              </a:rPr>
              <a:t>Slide bullet text</a:t>
            </a:r>
          </a:p>
          <a:p>
            <a:pPr lvl="1"/>
            <a:endParaRPr lang="en-US" altLang="en-US">
              <a:sym typeface="Avenir Next Regular"/>
            </a:endParaRPr>
          </a:p>
          <a:p>
            <a:pPr lvl="2"/>
            <a:endParaRPr lang="en-US" altLang="en-US">
              <a:sym typeface="Avenir Next Regular"/>
            </a:endParaRPr>
          </a:p>
          <a:p>
            <a:pPr lvl="3"/>
            <a:endParaRPr lang="en-US" altLang="en-US">
              <a:sym typeface="Avenir Next Regular"/>
            </a:endParaRPr>
          </a:p>
          <a:p>
            <a:pPr lvl="4"/>
            <a:endParaRPr lang="en-US" altLang="en-US">
              <a:sym typeface="Avenir Next Regular"/>
            </a:endParaRPr>
          </a:p>
        </p:txBody>
      </p:sp>
      <p:sp>
        <p:nvSpPr>
          <p:cNvPr id="3" name="Slide Title">
            <a:extLst>
              <a:ext uri="{FF2B5EF4-FFF2-40B4-BE49-F238E27FC236}">
                <a16:creationId xmlns:a16="http://schemas.microsoft.com/office/drawing/2014/main" id="{2401A8AD-6F89-5138-799C-5F594B3C547B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698500" y="439738"/>
            <a:ext cx="11607800" cy="1016000"/>
          </a:xfrm>
          <a:prstGeom prst="rect">
            <a:avLst/>
          </a:prstGeom>
          <a:ln w="12700">
            <a:miter lim="400000"/>
          </a:ln>
        </p:spPr>
        <p:txBody>
          <a:bodyPr lIns="50800" tIns="50800" rIns="50800" bIns="50800">
            <a:normAutofit/>
          </a:bodyPr>
          <a:lstStyle/>
          <a:p>
            <a:r>
              <a:t>Slide Title</a:t>
            </a:r>
          </a:p>
        </p:txBody>
      </p:sp>
      <p:sp>
        <p:nvSpPr>
          <p:cNvPr id="1028" name="Line">
            <a:extLst>
              <a:ext uri="{FF2B5EF4-FFF2-40B4-BE49-F238E27FC236}">
                <a16:creationId xmlns:a16="http://schemas.microsoft.com/office/drawing/2014/main" id="{1A2E1F42-1CFC-A217-2481-46E094780146}"/>
              </a:ext>
            </a:extLst>
          </p:cNvPr>
          <p:cNvSpPr>
            <a:spLocks noChangeShapeType="1"/>
          </p:cNvSpPr>
          <p:nvPr/>
        </p:nvSpPr>
        <p:spPr bwMode="auto">
          <a:xfrm>
            <a:off x="65088" y="1582738"/>
            <a:ext cx="12874625" cy="0"/>
          </a:xfrm>
          <a:prstGeom prst="line">
            <a:avLst/>
          </a:prstGeom>
          <a:noFill/>
          <a:ln w="50800">
            <a:solidFill>
              <a:srgbClr val="FF7E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en-US"/>
          </a:p>
        </p:txBody>
      </p:sp>
      <p:sp>
        <p:nvSpPr>
          <p:cNvPr id="1029" name="Slide Number">
            <a:extLst>
              <a:ext uri="{FF2B5EF4-FFF2-40B4-BE49-F238E27FC236}">
                <a16:creationId xmlns:a16="http://schemas.microsoft.com/office/drawing/2014/main" id="{7CF3E5FD-8E24-A221-77E6-71EF7DB02FA6}"/>
              </a:ext>
            </a:extLst>
          </p:cNvPr>
          <p:cNvSpPr txBox="1">
            <a:spLocks noGrp="1" noChangeArrowheads="1"/>
          </p:cNvSpPr>
          <p:nvPr>
            <p:ph type="sldNum" sz="quarter" idx="2"/>
          </p:nvPr>
        </p:nvSpPr>
        <p:spPr bwMode="auto">
          <a:xfrm>
            <a:off x="6350000" y="9220200"/>
            <a:ext cx="298450" cy="287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vert="horz" wrap="none" lIns="50800" tIns="50800" rIns="50800" bIns="50800" numCol="1" anchor="b" anchorCtr="0" compatLnSpc="1">
            <a:prstTxWarp prst="textNoShape">
              <a:avLst/>
            </a:prstTxWarp>
            <a:spAutoFit/>
          </a:bodyPr>
          <a:lstStyle>
            <a:lvl1pPr algn="ctr" defTabSz="584200" eaLnBrk="1">
              <a:defRPr sz="1300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fld id="{386968F3-5264-44C5-A81A-0F62F7CA49A2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76" r:id="rId4"/>
    <p:sldLayoutId id="2147483682" r:id="rId5"/>
    <p:sldLayoutId id="2147483683" r:id="rId6"/>
    <p:sldLayoutId id="2147483678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</p:sldLayoutIdLst>
  <p:transition spd="med"/>
  <p:txStyles>
    <p:titleStyle>
      <a:lvl1pPr algn="l" defTabSz="1733550" rtl="0" eaLnBrk="0" fontAlgn="base" hangingPunct="0">
        <a:lnSpc>
          <a:spcPct val="80000"/>
        </a:lnSpc>
        <a:spcBef>
          <a:spcPct val="0"/>
        </a:spcBef>
        <a:spcAft>
          <a:spcPct val="0"/>
        </a:spcAft>
        <a:defRPr sz="6000" spc="-119">
          <a:solidFill>
            <a:srgbClr val="000000"/>
          </a:solidFill>
          <a:latin typeface="+mn-lt"/>
          <a:ea typeface="+mn-ea"/>
          <a:cs typeface="+mn-cs"/>
          <a:sym typeface="Avenir Next Demi Bold"/>
        </a:defRPr>
      </a:lvl1pPr>
      <a:lvl2pPr algn="l" defTabSz="1733550" rtl="0" eaLnBrk="0" fontAlgn="base" hangingPunct="0">
        <a:lnSpc>
          <a:spcPct val="80000"/>
        </a:lnSpc>
        <a:spcBef>
          <a:spcPct val="0"/>
        </a:spcBef>
        <a:spcAft>
          <a:spcPct val="0"/>
        </a:spcAft>
        <a:defRPr sz="6000" spc="-119">
          <a:solidFill>
            <a:srgbClr val="000000"/>
          </a:solidFill>
          <a:latin typeface="+mn-lt"/>
          <a:ea typeface="+mn-ea"/>
          <a:cs typeface="+mn-cs"/>
          <a:sym typeface="Avenir Next Demi Bold"/>
        </a:defRPr>
      </a:lvl2pPr>
      <a:lvl3pPr algn="l" defTabSz="1733550" rtl="0" eaLnBrk="0" fontAlgn="base" hangingPunct="0">
        <a:lnSpc>
          <a:spcPct val="80000"/>
        </a:lnSpc>
        <a:spcBef>
          <a:spcPct val="0"/>
        </a:spcBef>
        <a:spcAft>
          <a:spcPct val="0"/>
        </a:spcAft>
        <a:defRPr sz="6000" spc="-119">
          <a:solidFill>
            <a:srgbClr val="000000"/>
          </a:solidFill>
          <a:latin typeface="+mn-lt"/>
          <a:ea typeface="+mn-ea"/>
          <a:cs typeface="+mn-cs"/>
          <a:sym typeface="Avenir Next Demi Bold"/>
        </a:defRPr>
      </a:lvl3pPr>
      <a:lvl4pPr algn="l" defTabSz="1733550" rtl="0" eaLnBrk="0" fontAlgn="base" hangingPunct="0">
        <a:lnSpc>
          <a:spcPct val="80000"/>
        </a:lnSpc>
        <a:spcBef>
          <a:spcPct val="0"/>
        </a:spcBef>
        <a:spcAft>
          <a:spcPct val="0"/>
        </a:spcAft>
        <a:defRPr sz="6000" spc="-119">
          <a:solidFill>
            <a:srgbClr val="000000"/>
          </a:solidFill>
          <a:latin typeface="+mn-lt"/>
          <a:ea typeface="+mn-ea"/>
          <a:cs typeface="+mn-cs"/>
          <a:sym typeface="Avenir Next Demi Bold"/>
        </a:defRPr>
      </a:lvl4pPr>
      <a:lvl5pPr algn="l" defTabSz="1733550" rtl="0" eaLnBrk="0" fontAlgn="base" hangingPunct="0">
        <a:lnSpc>
          <a:spcPct val="80000"/>
        </a:lnSpc>
        <a:spcBef>
          <a:spcPct val="0"/>
        </a:spcBef>
        <a:spcAft>
          <a:spcPct val="0"/>
        </a:spcAft>
        <a:defRPr sz="6000" spc="-119">
          <a:solidFill>
            <a:srgbClr val="000000"/>
          </a:solidFill>
          <a:latin typeface="+mn-lt"/>
          <a:ea typeface="+mn-ea"/>
          <a:cs typeface="+mn-cs"/>
          <a:sym typeface="Avenir Next Demi Bold"/>
        </a:defRPr>
      </a:lvl5pPr>
      <a:lvl6pPr marL="0" marR="0" indent="2286000" algn="l" defTabSz="173393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0" b="0" i="0" u="none" strike="noStrike" cap="none" spc="-119" baseline="0">
          <a:solidFill>
            <a:srgbClr val="000000"/>
          </a:solidFill>
          <a:uFillTx/>
          <a:latin typeface="+mn-lt"/>
          <a:ea typeface="+mn-ea"/>
          <a:cs typeface="+mn-cs"/>
          <a:sym typeface="Avenir Next Demi Bold"/>
        </a:defRPr>
      </a:lvl6pPr>
      <a:lvl7pPr marL="0" marR="0" indent="2743200" algn="l" defTabSz="173393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0" b="0" i="0" u="none" strike="noStrike" cap="none" spc="-119" baseline="0">
          <a:solidFill>
            <a:srgbClr val="000000"/>
          </a:solidFill>
          <a:uFillTx/>
          <a:latin typeface="+mn-lt"/>
          <a:ea typeface="+mn-ea"/>
          <a:cs typeface="+mn-cs"/>
          <a:sym typeface="Avenir Next Demi Bold"/>
        </a:defRPr>
      </a:lvl7pPr>
      <a:lvl8pPr marL="0" marR="0" indent="3200400" algn="l" defTabSz="173393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0" b="0" i="0" u="none" strike="noStrike" cap="none" spc="-119" baseline="0">
          <a:solidFill>
            <a:srgbClr val="000000"/>
          </a:solidFill>
          <a:uFillTx/>
          <a:latin typeface="+mn-lt"/>
          <a:ea typeface="+mn-ea"/>
          <a:cs typeface="+mn-cs"/>
          <a:sym typeface="Avenir Next Demi Bold"/>
        </a:defRPr>
      </a:lvl8pPr>
      <a:lvl9pPr marL="0" marR="0" indent="3657600" algn="l" defTabSz="173393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0" b="0" i="0" u="none" strike="noStrike" cap="none" spc="-119" baseline="0">
          <a:solidFill>
            <a:srgbClr val="000000"/>
          </a:solidFill>
          <a:uFillTx/>
          <a:latin typeface="+mn-lt"/>
          <a:ea typeface="+mn-ea"/>
          <a:cs typeface="+mn-cs"/>
          <a:sym typeface="Avenir Next Demi Bold"/>
        </a:defRPr>
      </a:lvl9pPr>
    </p:titleStyle>
    <p:bodyStyle>
      <a:lvl1pPr marL="381000" indent="-381000" algn="l" defTabSz="1733550" rtl="0" eaLnBrk="0" fontAlgn="base" hangingPunct="0">
        <a:lnSpc>
          <a:spcPct val="90000"/>
        </a:lnSpc>
        <a:spcBef>
          <a:spcPts val="3200"/>
        </a:spcBef>
        <a:spcAft>
          <a:spcPct val="0"/>
        </a:spcAft>
        <a:buClr>
          <a:srgbClr val="8DA0CB"/>
        </a:buClr>
        <a:buSzPct val="78000"/>
        <a:buChar char="❖"/>
        <a:defRPr sz="3000">
          <a:solidFill>
            <a:srgbClr val="000000"/>
          </a:solidFill>
          <a:latin typeface="+mj-lt"/>
          <a:ea typeface="+mj-ea"/>
          <a:cs typeface="+mj-cs"/>
          <a:sym typeface="Avenir Next Regular"/>
        </a:defRPr>
      </a:lvl1pPr>
      <a:lvl2pPr marL="762000" indent="-381000" algn="l" defTabSz="1733550" rtl="0" eaLnBrk="0" fontAlgn="base" hangingPunct="0">
        <a:lnSpc>
          <a:spcPct val="90000"/>
        </a:lnSpc>
        <a:spcBef>
          <a:spcPts val="3200"/>
        </a:spcBef>
        <a:spcAft>
          <a:spcPct val="0"/>
        </a:spcAft>
        <a:buClr>
          <a:srgbClr val="8DA0CB"/>
        </a:buClr>
        <a:buSzPct val="123000"/>
        <a:buChar char="•"/>
        <a:defRPr sz="3000">
          <a:solidFill>
            <a:srgbClr val="000000"/>
          </a:solidFill>
          <a:latin typeface="+mj-lt"/>
          <a:ea typeface="+mj-ea"/>
          <a:cs typeface="+mj-cs"/>
          <a:sym typeface="Avenir Next Regular"/>
        </a:defRPr>
      </a:lvl2pPr>
      <a:lvl3pPr marL="1143000" indent="-381000" algn="l" defTabSz="1733550" rtl="0" eaLnBrk="0" fontAlgn="base" hangingPunct="0">
        <a:lnSpc>
          <a:spcPct val="90000"/>
        </a:lnSpc>
        <a:spcBef>
          <a:spcPts val="3200"/>
        </a:spcBef>
        <a:spcAft>
          <a:spcPct val="0"/>
        </a:spcAft>
        <a:buClr>
          <a:srgbClr val="8DA0CB"/>
        </a:buClr>
        <a:buSzPct val="123000"/>
        <a:buChar char="•"/>
        <a:defRPr sz="3000">
          <a:solidFill>
            <a:srgbClr val="000000"/>
          </a:solidFill>
          <a:latin typeface="+mj-lt"/>
          <a:ea typeface="+mj-ea"/>
          <a:cs typeface="+mj-cs"/>
          <a:sym typeface="Avenir Next Regular"/>
        </a:defRPr>
      </a:lvl3pPr>
      <a:lvl4pPr marL="1524000" indent="-381000" algn="l" defTabSz="1733550" rtl="0" eaLnBrk="0" fontAlgn="base" hangingPunct="0">
        <a:lnSpc>
          <a:spcPct val="90000"/>
        </a:lnSpc>
        <a:spcBef>
          <a:spcPts val="3200"/>
        </a:spcBef>
        <a:spcAft>
          <a:spcPct val="0"/>
        </a:spcAft>
        <a:buClr>
          <a:srgbClr val="8DA0CB"/>
        </a:buClr>
        <a:buSzPct val="123000"/>
        <a:buChar char="•"/>
        <a:defRPr sz="3000">
          <a:solidFill>
            <a:srgbClr val="000000"/>
          </a:solidFill>
          <a:latin typeface="+mj-lt"/>
          <a:ea typeface="+mj-ea"/>
          <a:cs typeface="+mj-cs"/>
          <a:sym typeface="Avenir Next Regular"/>
        </a:defRPr>
      </a:lvl4pPr>
      <a:lvl5pPr marL="1905000" indent="-381000" algn="l" defTabSz="1733550" rtl="0" eaLnBrk="0" fontAlgn="base" hangingPunct="0">
        <a:lnSpc>
          <a:spcPct val="90000"/>
        </a:lnSpc>
        <a:spcBef>
          <a:spcPts val="3200"/>
        </a:spcBef>
        <a:spcAft>
          <a:spcPct val="0"/>
        </a:spcAft>
        <a:buClr>
          <a:srgbClr val="8DA0CB"/>
        </a:buClr>
        <a:buSzPct val="123000"/>
        <a:buChar char="•"/>
        <a:defRPr sz="3000">
          <a:solidFill>
            <a:srgbClr val="000000"/>
          </a:solidFill>
          <a:latin typeface="+mj-lt"/>
          <a:ea typeface="+mj-ea"/>
          <a:cs typeface="+mj-cs"/>
          <a:sym typeface="Avenir Next Regular"/>
        </a:defRPr>
      </a:lvl5pPr>
      <a:lvl6pPr marL="2286000" marR="0" indent="-381000" algn="l" defTabSz="1733930" rtl="0" latinLnBrk="0">
        <a:lnSpc>
          <a:spcPct val="90000"/>
        </a:lnSpc>
        <a:spcBef>
          <a:spcPts val="3200"/>
        </a:spcBef>
        <a:spcAft>
          <a:spcPts val="0"/>
        </a:spcAft>
        <a:buClr>
          <a:srgbClr val="8DA0CB"/>
        </a:buClr>
        <a:buSzPct val="123000"/>
        <a:buFontTx/>
        <a:buChar char="•"/>
        <a:tabLst/>
        <a:defRPr sz="30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venir Next Regular"/>
        </a:defRPr>
      </a:lvl6pPr>
      <a:lvl7pPr marL="2667000" marR="0" indent="-381000" algn="l" defTabSz="1733930" rtl="0" latinLnBrk="0">
        <a:lnSpc>
          <a:spcPct val="90000"/>
        </a:lnSpc>
        <a:spcBef>
          <a:spcPts val="3200"/>
        </a:spcBef>
        <a:spcAft>
          <a:spcPts val="0"/>
        </a:spcAft>
        <a:buClr>
          <a:srgbClr val="8DA0CB"/>
        </a:buClr>
        <a:buSzPct val="123000"/>
        <a:buFontTx/>
        <a:buChar char="•"/>
        <a:tabLst/>
        <a:defRPr sz="30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venir Next Regular"/>
        </a:defRPr>
      </a:lvl7pPr>
      <a:lvl8pPr marL="3048000" marR="0" indent="-381000" algn="l" defTabSz="1733930" rtl="0" latinLnBrk="0">
        <a:lnSpc>
          <a:spcPct val="90000"/>
        </a:lnSpc>
        <a:spcBef>
          <a:spcPts val="3200"/>
        </a:spcBef>
        <a:spcAft>
          <a:spcPts val="0"/>
        </a:spcAft>
        <a:buClr>
          <a:srgbClr val="8DA0CB"/>
        </a:buClr>
        <a:buSzPct val="123000"/>
        <a:buFontTx/>
        <a:buChar char="•"/>
        <a:tabLst/>
        <a:defRPr sz="30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venir Next Regular"/>
        </a:defRPr>
      </a:lvl8pPr>
      <a:lvl9pPr marL="3429000" marR="0" indent="-381000" algn="l" defTabSz="1733930" rtl="0" latinLnBrk="0">
        <a:lnSpc>
          <a:spcPct val="90000"/>
        </a:lnSpc>
        <a:spcBef>
          <a:spcPts val="3200"/>
        </a:spcBef>
        <a:spcAft>
          <a:spcPts val="0"/>
        </a:spcAft>
        <a:buClr>
          <a:srgbClr val="8DA0CB"/>
        </a:buClr>
        <a:buSzPct val="123000"/>
        <a:buFontTx/>
        <a:buChar char="•"/>
        <a:tabLst/>
        <a:defRPr sz="30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venir Next Regular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2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Explainable AI with SHAP">
            <a:extLst>
              <a:ext uri="{FF2B5EF4-FFF2-40B4-BE49-F238E27FC236}">
                <a16:creationId xmlns:a16="http://schemas.microsoft.com/office/drawing/2014/main" id="{A0CACCFD-5DC5-BEF7-C2A7-D23492C5802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698500" y="1854200"/>
            <a:ext cx="11609388" cy="3302000"/>
          </a:xfrm>
        </p:spPr>
        <p:txBody>
          <a:bodyPr/>
          <a:lstStyle/>
          <a:p>
            <a:pPr defTabSz="173393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t>Explainable AI with SHAP  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Explainable AI/ML aims to create models and methods that are transparent, interpretable, and explainable…">
            <a:extLst>
              <a:ext uri="{FF2B5EF4-FFF2-40B4-BE49-F238E27FC236}">
                <a16:creationId xmlns:a16="http://schemas.microsoft.com/office/drawing/2014/main" id="{06AF5185-23CC-A175-E72C-B9EAEA34BF45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>
          <a:xfrm>
            <a:off x="698500" y="1709738"/>
            <a:ext cx="11607800" cy="8054975"/>
          </a:xfrm>
        </p:spPr>
        <p:txBody>
          <a:bodyPr/>
          <a:lstStyle/>
          <a:p>
            <a:pPr eaLnBrk="1" hangingPunct="1"/>
            <a:r>
              <a:rPr lang="en-US" altLang="en-US"/>
              <a:t>Explainable AI/ML aims to create models and methods that are transparent, interpretable, and explainable</a:t>
            </a:r>
          </a:p>
          <a:p>
            <a:pPr eaLnBrk="1" hangingPunct="1"/>
            <a:r>
              <a:rPr lang="en-US" altLang="en-US"/>
              <a:t>One goal is to help ensure that AI and ML are ethical and accountable</a:t>
            </a:r>
          </a:p>
          <a:p>
            <a:pPr eaLnBrk="1" hangingPunct="1"/>
            <a:r>
              <a:rPr lang="en-US" altLang="en-US"/>
              <a:t>There are several techniques that aim to make ML models explainable</a:t>
            </a:r>
          </a:p>
          <a:p>
            <a:pPr marL="1016000" lvl="1" eaLnBrk="1" hangingPunct="1"/>
            <a:r>
              <a:rPr lang="en-US" altLang="en-US"/>
              <a:t>Interpretable models</a:t>
            </a:r>
          </a:p>
          <a:p>
            <a:pPr marL="1016000" lvl="1" eaLnBrk="1" hangingPunct="1"/>
            <a:r>
              <a:rPr lang="en-US" altLang="en-US"/>
              <a:t>Model agnostic methods (local and global)</a:t>
            </a:r>
          </a:p>
          <a:p>
            <a:pPr marL="1016000" lvl="1" eaLnBrk="1" hangingPunct="1"/>
            <a:r>
              <a:rPr lang="en-US" altLang="en-US"/>
              <a:t>A common model agnostic local method:</a:t>
            </a:r>
          </a:p>
          <a:p>
            <a:pPr marL="1651000" lvl="2" eaLnBrk="1" hangingPunct="1">
              <a:buFontTx/>
              <a:buChar char="‣"/>
            </a:pPr>
            <a:r>
              <a:rPr lang="en-US" altLang="en-US">
                <a:solidFill>
                  <a:srgbClr val="FF7E79"/>
                </a:solidFill>
              </a:rPr>
              <a:t>SHAP (</a:t>
            </a:r>
            <a:r>
              <a:rPr lang="en-US" altLang="en-US" b="1">
                <a:solidFill>
                  <a:srgbClr val="FF7E79"/>
                </a:solidFill>
              </a:rPr>
              <a:t>SH</a:t>
            </a:r>
            <a:r>
              <a:rPr lang="en-US" altLang="en-US">
                <a:solidFill>
                  <a:srgbClr val="FF7E79"/>
                </a:solidFill>
              </a:rPr>
              <a:t>apley </a:t>
            </a:r>
            <a:r>
              <a:rPr lang="en-US" altLang="en-US" b="1">
                <a:solidFill>
                  <a:srgbClr val="FF7E79"/>
                </a:solidFill>
              </a:rPr>
              <a:t>A</a:t>
            </a:r>
            <a:r>
              <a:rPr lang="en-US" altLang="en-US">
                <a:solidFill>
                  <a:srgbClr val="FF7E79"/>
                </a:solidFill>
              </a:rPr>
              <a:t>dditive ex</a:t>
            </a:r>
            <a:r>
              <a:rPr lang="en-US" altLang="en-US" b="1">
                <a:solidFill>
                  <a:srgbClr val="FF7E79"/>
                </a:solidFill>
              </a:rPr>
              <a:t>P</a:t>
            </a:r>
            <a:r>
              <a:rPr lang="en-US" altLang="en-US">
                <a:solidFill>
                  <a:srgbClr val="FF7E79"/>
                </a:solidFill>
              </a:rPr>
              <a:t>lanations)</a:t>
            </a:r>
          </a:p>
        </p:txBody>
      </p:sp>
      <p:sp>
        <p:nvSpPr>
          <p:cNvPr id="157" name="Explainable AI">
            <a:extLst>
              <a:ext uri="{FF2B5EF4-FFF2-40B4-BE49-F238E27FC236}">
                <a16:creationId xmlns:a16="http://schemas.microsoft.com/office/drawing/2014/main" id="{E3EAC0F7-686E-7031-5F76-9934797B2BDF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 defTabSz="1525858">
              <a:defRPr sz="5280" spc="-105"/>
            </a:lvl1pPr>
          </a:lstStyle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dirty="0"/>
              <a:t>Explainable AI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Shapley Values">
            <a:extLst>
              <a:ext uri="{FF2B5EF4-FFF2-40B4-BE49-F238E27FC236}">
                <a16:creationId xmlns:a16="http://schemas.microsoft.com/office/drawing/2014/main" id="{FC73E221-619A-7699-B4F1-F31D4B04AA0C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defTabSz="173393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t>Shapley Values</a:t>
            </a: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hapley values are a concept in cooperative game theory…">
            <a:extLst>
              <a:ext uri="{FF2B5EF4-FFF2-40B4-BE49-F238E27FC236}">
                <a16:creationId xmlns:a16="http://schemas.microsoft.com/office/drawing/2014/main" id="{6A398CF5-8316-E6D8-5C43-AAB94A080F14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Shapley values are a concept in cooperative game theory</a:t>
            </a:r>
          </a:p>
          <a:p>
            <a:pPr eaLnBrk="1" hangingPunct="1"/>
            <a:r>
              <a:rPr lang="en-US" altLang="en-US"/>
              <a:t>Introduced by Lloyd Shapley in 1951</a:t>
            </a:r>
          </a:p>
          <a:p>
            <a:pPr eaLnBrk="1" hangingPunct="1"/>
            <a:r>
              <a:rPr lang="en-US" altLang="en-US"/>
              <a:t>Shapley won the Nobel Prize in Economics for this contribution in 2012</a:t>
            </a:r>
          </a:p>
          <a:p>
            <a:pPr eaLnBrk="1" hangingPunct="1"/>
            <a:r>
              <a:rPr lang="en-US" altLang="en-US"/>
              <a:t>Shapley values try to solve this problem:</a:t>
            </a:r>
          </a:p>
          <a:p>
            <a:pPr marL="1016000" lvl="1" eaLnBrk="1" hangingPunct="1"/>
            <a:r>
              <a:rPr lang="en-US" altLang="en-US" i="1"/>
              <a:t>Setup</a:t>
            </a:r>
            <a:r>
              <a:rPr lang="en-US" altLang="en-US"/>
              <a:t>: A coalition of players cooperate to produce a value </a:t>
            </a:r>
          </a:p>
          <a:p>
            <a:pPr marL="1016000" lvl="1" eaLnBrk="1" hangingPunct="1"/>
            <a:r>
              <a:rPr lang="en-US" altLang="en-US"/>
              <a:t>How much did each player contribution to the value?</a:t>
            </a:r>
          </a:p>
          <a:p>
            <a:pPr marL="1016000" lvl="1" eaLnBrk="1" hangingPunct="1"/>
            <a:r>
              <a:rPr lang="en-US" altLang="en-US"/>
              <a:t>What payoff can each player reasonably expect?</a:t>
            </a:r>
          </a:p>
        </p:txBody>
      </p:sp>
      <p:sp>
        <p:nvSpPr>
          <p:cNvPr id="162" name="Shapley Values">
            <a:extLst>
              <a:ext uri="{FF2B5EF4-FFF2-40B4-BE49-F238E27FC236}">
                <a16:creationId xmlns:a16="http://schemas.microsoft.com/office/drawing/2014/main" id="{69179558-F789-F026-1833-F70FBD079EF8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 defTabSz="1525858">
              <a:defRPr sz="5280" spc="-105"/>
            </a:lvl1pPr>
          </a:lstStyle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t>Shapley Values</a:t>
            </a:r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Shapley Values">
            <a:extLst>
              <a:ext uri="{FF2B5EF4-FFF2-40B4-BE49-F238E27FC236}">
                <a16:creationId xmlns:a16="http://schemas.microsoft.com/office/drawing/2014/main" id="{02A0590F-36DD-D70F-3DE8-FCDA42CA559B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 defTabSz="1525858">
              <a:defRPr sz="5280" spc="-105"/>
            </a:lvl1pPr>
          </a:lstStyle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t>Shapley Values</a:t>
            </a:r>
          </a:p>
        </p:txBody>
      </p:sp>
      <p:sp>
        <p:nvSpPr>
          <p:cNvPr id="19459" name="Rounded Rectangle">
            <a:extLst>
              <a:ext uri="{FF2B5EF4-FFF2-40B4-BE49-F238E27FC236}">
                <a16:creationId xmlns:a16="http://schemas.microsoft.com/office/drawing/2014/main" id="{F11ECCA6-42F8-CCBB-0ACC-9C723EFBAC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63825" y="2698750"/>
            <a:ext cx="1565275" cy="5843588"/>
          </a:xfrm>
          <a:prstGeom prst="roundRect">
            <a:avLst>
              <a:gd name="adj" fmla="val 12176"/>
            </a:avLst>
          </a:prstGeom>
          <a:noFill/>
          <a:ln w="63500">
            <a:solidFill>
              <a:srgbClr val="000000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9460" name="Rectangle">
            <a:extLst>
              <a:ext uri="{FF2B5EF4-FFF2-40B4-BE49-F238E27FC236}">
                <a16:creationId xmlns:a16="http://schemas.microsoft.com/office/drawing/2014/main" id="{3F7BD8C1-1E8E-5A0F-044C-9138876773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29525" y="4240213"/>
            <a:ext cx="2257425" cy="2760662"/>
          </a:xfrm>
          <a:prstGeom prst="rect">
            <a:avLst/>
          </a:prstGeom>
          <a:noFill/>
          <a:ln w="63500">
            <a:solidFill>
              <a:srgbClr val="000000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9461" name="1">
            <a:extLst>
              <a:ext uri="{FF2B5EF4-FFF2-40B4-BE49-F238E27FC236}">
                <a16:creationId xmlns:a16="http://schemas.microsoft.com/office/drawing/2014/main" id="{A1B1E976-A858-148A-E593-63B01B9F8B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1463" y="2840038"/>
            <a:ext cx="1270000" cy="1270000"/>
          </a:xfrm>
          <a:prstGeom prst="ellipse">
            <a:avLst/>
          </a:prstGeom>
          <a:solidFill>
            <a:srgbClr val="005493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r>
              <a:rPr lang="en-US" altLang="en-US" sz="2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rPr>
              <a:t>1</a:t>
            </a:r>
          </a:p>
        </p:txBody>
      </p:sp>
      <p:sp>
        <p:nvSpPr>
          <p:cNvPr id="19462" name="2">
            <a:extLst>
              <a:ext uri="{FF2B5EF4-FFF2-40B4-BE49-F238E27FC236}">
                <a16:creationId xmlns:a16="http://schemas.microsoft.com/office/drawing/2014/main" id="{061705A3-F76F-B265-D84D-341D0B0638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1463" y="4241800"/>
            <a:ext cx="1270000" cy="1270000"/>
          </a:xfrm>
          <a:prstGeom prst="ellipse">
            <a:avLst/>
          </a:prstGeom>
          <a:solidFill>
            <a:srgbClr val="009193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r>
              <a:rPr lang="en-US" altLang="en-US" sz="2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rPr>
              <a:t>2</a:t>
            </a:r>
          </a:p>
        </p:txBody>
      </p:sp>
      <p:sp>
        <p:nvSpPr>
          <p:cNvPr id="19463" name="3">
            <a:extLst>
              <a:ext uri="{FF2B5EF4-FFF2-40B4-BE49-F238E27FC236}">
                <a16:creationId xmlns:a16="http://schemas.microsoft.com/office/drawing/2014/main" id="{C72E0151-111D-4CD4-1EDD-254E250FB8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1463" y="5643563"/>
            <a:ext cx="1270000" cy="1270000"/>
          </a:xfrm>
          <a:prstGeom prst="ellipse">
            <a:avLst/>
          </a:prstGeom>
          <a:solidFill>
            <a:srgbClr val="FF7E79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r>
              <a:rPr lang="en-US" altLang="en-US" sz="2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rPr>
              <a:t>3</a:t>
            </a:r>
          </a:p>
        </p:txBody>
      </p:sp>
      <p:sp>
        <p:nvSpPr>
          <p:cNvPr id="19464" name="4">
            <a:extLst>
              <a:ext uri="{FF2B5EF4-FFF2-40B4-BE49-F238E27FC236}">
                <a16:creationId xmlns:a16="http://schemas.microsoft.com/office/drawing/2014/main" id="{6A92AB0A-B9BE-B320-3976-5CE6A5B155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1463" y="7045325"/>
            <a:ext cx="1270000" cy="1270000"/>
          </a:xfrm>
          <a:prstGeom prst="ellipse">
            <a:avLst/>
          </a:prstGeom>
          <a:solidFill>
            <a:srgbClr val="FFD479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r>
              <a:rPr lang="en-US" altLang="en-US" sz="2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rPr>
              <a:t>4</a:t>
            </a:r>
          </a:p>
        </p:txBody>
      </p:sp>
      <p:pic>
        <p:nvPicPr>
          <p:cNvPr id="19465" name="Line Line" descr="Line Line">
            <a:extLst>
              <a:ext uri="{FF2B5EF4-FFF2-40B4-BE49-F238E27FC236}">
                <a16:creationId xmlns:a16="http://schemas.microsoft.com/office/drawing/2014/main" id="{E23CAD52-4076-843E-3D9D-B8BE7935E779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11738" y="5335588"/>
            <a:ext cx="1909762" cy="333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9466" name="Coalition">
            <a:extLst>
              <a:ext uri="{FF2B5EF4-FFF2-40B4-BE49-F238E27FC236}">
                <a16:creationId xmlns:a16="http://schemas.microsoft.com/office/drawing/2014/main" id="{5AEF87FB-BEBA-FB4D-9663-D3C45FFE0F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57475" y="1931988"/>
            <a:ext cx="1577975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eaLnBrk="1"/>
            <a:r>
              <a:rPr lang="en-US" altLang="en-US"/>
              <a:t>Coalition</a:t>
            </a:r>
          </a:p>
        </p:txBody>
      </p:sp>
      <p:sp>
        <p:nvSpPr>
          <p:cNvPr id="19467" name="Value">
            <a:extLst>
              <a:ext uri="{FF2B5EF4-FFF2-40B4-BE49-F238E27FC236}">
                <a16:creationId xmlns:a16="http://schemas.microsoft.com/office/drawing/2014/main" id="{8C11CF03-7344-D41A-B5F0-FA8110EE03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253413" y="3409950"/>
            <a:ext cx="1009650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eaLnBrk="1"/>
            <a:r>
              <a:rPr lang="en-US" altLang="en-US"/>
              <a:t>Value</a:t>
            </a:r>
          </a:p>
        </p:txBody>
      </p:sp>
      <p:sp>
        <p:nvSpPr>
          <p:cNvPr id="19468" name="Example: Prize is $10,000">
            <a:extLst>
              <a:ext uri="{FF2B5EF4-FFF2-40B4-BE49-F238E27FC236}">
                <a16:creationId xmlns:a16="http://schemas.microsoft.com/office/drawing/2014/main" id="{02285E23-8BD2-E074-6D1E-F5F090B0AF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00900" y="8896350"/>
            <a:ext cx="3114675" cy="444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>
            <a:spAutoFit/>
          </a:bodyPr>
          <a:lstStyle/>
          <a:p>
            <a:pPr eaLnBrk="1"/>
            <a:r>
              <a:rPr lang="en-US" altLang="en-US" sz="2000"/>
              <a:t>Example: Prize is $10,000 </a:t>
            </a:r>
          </a:p>
        </p:txBody>
      </p:sp>
      <p:sp>
        <p:nvSpPr>
          <p:cNvPr id="19469" name="Example: Kaggle or Hackathon Competition">
            <a:extLst>
              <a:ext uri="{FF2B5EF4-FFF2-40B4-BE49-F238E27FC236}">
                <a16:creationId xmlns:a16="http://schemas.microsoft.com/office/drawing/2014/main" id="{4D7C9A17-C24E-AA99-56E0-BBC3D206AF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56138" y="5781675"/>
            <a:ext cx="3113087" cy="787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>
            <a:spAutoFit/>
          </a:bodyPr>
          <a:lstStyle/>
          <a:p>
            <a:pPr eaLnBrk="1"/>
            <a:r>
              <a:rPr lang="en-US" altLang="en-US" sz="2000"/>
              <a:t>Example: Kaggle or Hackathon Competition </a:t>
            </a:r>
          </a:p>
        </p:txBody>
      </p:sp>
      <p:sp>
        <p:nvSpPr>
          <p:cNvPr id="19470" name="Example: Team">
            <a:extLst>
              <a:ext uri="{FF2B5EF4-FFF2-40B4-BE49-F238E27FC236}">
                <a16:creationId xmlns:a16="http://schemas.microsoft.com/office/drawing/2014/main" id="{32035E9F-9364-7B3A-3BFC-C8AFE7043B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54275" y="8896350"/>
            <a:ext cx="1985963" cy="444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>
            <a:spAutoFit/>
          </a:bodyPr>
          <a:lstStyle/>
          <a:p>
            <a:pPr eaLnBrk="1"/>
            <a:r>
              <a:rPr lang="en-US" altLang="en-US" sz="2000"/>
              <a:t>Example: Team</a:t>
            </a: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Shapley Values">
            <a:extLst>
              <a:ext uri="{FF2B5EF4-FFF2-40B4-BE49-F238E27FC236}">
                <a16:creationId xmlns:a16="http://schemas.microsoft.com/office/drawing/2014/main" id="{2195CAD6-BEDF-05B6-5CF6-30B0CD1EAB64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 defTabSz="1525858">
              <a:defRPr sz="5280" spc="-105"/>
            </a:lvl1pPr>
          </a:lstStyle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t>Shapley Values</a:t>
            </a:r>
          </a:p>
        </p:txBody>
      </p:sp>
      <p:sp>
        <p:nvSpPr>
          <p:cNvPr id="20483" name="Rounded Rectangle">
            <a:extLst>
              <a:ext uri="{FF2B5EF4-FFF2-40B4-BE49-F238E27FC236}">
                <a16:creationId xmlns:a16="http://schemas.microsoft.com/office/drawing/2014/main" id="{FA77E94F-91CD-2BC4-3E4F-2BD78B823A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63825" y="2698750"/>
            <a:ext cx="1565275" cy="5843588"/>
          </a:xfrm>
          <a:prstGeom prst="roundRect">
            <a:avLst>
              <a:gd name="adj" fmla="val 12176"/>
            </a:avLst>
          </a:prstGeom>
          <a:noFill/>
          <a:ln w="63500">
            <a:solidFill>
              <a:srgbClr val="000000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0484" name="Rectangle">
            <a:extLst>
              <a:ext uri="{FF2B5EF4-FFF2-40B4-BE49-F238E27FC236}">
                <a16:creationId xmlns:a16="http://schemas.microsoft.com/office/drawing/2014/main" id="{98B41493-61E3-D44F-BAAB-9BB4F2B33C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29525" y="4240213"/>
            <a:ext cx="2257425" cy="2760662"/>
          </a:xfrm>
          <a:prstGeom prst="rect">
            <a:avLst/>
          </a:prstGeom>
          <a:noFill/>
          <a:ln w="63500">
            <a:solidFill>
              <a:srgbClr val="000000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0485" name="1">
            <a:extLst>
              <a:ext uri="{FF2B5EF4-FFF2-40B4-BE49-F238E27FC236}">
                <a16:creationId xmlns:a16="http://schemas.microsoft.com/office/drawing/2014/main" id="{4181FA9D-98CA-8047-CF52-19AE0EF650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1463" y="2840038"/>
            <a:ext cx="1270000" cy="1270000"/>
          </a:xfrm>
          <a:prstGeom prst="ellipse">
            <a:avLst/>
          </a:prstGeom>
          <a:solidFill>
            <a:srgbClr val="005493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r>
              <a:rPr lang="en-US" altLang="en-US" sz="2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rPr>
              <a:t>1</a:t>
            </a:r>
          </a:p>
        </p:txBody>
      </p:sp>
      <p:sp>
        <p:nvSpPr>
          <p:cNvPr id="20486" name="2">
            <a:extLst>
              <a:ext uri="{FF2B5EF4-FFF2-40B4-BE49-F238E27FC236}">
                <a16:creationId xmlns:a16="http://schemas.microsoft.com/office/drawing/2014/main" id="{AB4AC855-768D-7C7E-B43C-B1C6F2DB2F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1463" y="4241800"/>
            <a:ext cx="1270000" cy="1270000"/>
          </a:xfrm>
          <a:prstGeom prst="ellipse">
            <a:avLst/>
          </a:prstGeom>
          <a:solidFill>
            <a:srgbClr val="009193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r>
              <a:rPr lang="en-US" altLang="en-US" sz="2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rPr>
              <a:t>2</a:t>
            </a:r>
          </a:p>
        </p:txBody>
      </p:sp>
      <p:sp>
        <p:nvSpPr>
          <p:cNvPr id="20487" name="3">
            <a:extLst>
              <a:ext uri="{FF2B5EF4-FFF2-40B4-BE49-F238E27FC236}">
                <a16:creationId xmlns:a16="http://schemas.microsoft.com/office/drawing/2014/main" id="{F0FB0518-ABE4-A94F-6051-201F8AC30D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1463" y="5643563"/>
            <a:ext cx="1270000" cy="1270000"/>
          </a:xfrm>
          <a:prstGeom prst="ellipse">
            <a:avLst/>
          </a:prstGeom>
          <a:solidFill>
            <a:srgbClr val="FF7E79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r>
              <a:rPr lang="en-US" altLang="en-US" sz="2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rPr>
              <a:t>3</a:t>
            </a:r>
          </a:p>
        </p:txBody>
      </p:sp>
      <p:sp>
        <p:nvSpPr>
          <p:cNvPr id="20488" name="4">
            <a:extLst>
              <a:ext uri="{FF2B5EF4-FFF2-40B4-BE49-F238E27FC236}">
                <a16:creationId xmlns:a16="http://schemas.microsoft.com/office/drawing/2014/main" id="{84338696-9738-86B0-B813-ADA30975DD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1463" y="7045325"/>
            <a:ext cx="1270000" cy="1270000"/>
          </a:xfrm>
          <a:prstGeom prst="ellipse">
            <a:avLst/>
          </a:prstGeom>
          <a:solidFill>
            <a:srgbClr val="FFD479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r>
              <a:rPr lang="en-US" altLang="en-US" sz="2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rPr>
              <a:t>4</a:t>
            </a:r>
          </a:p>
        </p:txBody>
      </p:sp>
      <p:pic>
        <p:nvPicPr>
          <p:cNvPr id="20489" name="Line Line" descr="Line Line">
            <a:extLst>
              <a:ext uri="{FF2B5EF4-FFF2-40B4-BE49-F238E27FC236}">
                <a16:creationId xmlns:a16="http://schemas.microsoft.com/office/drawing/2014/main" id="{E2B0834B-2718-8A8B-FBDC-7501B1F034DD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11738" y="5335588"/>
            <a:ext cx="1909762" cy="333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490" name="Coalition">
            <a:extLst>
              <a:ext uri="{FF2B5EF4-FFF2-40B4-BE49-F238E27FC236}">
                <a16:creationId xmlns:a16="http://schemas.microsoft.com/office/drawing/2014/main" id="{67E19AC5-2FF5-A057-34FA-65777EA3C6E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57475" y="1931988"/>
            <a:ext cx="1577975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eaLnBrk="1"/>
            <a:r>
              <a:rPr lang="en-US" altLang="en-US"/>
              <a:t>Coalition</a:t>
            </a:r>
          </a:p>
        </p:txBody>
      </p:sp>
      <p:sp>
        <p:nvSpPr>
          <p:cNvPr id="20491" name="Value">
            <a:extLst>
              <a:ext uri="{FF2B5EF4-FFF2-40B4-BE49-F238E27FC236}">
                <a16:creationId xmlns:a16="http://schemas.microsoft.com/office/drawing/2014/main" id="{B0FE2ADD-A828-A620-2138-B478D402991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253413" y="3409950"/>
            <a:ext cx="1009650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eaLnBrk="1"/>
            <a:r>
              <a:rPr lang="en-US" altLang="en-US"/>
              <a:t>Value</a:t>
            </a:r>
          </a:p>
        </p:txBody>
      </p:sp>
      <p:sp>
        <p:nvSpPr>
          <p:cNvPr id="20492" name="$3000">
            <a:extLst>
              <a:ext uri="{FF2B5EF4-FFF2-40B4-BE49-F238E27FC236}">
                <a16:creationId xmlns:a16="http://schemas.microsoft.com/office/drawing/2014/main" id="{6A412904-E14C-6CEE-1D1C-05E62C1A5A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61275" y="4267200"/>
            <a:ext cx="2193925" cy="787400"/>
          </a:xfrm>
          <a:prstGeom prst="rect">
            <a:avLst/>
          </a:prstGeom>
          <a:solidFill>
            <a:srgbClr val="005493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r>
              <a:rPr lang="en-US" altLang="en-US" sz="2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rPr>
              <a:t>$3000</a:t>
            </a:r>
          </a:p>
        </p:txBody>
      </p:sp>
      <p:sp>
        <p:nvSpPr>
          <p:cNvPr id="20493" name="$2000">
            <a:extLst>
              <a:ext uri="{FF2B5EF4-FFF2-40B4-BE49-F238E27FC236}">
                <a16:creationId xmlns:a16="http://schemas.microsoft.com/office/drawing/2014/main" id="{E6908815-921C-8343-5C4F-2B2A3020C8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61275" y="4960938"/>
            <a:ext cx="2193925" cy="584200"/>
          </a:xfrm>
          <a:prstGeom prst="rect">
            <a:avLst/>
          </a:prstGeom>
          <a:solidFill>
            <a:srgbClr val="009193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r>
              <a:rPr lang="en-US" altLang="en-US" sz="2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rPr>
              <a:t>$2000</a:t>
            </a:r>
          </a:p>
        </p:txBody>
      </p:sp>
      <p:sp>
        <p:nvSpPr>
          <p:cNvPr id="20494" name="$4000">
            <a:extLst>
              <a:ext uri="{FF2B5EF4-FFF2-40B4-BE49-F238E27FC236}">
                <a16:creationId xmlns:a16="http://schemas.microsoft.com/office/drawing/2014/main" id="{2C12BF1A-DC2A-8289-A228-1FAED4C25F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61275" y="5838825"/>
            <a:ext cx="2193925" cy="1130300"/>
          </a:xfrm>
          <a:prstGeom prst="rect">
            <a:avLst/>
          </a:prstGeom>
          <a:solidFill>
            <a:srgbClr val="FFD479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r>
              <a:rPr lang="en-US" altLang="en-US" sz="2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rPr>
              <a:t>$4000</a:t>
            </a:r>
          </a:p>
        </p:txBody>
      </p:sp>
      <p:sp>
        <p:nvSpPr>
          <p:cNvPr id="20495" name="$1000">
            <a:extLst>
              <a:ext uri="{FF2B5EF4-FFF2-40B4-BE49-F238E27FC236}">
                <a16:creationId xmlns:a16="http://schemas.microsoft.com/office/drawing/2014/main" id="{8ECE5222-9BB6-9171-F4EE-20CA04FBEB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61275" y="5462588"/>
            <a:ext cx="2193925" cy="444500"/>
          </a:xfrm>
          <a:prstGeom prst="rect">
            <a:avLst/>
          </a:prstGeom>
          <a:solidFill>
            <a:srgbClr val="FF7E79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r>
              <a:rPr lang="en-US" altLang="en-US" sz="2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rPr>
              <a:t>$1000</a:t>
            </a:r>
          </a:p>
        </p:txBody>
      </p:sp>
      <p:sp>
        <p:nvSpPr>
          <p:cNvPr id="20496" name="Example: Kaggle or Hackathon Competition">
            <a:extLst>
              <a:ext uri="{FF2B5EF4-FFF2-40B4-BE49-F238E27FC236}">
                <a16:creationId xmlns:a16="http://schemas.microsoft.com/office/drawing/2014/main" id="{06AAEB24-8B37-9CEC-4294-593B249C77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56138" y="5781675"/>
            <a:ext cx="3113087" cy="787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>
            <a:spAutoFit/>
          </a:bodyPr>
          <a:lstStyle/>
          <a:p>
            <a:pPr eaLnBrk="1"/>
            <a:r>
              <a:rPr lang="en-US" altLang="en-US" sz="2000"/>
              <a:t>Example: Kaggle or Hackathon Competition </a:t>
            </a:r>
          </a:p>
        </p:txBody>
      </p:sp>
      <p:sp>
        <p:nvSpPr>
          <p:cNvPr id="20497" name="Example: Prize is $10,000">
            <a:extLst>
              <a:ext uri="{FF2B5EF4-FFF2-40B4-BE49-F238E27FC236}">
                <a16:creationId xmlns:a16="http://schemas.microsoft.com/office/drawing/2014/main" id="{F668D897-C0E5-5445-5C6B-313B95655E2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00900" y="8896350"/>
            <a:ext cx="3114675" cy="444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>
            <a:spAutoFit/>
          </a:bodyPr>
          <a:lstStyle/>
          <a:p>
            <a:pPr eaLnBrk="1"/>
            <a:r>
              <a:rPr lang="en-US" altLang="en-US" sz="2000"/>
              <a:t>Example: Prize is $10,000 </a:t>
            </a:r>
          </a:p>
        </p:txBody>
      </p:sp>
      <p:sp>
        <p:nvSpPr>
          <p:cNvPr id="20498" name="How should each player be rewarded?">
            <a:extLst>
              <a:ext uri="{FF2B5EF4-FFF2-40B4-BE49-F238E27FC236}">
                <a16:creationId xmlns:a16="http://schemas.microsoft.com/office/drawing/2014/main" id="{FA302F13-F298-0DBA-D6A7-DE89591EE0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299700" y="3082925"/>
            <a:ext cx="2419350" cy="1130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>
            <a:spAutoFit/>
          </a:bodyPr>
          <a:lstStyle/>
          <a:p>
            <a:pPr eaLnBrk="1"/>
            <a:r>
              <a:rPr lang="en-US" altLang="en-US" sz="2000"/>
              <a:t>How should each player be rewarded?</a:t>
            </a:r>
          </a:p>
        </p:txBody>
      </p:sp>
      <p:sp>
        <p:nvSpPr>
          <p:cNvPr id="20499" name="Example: Team">
            <a:extLst>
              <a:ext uri="{FF2B5EF4-FFF2-40B4-BE49-F238E27FC236}">
                <a16:creationId xmlns:a16="http://schemas.microsoft.com/office/drawing/2014/main" id="{12E97B50-F56E-C689-F75A-F347105E94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54275" y="8896350"/>
            <a:ext cx="1985963" cy="444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>
            <a:spAutoFit/>
          </a:bodyPr>
          <a:lstStyle/>
          <a:p>
            <a:pPr eaLnBrk="1"/>
            <a:r>
              <a:rPr lang="en-US" altLang="en-US" sz="2000"/>
              <a:t>Example: Team</a:t>
            </a:r>
          </a:p>
        </p:txBody>
      </p:sp>
      <p:sp>
        <p:nvSpPr>
          <p:cNvPr id="20500" name="What if there are interactions between team members?…">
            <a:extLst>
              <a:ext uri="{FF2B5EF4-FFF2-40B4-BE49-F238E27FC236}">
                <a16:creationId xmlns:a16="http://schemas.microsoft.com/office/drawing/2014/main" id="{F074ED9C-757E-AA97-DBE6-F4543396A9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299700" y="4618038"/>
            <a:ext cx="2419350" cy="3873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>
            <a:spAutoFit/>
          </a:bodyPr>
          <a:lstStyle/>
          <a:p>
            <a:pPr eaLnBrk="1"/>
            <a:r>
              <a:rPr lang="en-US" altLang="en-US" sz="2000"/>
              <a:t>What if there are interactions between team members? </a:t>
            </a:r>
          </a:p>
          <a:p>
            <a:pPr eaLnBrk="1"/>
            <a:endParaRPr lang="en-US" altLang="en-US" sz="2000"/>
          </a:p>
          <a:p>
            <a:pPr eaLnBrk="1"/>
            <a:r>
              <a:rPr lang="en-US" altLang="en-US" sz="2000"/>
              <a:t>(Certain combinations of members work better or worse than the sum of the parts)</a:t>
            </a: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Shapley Values">
            <a:extLst>
              <a:ext uri="{FF2B5EF4-FFF2-40B4-BE49-F238E27FC236}">
                <a16:creationId xmlns:a16="http://schemas.microsoft.com/office/drawing/2014/main" id="{12676FFB-D811-3ECD-EEF6-35DE10280083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 defTabSz="1525858">
              <a:defRPr sz="5280" spc="-105"/>
            </a:lvl1pPr>
          </a:lstStyle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t>Shapley Values</a:t>
            </a:r>
          </a:p>
        </p:txBody>
      </p:sp>
      <p:sp>
        <p:nvSpPr>
          <p:cNvPr id="21507" name="For each individual, compute the marginal contribution by comparing the value for a coalition with the member and without the member">
            <a:extLst>
              <a:ext uri="{FF2B5EF4-FFF2-40B4-BE49-F238E27FC236}">
                <a16:creationId xmlns:a16="http://schemas.microsoft.com/office/drawing/2014/main" id="{60A25279-0198-2C40-F041-0654BF51DB28}"/>
              </a:ext>
            </a:extLst>
          </p:cNvPr>
          <p:cNvSpPr txBox="1">
            <a:spLocks noGrp="1" noChangeArrowheads="1"/>
          </p:cNvSpPr>
          <p:nvPr>
            <p:ph type="body" sz="quarter" idx="4294967295"/>
          </p:nvPr>
        </p:nvSpPr>
        <p:spPr>
          <a:xfrm>
            <a:off x="698500" y="1924050"/>
            <a:ext cx="11607800" cy="1689100"/>
          </a:xfrm>
        </p:spPr>
        <p:txBody>
          <a:bodyPr/>
          <a:lstStyle/>
          <a:p>
            <a:pPr eaLnBrk="1" hangingPunct="1"/>
            <a:r>
              <a:rPr lang="en-US" altLang="en-US"/>
              <a:t>For each individual, compute the marginal contribution by comparing the value for a coalition with the member and without the member</a:t>
            </a:r>
          </a:p>
        </p:txBody>
      </p:sp>
      <p:sp>
        <p:nvSpPr>
          <p:cNvPr id="21508" name="Rounded Rectangle">
            <a:extLst>
              <a:ext uri="{FF2B5EF4-FFF2-40B4-BE49-F238E27FC236}">
                <a16:creationId xmlns:a16="http://schemas.microsoft.com/office/drawing/2014/main" id="{561F4464-8332-F649-3C70-31F6042961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9488" y="3649663"/>
            <a:ext cx="1565275" cy="5845175"/>
          </a:xfrm>
          <a:prstGeom prst="roundRect">
            <a:avLst>
              <a:gd name="adj" fmla="val 12176"/>
            </a:avLst>
          </a:prstGeom>
          <a:noFill/>
          <a:ln w="63500">
            <a:solidFill>
              <a:srgbClr val="000000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1509" name="1">
            <a:extLst>
              <a:ext uri="{FF2B5EF4-FFF2-40B4-BE49-F238E27FC236}">
                <a16:creationId xmlns:a16="http://schemas.microsoft.com/office/drawing/2014/main" id="{1874C4EC-B39F-A109-78DB-D0A3870EBF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125" y="3790950"/>
            <a:ext cx="1270000" cy="1270000"/>
          </a:xfrm>
          <a:prstGeom prst="ellipse">
            <a:avLst/>
          </a:prstGeom>
          <a:solidFill>
            <a:srgbClr val="005493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r>
              <a:rPr lang="en-US" altLang="en-US" sz="2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rPr>
              <a:t>1</a:t>
            </a:r>
          </a:p>
        </p:txBody>
      </p:sp>
      <p:sp>
        <p:nvSpPr>
          <p:cNvPr id="21510" name="2">
            <a:extLst>
              <a:ext uri="{FF2B5EF4-FFF2-40B4-BE49-F238E27FC236}">
                <a16:creationId xmlns:a16="http://schemas.microsoft.com/office/drawing/2014/main" id="{FBA0C750-E984-589B-34F4-74FF18C80E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125" y="5194300"/>
            <a:ext cx="1270000" cy="1270000"/>
          </a:xfrm>
          <a:prstGeom prst="ellipse">
            <a:avLst/>
          </a:prstGeom>
          <a:solidFill>
            <a:srgbClr val="009193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r>
              <a:rPr lang="en-US" altLang="en-US" sz="2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rPr>
              <a:t>2</a:t>
            </a:r>
          </a:p>
        </p:txBody>
      </p:sp>
      <p:sp>
        <p:nvSpPr>
          <p:cNvPr id="21511" name="3">
            <a:extLst>
              <a:ext uri="{FF2B5EF4-FFF2-40B4-BE49-F238E27FC236}">
                <a16:creationId xmlns:a16="http://schemas.microsoft.com/office/drawing/2014/main" id="{26F29B86-6A36-DC6C-6B58-EA1D532F76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125" y="6596063"/>
            <a:ext cx="1270000" cy="1270000"/>
          </a:xfrm>
          <a:prstGeom prst="ellipse">
            <a:avLst/>
          </a:prstGeom>
          <a:solidFill>
            <a:srgbClr val="FF7E79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r>
              <a:rPr lang="en-US" altLang="en-US" sz="2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rPr>
              <a:t>3</a:t>
            </a:r>
          </a:p>
        </p:txBody>
      </p:sp>
      <p:sp>
        <p:nvSpPr>
          <p:cNvPr id="21512" name="4">
            <a:extLst>
              <a:ext uri="{FF2B5EF4-FFF2-40B4-BE49-F238E27FC236}">
                <a16:creationId xmlns:a16="http://schemas.microsoft.com/office/drawing/2014/main" id="{F2D7210D-A0CF-16C8-F6F3-A04FAF43BF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125" y="7997825"/>
            <a:ext cx="1270000" cy="1270000"/>
          </a:xfrm>
          <a:prstGeom prst="ellipse">
            <a:avLst/>
          </a:prstGeom>
          <a:solidFill>
            <a:srgbClr val="FFD479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r>
              <a:rPr lang="en-US" altLang="en-US" sz="2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rPr>
              <a:t>4</a:t>
            </a:r>
          </a:p>
        </p:txBody>
      </p:sp>
      <p:pic>
        <p:nvPicPr>
          <p:cNvPr id="21513" name="Line Line" descr="Line Line">
            <a:extLst>
              <a:ext uri="{FF2B5EF4-FFF2-40B4-BE49-F238E27FC236}">
                <a16:creationId xmlns:a16="http://schemas.microsoft.com/office/drawing/2014/main" id="{8004879A-3362-E176-7515-24AF361CFC04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24150" y="6405563"/>
            <a:ext cx="1346200" cy="333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514" name="Rectangle">
            <a:extLst>
              <a:ext uri="{FF2B5EF4-FFF2-40B4-BE49-F238E27FC236}">
                <a16:creationId xmlns:a16="http://schemas.microsoft.com/office/drawing/2014/main" id="{9DE8DBD5-684F-5DDD-951E-08FA279993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75125" y="5192713"/>
            <a:ext cx="1563688" cy="2760662"/>
          </a:xfrm>
          <a:prstGeom prst="rect">
            <a:avLst/>
          </a:prstGeom>
          <a:noFill/>
          <a:ln w="63500">
            <a:solidFill>
              <a:srgbClr val="000000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1515" name="Rectangle">
            <a:extLst>
              <a:ext uri="{FF2B5EF4-FFF2-40B4-BE49-F238E27FC236}">
                <a16:creationId xmlns:a16="http://schemas.microsoft.com/office/drawing/2014/main" id="{3AE97E19-AD9C-142E-833A-0933F9818C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05288" y="5219700"/>
            <a:ext cx="1503362" cy="927100"/>
          </a:xfrm>
          <a:prstGeom prst="rect">
            <a:avLst/>
          </a:prstGeom>
          <a:solidFill>
            <a:srgbClr val="005493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1516" name="Rectangle">
            <a:extLst>
              <a:ext uri="{FF2B5EF4-FFF2-40B4-BE49-F238E27FC236}">
                <a16:creationId xmlns:a16="http://schemas.microsoft.com/office/drawing/2014/main" id="{9EFA7C83-06B9-AA93-5D77-D576C54C69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05288" y="5991225"/>
            <a:ext cx="1501775" cy="584200"/>
          </a:xfrm>
          <a:prstGeom prst="rect">
            <a:avLst/>
          </a:prstGeom>
          <a:solidFill>
            <a:srgbClr val="009193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1517" name="Rectangle">
            <a:extLst>
              <a:ext uri="{FF2B5EF4-FFF2-40B4-BE49-F238E27FC236}">
                <a16:creationId xmlns:a16="http://schemas.microsoft.com/office/drawing/2014/main" id="{C743FBC2-1721-F8CB-0B77-3F9EAA721C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05288" y="7140575"/>
            <a:ext cx="1501775" cy="779463"/>
          </a:xfrm>
          <a:prstGeom prst="rect">
            <a:avLst/>
          </a:prstGeom>
          <a:solidFill>
            <a:srgbClr val="FFD479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1518" name="Rectangle">
            <a:extLst>
              <a:ext uri="{FF2B5EF4-FFF2-40B4-BE49-F238E27FC236}">
                <a16:creationId xmlns:a16="http://schemas.microsoft.com/office/drawing/2014/main" id="{E7CB21FA-2266-B1DD-67FC-2BB9222820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05288" y="6578600"/>
            <a:ext cx="1501775" cy="584200"/>
          </a:xfrm>
          <a:prstGeom prst="rect">
            <a:avLst/>
          </a:prstGeom>
          <a:solidFill>
            <a:srgbClr val="FF7E79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1519" name="Rounded Rectangle">
            <a:extLst>
              <a:ext uri="{FF2B5EF4-FFF2-40B4-BE49-F238E27FC236}">
                <a16:creationId xmlns:a16="http://schemas.microsoft.com/office/drawing/2014/main" id="{862BDCD1-CA60-A577-DBF1-5E2EA90A93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088" y="4308475"/>
            <a:ext cx="1565275" cy="4527550"/>
          </a:xfrm>
          <a:prstGeom prst="roundRect">
            <a:avLst>
              <a:gd name="adj" fmla="val 12176"/>
            </a:avLst>
          </a:prstGeom>
          <a:noFill/>
          <a:ln w="63500">
            <a:solidFill>
              <a:srgbClr val="000000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1520" name="2">
            <a:extLst>
              <a:ext uri="{FF2B5EF4-FFF2-40B4-BE49-F238E27FC236}">
                <a16:creationId xmlns:a16="http://schemas.microsoft.com/office/drawing/2014/main" id="{65F24F64-8169-54A7-1B83-7353724294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24725" y="4535488"/>
            <a:ext cx="1270000" cy="1270000"/>
          </a:xfrm>
          <a:prstGeom prst="ellipse">
            <a:avLst/>
          </a:prstGeom>
          <a:solidFill>
            <a:srgbClr val="009193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r>
              <a:rPr lang="en-US" altLang="en-US" sz="2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rPr>
              <a:t>2</a:t>
            </a:r>
          </a:p>
        </p:txBody>
      </p:sp>
      <p:sp>
        <p:nvSpPr>
          <p:cNvPr id="21521" name="3">
            <a:extLst>
              <a:ext uri="{FF2B5EF4-FFF2-40B4-BE49-F238E27FC236}">
                <a16:creationId xmlns:a16="http://schemas.microsoft.com/office/drawing/2014/main" id="{12DF5035-0B9E-4C1E-5D2D-E2C0247CD7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24725" y="5937250"/>
            <a:ext cx="1270000" cy="1270000"/>
          </a:xfrm>
          <a:prstGeom prst="ellipse">
            <a:avLst/>
          </a:prstGeom>
          <a:solidFill>
            <a:srgbClr val="FF7E79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r>
              <a:rPr lang="en-US" altLang="en-US" sz="2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rPr>
              <a:t>3</a:t>
            </a:r>
          </a:p>
        </p:txBody>
      </p:sp>
      <p:sp>
        <p:nvSpPr>
          <p:cNvPr id="21522" name="4">
            <a:extLst>
              <a:ext uri="{FF2B5EF4-FFF2-40B4-BE49-F238E27FC236}">
                <a16:creationId xmlns:a16="http://schemas.microsoft.com/office/drawing/2014/main" id="{E1851A8E-22A1-186E-F1F4-4E6BD9246A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24725" y="7339013"/>
            <a:ext cx="1270000" cy="1270000"/>
          </a:xfrm>
          <a:prstGeom prst="ellipse">
            <a:avLst/>
          </a:prstGeom>
          <a:solidFill>
            <a:srgbClr val="FFD479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r>
              <a:rPr lang="en-US" altLang="en-US" sz="2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rPr>
              <a:t>4</a:t>
            </a:r>
          </a:p>
        </p:txBody>
      </p:sp>
      <p:pic>
        <p:nvPicPr>
          <p:cNvPr id="21523" name="Line Line" descr="Line Line">
            <a:extLst>
              <a:ext uri="{FF2B5EF4-FFF2-40B4-BE49-F238E27FC236}">
                <a16:creationId xmlns:a16="http://schemas.microsoft.com/office/drawing/2014/main" id="{2D27F286-271E-6674-EDF6-E8BABC12E0CD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94763" y="6405563"/>
            <a:ext cx="1346200" cy="333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524" name="Rectangle">
            <a:extLst>
              <a:ext uri="{FF2B5EF4-FFF2-40B4-BE49-F238E27FC236}">
                <a16:creationId xmlns:a16="http://schemas.microsoft.com/office/drawing/2014/main" id="{850688B0-87C3-0B09-DFDC-D6438B2EF6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96550" y="5789613"/>
            <a:ext cx="1565275" cy="2163762"/>
          </a:xfrm>
          <a:prstGeom prst="rect">
            <a:avLst/>
          </a:prstGeom>
          <a:noFill/>
          <a:ln w="63500">
            <a:solidFill>
              <a:srgbClr val="000000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1525" name="Rectangle">
            <a:extLst>
              <a:ext uri="{FF2B5EF4-FFF2-40B4-BE49-F238E27FC236}">
                <a16:creationId xmlns:a16="http://schemas.microsoft.com/office/drawing/2014/main" id="{82B52F7B-9603-373D-F4FB-E8984D5F9A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528300" y="5821363"/>
            <a:ext cx="1501775" cy="779462"/>
          </a:xfrm>
          <a:prstGeom prst="rect">
            <a:avLst/>
          </a:prstGeom>
          <a:solidFill>
            <a:srgbClr val="009193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1526" name="Rectangle">
            <a:extLst>
              <a:ext uri="{FF2B5EF4-FFF2-40B4-BE49-F238E27FC236}">
                <a16:creationId xmlns:a16="http://schemas.microsoft.com/office/drawing/2014/main" id="{14EA5993-364C-37F5-758A-B8FDCA75E1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528300" y="7140575"/>
            <a:ext cx="1501775" cy="779463"/>
          </a:xfrm>
          <a:prstGeom prst="rect">
            <a:avLst/>
          </a:prstGeom>
          <a:solidFill>
            <a:srgbClr val="FFD479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1527" name="Rectangle">
            <a:extLst>
              <a:ext uri="{FF2B5EF4-FFF2-40B4-BE49-F238E27FC236}">
                <a16:creationId xmlns:a16="http://schemas.microsoft.com/office/drawing/2014/main" id="{BF6750D7-B15E-AE91-8D39-AFBCE2E6B2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528300" y="6578600"/>
            <a:ext cx="1501775" cy="584200"/>
          </a:xfrm>
          <a:prstGeom prst="rect">
            <a:avLst/>
          </a:prstGeom>
          <a:solidFill>
            <a:srgbClr val="FF7E79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74CC7CE-B3BE-4389-6855-14AB0D303BF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9219" r="59127"/>
          <a:stretch>
            <a:fillRect/>
          </a:stretch>
        </p:blipFill>
        <p:spPr>
          <a:xfrm>
            <a:off x="4455319" y="8300685"/>
            <a:ext cx="1001712" cy="44878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CD775A4-1FC2-084E-C4ED-FCAF28A8FF4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4632" t="37981" r="16123" b="13696"/>
          <a:stretch>
            <a:fillRect/>
          </a:stretch>
        </p:blipFill>
        <p:spPr>
          <a:xfrm>
            <a:off x="10920809" y="8250239"/>
            <a:ext cx="716756" cy="306387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Shapley Values">
            <a:extLst>
              <a:ext uri="{FF2B5EF4-FFF2-40B4-BE49-F238E27FC236}">
                <a16:creationId xmlns:a16="http://schemas.microsoft.com/office/drawing/2014/main" id="{3C2C6295-8949-5D0D-8591-CAE85887F835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 defTabSz="1525858">
              <a:defRPr sz="5280" spc="-105"/>
            </a:lvl1pPr>
          </a:lstStyle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t>Shapley Values</a:t>
            </a:r>
          </a:p>
        </p:txBody>
      </p:sp>
      <p:sp>
        <p:nvSpPr>
          <p:cNvPr id="22531" name="For each individual, compute the marginal contribution by comparing the value for a coalition with the member and without the member">
            <a:extLst>
              <a:ext uri="{FF2B5EF4-FFF2-40B4-BE49-F238E27FC236}">
                <a16:creationId xmlns:a16="http://schemas.microsoft.com/office/drawing/2014/main" id="{A37D2C9C-D10C-4B51-42CA-5C7209FBB1B3}"/>
              </a:ext>
            </a:extLst>
          </p:cNvPr>
          <p:cNvSpPr txBox="1">
            <a:spLocks noGrp="1" noChangeArrowheads="1"/>
          </p:cNvSpPr>
          <p:nvPr>
            <p:ph type="body" sz="quarter" idx="4294967295"/>
          </p:nvPr>
        </p:nvSpPr>
        <p:spPr>
          <a:xfrm>
            <a:off x="698500" y="1924050"/>
            <a:ext cx="11607800" cy="1689100"/>
          </a:xfrm>
        </p:spPr>
        <p:txBody>
          <a:bodyPr/>
          <a:lstStyle/>
          <a:p>
            <a:pPr eaLnBrk="1" hangingPunct="1"/>
            <a:r>
              <a:rPr lang="en-US" altLang="en-US"/>
              <a:t>For each individual, compute the marginal contribution by comparing the value for a coalition with the member and without the member</a:t>
            </a:r>
          </a:p>
        </p:txBody>
      </p:sp>
      <p:sp>
        <p:nvSpPr>
          <p:cNvPr id="22532" name="Rounded Rectangle">
            <a:extLst>
              <a:ext uri="{FF2B5EF4-FFF2-40B4-BE49-F238E27FC236}">
                <a16:creationId xmlns:a16="http://schemas.microsoft.com/office/drawing/2014/main" id="{BAB62B3E-4DFC-514C-BAE6-D117146DE0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9488" y="3649663"/>
            <a:ext cx="1565275" cy="5845175"/>
          </a:xfrm>
          <a:prstGeom prst="roundRect">
            <a:avLst>
              <a:gd name="adj" fmla="val 12176"/>
            </a:avLst>
          </a:prstGeom>
          <a:noFill/>
          <a:ln w="63500">
            <a:solidFill>
              <a:srgbClr val="000000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2533" name="1">
            <a:extLst>
              <a:ext uri="{FF2B5EF4-FFF2-40B4-BE49-F238E27FC236}">
                <a16:creationId xmlns:a16="http://schemas.microsoft.com/office/drawing/2014/main" id="{9E582213-F863-C5AF-4054-4F7FC59193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125" y="3790950"/>
            <a:ext cx="1270000" cy="1270000"/>
          </a:xfrm>
          <a:prstGeom prst="ellipse">
            <a:avLst/>
          </a:prstGeom>
          <a:solidFill>
            <a:srgbClr val="005493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r>
              <a:rPr lang="en-US" altLang="en-US" sz="2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rPr>
              <a:t>1</a:t>
            </a:r>
          </a:p>
        </p:txBody>
      </p:sp>
      <p:sp>
        <p:nvSpPr>
          <p:cNvPr id="22534" name="2">
            <a:extLst>
              <a:ext uri="{FF2B5EF4-FFF2-40B4-BE49-F238E27FC236}">
                <a16:creationId xmlns:a16="http://schemas.microsoft.com/office/drawing/2014/main" id="{E0E68AEB-78B8-2AC3-CECC-542EC116DA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125" y="5194300"/>
            <a:ext cx="1270000" cy="1270000"/>
          </a:xfrm>
          <a:prstGeom prst="ellipse">
            <a:avLst/>
          </a:prstGeom>
          <a:solidFill>
            <a:srgbClr val="009193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r>
              <a:rPr lang="en-US" altLang="en-US" sz="2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rPr>
              <a:t>2</a:t>
            </a:r>
          </a:p>
        </p:txBody>
      </p:sp>
      <p:sp>
        <p:nvSpPr>
          <p:cNvPr id="22535" name="3">
            <a:extLst>
              <a:ext uri="{FF2B5EF4-FFF2-40B4-BE49-F238E27FC236}">
                <a16:creationId xmlns:a16="http://schemas.microsoft.com/office/drawing/2014/main" id="{57C046B6-9A8E-A757-305D-1B39E0F332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125" y="6596063"/>
            <a:ext cx="1270000" cy="1270000"/>
          </a:xfrm>
          <a:prstGeom prst="ellipse">
            <a:avLst/>
          </a:prstGeom>
          <a:solidFill>
            <a:srgbClr val="FF7E79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r>
              <a:rPr lang="en-US" altLang="en-US" sz="2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rPr>
              <a:t>3</a:t>
            </a:r>
          </a:p>
        </p:txBody>
      </p:sp>
      <p:sp>
        <p:nvSpPr>
          <p:cNvPr id="22536" name="4">
            <a:extLst>
              <a:ext uri="{FF2B5EF4-FFF2-40B4-BE49-F238E27FC236}">
                <a16:creationId xmlns:a16="http://schemas.microsoft.com/office/drawing/2014/main" id="{2684B68A-E381-BF1B-3D6C-29FF5599E6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125" y="7997825"/>
            <a:ext cx="1270000" cy="1270000"/>
          </a:xfrm>
          <a:prstGeom prst="ellipse">
            <a:avLst/>
          </a:prstGeom>
          <a:solidFill>
            <a:srgbClr val="FFD479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r>
              <a:rPr lang="en-US" altLang="en-US" sz="2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rPr>
              <a:t>4</a:t>
            </a:r>
          </a:p>
        </p:txBody>
      </p:sp>
      <p:pic>
        <p:nvPicPr>
          <p:cNvPr id="22537" name="Line Line" descr="Line Line">
            <a:extLst>
              <a:ext uri="{FF2B5EF4-FFF2-40B4-BE49-F238E27FC236}">
                <a16:creationId xmlns:a16="http://schemas.microsoft.com/office/drawing/2014/main" id="{D10B76BF-0C40-8AA5-9A41-EDFC958BD052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24150" y="6405563"/>
            <a:ext cx="1346200" cy="333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2538" name="Rectangle">
            <a:extLst>
              <a:ext uri="{FF2B5EF4-FFF2-40B4-BE49-F238E27FC236}">
                <a16:creationId xmlns:a16="http://schemas.microsoft.com/office/drawing/2014/main" id="{7459435A-433F-8442-83E2-445E4DF93A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75125" y="5192713"/>
            <a:ext cx="1563688" cy="2760662"/>
          </a:xfrm>
          <a:prstGeom prst="rect">
            <a:avLst/>
          </a:prstGeom>
          <a:noFill/>
          <a:ln w="63500">
            <a:solidFill>
              <a:srgbClr val="000000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2539" name="Rectangle">
            <a:extLst>
              <a:ext uri="{FF2B5EF4-FFF2-40B4-BE49-F238E27FC236}">
                <a16:creationId xmlns:a16="http://schemas.microsoft.com/office/drawing/2014/main" id="{C0F3E9FB-BF96-CC3B-EBCD-3966B693E7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05288" y="5219700"/>
            <a:ext cx="1503362" cy="927100"/>
          </a:xfrm>
          <a:prstGeom prst="rect">
            <a:avLst/>
          </a:prstGeom>
          <a:solidFill>
            <a:srgbClr val="005493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2540" name="Rectangle">
            <a:extLst>
              <a:ext uri="{FF2B5EF4-FFF2-40B4-BE49-F238E27FC236}">
                <a16:creationId xmlns:a16="http://schemas.microsoft.com/office/drawing/2014/main" id="{D60DF7A7-2FA0-B110-B616-18F29CD83F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17988" y="5991225"/>
            <a:ext cx="1501775" cy="584200"/>
          </a:xfrm>
          <a:prstGeom prst="rect">
            <a:avLst/>
          </a:prstGeom>
          <a:solidFill>
            <a:srgbClr val="009193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2541" name="Rectangle">
            <a:extLst>
              <a:ext uri="{FF2B5EF4-FFF2-40B4-BE49-F238E27FC236}">
                <a16:creationId xmlns:a16="http://schemas.microsoft.com/office/drawing/2014/main" id="{BD842F84-2A03-83B5-FC61-39439ED54C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05288" y="7140575"/>
            <a:ext cx="1501775" cy="779463"/>
          </a:xfrm>
          <a:prstGeom prst="rect">
            <a:avLst/>
          </a:prstGeom>
          <a:solidFill>
            <a:srgbClr val="FFD479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2542" name="Rectangle">
            <a:extLst>
              <a:ext uri="{FF2B5EF4-FFF2-40B4-BE49-F238E27FC236}">
                <a16:creationId xmlns:a16="http://schemas.microsoft.com/office/drawing/2014/main" id="{720F671F-7F34-C7D5-6DCB-C245AB23D1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17988" y="6578600"/>
            <a:ext cx="1501775" cy="584200"/>
          </a:xfrm>
          <a:prstGeom prst="rect">
            <a:avLst/>
          </a:prstGeom>
          <a:solidFill>
            <a:srgbClr val="FF7E79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2543" name="Rounded Rectangle">
            <a:extLst>
              <a:ext uri="{FF2B5EF4-FFF2-40B4-BE49-F238E27FC236}">
                <a16:creationId xmlns:a16="http://schemas.microsoft.com/office/drawing/2014/main" id="{C3823759-77E5-F905-1FDB-7EA755453E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088" y="4308475"/>
            <a:ext cx="1565275" cy="4527550"/>
          </a:xfrm>
          <a:prstGeom prst="roundRect">
            <a:avLst>
              <a:gd name="adj" fmla="val 12176"/>
            </a:avLst>
          </a:prstGeom>
          <a:noFill/>
          <a:ln w="63500">
            <a:solidFill>
              <a:srgbClr val="000000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2544" name="2">
            <a:extLst>
              <a:ext uri="{FF2B5EF4-FFF2-40B4-BE49-F238E27FC236}">
                <a16:creationId xmlns:a16="http://schemas.microsoft.com/office/drawing/2014/main" id="{CAC9735D-5C40-AD23-2233-7E502926FF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24725" y="4535488"/>
            <a:ext cx="1270000" cy="1270000"/>
          </a:xfrm>
          <a:prstGeom prst="ellipse">
            <a:avLst/>
          </a:prstGeom>
          <a:solidFill>
            <a:srgbClr val="009193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r>
              <a:rPr lang="en-US" altLang="en-US" sz="2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rPr>
              <a:t>2</a:t>
            </a:r>
          </a:p>
        </p:txBody>
      </p:sp>
      <p:sp>
        <p:nvSpPr>
          <p:cNvPr id="22545" name="3">
            <a:extLst>
              <a:ext uri="{FF2B5EF4-FFF2-40B4-BE49-F238E27FC236}">
                <a16:creationId xmlns:a16="http://schemas.microsoft.com/office/drawing/2014/main" id="{87DC2F41-27FE-C27C-5A87-A54FF377EE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24725" y="5937250"/>
            <a:ext cx="1270000" cy="1270000"/>
          </a:xfrm>
          <a:prstGeom prst="ellipse">
            <a:avLst/>
          </a:prstGeom>
          <a:solidFill>
            <a:srgbClr val="FF7E79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r>
              <a:rPr lang="en-US" altLang="en-US" sz="2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rPr>
              <a:t>3</a:t>
            </a:r>
          </a:p>
        </p:txBody>
      </p:sp>
      <p:sp>
        <p:nvSpPr>
          <p:cNvPr id="22546" name="4">
            <a:extLst>
              <a:ext uri="{FF2B5EF4-FFF2-40B4-BE49-F238E27FC236}">
                <a16:creationId xmlns:a16="http://schemas.microsoft.com/office/drawing/2014/main" id="{6BBEB468-DB68-D16B-5D83-E0CCE87968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24725" y="7339013"/>
            <a:ext cx="1270000" cy="1270000"/>
          </a:xfrm>
          <a:prstGeom prst="ellipse">
            <a:avLst/>
          </a:prstGeom>
          <a:solidFill>
            <a:srgbClr val="FFD479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r>
              <a:rPr lang="en-US" altLang="en-US" sz="2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rPr>
              <a:t>4</a:t>
            </a:r>
          </a:p>
        </p:txBody>
      </p:sp>
      <p:pic>
        <p:nvPicPr>
          <p:cNvPr id="22547" name="Line Line" descr="Line Line">
            <a:extLst>
              <a:ext uri="{FF2B5EF4-FFF2-40B4-BE49-F238E27FC236}">
                <a16:creationId xmlns:a16="http://schemas.microsoft.com/office/drawing/2014/main" id="{70EB6E67-2E9D-EEBF-060E-B069347EA03E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94763" y="6405563"/>
            <a:ext cx="1346200" cy="333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2548" name="Rectangle">
            <a:extLst>
              <a:ext uri="{FF2B5EF4-FFF2-40B4-BE49-F238E27FC236}">
                <a16:creationId xmlns:a16="http://schemas.microsoft.com/office/drawing/2014/main" id="{1970ADF9-9574-BC62-2DB0-406D77CD1B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96550" y="5789613"/>
            <a:ext cx="1565275" cy="2163762"/>
          </a:xfrm>
          <a:prstGeom prst="rect">
            <a:avLst/>
          </a:prstGeom>
          <a:noFill/>
          <a:ln w="63500">
            <a:solidFill>
              <a:srgbClr val="000000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2549" name="Rectangle">
            <a:extLst>
              <a:ext uri="{FF2B5EF4-FFF2-40B4-BE49-F238E27FC236}">
                <a16:creationId xmlns:a16="http://schemas.microsoft.com/office/drawing/2014/main" id="{291E71FE-010E-7A8B-1840-C6C1FE95D1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541000" y="5821363"/>
            <a:ext cx="1501775" cy="779462"/>
          </a:xfrm>
          <a:prstGeom prst="rect">
            <a:avLst/>
          </a:prstGeom>
          <a:solidFill>
            <a:srgbClr val="009193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2550" name="Rectangle">
            <a:extLst>
              <a:ext uri="{FF2B5EF4-FFF2-40B4-BE49-F238E27FC236}">
                <a16:creationId xmlns:a16="http://schemas.microsoft.com/office/drawing/2014/main" id="{748CD70E-B1F5-3EB2-2419-EAC2016BCC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541000" y="7140575"/>
            <a:ext cx="1501775" cy="779463"/>
          </a:xfrm>
          <a:prstGeom prst="rect">
            <a:avLst/>
          </a:prstGeom>
          <a:solidFill>
            <a:srgbClr val="FFD479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2551" name="Rectangle">
            <a:extLst>
              <a:ext uri="{FF2B5EF4-FFF2-40B4-BE49-F238E27FC236}">
                <a16:creationId xmlns:a16="http://schemas.microsoft.com/office/drawing/2014/main" id="{83DC00BF-FFB3-A2C3-A630-CE32BCAE34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541000" y="6578600"/>
            <a:ext cx="1501775" cy="584200"/>
          </a:xfrm>
          <a:prstGeom prst="rect">
            <a:avLst/>
          </a:prstGeom>
          <a:solidFill>
            <a:srgbClr val="FF7E79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2552" name="Rectangle">
            <a:extLst>
              <a:ext uri="{FF2B5EF4-FFF2-40B4-BE49-F238E27FC236}">
                <a16:creationId xmlns:a16="http://schemas.microsoft.com/office/drawing/2014/main" id="{E45D98DF-D815-273A-8790-1487B415F9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96550" y="5192713"/>
            <a:ext cx="1565275" cy="2760662"/>
          </a:xfrm>
          <a:prstGeom prst="rect">
            <a:avLst/>
          </a:prstGeom>
          <a:noFill/>
          <a:ln w="63500">
            <a:solidFill>
              <a:srgbClr val="000000"/>
            </a:solidFill>
            <a:prstDash val="sysDot"/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54" name="Text">
            <a:extLst>
              <a:ext uri="{FF2B5EF4-FFF2-40B4-BE49-F238E27FC236}">
                <a16:creationId xmlns:a16="http://schemas.microsoft.com/office/drawing/2014/main" id="{3F82B831-A6B7-4DFB-26FD-CC74A7398873}"/>
              </a:ext>
            </a:extLst>
          </p:cNvPr>
          <p:cNvSpPr txBox="1">
            <a:spLocks noRot="1" noChangeAspect="1" noMove="1" noResize="1" noEditPoints="1" noAdjustHandles="1" noChangeArrowheads="1" noChangeShapeType="1" noTextEdit="1"/>
          </p:cNvSpPr>
          <p:nvPr/>
        </p:nvSpPr>
        <p:spPr>
          <a:xfrm>
            <a:off x="10149344" y="3930535"/>
            <a:ext cx="2449920" cy="632747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 w="12700">
            <a:miter lim="400000"/>
          </a:ln>
        </p:spPr>
        <p:txBody>
          <a:bodyPr/>
          <a:lstStyle/>
          <a:p>
            <a:r>
              <a:rPr lang="en-US">
                <a:noFill/>
              </a:rPr>
              <a:t> </a:t>
            </a:r>
          </a:p>
        </p:txBody>
      </p:sp>
      <p:sp>
        <p:nvSpPr>
          <p:cNvPr id="22556" name="Line">
            <a:extLst>
              <a:ext uri="{FF2B5EF4-FFF2-40B4-BE49-F238E27FC236}">
                <a16:creationId xmlns:a16="http://schemas.microsoft.com/office/drawing/2014/main" id="{2F212AF6-6D0D-FBAD-EA6E-9674E5381B9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1172825" y="4906963"/>
            <a:ext cx="541338" cy="541337"/>
          </a:xfrm>
          <a:prstGeom prst="line">
            <a:avLst/>
          </a:prstGeom>
          <a:noFill/>
          <a:ln w="25400">
            <a:solidFill>
              <a:srgbClr val="000000"/>
            </a:solidFill>
            <a:miter lim="4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en-US"/>
          </a:p>
        </p:txBody>
      </p:sp>
      <p:sp>
        <p:nvSpPr>
          <p:cNvPr id="22557" name="Marginal contribution of Member 1 to Coalition(234)">
            <a:extLst>
              <a:ext uri="{FF2B5EF4-FFF2-40B4-BE49-F238E27FC236}">
                <a16:creationId xmlns:a16="http://schemas.microsoft.com/office/drawing/2014/main" id="{11B96EA9-FB3B-6B1C-F3E2-C136CEB2357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737725" y="3238500"/>
            <a:ext cx="3082925" cy="736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>
            <a:spAutoFit/>
          </a:bodyPr>
          <a:lstStyle/>
          <a:p>
            <a:pPr eaLnBrk="1"/>
            <a:r>
              <a:rPr lang="en-US" altLang="en-US" sz="1800"/>
              <a:t>Marginal contribution of Member 1 to Coalition(234) </a:t>
            </a:r>
          </a:p>
        </p:txBody>
      </p:sp>
      <p:sp>
        <p:nvSpPr>
          <p:cNvPr id="22558" name="Rectangle">
            <a:extLst>
              <a:ext uri="{FF2B5EF4-FFF2-40B4-BE49-F238E27FC236}">
                <a16:creationId xmlns:a16="http://schemas.microsoft.com/office/drawing/2014/main" id="{2E3738CF-271A-9429-71EE-AC90EC8206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3175" y="4521200"/>
            <a:ext cx="1501775" cy="584200"/>
          </a:xfrm>
          <a:prstGeom prst="rect">
            <a:avLst/>
          </a:prstGeom>
          <a:solidFill>
            <a:srgbClr val="941751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E13959E-7001-F443-C21E-4335953EB38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9219" r="59127"/>
          <a:stretch>
            <a:fillRect/>
          </a:stretch>
        </p:blipFill>
        <p:spPr>
          <a:xfrm>
            <a:off x="4455319" y="8482013"/>
            <a:ext cx="1001712" cy="44878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B83134E-066E-34B7-A26B-B27DB553925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4632" t="37981" r="16123" b="13696"/>
          <a:stretch>
            <a:fillRect/>
          </a:stretch>
        </p:blipFill>
        <p:spPr>
          <a:xfrm>
            <a:off x="10871200" y="8550275"/>
            <a:ext cx="716756" cy="306387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Shapley Values">
            <a:extLst>
              <a:ext uri="{FF2B5EF4-FFF2-40B4-BE49-F238E27FC236}">
                <a16:creationId xmlns:a16="http://schemas.microsoft.com/office/drawing/2014/main" id="{4FA54A22-B776-9B2D-65B9-96067B66936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 defTabSz="1525858">
              <a:defRPr sz="5280" spc="-105"/>
            </a:lvl1pPr>
          </a:lstStyle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t>Shapley Values</a:t>
            </a:r>
          </a:p>
        </p:txBody>
      </p:sp>
      <p:sp>
        <p:nvSpPr>
          <p:cNvPr id="23555" name="Compute the marginal contribution of each member to all combinations of coalitions with and without that member">
            <a:extLst>
              <a:ext uri="{FF2B5EF4-FFF2-40B4-BE49-F238E27FC236}">
                <a16:creationId xmlns:a16="http://schemas.microsoft.com/office/drawing/2014/main" id="{A8128D2D-A829-A3C0-C6AC-AFDAE319D98A}"/>
              </a:ext>
            </a:extLst>
          </p:cNvPr>
          <p:cNvSpPr txBox="1">
            <a:spLocks noGrp="1" noChangeArrowheads="1"/>
          </p:cNvSpPr>
          <p:nvPr>
            <p:ph type="body" sz="quarter" idx="4294967295"/>
          </p:nvPr>
        </p:nvSpPr>
        <p:spPr>
          <a:xfrm>
            <a:off x="698500" y="1924050"/>
            <a:ext cx="11607800" cy="1689100"/>
          </a:xfrm>
        </p:spPr>
        <p:txBody>
          <a:bodyPr/>
          <a:lstStyle/>
          <a:p>
            <a:pPr eaLnBrk="1" hangingPunct="1"/>
            <a:r>
              <a:rPr lang="en-US" altLang="en-US"/>
              <a:t>Compute the marginal contribution of each member to all combinations of coalitions with and without that member</a:t>
            </a:r>
          </a:p>
        </p:txBody>
      </p:sp>
      <p:sp>
        <p:nvSpPr>
          <p:cNvPr id="23556" name="Circle">
            <a:extLst>
              <a:ext uri="{FF2B5EF4-FFF2-40B4-BE49-F238E27FC236}">
                <a16:creationId xmlns:a16="http://schemas.microsoft.com/office/drawing/2014/main" id="{1574401E-1FE9-FACA-207B-EF7F9AFAFE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3725" y="3254375"/>
            <a:ext cx="523875" cy="519113"/>
          </a:xfrm>
          <a:prstGeom prst="ellipse">
            <a:avLst/>
          </a:prstGeom>
          <a:solidFill>
            <a:srgbClr val="005493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3557" name="Circle">
            <a:extLst>
              <a:ext uri="{FF2B5EF4-FFF2-40B4-BE49-F238E27FC236}">
                <a16:creationId xmlns:a16="http://schemas.microsoft.com/office/drawing/2014/main" id="{0365243D-DE47-71F1-3409-EC48F6FEE8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3725" y="5011738"/>
            <a:ext cx="523875" cy="519112"/>
          </a:xfrm>
          <a:prstGeom prst="ellipse">
            <a:avLst/>
          </a:prstGeom>
          <a:solidFill>
            <a:srgbClr val="FFD479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3558" name="Circle">
            <a:extLst>
              <a:ext uri="{FF2B5EF4-FFF2-40B4-BE49-F238E27FC236}">
                <a16:creationId xmlns:a16="http://schemas.microsoft.com/office/drawing/2014/main" id="{1E538C34-D34A-8F82-E4ED-4C99E9EAFF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3725" y="3841750"/>
            <a:ext cx="523875" cy="519113"/>
          </a:xfrm>
          <a:prstGeom prst="ellipse">
            <a:avLst/>
          </a:prstGeom>
          <a:solidFill>
            <a:srgbClr val="009193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3559" name="Circle">
            <a:extLst>
              <a:ext uri="{FF2B5EF4-FFF2-40B4-BE49-F238E27FC236}">
                <a16:creationId xmlns:a16="http://schemas.microsoft.com/office/drawing/2014/main" id="{5D9854AB-C6AF-7C7F-8C21-D059FD0EB8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3725" y="4425950"/>
            <a:ext cx="523875" cy="520700"/>
          </a:xfrm>
          <a:prstGeom prst="ellipse">
            <a:avLst/>
          </a:prstGeom>
          <a:solidFill>
            <a:srgbClr val="FF7E79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3560" name="Rounded Rectangle">
            <a:extLst>
              <a:ext uri="{FF2B5EF4-FFF2-40B4-BE49-F238E27FC236}">
                <a16:creationId xmlns:a16="http://schemas.microsoft.com/office/drawing/2014/main" id="{43C4D384-7252-E1BC-EA9F-75AB87F65E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813" y="3189288"/>
            <a:ext cx="673100" cy="2417762"/>
          </a:xfrm>
          <a:prstGeom prst="roundRect">
            <a:avLst>
              <a:gd name="adj" fmla="val 28236"/>
            </a:avLst>
          </a:prstGeom>
          <a:noFill/>
          <a:ln w="25400">
            <a:solidFill>
              <a:srgbClr val="000000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3561" name="VS">
            <a:extLst>
              <a:ext uri="{FF2B5EF4-FFF2-40B4-BE49-F238E27FC236}">
                <a16:creationId xmlns:a16="http://schemas.microsoft.com/office/drawing/2014/main" id="{BF41E894-0699-080E-D084-87B076B0730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81113" y="4040188"/>
            <a:ext cx="415925" cy="444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eaLnBrk="1"/>
            <a:r>
              <a:rPr lang="en-US" altLang="en-US" sz="2000">
                <a:solidFill>
                  <a:srgbClr val="000000"/>
                </a:solidFill>
              </a:rPr>
              <a:t>VS</a:t>
            </a:r>
          </a:p>
        </p:txBody>
      </p:sp>
      <p:sp>
        <p:nvSpPr>
          <p:cNvPr id="23562" name="Circle">
            <a:extLst>
              <a:ext uri="{FF2B5EF4-FFF2-40B4-BE49-F238E27FC236}">
                <a16:creationId xmlns:a16="http://schemas.microsoft.com/office/drawing/2014/main" id="{5038DA67-B122-C955-B6E3-FC32752614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35150" y="5011738"/>
            <a:ext cx="523875" cy="519112"/>
          </a:xfrm>
          <a:prstGeom prst="ellipse">
            <a:avLst/>
          </a:prstGeom>
          <a:solidFill>
            <a:srgbClr val="FFD479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3563" name="Circle">
            <a:extLst>
              <a:ext uri="{FF2B5EF4-FFF2-40B4-BE49-F238E27FC236}">
                <a16:creationId xmlns:a16="http://schemas.microsoft.com/office/drawing/2014/main" id="{79119420-B77C-E84C-2BEC-012BBAC561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35150" y="3841750"/>
            <a:ext cx="523875" cy="519113"/>
          </a:xfrm>
          <a:prstGeom prst="ellipse">
            <a:avLst/>
          </a:prstGeom>
          <a:solidFill>
            <a:srgbClr val="009193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3564" name="Circle">
            <a:extLst>
              <a:ext uri="{FF2B5EF4-FFF2-40B4-BE49-F238E27FC236}">
                <a16:creationId xmlns:a16="http://schemas.microsoft.com/office/drawing/2014/main" id="{F3CD023D-E219-420E-8E92-4F1133B1EA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35150" y="4425950"/>
            <a:ext cx="523875" cy="520700"/>
          </a:xfrm>
          <a:prstGeom prst="ellipse">
            <a:avLst/>
          </a:prstGeom>
          <a:solidFill>
            <a:srgbClr val="FF7E79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3565" name="Rounded Rectangle">
            <a:extLst>
              <a:ext uri="{FF2B5EF4-FFF2-40B4-BE49-F238E27FC236}">
                <a16:creationId xmlns:a16="http://schemas.microsoft.com/office/drawing/2014/main" id="{2B1E00C7-59A9-7BD1-3B59-6ED198F57D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73238" y="3189288"/>
            <a:ext cx="674687" cy="2417762"/>
          </a:xfrm>
          <a:prstGeom prst="roundRect">
            <a:avLst>
              <a:gd name="adj" fmla="val 28236"/>
            </a:avLst>
          </a:prstGeom>
          <a:noFill/>
          <a:ln w="25400">
            <a:solidFill>
              <a:srgbClr val="000000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3566" name="Circle">
            <a:extLst>
              <a:ext uri="{FF2B5EF4-FFF2-40B4-BE49-F238E27FC236}">
                <a16:creationId xmlns:a16="http://schemas.microsoft.com/office/drawing/2014/main" id="{137E3596-4D59-7ABF-2159-94BCBEE9D1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11625" y="3254375"/>
            <a:ext cx="523875" cy="519113"/>
          </a:xfrm>
          <a:prstGeom prst="ellipse">
            <a:avLst/>
          </a:prstGeom>
          <a:solidFill>
            <a:srgbClr val="005493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3567" name="Circle">
            <a:extLst>
              <a:ext uri="{FF2B5EF4-FFF2-40B4-BE49-F238E27FC236}">
                <a16:creationId xmlns:a16="http://schemas.microsoft.com/office/drawing/2014/main" id="{2F05BDFC-EB28-ED3E-C5A8-349434C01E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11625" y="3841750"/>
            <a:ext cx="523875" cy="519113"/>
          </a:xfrm>
          <a:prstGeom prst="ellipse">
            <a:avLst/>
          </a:prstGeom>
          <a:solidFill>
            <a:srgbClr val="009193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3568" name="Circle">
            <a:extLst>
              <a:ext uri="{FF2B5EF4-FFF2-40B4-BE49-F238E27FC236}">
                <a16:creationId xmlns:a16="http://schemas.microsoft.com/office/drawing/2014/main" id="{E6BABC56-6C63-E84F-EA90-16731C643F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11625" y="4425950"/>
            <a:ext cx="523875" cy="520700"/>
          </a:xfrm>
          <a:prstGeom prst="ellipse">
            <a:avLst/>
          </a:prstGeom>
          <a:solidFill>
            <a:srgbClr val="FF7E79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3569" name="Rounded Rectangle">
            <a:extLst>
              <a:ext uri="{FF2B5EF4-FFF2-40B4-BE49-F238E27FC236}">
                <a16:creationId xmlns:a16="http://schemas.microsoft.com/office/drawing/2014/main" id="{AEFAED90-BAD6-6040-2485-735067E15E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49713" y="3189288"/>
            <a:ext cx="674687" cy="2417762"/>
          </a:xfrm>
          <a:prstGeom prst="roundRect">
            <a:avLst>
              <a:gd name="adj" fmla="val 28236"/>
            </a:avLst>
          </a:prstGeom>
          <a:noFill/>
          <a:ln w="25400">
            <a:solidFill>
              <a:srgbClr val="000000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3570" name="VS">
            <a:extLst>
              <a:ext uri="{FF2B5EF4-FFF2-40B4-BE49-F238E27FC236}">
                <a16:creationId xmlns:a16="http://schemas.microsoft.com/office/drawing/2014/main" id="{53B378B5-9DB3-761F-0300-EB9AE5F6C9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99013" y="4040188"/>
            <a:ext cx="415925" cy="444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eaLnBrk="1"/>
            <a:r>
              <a:rPr lang="en-US" altLang="en-US" sz="2000">
                <a:solidFill>
                  <a:srgbClr val="000000"/>
                </a:solidFill>
              </a:rPr>
              <a:t>VS</a:t>
            </a:r>
          </a:p>
        </p:txBody>
      </p:sp>
      <p:sp>
        <p:nvSpPr>
          <p:cNvPr id="23571" name="Circle">
            <a:extLst>
              <a:ext uri="{FF2B5EF4-FFF2-40B4-BE49-F238E27FC236}">
                <a16:creationId xmlns:a16="http://schemas.microsoft.com/office/drawing/2014/main" id="{2B30103C-8257-0529-C2CB-A71536F3A6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3050" y="3841750"/>
            <a:ext cx="523875" cy="519113"/>
          </a:xfrm>
          <a:prstGeom prst="ellipse">
            <a:avLst/>
          </a:prstGeom>
          <a:solidFill>
            <a:srgbClr val="009193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3572" name="Circle">
            <a:extLst>
              <a:ext uri="{FF2B5EF4-FFF2-40B4-BE49-F238E27FC236}">
                <a16:creationId xmlns:a16="http://schemas.microsoft.com/office/drawing/2014/main" id="{DA2AE04E-AD05-E0DA-92D5-D2E6D037EA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3050" y="4425950"/>
            <a:ext cx="523875" cy="520700"/>
          </a:xfrm>
          <a:prstGeom prst="ellipse">
            <a:avLst/>
          </a:prstGeom>
          <a:solidFill>
            <a:srgbClr val="FF7E79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3573" name="Rounded Rectangle">
            <a:extLst>
              <a:ext uri="{FF2B5EF4-FFF2-40B4-BE49-F238E27FC236}">
                <a16:creationId xmlns:a16="http://schemas.microsoft.com/office/drawing/2014/main" id="{4104116E-8C7D-9A5F-E0EC-45C022D55C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91138" y="3189288"/>
            <a:ext cx="674687" cy="2417762"/>
          </a:xfrm>
          <a:prstGeom prst="roundRect">
            <a:avLst>
              <a:gd name="adj" fmla="val 28236"/>
            </a:avLst>
          </a:prstGeom>
          <a:noFill/>
          <a:ln w="25400">
            <a:solidFill>
              <a:srgbClr val="000000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3574" name="Circle">
            <a:extLst>
              <a:ext uri="{FF2B5EF4-FFF2-40B4-BE49-F238E27FC236}">
                <a16:creationId xmlns:a16="http://schemas.microsoft.com/office/drawing/2014/main" id="{69175534-FBE8-DB28-CD91-9764A87494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64425" y="3254375"/>
            <a:ext cx="523875" cy="519113"/>
          </a:xfrm>
          <a:prstGeom prst="ellipse">
            <a:avLst/>
          </a:prstGeom>
          <a:solidFill>
            <a:srgbClr val="005493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3575" name="Circle">
            <a:extLst>
              <a:ext uri="{FF2B5EF4-FFF2-40B4-BE49-F238E27FC236}">
                <a16:creationId xmlns:a16="http://schemas.microsoft.com/office/drawing/2014/main" id="{6BC67CE4-4BD7-67DC-05E1-ABAF233DF6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64425" y="5011738"/>
            <a:ext cx="523875" cy="519112"/>
          </a:xfrm>
          <a:prstGeom prst="ellipse">
            <a:avLst/>
          </a:prstGeom>
          <a:solidFill>
            <a:srgbClr val="FFD479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3576" name="Circle">
            <a:extLst>
              <a:ext uri="{FF2B5EF4-FFF2-40B4-BE49-F238E27FC236}">
                <a16:creationId xmlns:a16="http://schemas.microsoft.com/office/drawing/2014/main" id="{8C2C08E2-070B-287A-1F99-13CDF9F914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64425" y="3841750"/>
            <a:ext cx="523875" cy="519113"/>
          </a:xfrm>
          <a:prstGeom prst="ellipse">
            <a:avLst/>
          </a:prstGeom>
          <a:solidFill>
            <a:srgbClr val="009193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3577" name="Rounded Rectangle">
            <a:extLst>
              <a:ext uri="{FF2B5EF4-FFF2-40B4-BE49-F238E27FC236}">
                <a16:creationId xmlns:a16="http://schemas.microsoft.com/office/drawing/2014/main" id="{3D942B48-CADD-92D9-2DD1-E13F4D2B99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00925" y="3189288"/>
            <a:ext cx="674688" cy="2417762"/>
          </a:xfrm>
          <a:prstGeom prst="roundRect">
            <a:avLst>
              <a:gd name="adj" fmla="val 28236"/>
            </a:avLst>
          </a:prstGeom>
          <a:noFill/>
          <a:ln w="25400">
            <a:solidFill>
              <a:srgbClr val="000000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3578" name="VS">
            <a:extLst>
              <a:ext uri="{FF2B5EF4-FFF2-40B4-BE49-F238E27FC236}">
                <a16:creationId xmlns:a16="http://schemas.microsoft.com/office/drawing/2014/main" id="{10DB23CD-2109-9652-B36E-94501D6C501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51813" y="4040188"/>
            <a:ext cx="415925" cy="444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eaLnBrk="1"/>
            <a:r>
              <a:rPr lang="en-US" altLang="en-US" sz="2000">
                <a:solidFill>
                  <a:srgbClr val="000000"/>
                </a:solidFill>
              </a:rPr>
              <a:t>VS</a:t>
            </a:r>
          </a:p>
        </p:txBody>
      </p:sp>
      <p:sp>
        <p:nvSpPr>
          <p:cNvPr id="23579" name="Circle">
            <a:extLst>
              <a:ext uri="{FF2B5EF4-FFF2-40B4-BE49-F238E27FC236}">
                <a16:creationId xmlns:a16="http://schemas.microsoft.com/office/drawing/2014/main" id="{4FFB6A26-B572-6809-DD0A-C4C0B1D673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05850" y="5011738"/>
            <a:ext cx="523875" cy="519112"/>
          </a:xfrm>
          <a:prstGeom prst="ellipse">
            <a:avLst/>
          </a:prstGeom>
          <a:solidFill>
            <a:srgbClr val="FFD479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3580" name="Circle">
            <a:extLst>
              <a:ext uri="{FF2B5EF4-FFF2-40B4-BE49-F238E27FC236}">
                <a16:creationId xmlns:a16="http://schemas.microsoft.com/office/drawing/2014/main" id="{30CEA3F6-9C55-E179-D668-2041EBCBD1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05850" y="3841750"/>
            <a:ext cx="523875" cy="519113"/>
          </a:xfrm>
          <a:prstGeom prst="ellipse">
            <a:avLst/>
          </a:prstGeom>
          <a:solidFill>
            <a:srgbClr val="009193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3581" name="Rounded Rectangle">
            <a:extLst>
              <a:ext uri="{FF2B5EF4-FFF2-40B4-BE49-F238E27FC236}">
                <a16:creationId xmlns:a16="http://schemas.microsoft.com/office/drawing/2014/main" id="{308BAF4A-86DB-9BF5-F5E6-5015F417C4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43938" y="3189288"/>
            <a:ext cx="673100" cy="2417762"/>
          </a:xfrm>
          <a:prstGeom prst="roundRect">
            <a:avLst>
              <a:gd name="adj" fmla="val 28236"/>
            </a:avLst>
          </a:prstGeom>
          <a:noFill/>
          <a:ln w="25400">
            <a:solidFill>
              <a:srgbClr val="000000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3582" name="Circle">
            <a:extLst>
              <a:ext uri="{FF2B5EF4-FFF2-40B4-BE49-F238E27FC236}">
                <a16:creationId xmlns:a16="http://schemas.microsoft.com/office/drawing/2014/main" id="{F82E6B1C-40C4-0405-D762-D637FEE728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41025" y="3254375"/>
            <a:ext cx="523875" cy="519113"/>
          </a:xfrm>
          <a:prstGeom prst="ellipse">
            <a:avLst/>
          </a:prstGeom>
          <a:solidFill>
            <a:srgbClr val="005493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3583" name="Circle">
            <a:extLst>
              <a:ext uri="{FF2B5EF4-FFF2-40B4-BE49-F238E27FC236}">
                <a16:creationId xmlns:a16="http://schemas.microsoft.com/office/drawing/2014/main" id="{D380B31D-91A7-2048-0D16-A9C37B86E7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41025" y="5011738"/>
            <a:ext cx="523875" cy="519112"/>
          </a:xfrm>
          <a:prstGeom prst="ellipse">
            <a:avLst/>
          </a:prstGeom>
          <a:solidFill>
            <a:srgbClr val="FFD479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3584" name="Circle">
            <a:extLst>
              <a:ext uri="{FF2B5EF4-FFF2-40B4-BE49-F238E27FC236}">
                <a16:creationId xmlns:a16="http://schemas.microsoft.com/office/drawing/2014/main" id="{44FEBE21-FAEB-BA90-1D65-B5F7B27A51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41025" y="4425950"/>
            <a:ext cx="523875" cy="520700"/>
          </a:xfrm>
          <a:prstGeom prst="ellipse">
            <a:avLst/>
          </a:prstGeom>
          <a:solidFill>
            <a:srgbClr val="FF7E79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3585" name="Rounded Rectangle">
            <a:extLst>
              <a:ext uri="{FF2B5EF4-FFF2-40B4-BE49-F238E27FC236}">
                <a16:creationId xmlns:a16="http://schemas.microsoft.com/office/drawing/2014/main" id="{172AC200-36DA-F32E-2C6E-2A165847FC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79113" y="3189288"/>
            <a:ext cx="674687" cy="2417762"/>
          </a:xfrm>
          <a:prstGeom prst="roundRect">
            <a:avLst>
              <a:gd name="adj" fmla="val 28236"/>
            </a:avLst>
          </a:prstGeom>
          <a:noFill/>
          <a:ln w="25400">
            <a:solidFill>
              <a:srgbClr val="000000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3586" name="VS">
            <a:extLst>
              <a:ext uri="{FF2B5EF4-FFF2-40B4-BE49-F238E27FC236}">
                <a16:creationId xmlns:a16="http://schemas.microsoft.com/office/drawing/2014/main" id="{995D845F-8349-0C66-FA99-0633A829D1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428413" y="4040188"/>
            <a:ext cx="415925" cy="444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eaLnBrk="1"/>
            <a:r>
              <a:rPr lang="en-US" altLang="en-US" sz="2000">
                <a:solidFill>
                  <a:srgbClr val="000000"/>
                </a:solidFill>
              </a:rPr>
              <a:t>VS</a:t>
            </a:r>
          </a:p>
        </p:txBody>
      </p:sp>
      <p:sp>
        <p:nvSpPr>
          <p:cNvPr id="23587" name="Circle">
            <a:extLst>
              <a:ext uri="{FF2B5EF4-FFF2-40B4-BE49-F238E27FC236}">
                <a16:creationId xmlns:a16="http://schemas.microsoft.com/office/drawing/2014/main" id="{DD72FB41-C027-A833-556E-2A849BF327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982450" y="5011738"/>
            <a:ext cx="523875" cy="519112"/>
          </a:xfrm>
          <a:prstGeom prst="ellipse">
            <a:avLst/>
          </a:prstGeom>
          <a:solidFill>
            <a:srgbClr val="FFD479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3588" name="Circle">
            <a:extLst>
              <a:ext uri="{FF2B5EF4-FFF2-40B4-BE49-F238E27FC236}">
                <a16:creationId xmlns:a16="http://schemas.microsoft.com/office/drawing/2014/main" id="{A8D48767-6719-8411-B9F7-28BF5DEB01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982450" y="4425950"/>
            <a:ext cx="523875" cy="520700"/>
          </a:xfrm>
          <a:prstGeom prst="ellipse">
            <a:avLst/>
          </a:prstGeom>
          <a:solidFill>
            <a:srgbClr val="FF7E79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3589" name="Rounded Rectangle">
            <a:extLst>
              <a:ext uri="{FF2B5EF4-FFF2-40B4-BE49-F238E27FC236}">
                <a16:creationId xmlns:a16="http://schemas.microsoft.com/office/drawing/2014/main" id="{7D3C5360-12AC-BB48-6955-1D8D0F3250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920538" y="3189288"/>
            <a:ext cx="674687" cy="2417762"/>
          </a:xfrm>
          <a:prstGeom prst="roundRect">
            <a:avLst>
              <a:gd name="adj" fmla="val 28236"/>
            </a:avLst>
          </a:prstGeom>
          <a:noFill/>
          <a:ln w="25400">
            <a:solidFill>
              <a:srgbClr val="000000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3590" name="Circle">
            <a:extLst>
              <a:ext uri="{FF2B5EF4-FFF2-40B4-BE49-F238E27FC236}">
                <a16:creationId xmlns:a16="http://schemas.microsoft.com/office/drawing/2014/main" id="{791037F9-742E-726E-F219-C7D5E95BBC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3725" y="6669088"/>
            <a:ext cx="523875" cy="519112"/>
          </a:xfrm>
          <a:prstGeom prst="ellipse">
            <a:avLst/>
          </a:prstGeom>
          <a:solidFill>
            <a:srgbClr val="005493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3591" name="Circle">
            <a:extLst>
              <a:ext uri="{FF2B5EF4-FFF2-40B4-BE49-F238E27FC236}">
                <a16:creationId xmlns:a16="http://schemas.microsoft.com/office/drawing/2014/main" id="{ED7FBCF8-7354-6637-F565-70EE955554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3725" y="7256463"/>
            <a:ext cx="523875" cy="519112"/>
          </a:xfrm>
          <a:prstGeom prst="ellipse">
            <a:avLst/>
          </a:prstGeom>
          <a:solidFill>
            <a:srgbClr val="009193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3592" name="Rounded Rectangle">
            <a:extLst>
              <a:ext uri="{FF2B5EF4-FFF2-40B4-BE49-F238E27FC236}">
                <a16:creationId xmlns:a16="http://schemas.microsoft.com/office/drawing/2014/main" id="{1BEEF908-D699-02F1-6E6E-40BA5C4E25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813" y="6605588"/>
            <a:ext cx="673100" cy="2417762"/>
          </a:xfrm>
          <a:prstGeom prst="roundRect">
            <a:avLst>
              <a:gd name="adj" fmla="val 28236"/>
            </a:avLst>
          </a:prstGeom>
          <a:noFill/>
          <a:ln w="25400">
            <a:solidFill>
              <a:srgbClr val="000000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3593" name="VS">
            <a:extLst>
              <a:ext uri="{FF2B5EF4-FFF2-40B4-BE49-F238E27FC236}">
                <a16:creationId xmlns:a16="http://schemas.microsoft.com/office/drawing/2014/main" id="{1C73B7C9-F8DE-DFCF-2B5E-21EE0DE44D8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81113" y="7454900"/>
            <a:ext cx="415925" cy="444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eaLnBrk="1"/>
            <a:r>
              <a:rPr lang="en-US" altLang="en-US" sz="2000">
                <a:solidFill>
                  <a:srgbClr val="000000"/>
                </a:solidFill>
              </a:rPr>
              <a:t>VS</a:t>
            </a:r>
          </a:p>
        </p:txBody>
      </p:sp>
      <p:sp>
        <p:nvSpPr>
          <p:cNvPr id="23594" name="Circle">
            <a:extLst>
              <a:ext uri="{FF2B5EF4-FFF2-40B4-BE49-F238E27FC236}">
                <a16:creationId xmlns:a16="http://schemas.microsoft.com/office/drawing/2014/main" id="{6F3EF875-2FCF-C2B0-5BE3-FB775DFF69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35150" y="7256463"/>
            <a:ext cx="523875" cy="519112"/>
          </a:xfrm>
          <a:prstGeom prst="ellipse">
            <a:avLst/>
          </a:prstGeom>
          <a:solidFill>
            <a:srgbClr val="009193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3595" name="Rounded Rectangle">
            <a:extLst>
              <a:ext uri="{FF2B5EF4-FFF2-40B4-BE49-F238E27FC236}">
                <a16:creationId xmlns:a16="http://schemas.microsoft.com/office/drawing/2014/main" id="{B0CCA3E1-FE59-7043-8607-09BA8827CF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73238" y="6605588"/>
            <a:ext cx="674687" cy="2417762"/>
          </a:xfrm>
          <a:prstGeom prst="roundRect">
            <a:avLst>
              <a:gd name="adj" fmla="val 28236"/>
            </a:avLst>
          </a:prstGeom>
          <a:noFill/>
          <a:ln w="25400">
            <a:solidFill>
              <a:srgbClr val="000000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3596" name="Circle">
            <a:extLst>
              <a:ext uri="{FF2B5EF4-FFF2-40B4-BE49-F238E27FC236}">
                <a16:creationId xmlns:a16="http://schemas.microsoft.com/office/drawing/2014/main" id="{3BAC41F6-F86E-753F-74BB-660C9FAE5C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49725" y="6675438"/>
            <a:ext cx="523875" cy="519112"/>
          </a:xfrm>
          <a:prstGeom prst="ellipse">
            <a:avLst/>
          </a:prstGeom>
          <a:solidFill>
            <a:srgbClr val="005493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3597" name="Circle">
            <a:extLst>
              <a:ext uri="{FF2B5EF4-FFF2-40B4-BE49-F238E27FC236}">
                <a16:creationId xmlns:a16="http://schemas.microsoft.com/office/drawing/2014/main" id="{E1782295-53A0-D4C8-46FF-5C0EDE9594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49725" y="7847013"/>
            <a:ext cx="523875" cy="520700"/>
          </a:xfrm>
          <a:prstGeom prst="ellipse">
            <a:avLst/>
          </a:prstGeom>
          <a:solidFill>
            <a:srgbClr val="FF7E79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3598" name="Rounded Rectangle">
            <a:extLst>
              <a:ext uri="{FF2B5EF4-FFF2-40B4-BE49-F238E27FC236}">
                <a16:creationId xmlns:a16="http://schemas.microsoft.com/office/drawing/2014/main" id="{D3795912-89E2-1EE2-DC92-7A60F640C5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86225" y="6610350"/>
            <a:ext cx="674688" cy="2417763"/>
          </a:xfrm>
          <a:prstGeom prst="roundRect">
            <a:avLst>
              <a:gd name="adj" fmla="val 28236"/>
            </a:avLst>
          </a:prstGeom>
          <a:noFill/>
          <a:ln w="25400">
            <a:solidFill>
              <a:srgbClr val="000000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3599" name="VS">
            <a:extLst>
              <a:ext uri="{FF2B5EF4-FFF2-40B4-BE49-F238E27FC236}">
                <a16:creationId xmlns:a16="http://schemas.microsoft.com/office/drawing/2014/main" id="{A913A0E8-6EDC-DC4E-5565-A8D2618673C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37113" y="7461250"/>
            <a:ext cx="415925" cy="444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eaLnBrk="1"/>
            <a:r>
              <a:rPr lang="en-US" altLang="en-US" sz="2000">
                <a:solidFill>
                  <a:srgbClr val="000000"/>
                </a:solidFill>
              </a:rPr>
              <a:t>VS</a:t>
            </a:r>
          </a:p>
        </p:txBody>
      </p:sp>
      <p:sp>
        <p:nvSpPr>
          <p:cNvPr id="23600" name="Circle">
            <a:extLst>
              <a:ext uri="{FF2B5EF4-FFF2-40B4-BE49-F238E27FC236}">
                <a16:creationId xmlns:a16="http://schemas.microsoft.com/office/drawing/2014/main" id="{939301B6-927A-40DC-1DD5-05A7E777B2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1150" y="7847013"/>
            <a:ext cx="523875" cy="520700"/>
          </a:xfrm>
          <a:prstGeom prst="ellipse">
            <a:avLst/>
          </a:prstGeom>
          <a:solidFill>
            <a:srgbClr val="FF7E79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3601" name="Rounded Rectangle">
            <a:extLst>
              <a:ext uri="{FF2B5EF4-FFF2-40B4-BE49-F238E27FC236}">
                <a16:creationId xmlns:a16="http://schemas.microsoft.com/office/drawing/2014/main" id="{AF0D4EDE-6990-5F21-F63D-C769213A63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9238" y="6610350"/>
            <a:ext cx="674687" cy="2417763"/>
          </a:xfrm>
          <a:prstGeom prst="roundRect">
            <a:avLst>
              <a:gd name="adj" fmla="val 28236"/>
            </a:avLst>
          </a:prstGeom>
          <a:noFill/>
          <a:ln w="25400">
            <a:solidFill>
              <a:srgbClr val="000000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3602" name="Circle">
            <a:extLst>
              <a:ext uri="{FF2B5EF4-FFF2-40B4-BE49-F238E27FC236}">
                <a16:creationId xmlns:a16="http://schemas.microsoft.com/office/drawing/2014/main" id="{A4646150-CAA9-9A38-A524-A48BE457A2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00938" y="6675438"/>
            <a:ext cx="523875" cy="519112"/>
          </a:xfrm>
          <a:prstGeom prst="ellipse">
            <a:avLst/>
          </a:prstGeom>
          <a:solidFill>
            <a:srgbClr val="005493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3603" name="Circle">
            <a:extLst>
              <a:ext uri="{FF2B5EF4-FFF2-40B4-BE49-F238E27FC236}">
                <a16:creationId xmlns:a16="http://schemas.microsoft.com/office/drawing/2014/main" id="{B7D88A17-ACBE-BE02-2895-E68B021323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00938" y="8432800"/>
            <a:ext cx="523875" cy="520700"/>
          </a:xfrm>
          <a:prstGeom prst="ellipse">
            <a:avLst/>
          </a:prstGeom>
          <a:solidFill>
            <a:srgbClr val="FFD479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3604" name="Rounded Rectangle">
            <a:extLst>
              <a:ext uri="{FF2B5EF4-FFF2-40B4-BE49-F238E27FC236}">
                <a16:creationId xmlns:a16="http://schemas.microsoft.com/office/drawing/2014/main" id="{43865B8D-2B06-BA76-661E-79CB9E362C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39025" y="6610350"/>
            <a:ext cx="674688" cy="2417763"/>
          </a:xfrm>
          <a:prstGeom prst="roundRect">
            <a:avLst>
              <a:gd name="adj" fmla="val 28236"/>
            </a:avLst>
          </a:prstGeom>
          <a:noFill/>
          <a:ln w="25400">
            <a:solidFill>
              <a:srgbClr val="000000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3605" name="VS">
            <a:extLst>
              <a:ext uri="{FF2B5EF4-FFF2-40B4-BE49-F238E27FC236}">
                <a16:creationId xmlns:a16="http://schemas.microsoft.com/office/drawing/2014/main" id="{62B9DF4A-4D99-97DE-2062-AFFACC4195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89913" y="7461250"/>
            <a:ext cx="415925" cy="444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eaLnBrk="1"/>
            <a:r>
              <a:rPr lang="en-US" altLang="en-US" sz="2000">
                <a:solidFill>
                  <a:srgbClr val="000000"/>
                </a:solidFill>
              </a:rPr>
              <a:t>VS</a:t>
            </a:r>
          </a:p>
        </p:txBody>
      </p:sp>
      <p:sp>
        <p:nvSpPr>
          <p:cNvPr id="23606" name="Circle">
            <a:extLst>
              <a:ext uri="{FF2B5EF4-FFF2-40B4-BE49-F238E27FC236}">
                <a16:creationId xmlns:a16="http://schemas.microsoft.com/office/drawing/2014/main" id="{C80FD5A8-110E-2150-3744-EF61B6038E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42363" y="8432800"/>
            <a:ext cx="523875" cy="520700"/>
          </a:xfrm>
          <a:prstGeom prst="ellipse">
            <a:avLst/>
          </a:prstGeom>
          <a:solidFill>
            <a:srgbClr val="FFD479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3607" name="Rounded Rectangle">
            <a:extLst>
              <a:ext uri="{FF2B5EF4-FFF2-40B4-BE49-F238E27FC236}">
                <a16:creationId xmlns:a16="http://schemas.microsoft.com/office/drawing/2014/main" id="{81002D9D-AEBD-FFCE-E97D-72A0DE61E7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80450" y="6610350"/>
            <a:ext cx="674688" cy="2417763"/>
          </a:xfrm>
          <a:prstGeom prst="roundRect">
            <a:avLst>
              <a:gd name="adj" fmla="val 28236"/>
            </a:avLst>
          </a:prstGeom>
          <a:noFill/>
          <a:ln w="25400">
            <a:solidFill>
              <a:srgbClr val="000000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3608" name="Circle">
            <a:extLst>
              <a:ext uri="{FF2B5EF4-FFF2-40B4-BE49-F238E27FC236}">
                <a16:creationId xmlns:a16="http://schemas.microsoft.com/office/drawing/2014/main" id="{354F627C-705D-F79E-44CA-747C73CA58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79125" y="6675438"/>
            <a:ext cx="522288" cy="519112"/>
          </a:xfrm>
          <a:prstGeom prst="ellipse">
            <a:avLst/>
          </a:prstGeom>
          <a:solidFill>
            <a:srgbClr val="005493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3609" name="Rounded Rectangle">
            <a:extLst>
              <a:ext uri="{FF2B5EF4-FFF2-40B4-BE49-F238E27FC236}">
                <a16:creationId xmlns:a16="http://schemas.microsoft.com/office/drawing/2014/main" id="{052ABF53-BD47-86C5-C9CF-9BD2B4AA62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15625" y="6610350"/>
            <a:ext cx="674688" cy="2417763"/>
          </a:xfrm>
          <a:prstGeom prst="roundRect">
            <a:avLst>
              <a:gd name="adj" fmla="val 28236"/>
            </a:avLst>
          </a:prstGeom>
          <a:noFill/>
          <a:ln w="25400">
            <a:solidFill>
              <a:srgbClr val="000000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3610" name="VS">
            <a:extLst>
              <a:ext uri="{FF2B5EF4-FFF2-40B4-BE49-F238E27FC236}">
                <a16:creationId xmlns:a16="http://schemas.microsoft.com/office/drawing/2014/main" id="{0FC3C95B-9CEC-336E-CFB1-241D470AAA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466513" y="7461250"/>
            <a:ext cx="415925" cy="444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eaLnBrk="1"/>
            <a:r>
              <a:rPr lang="en-US" altLang="en-US" sz="2000">
                <a:solidFill>
                  <a:srgbClr val="000000"/>
                </a:solidFill>
              </a:rPr>
              <a:t>VS</a:t>
            </a:r>
          </a:p>
        </p:txBody>
      </p:sp>
      <p:sp>
        <p:nvSpPr>
          <p:cNvPr id="23611" name="Rounded Rectangle">
            <a:extLst>
              <a:ext uri="{FF2B5EF4-FFF2-40B4-BE49-F238E27FC236}">
                <a16:creationId xmlns:a16="http://schemas.microsoft.com/office/drawing/2014/main" id="{6C3EFA9A-A038-788A-7851-179049A5F4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957050" y="6610350"/>
            <a:ext cx="674688" cy="2417763"/>
          </a:xfrm>
          <a:prstGeom prst="roundRect">
            <a:avLst>
              <a:gd name="adj" fmla="val 28236"/>
            </a:avLst>
          </a:prstGeom>
          <a:noFill/>
          <a:ln w="25400">
            <a:solidFill>
              <a:srgbClr val="000000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317" name="Text">
            <a:extLst>
              <a:ext uri="{FF2B5EF4-FFF2-40B4-BE49-F238E27FC236}">
                <a16:creationId xmlns:a16="http://schemas.microsoft.com/office/drawing/2014/main" id="{DC56E114-EF0E-C700-3AF9-775644BD64C9}"/>
              </a:ext>
            </a:extLst>
          </p:cNvPr>
          <p:cNvSpPr txBox="1">
            <a:spLocks noRot="1" noChangeAspect="1" noMove="1" noResize="1" noEditPoints="1" noAdjustHandles="1" noChangeArrowheads="1" noChangeShapeType="1" noTextEdit="1"/>
          </p:cNvSpPr>
          <p:nvPr/>
        </p:nvSpPr>
        <p:spPr>
          <a:xfrm>
            <a:off x="582622" y="5599079"/>
            <a:ext cx="929552" cy="584201"/>
          </a:xfrm>
          <a:prstGeom prst="rect">
            <a:avLst/>
          </a:prstGeom>
          <a:blipFill>
            <a:blip r:embed="rId2"/>
            <a:stretch>
              <a:fillRect l="-2632"/>
            </a:stretch>
          </a:blipFill>
          <a:ln w="12700">
            <a:miter lim="400000"/>
          </a:ln>
        </p:spPr>
        <p:txBody>
          <a:bodyPr/>
          <a:lstStyle/>
          <a:p>
            <a:r>
              <a:rPr lang="en-US">
                <a:noFill/>
              </a:rPr>
              <a:t> </a:t>
            </a:r>
          </a:p>
        </p:txBody>
      </p:sp>
      <p:sp>
        <p:nvSpPr>
          <p:cNvPr id="23613" name="Rectangle">
            <a:extLst>
              <a:ext uri="{FF2B5EF4-FFF2-40B4-BE49-F238E27FC236}">
                <a16:creationId xmlns:a16="http://schemas.microsoft.com/office/drawing/2014/main" id="{51E19ECF-C095-7F46-4C63-B5CE8C2B57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19238" y="5680075"/>
            <a:ext cx="806450" cy="422275"/>
          </a:xfrm>
          <a:prstGeom prst="rect">
            <a:avLst/>
          </a:prstGeom>
          <a:solidFill>
            <a:srgbClr val="941751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319" name="Text">
            <a:extLst>
              <a:ext uri="{FF2B5EF4-FFF2-40B4-BE49-F238E27FC236}">
                <a16:creationId xmlns:a16="http://schemas.microsoft.com/office/drawing/2014/main" id="{6EDCC823-AB70-22EF-1F1C-3A259D1CC85D}"/>
              </a:ext>
            </a:extLst>
          </p:cNvPr>
          <p:cNvSpPr txBox="1">
            <a:spLocks noRot="1" noChangeAspect="1" noMove="1" noResize="1" noEditPoints="1" noAdjustHandles="1" noChangeArrowheads="1" noChangeShapeType="1" noTextEdit="1"/>
          </p:cNvSpPr>
          <p:nvPr/>
        </p:nvSpPr>
        <p:spPr>
          <a:xfrm>
            <a:off x="4199800" y="5599079"/>
            <a:ext cx="929552" cy="584201"/>
          </a:xfrm>
          <a:prstGeom prst="rect">
            <a:avLst/>
          </a:prstGeom>
          <a:blipFill>
            <a:blip r:embed="rId3"/>
            <a:stretch>
              <a:fillRect l="-2632"/>
            </a:stretch>
          </a:blipFill>
          <a:ln w="12700">
            <a:miter lim="400000"/>
          </a:ln>
        </p:spPr>
        <p:txBody>
          <a:bodyPr/>
          <a:lstStyle/>
          <a:p>
            <a:r>
              <a:rPr lang="en-US">
                <a:noFill/>
              </a:rPr>
              <a:t> </a:t>
            </a:r>
          </a:p>
        </p:txBody>
      </p:sp>
      <p:sp>
        <p:nvSpPr>
          <p:cNvPr id="23615" name="Rectangle">
            <a:extLst>
              <a:ext uri="{FF2B5EF4-FFF2-40B4-BE49-F238E27FC236}">
                <a16:creationId xmlns:a16="http://schemas.microsoft.com/office/drawing/2014/main" id="{67522E69-A93B-66AC-BA2F-71423DE8C9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37150" y="5680075"/>
            <a:ext cx="806450" cy="577850"/>
          </a:xfrm>
          <a:prstGeom prst="rect">
            <a:avLst/>
          </a:prstGeom>
          <a:solidFill>
            <a:srgbClr val="941751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321" name="Text">
            <a:extLst>
              <a:ext uri="{FF2B5EF4-FFF2-40B4-BE49-F238E27FC236}">
                <a16:creationId xmlns:a16="http://schemas.microsoft.com/office/drawing/2014/main" id="{F7608E4D-9607-7D3C-AF55-16F94BAD5BD2}"/>
              </a:ext>
            </a:extLst>
          </p:cNvPr>
          <p:cNvSpPr txBox="1">
            <a:spLocks noRot="1" noChangeAspect="1" noMove="1" noResize="1" noEditPoints="1" noAdjustHandles="1" noChangeArrowheads="1" noChangeShapeType="1" noTextEdit="1"/>
          </p:cNvSpPr>
          <p:nvPr/>
        </p:nvSpPr>
        <p:spPr>
          <a:xfrm>
            <a:off x="7450579" y="5614756"/>
            <a:ext cx="929552" cy="584201"/>
          </a:xfrm>
          <a:prstGeom prst="rect">
            <a:avLst/>
          </a:prstGeom>
          <a:blipFill>
            <a:blip r:embed="rId4"/>
            <a:stretch>
              <a:fillRect l="-1961"/>
            </a:stretch>
          </a:blipFill>
          <a:ln w="12700">
            <a:miter lim="400000"/>
          </a:ln>
        </p:spPr>
        <p:txBody>
          <a:bodyPr/>
          <a:lstStyle/>
          <a:p>
            <a:r>
              <a:rPr lang="en-US">
                <a:noFill/>
              </a:rPr>
              <a:t> </a:t>
            </a:r>
          </a:p>
        </p:txBody>
      </p:sp>
      <p:sp>
        <p:nvSpPr>
          <p:cNvPr id="23617" name="Rectangle">
            <a:extLst>
              <a:ext uri="{FF2B5EF4-FFF2-40B4-BE49-F238E27FC236}">
                <a16:creationId xmlns:a16="http://schemas.microsoft.com/office/drawing/2014/main" id="{107CEBFF-4E82-95DA-7BCC-70E12BCFC9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2963" y="5843588"/>
            <a:ext cx="806450" cy="250825"/>
          </a:xfrm>
          <a:prstGeom prst="rect">
            <a:avLst/>
          </a:prstGeom>
          <a:solidFill>
            <a:srgbClr val="941751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323" name="Text">
            <a:extLst>
              <a:ext uri="{FF2B5EF4-FFF2-40B4-BE49-F238E27FC236}">
                <a16:creationId xmlns:a16="http://schemas.microsoft.com/office/drawing/2014/main" id="{E3C7F430-454E-4617-ADB0-7DB22C4105A0}"/>
              </a:ext>
            </a:extLst>
          </p:cNvPr>
          <p:cNvSpPr txBox="1">
            <a:spLocks noRot="1" noChangeAspect="1" noMove="1" noResize="1" noEditPoints="1" noAdjustHandles="1" noChangeArrowheads="1" noChangeShapeType="1" noTextEdit="1"/>
          </p:cNvSpPr>
          <p:nvPr/>
        </p:nvSpPr>
        <p:spPr>
          <a:xfrm>
            <a:off x="10842238" y="5599079"/>
            <a:ext cx="929553" cy="584201"/>
          </a:xfrm>
          <a:prstGeom prst="rect">
            <a:avLst/>
          </a:prstGeom>
          <a:blipFill>
            <a:blip r:embed="rId5"/>
            <a:stretch>
              <a:fillRect l="-2632"/>
            </a:stretch>
          </a:blipFill>
          <a:ln w="12700">
            <a:miter lim="400000"/>
          </a:ln>
        </p:spPr>
        <p:txBody>
          <a:bodyPr/>
          <a:lstStyle/>
          <a:p>
            <a:r>
              <a:rPr lang="en-US">
                <a:noFill/>
              </a:rPr>
              <a:t> </a:t>
            </a:r>
          </a:p>
        </p:txBody>
      </p:sp>
      <p:sp>
        <p:nvSpPr>
          <p:cNvPr id="23619" name="Rectangle">
            <a:extLst>
              <a:ext uri="{FF2B5EF4-FFF2-40B4-BE49-F238E27FC236}">
                <a16:creationId xmlns:a16="http://schemas.microsoft.com/office/drawing/2014/main" id="{FDB63CE2-4785-D958-57AD-F0257582A3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88775" y="5695950"/>
            <a:ext cx="806450" cy="584200"/>
          </a:xfrm>
          <a:prstGeom prst="rect">
            <a:avLst/>
          </a:prstGeom>
          <a:solidFill>
            <a:srgbClr val="941751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325" name="Text">
            <a:extLst>
              <a:ext uri="{FF2B5EF4-FFF2-40B4-BE49-F238E27FC236}">
                <a16:creationId xmlns:a16="http://schemas.microsoft.com/office/drawing/2014/main" id="{86EAC510-8646-171D-039E-8B268AA127E0}"/>
              </a:ext>
            </a:extLst>
          </p:cNvPr>
          <p:cNvSpPr txBox="1">
            <a:spLocks noRot="1" noChangeAspect="1" noMove="1" noResize="1" noEditPoints="1" noAdjustHandles="1" noChangeArrowheads="1" noChangeShapeType="1" noTextEdit="1"/>
          </p:cNvSpPr>
          <p:nvPr/>
        </p:nvSpPr>
        <p:spPr>
          <a:xfrm>
            <a:off x="478082" y="9019778"/>
            <a:ext cx="929553" cy="584201"/>
          </a:xfrm>
          <a:prstGeom prst="rect">
            <a:avLst/>
          </a:prstGeom>
          <a:blipFill>
            <a:blip r:embed="rId6"/>
            <a:stretch>
              <a:fillRect l="-1961"/>
            </a:stretch>
          </a:blipFill>
          <a:ln w="12700">
            <a:miter lim="400000"/>
          </a:ln>
        </p:spPr>
        <p:txBody>
          <a:bodyPr/>
          <a:lstStyle/>
          <a:p>
            <a:r>
              <a:rPr lang="en-US">
                <a:noFill/>
              </a:rPr>
              <a:t> </a:t>
            </a:r>
          </a:p>
        </p:txBody>
      </p:sp>
      <p:sp>
        <p:nvSpPr>
          <p:cNvPr id="23621" name="Rectangle">
            <a:extLst>
              <a:ext uri="{FF2B5EF4-FFF2-40B4-BE49-F238E27FC236}">
                <a16:creationId xmlns:a16="http://schemas.microsoft.com/office/drawing/2014/main" id="{2F201D1F-7C00-A8BD-226C-A4FDC44C8E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14463" y="9101138"/>
            <a:ext cx="806450" cy="520700"/>
          </a:xfrm>
          <a:prstGeom prst="rect">
            <a:avLst/>
          </a:prstGeom>
          <a:solidFill>
            <a:srgbClr val="941751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327" name="Text">
            <a:extLst>
              <a:ext uri="{FF2B5EF4-FFF2-40B4-BE49-F238E27FC236}">
                <a16:creationId xmlns:a16="http://schemas.microsoft.com/office/drawing/2014/main" id="{555B9C90-27D4-DE9B-A540-E68CB544C825}"/>
              </a:ext>
            </a:extLst>
          </p:cNvPr>
          <p:cNvSpPr txBox="1">
            <a:spLocks noRot="1" noChangeAspect="1" noMove="1" noResize="1" noEditPoints="1" noAdjustHandles="1" noChangeArrowheads="1" noChangeShapeType="1" noTextEdit="1"/>
          </p:cNvSpPr>
          <p:nvPr/>
        </p:nvSpPr>
        <p:spPr>
          <a:xfrm>
            <a:off x="4272814" y="8930878"/>
            <a:ext cx="929552" cy="584201"/>
          </a:xfrm>
          <a:prstGeom prst="rect">
            <a:avLst/>
          </a:prstGeom>
          <a:blipFill>
            <a:blip r:embed="rId7"/>
            <a:stretch>
              <a:fillRect l="-2632"/>
            </a:stretch>
          </a:blipFill>
          <a:ln w="12700">
            <a:miter lim="400000"/>
          </a:ln>
        </p:spPr>
        <p:txBody>
          <a:bodyPr/>
          <a:lstStyle/>
          <a:p>
            <a:r>
              <a:rPr lang="en-US">
                <a:noFill/>
              </a:rPr>
              <a:t> </a:t>
            </a:r>
          </a:p>
        </p:txBody>
      </p:sp>
      <p:sp>
        <p:nvSpPr>
          <p:cNvPr id="23623" name="Rectangle">
            <a:extLst>
              <a:ext uri="{FF2B5EF4-FFF2-40B4-BE49-F238E27FC236}">
                <a16:creationId xmlns:a16="http://schemas.microsoft.com/office/drawing/2014/main" id="{A66354E6-32F2-170F-2BA5-55127EFA24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0175" y="9182100"/>
            <a:ext cx="806450" cy="250825"/>
          </a:xfrm>
          <a:prstGeom prst="rect">
            <a:avLst/>
          </a:prstGeom>
          <a:solidFill>
            <a:srgbClr val="941751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329" name="Text">
            <a:extLst>
              <a:ext uri="{FF2B5EF4-FFF2-40B4-BE49-F238E27FC236}">
                <a16:creationId xmlns:a16="http://schemas.microsoft.com/office/drawing/2014/main" id="{B9ECD1A9-34CD-2217-D8A7-81D5919C1195}"/>
              </a:ext>
            </a:extLst>
          </p:cNvPr>
          <p:cNvSpPr txBox="1">
            <a:spLocks noRot="1" noChangeAspect="1" noMove="1" noResize="1" noEditPoints="1" noAdjustHandles="1" noChangeArrowheads="1" noChangeShapeType="1" noTextEdit="1"/>
          </p:cNvSpPr>
          <p:nvPr/>
        </p:nvSpPr>
        <p:spPr>
          <a:xfrm>
            <a:off x="7525656" y="9015914"/>
            <a:ext cx="929552" cy="584201"/>
          </a:xfrm>
          <a:prstGeom prst="rect">
            <a:avLst/>
          </a:prstGeom>
          <a:blipFill>
            <a:blip r:embed="rId8"/>
            <a:stretch>
              <a:fillRect l="-2632"/>
            </a:stretch>
          </a:blipFill>
          <a:ln w="12700">
            <a:miter lim="400000"/>
          </a:ln>
        </p:spPr>
        <p:txBody>
          <a:bodyPr/>
          <a:lstStyle/>
          <a:p>
            <a:r>
              <a:rPr lang="en-US">
                <a:noFill/>
              </a:rPr>
              <a:t> </a:t>
            </a:r>
          </a:p>
        </p:txBody>
      </p:sp>
      <p:sp>
        <p:nvSpPr>
          <p:cNvPr id="23625" name="Rectangle">
            <a:extLst>
              <a:ext uri="{FF2B5EF4-FFF2-40B4-BE49-F238E27FC236}">
                <a16:creationId xmlns:a16="http://schemas.microsoft.com/office/drawing/2014/main" id="{CC9A86DE-E20B-A7A8-9B7B-3D80F28423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2963" y="9271000"/>
            <a:ext cx="806450" cy="247650"/>
          </a:xfrm>
          <a:prstGeom prst="rect">
            <a:avLst/>
          </a:prstGeom>
          <a:solidFill>
            <a:srgbClr val="941751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331" name="Text">
            <a:extLst>
              <a:ext uri="{FF2B5EF4-FFF2-40B4-BE49-F238E27FC236}">
                <a16:creationId xmlns:a16="http://schemas.microsoft.com/office/drawing/2014/main" id="{2A8714B2-F86C-E9A7-C9C7-5DC421341380}"/>
              </a:ext>
            </a:extLst>
          </p:cNvPr>
          <p:cNvSpPr txBox="1">
            <a:spLocks noRot="1" noChangeAspect="1" noMove="1" noResize="1" noEditPoints="1" noAdjustHandles="1" noChangeArrowheads="1" noChangeShapeType="1" noTextEdit="1"/>
          </p:cNvSpPr>
          <p:nvPr/>
        </p:nvSpPr>
        <p:spPr>
          <a:xfrm>
            <a:off x="10765211" y="9019778"/>
            <a:ext cx="929553" cy="584201"/>
          </a:xfrm>
          <a:prstGeom prst="rect">
            <a:avLst/>
          </a:prstGeom>
          <a:blipFill>
            <a:blip r:embed="rId9"/>
            <a:stretch>
              <a:fillRect l="-2632"/>
            </a:stretch>
          </a:blipFill>
          <a:ln w="12700">
            <a:miter lim="400000"/>
          </a:ln>
        </p:spPr>
        <p:txBody>
          <a:bodyPr/>
          <a:lstStyle/>
          <a:p>
            <a:r>
              <a:rPr lang="en-US">
                <a:noFill/>
              </a:rPr>
              <a:t> </a:t>
            </a:r>
          </a:p>
        </p:txBody>
      </p:sp>
      <p:sp>
        <p:nvSpPr>
          <p:cNvPr id="23627" name="Rectangle">
            <a:extLst>
              <a:ext uri="{FF2B5EF4-FFF2-40B4-BE49-F238E27FC236}">
                <a16:creationId xmlns:a16="http://schemas.microsoft.com/office/drawing/2014/main" id="{3B323D63-5F84-DE45-A3EA-CA44A60C5D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88775" y="8723313"/>
            <a:ext cx="806450" cy="998537"/>
          </a:xfrm>
          <a:prstGeom prst="rect">
            <a:avLst/>
          </a:prstGeom>
          <a:solidFill>
            <a:srgbClr val="941751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Shapley Values">
            <a:extLst>
              <a:ext uri="{FF2B5EF4-FFF2-40B4-BE49-F238E27FC236}">
                <a16:creationId xmlns:a16="http://schemas.microsoft.com/office/drawing/2014/main" id="{C545638E-21F4-567C-A161-AC8FDA8A10FC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 defTabSz="1525858">
              <a:defRPr sz="5280" spc="-105"/>
            </a:lvl1pPr>
          </a:lstStyle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t>Shapley Values</a:t>
            </a:r>
          </a:p>
        </p:txBody>
      </p:sp>
      <p:sp>
        <p:nvSpPr>
          <p:cNvPr id="24579" name="Compute the marginal contribution of each member to all combinations of coalitions with and without that member…">
            <a:extLst>
              <a:ext uri="{FF2B5EF4-FFF2-40B4-BE49-F238E27FC236}">
                <a16:creationId xmlns:a16="http://schemas.microsoft.com/office/drawing/2014/main" id="{EB6E2D98-FE65-3472-E80B-6B0CA3B03E50}"/>
              </a:ext>
            </a:extLst>
          </p:cNvPr>
          <p:cNvSpPr txBox="1">
            <a:spLocks noGrp="1" noChangeArrowheads="1"/>
          </p:cNvSpPr>
          <p:nvPr>
            <p:ph type="body" sz="half" idx="4294967295"/>
          </p:nvPr>
        </p:nvSpPr>
        <p:spPr>
          <a:xfrm>
            <a:off x="698500" y="1924050"/>
            <a:ext cx="11607800" cy="2686050"/>
          </a:xfrm>
        </p:spPr>
        <p:txBody>
          <a:bodyPr/>
          <a:lstStyle/>
          <a:p>
            <a:pPr eaLnBrk="1" hangingPunct="1"/>
            <a:r>
              <a:rPr lang="en-US" altLang="en-US"/>
              <a:t>Compute the marginal contribution of each member to all combinations of coalitions with and without that member</a:t>
            </a:r>
          </a:p>
          <a:p>
            <a:pPr eaLnBrk="1" hangingPunct="1"/>
            <a:r>
              <a:rPr lang="en-US" altLang="en-US"/>
              <a:t>The Shapley value is the average marginal contribution for each member averaged across the coalition comparisons</a:t>
            </a:r>
          </a:p>
        </p:txBody>
      </p:sp>
      <p:sp>
        <p:nvSpPr>
          <p:cNvPr id="24580" name="Rectangle">
            <a:extLst>
              <a:ext uri="{FF2B5EF4-FFF2-40B4-BE49-F238E27FC236}">
                <a16:creationId xmlns:a16="http://schemas.microsoft.com/office/drawing/2014/main" id="{E8BE71FC-10CC-9359-70BB-DF30DF94BD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1700" y="5680075"/>
            <a:ext cx="806450" cy="422275"/>
          </a:xfrm>
          <a:prstGeom prst="rect">
            <a:avLst/>
          </a:prstGeom>
          <a:solidFill>
            <a:srgbClr val="941751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4581" name="Rectangle">
            <a:extLst>
              <a:ext uri="{FF2B5EF4-FFF2-40B4-BE49-F238E27FC236}">
                <a16:creationId xmlns:a16="http://schemas.microsoft.com/office/drawing/2014/main" id="{FD4ED43D-0E7E-446B-9368-E6F04CD49D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98663" y="5602288"/>
            <a:ext cx="804862" cy="577850"/>
          </a:xfrm>
          <a:prstGeom prst="rect">
            <a:avLst/>
          </a:prstGeom>
          <a:solidFill>
            <a:srgbClr val="941751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4582" name="Rectangle">
            <a:extLst>
              <a:ext uri="{FF2B5EF4-FFF2-40B4-BE49-F238E27FC236}">
                <a16:creationId xmlns:a16="http://schemas.microsoft.com/office/drawing/2014/main" id="{C5FF79AC-25ED-9DBF-B6BB-C1C38F0D85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94038" y="5765800"/>
            <a:ext cx="806450" cy="250825"/>
          </a:xfrm>
          <a:prstGeom prst="rect">
            <a:avLst/>
          </a:prstGeom>
          <a:solidFill>
            <a:srgbClr val="941751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4583" name="Rectangle">
            <a:extLst>
              <a:ext uri="{FF2B5EF4-FFF2-40B4-BE49-F238E27FC236}">
                <a16:creationId xmlns:a16="http://schemas.microsoft.com/office/drawing/2014/main" id="{AD36A1C4-7477-5EC6-395D-F9B957F0B1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89413" y="5611813"/>
            <a:ext cx="806450" cy="584200"/>
          </a:xfrm>
          <a:prstGeom prst="rect">
            <a:avLst/>
          </a:prstGeom>
          <a:solidFill>
            <a:srgbClr val="941751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4584" name="Rectangle">
            <a:extLst>
              <a:ext uri="{FF2B5EF4-FFF2-40B4-BE49-F238E27FC236}">
                <a16:creationId xmlns:a16="http://schemas.microsoft.com/office/drawing/2014/main" id="{AFF2893B-90DC-066A-C1DD-D6B04CE0E2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6375" y="5630863"/>
            <a:ext cx="806450" cy="520700"/>
          </a:xfrm>
          <a:prstGeom prst="rect">
            <a:avLst/>
          </a:prstGeom>
          <a:solidFill>
            <a:srgbClr val="941751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4585" name="Rectangle">
            <a:extLst>
              <a:ext uri="{FF2B5EF4-FFF2-40B4-BE49-F238E27FC236}">
                <a16:creationId xmlns:a16="http://schemas.microsoft.com/office/drawing/2014/main" id="{5A08B286-6DBC-542A-433A-BA287EFE86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81750" y="5778500"/>
            <a:ext cx="806450" cy="250825"/>
          </a:xfrm>
          <a:prstGeom prst="rect">
            <a:avLst/>
          </a:prstGeom>
          <a:solidFill>
            <a:srgbClr val="941751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4586" name="Rectangle">
            <a:extLst>
              <a:ext uri="{FF2B5EF4-FFF2-40B4-BE49-F238E27FC236}">
                <a16:creationId xmlns:a16="http://schemas.microsoft.com/office/drawing/2014/main" id="{537AF3F6-B719-70FE-0C52-C7B22F4E1B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78713" y="5765800"/>
            <a:ext cx="804862" cy="247650"/>
          </a:xfrm>
          <a:prstGeom prst="rect">
            <a:avLst/>
          </a:prstGeom>
          <a:solidFill>
            <a:srgbClr val="941751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4587" name="Rectangle">
            <a:extLst>
              <a:ext uri="{FF2B5EF4-FFF2-40B4-BE49-F238E27FC236}">
                <a16:creationId xmlns:a16="http://schemas.microsoft.com/office/drawing/2014/main" id="{9432CF02-CA17-A266-979E-5AA42D4ECE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74088" y="5391150"/>
            <a:ext cx="806450" cy="998538"/>
          </a:xfrm>
          <a:prstGeom prst="rect">
            <a:avLst/>
          </a:prstGeom>
          <a:solidFill>
            <a:srgbClr val="941751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4589" name="=">
            <a:extLst>
              <a:ext uri="{FF2B5EF4-FFF2-40B4-BE49-F238E27FC236}">
                <a16:creationId xmlns:a16="http://schemas.microsoft.com/office/drawing/2014/main" id="{3CA59956-6431-D273-A1A0-46B8BE3DCA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823450" y="5611813"/>
            <a:ext cx="352425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eaLnBrk="1"/>
            <a:r>
              <a:rPr lang="en-US" altLang="en-US">
                <a:solidFill>
                  <a:srgbClr val="000000"/>
                </a:solidFill>
              </a:rPr>
              <a:t>=</a:t>
            </a:r>
          </a:p>
        </p:txBody>
      </p:sp>
      <p:sp>
        <p:nvSpPr>
          <p:cNvPr id="24591" name="Line">
            <a:extLst>
              <a:ext uri="{FF2B5EF4-FFF2-40B4-BE49-F238E27FC236}">
                <a16:creationId xmlns:a16="http://schemas.microsoft.com/office/drawing/2014/main" id="{0E60A63D-8A67-613C-8920-9B4BF4640410}"/>
              </a:ext>
            </a:extLst>
          </p:cNvPr>
          <p:cNvSpPr>
            <a:spLocks noChangeShapeType="1"/>
          </p:cNvSpPr>
          <p:nvPr/>
        </p:nvSpPr>
        <p:spPr bwMode="auto">
          <a:xfrm>
            <a:off x="1042988" y="6664325"/>
            <a:ext cx="8085137" cy="0"/>
          </a:xfrm>
          <a:prstGeom prst="line">
            <a:avLst/>
          </a:prstGeom>
          <a:noFill/>
          <a:ln w="25400">
            <a:solidFill>
              <a:srgbClr val="000000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en-US"/>
          </a:p>
        </p:txBody>
      </p:sp>
      <p:sp>
        <p:nvSpPr>
          <p:cNvPr id="24592" name="8">
            <a:extLst>
              <a:ext uri="{FF2B5EF4-FFF2-40B4-BE49-F238E27FC236}">
                <a16:creationId xmlns:a16="http://schemas.microsoft.com/office/drawing/2014/main" id="{1CF2654B-7F68-22ED-226C-ECB7CD90C3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41863" y="6767513"/>
            <a:ext cx="320675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eaLnBrk="1"/>
            <a:r>
              <a:rPr lang="en-US" altLang="en-US">
                <a:solidFill>
                  <a:srgbClr val="000000"/>
                </a:solidFill>
              </a:rPr>
              <a:t>8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0505C9E-7AFF-BF37-559D-24504688CC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9891" y="5630863"/>
            <a:ext cx="912491" cy="726374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Shapley Values">
            <a:extLst>
              <a:ext uri="{FF2B5EF4-FFF2-40B4-BE49-F238E27FC236}">
                <a16:creationId xmlns:a16="http://schemas.microsoft.com/office/drawing/2014/main" id="{E88A1792-BF1C-D397-C348-9BBB94E6537A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 defTabSz="1525858">
              <a:defRPr sz="5280" spc="-105"/>
            </a:lvl1pPr>
          </a:lstStyle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t>Shapley Values</a:t>
            </a:r>
          </a:p>
        </p:txBody>
      </p:sp>
      <p:sp>
        <p:nvSpPr>
          <p:cNvPr id="25607" name="Repeat for all coalition members to get the Shapley values for each member">
            <a:extLst>
              <a:ext uri="{FF2B5EF4-FFF2-40B4-BE49-F238E27FC236}">
                <a16:creationId xmlns:a16="http://schemas.microsoft.com/office/drawing/2014/main" id="{77E447D9-AC48-A2EB-7757-A05A460137D5}"/>
              </a:ext>
            </a:extLst>
          </p:cNvPr>
          <p:cNvSpPr txBox="1">
            <a:spLocks noGrp="1" noChangeArrowheads="1"/>
          </p:cNvSpPr>
          <p:nvPr>
            <p:ph type="body" sz="half" idx="4294967295"/>
          </p:nvPr>
        </p:nvSpPr>
        <p:spPr>
          <a:xfrm>
            <a:off x="698500" y="1814513"/>
            <a:ext cx="11607800" cy="2686050"/>
          </a:xfrm>
        </p:spPr>
        <p:txBody>
          <a:bodyPr/>
          <a:lstStyle/>
          <a:p>
            <a:pPr eaLnBrk="1" hangingPunct="1"/>
            <a:r>
              <a:rPr lang="en-US" altLang="en-US"/>
              <a:t>Repeat for all coalition members to get the Shapley values for each member</a:t>
            </a:r>
          </a:p>
        </p:txBody>
      </p:sp>
      <p:sp>
        <p:nvSpPr>
          <p:cNvPr id="25612" name="Rounded Rectangle">
            <a:extLst>
              <a:ext uri="{FF2B5EF4-FFF2-40B4-BE49-F238E27FC236}">
                <a16:creationId xmlns:a16="http://schemas.microsoft.com/office/drawing/2014/main" id="{A5CE061A-F29B-368C-68E7-ECF3A6C3AA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95638" y="3303588"/>
            <a:ext cx="1565275" cy="5845175"/>
          </a:xfrm>
          <a:prstGeom prst="roundRect">
            <a:avLst>
              <a:gd name="adj" fmla="val 12176"/>
            </a:avLst>
          </a:prstGeom>
          <a:noFill/>
          <a:ln w="63500">
            <a:solidFill>
              <a:srgbClr val="000000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5614" name="1">
            <a:extLst>
              <a:ext uri="{FF2B5EF4-FFF2-40B4-BE49-F238E27FC236}">
                <a16:creationId xmlns:a16="http://schemas.microsoft.com/office/drawing/2014/main" id="{4C45488D-6331-7FC0-426A-C1E8FE6CFB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43275" y="3444875"/>
            <a:ext cx="1270000" cy="1270000"/>
          </a:xfrm>
          <a:prstGeom prst="ellipse">
            <a:avLst/>
          </a:prstGeom>
          <a:solidFill>
            <a:srgbClr val="005493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r>
              <a:rPr lang="en-US" altLang="en-US" sz="2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rPr>
              <a:t>1</a:t>
            </a:r>
          </a:p>
        </p:txBody>
      </p:sp>
      <p:sp>
        <p:nvSpPr>
          <p:cNvPr id="25615" name="2">
            <a:extLst>
              <a:ext uri="{FF2B5EF4-FFF2-40B4-BE49-F238E27FC236}">
                <a16:creationId xmlns:a16="http://schemas.microsoft.com/office/drawing/2014/main" id="{C8992056-CF8A-0B2C-E8E2-EBE2EF93E1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43275" y="4846638"/>
            <a:ext cx="1270000" cy="1270000"/>
          </a:xfrm>
          <a:prstGeom prst="ellipse">
            <a:avLst/>
          </a:prstGeom>
          <a:solidFill>
            <a:srgbClr val="009193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r>
              <a:rPr lang="en-US" altLang="en-US" sz="2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rPr>
              <a:t>2</a:t>
            </a:r>
          </a:p>
        </p:txBody>
      </p:sp>
      <p:sp>
        <p:nvSpPr>
          <p:cNvPr id="25616" name="3">
            <a:extLst>
              <a:ext uri="{FF2B5EF4-FFF2-40B4-BE49-F238E27FC236}">
                <a16:creationId xmlns:a16="http://schemas.microsoft.com/office/drawing/2014/main" id="{F15DDA95-DD56-9F63-06EF-EC32BD23D9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43275" y="6248400"/>
            <a:ext cx="1270000" cy="1270000"/>
          </a:xfrm>
          <a:prstGeom prst="ellipse">
            <a:avLst/>
          </a:prstGeom>
          <a:solidFill>
            <a:srgbClr val="FF7E79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r>
              <a:rPr lang="en-US" altLang="en-US" sz="2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rPr>
              <a:t>3</a:t>
            </a:r>
          </a:p>
        </p:txBody>
      </p:sp>
      <p:sp>
        <p:nvSpPr>
          <p:cNvPr id="25617" name="4">
            <a:extLst>
              <a:ext uri="{FF2B5EF4-FFF2-40B4-BE49-F238E27FC236}">
                <a16:creationId xmlns:a16="http://schemas.microsoft.com/office/drawing/2014/main" id="{75C35C22-73D6-D05C-E95B-0521F041D2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43275" y="7651750"/>
            <a:ext cx="1270000" cy="1270000"/>
          </a:xfrm>
          <a:prstGeom prst="ellipse">
            <a:avLst/>
          </a:prstGeom>
          <a:solidFill>
            <a:srgbClr val="FFD479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r>
              <a:rPr lang="en-US" altLang="en-US" sz="2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rPr>
              <a:t>4</a:t>
            </a:r>
          </a:p>
        </p:txBody>
      </p:sp>
      <p:pic>
        <p:nvPicPr>
          <p:cNvPr id="25618" name="Line Line" descr="Line Line">
            <a:extLst>
              <a:ext uri="{FF2B5EF4-FFF2-40B4-BE49-F238E27FC236}">
                <a16:creationId xmlns:a16="http://schemas.microsoft.com/office/drawing/2014/main" id="{862533D9-EE1F-5588-651A-7F678BD97A5F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43550" y="5942013"/>
            <a:ext cx="1909763" cy="331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3473FEA-3170-69B8-E5D5-B265B5A001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699" y="4391603"/>
            <a:ext cx="2553057" cy="3100820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Select a feature, say  , to determine its importance…">
            <a:extLst>
              <a:ext uri="{FF2B5EF4-FFF2-40B4-BE49-F238E27FC236}">
                <a16:creationId xmlns:a16="http://schemas.microsoft.com/office/drawing/2014/main" id="{323A86DE-BA24-B345-F998-76BB5F16CEC5}"/>
              </a:ext>
            </a:extLst>
          </p:cNvPr>
          <p:cNvSpPr txBox="1">
            <a:spLocks noGrp="1" noRot="1" noChangeAspect="1" noMove="1" noResize="1" noEditPoints="1" noAdjustHandles="1" noChangeArrowheads="1" noChangeShapeType="1" noTextEdit="1"/>
          </p:cNvSpPr>
          <p:nvPr>
            <p:ph type="body" idx="1"/>
          </p:nvPr>
        </p:nvSpPr>
        <p:spPr>
          <a:xfrm>
            <a:off x="698500" y="1924756"/>
            <a:ext cx="11607800" cy="7640537"/>
          </a:xfrm>
          <a:blipFill>
            <a:blip r:embed="rId2"/>
            <a:stretch>
              <a:fillRect l="-1313" t="-958" r="-2258"/>
            </a:stretch>
          </a:blipFill>
          <a:ln w="12700">
            <a:miter lim="400000"/>
          </a:ln>
        </p:spPr>
        <p:txBody>
          <a:bodyPr/>
          <a:lstStyle/>
          <a:p>
            <a:r>
              <a:rPr lang="en-US">
                <a:noFill/>
              </a:rPr>
              <a:t> </a:t>
            </a:r>
          </a:p>
        </p:txBody>
      </p:sp>
      <p:sp>
        <p:nvSpPr>
          <p:cNvPr id="370" name="In Machine Learning">
            <a:extLst>
              <a:ext uri="{FF2B5EF4-FFF2-40B4-BE49-F238E27FC236}">
                <a16:creationId xmlns:a16="http://schemas.microsoft.com/office/drawing/2014/main" id="{40C9F7E0-20A7-A10B-B4B6-6E3845D0C03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 defTabSz="1525858">
              <a:defRPr sz="5280" spc="-105"/>
            </a:lvl1pPr>
          </a:lstStyle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t>In Machine Learning</a:t>
            </a:r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SHapley Additive exPlanations">
            <a:extLst>
              <a:ext uri="{FF2B5EF4-FFF2-40B4-BE49-F238E27FC236}">
                <a16:creationId xmlns:a16="http://schemas.microsoft.com/office/drawing/2014/main" id="{2BC1C976-1299-84FC-27C4-437090FB756C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defTabSz="173393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>
                <a:solidFill>
                  <a:srgbClr val="009193"/>
                </a:solidFill>
              </a:rPr>
              <a:t>SH</a:t>
            </a:r>
            <a:r>
              <a:t>apley </a:t>
            </a:r>
            <a:r>
              <a:rPr>
                <a:solidFill>
                  <a:srgbClr val="009193"/>
                </a:solidFill>
              </a:rPr>
              <a:t>A</a:t>
            </a:r>
            <a:r>
              <a:t>dditive ex</a:t>
            </a:r>
            <a:r>
              <a:rPr>
                <a:solidFill>
                  <a:srgbClr val="009193"/>
                </a:solidFill>
              </a:rPr>
              <a:t>P</a:t>
            </a:r>
            <a:r>
              <a:t>lanations</a:t>
            </a:r>
          </a:p>
        </p:txBody>
      </p: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In 2017, Lundberg and Lee extended the idea of Shapley values to explainable machine learning">
            <a:extLst>
              <a:ext uri="{FF2B5EF4-FFF2-40B4-BE49-F238E27FC236}">
                <a16:creationId xmlns:a16="http://schemas.microsoft.com/office/drawing/2014/main" id="{EEB60F43-4AA8-5D1B-1CC9-B6B5FFC1AA73}"/>
              </a:ext>
            </a:extLst>
          </p:cNvPr>
          <p:cNvSpPr txBox="1">
            <a:spLocks noGrp="1" noChangeArrowheads="1"/>
          </p:cNvSpPr>
          <p:nvPr>
            <p:ph type="body" sz="quarter" idx="1"/>
          </p:nvPr>
        </p:nvSpPr>
        <p:spPr>
          <a:xfrm>
            <a:off x="698500" y="1924050"/>
            <a:ext cx="11607800" cy="1468438"/>
          </a:xfrm>
        </p:spPr>
        <p:txBody>
          <a:bodyPr/>
          <a:lstStyle/>
          <a:p>
            <a:pPr eaLnBrk="1" hangingPunct="1"/>
            <a:r>
              <a:rPr lang="en-US" altLang="en-US"/>
              <a:t>In 2017, Lundberg and Lee extended the idea of Shapley values to explainable machine learning</a:t>
            </a:r>
          </a:p>
        </p:txBody>
      </p:sp>
      <p:sp>
        <p:nvSpPr>
          <p:cNvPr id="375" name="Shapley applied to explainable AI">
            <a:extLst>
              <a:ext uri="{FF2B5EF4-FFF2-40B4-BE49-F238E27FC236}">
                <a16:creationId xmlns:a16="http://schemas.microsoft.com/office/drawing/2014/main" id="{93D76BF9-120A-8765-E78C-8E450454C55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 defTabSz="1525858">
              <a:defRPr sz="5280" spc="-105"/>
            </a:lvl1pPr>
          </a:lstStyle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t>Shapley applied to explainable AI</a:t>
            </a:r>
          </a:p>
        </p:txBody>
      </p:sp>
      <p:pic>
        <p:nvPicPr>
          <p:cNvPr id="28676" name="Image" descr="Image">
            <a:extLst>
              <a:ext uri="{FF2B5EF4-FFF2-40B4-BE49-F238E27FC236}">
                <a16:creationId xmlns:a16="http://schemas.microsoft.com/office/drawing/2014/main" id="{0162437B-0025-13B1-8BBC-62C60996C0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11525" y="3257550"/>
            <a:ext cx="6381750" cy="6294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SHAP">
            <a:extLst>
              <a:ext uri="{FF2B5EF4-FFF2-40B4-BE49-F238E27FC236}">
                <a16:creationId xmlns:a16="http://schemas.microsoft.com/office/drawing/2014/main" id="{142A0091-2B8D-9E62-CA16-6785A56623AF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 defTabSz="1525858">
              <a:defRPr sz="5280" spc="-105"/>
            </a:lvl1pPr>
          </a:lstStyle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t>SHAP</a:t>
            </a:r>
          </a:p>
        </p:txBody>
      </p:sp>
      <p:sp>
        <p:nvSpPr>
          <p:cNvPr id="29700" name="Rectangle">
            <a:extLst>
              <a:ext uri="{FF2B5EF4-FFF2-40B4-BE49-F238E27FC236}">
                <a16:creationId xmlns:a16="http://schemas.microsoft.com/office/drawing/2014/main" id="{F9F5DF70-82C6-1DF4-8AA1-365A67943C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96263" y="4263232"/>
            <a:ext cx="2257425" cy="2760662"/>
          </a:xfrm>
          <a:prstGeom prst="rect">
            <a:avLst/>
          </a:prstGeom>
          <a:noFill/>
          <a:ln w="63500">
            <a:solidFill>
              <a:srgbClr val="000000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50800" tIns="50800" rIns="50800" bIns="50800" anchor="ctr"/>
          <a:lstStyle>
            <a:lvl1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  <a:lvl2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2pPr>
            <a:lvl3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3pPr>
            <a:lvl4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4pPr>
            <a:lvl5pPr defTabSz="584200"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5pPr>
            <a:lvl6pPr marL="4572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6pPr>
            <a:lvl7pPr marL="9144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7pPr>
            <a:lvl8pPr marL="13716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8pPr>
            <a:lvl9pPr marL="1828800" indent="1828800" defTabSz="5842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9pPr>
          </a:lstStyle>
          <a:p>
            <a:pPr algn="ctr" eaLnBrk="1"/>
            <a:endParaRPr lang="en-US" altLang="en-US" sz="220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pic>
        <p:nvPicPr>
          <p:cNvPr id="29705" name="Line Line" descr="Line Line">
            <a:extLst>
              <a:ext uri="{FF2B5EF4-FFF2-40B4-BE49-F238E27FC236}">
                <a16:creationId xmlns:a16="http://schemas.microsoft.com/office/drawing/2014/main" id="{DADC6EAA-0328-32CA-880B-00092DABD622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11738" y="5335588"/>
            <a:ext cx="1909762" cy="333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9706" name="Example: Prediction">
            <a:extLst>
              <a:ext uri="{FF2B5EF4-FFF2-40B4-BE49-F238E27FC236}">
                <a16:creationId xmlns:a16="http://schemas.microsoft.com/office/drawing/2014/main" id="{9A4B16A3-01A1-E7AE-D2D1-F53C37E6C0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213726" y="7108825"/>
            <a:ext cx="3114675" cy="444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>
            <a:spAutoFit/>
          </a:bodyPr>
          <a:lstStyle/>
          <a:p>
            <a:pPr eaLnBrk="1"/>
            <a:r>
              <a:rPr lang="en-US" altLang="en-US" sz="2000" dirty="0"/>
              <a:t>Example: Prediction </a:t>
            </a:r>
          </a:p>
        </p:txBody>
      </p:sp>
      <p:sp>
        <p:nvSpPr>
          <p:cNvPr id="29707" name="Example: ML Blackbox model">
            <a:extLst>
              <a:ext uri="{FF2B5EF4-FFF2-40B4-BE49-F238E27FC236}">
                <a16:creationId xmlns:a16="http://schemas.microsoft.com/office/drawing/2014/main" id="{F08D48B6-38BC-2468-2DB2-0D82408716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56138" y="5781675"/>
            <a:ext cx="3113087" cy="787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>
            <a:spAutoFit/>
          </a:bodyPr>
          <a:lstStyle/>
          <a:p>
            <a:pPr eaLnBrk="1"/>
            <a:r>
              <a:rPr lang="en-US" altLang="en-US" sz="2000"/>
              <a:t>Example: ML Blackbox model </a:t>
            </a:r>
          </a:p>
        </p:txBody>
      </p:sp>
      <p:sp>
        <p:nvSpPr>
          <p:cNvPr id="29708" name="Example: Features">
            <a:extLst>
              <a:ext uri="{FF2B5EF4-FFF2-40B4-BE49-F238E27FC236}">
                <a16:creationId xmlns:a16="http://schemas.microsoft.com/office/drawing/2014/main" id="{75AFB633-61CC-6E21-044D-CEFA0E2F26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0" y="8724900"/>
            <a:ext cx="2320925" cy="444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>
            <a:spAutoFit/>
          </a:bodyPr>
          <a:lstStyle/>
          <a:p>
            <a:pPr eaLnBrk="1"/>
            <a:r>
              <a:rPr lang="en-US" altLang="en-US" sz="2000"/>
              <a:t>Example: Features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E835346-93E0-F3A7-E8EC-277A471ED9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1549" y="2538579"/>
            <a:ext cx="1577594" cy="5594018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(Slightly different meaning than the mathematical consistency property)…">
            <a:extLst>
              <a:ext uri="{FF2B5EF4-FFF2-40B4-BE49-F238E27FC236}">
                <a16:creationId xmlns:a16="http://schemas.microsoft.com/office/drawing/2014/main" id="{0AD86FC0-EDF5-B9C7-7859-87BD93A609E2}"/>
              </a:ext>
            </a:extLst>
          </p:cNvPr>
          <p:cNvSpPr txBox="1">
            <a:spLocks noGrp="1" noRot="1" noChangeAspect="1" noMove="1" noResize="1" noEditPoints="1" noAdjustHandles="1" noChangeArrowheads="1" noChangeShapeType="1" noTextEdit="1"/>
          </p:cNvSpPr>
          <p:nvPr>
            <p:ph type="body" idx="1"/>
          </p:nvPr>
        </p:nvSpPr>
        <p:spPr>
          <a:xfrm>
            <a:off x="698500" y="1924756"/>
            <a:ext cx="11607800" cy="7640537"/>
          </a:xfrm>
          <a:blipFill>
            <a:blip r:embed="rId2"/>
            <a:stretch>
              <a:fillRect l="-1313" t="-1516" r="-1471"/>
            </a:stretch>
          </a:blipFill>
          <a:ln w="12700">
            <a:miter lim="400000"/>
          </a:ln>
        </p:spPr>
        <p:txBody>
          <a:bodyPr/>
          <a:lstStyle/>
          <a:p>
            <a:r>
              <a:rPr lang="en-US">
                <a:noFill/>
              </a:rPr>
              <a:t> </a:t>
            </a:r>
          </a:p>
        </p:txBody>
      </p:sp>
      <p:sp>
        <p:nvSpPr>
          <p:cNvPr id="412" name="SHapley Additive exPlanations">
            <a:extLst>
              <a:ext uri="{FF2B5EF4-FFF2-40B4-BE49-F238E27FC236}">
                <a16:creationId xmlns:a16="http://schemas.microsoft.com/office/drawing/2014/main" id="{85A60CAC-C6BB-8DC5-55EC-63B6703D4A80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defTabSz="1265768" eaLnBrk="1" fontAlgn="auto" hangingPunct="1">
              <a:spcBef>
                <a:spcPts val="0"/>
              </a:spcBef>
              <a:spcAft>
                <a:spcPts val="0"/>
              </a:spcAft>
              <a:defRPr sz="5986" spc="-119"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rPr sz="5986">
                <a:solidFill>
                  <a:srgbClr val="009193"/>
                </a:solidFill>
                <a:latin typeface="Helvetica Neue UltraLight"/>
                <a:ea typeface="Helvetica Neue UltraLight"/>
                <a:cs typeface="Helvetica Neue UltraLight"/>
                <a:sym typeface="Helvetica Neue UltraLight"/>
              </a:rPr>
              <a:t>SH</a:t>
            </a:r>
            <a:r>
              <a:rPr sz="5986">
                <a:latin typeface="Helvetica Neue UltraLight"/>
                <a:ea typeface="Helvetica Neue UltraLight"/>
                <a:cs typeface="Helvetica Neue UltraLight"/>
                <a:sym typeface="Helvetica Neue UltraLight"/>
              </a:rPr>
              <a:t>apley</a:t>
            </a:r>
            <a:r>
              <a:rPr sz="5986">
                <a:latin typeface="Helvetica Neue Medium"/>
                <a:ea typeface="Helvetica Neue Medium"/>
                <a:cs typeface="Helvetica Neue Medium"/>
                <a:sym typeface="Helvetica Neue Medium"/>
              </a:rPr>
              <a:t> </a:t>
            </a:r>
            <a:r>
              <a:rPr sz="5986" b="1">
                <a:solidFill>
                  <a:srgbClr val="009193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</a:t>
            </a:r>
            <a:r>
              <a:rPr sz="5986" b="1">
                <a:latin typeface="Helvetica Neue"/>
                <a:ea typeface="Helvetica Neue"/>
                <a:cs typeface="Helvetica Neue"/>
                <a:sym typeface="Helvetica Neue"/>
              </a:rPr>
              <a:t>dditive</a:t>
            </a:r>
            <a:r>
              <a:rPr sz="5986">
                <a:latin typeface="Helvetica Neue Medium"/>
                <a:ea typeface="Helvetica Neue Medium"/>
                <a:cs typeface="Helvetica Neue Medium"/>
                <a:sym typeface="Helvetica Neue Medium"/>
              </a:rPr>
              <a:t> </a:t>
            </a:r>
            <a:r>
              <a:rPr sz="5986">
                <a:latin typeface="Helvetica Neue UltraLight"/>
                <a:ea typeface="Helvetica Neue UltraLight"/>
                <a:cs typeface="Helvetica Neue UltraLight"/>
                <a:sym typeface="Helvetica Neue UltraLight"/>
              </a:rPr>
              <a:t>ex</a:t>
            </a:r>
            <a:r>
              <a:rPr sz="5986">
                <a:solidFill>
                  <a:srgbClr val="009193"/>
                </a:solidFill>
                <a:latin typeface="Helvetica Neue UltraLight"/>
                <a:ea typeface="Helvetica Neue UltraLight"/>
                <a:cs typeface="Helvetica Neue UltraLight"/>
                <a:sym typeface="Helvetica Neue UltraLight"/>
              </a:rPr>
              <a:t>P</a:t>
            </a:r>
            <a:r>
              <a:rPr sz="5986">
                <a:latin typeface="Helvetica Neue UltraLight"/>
                <a:ea typeface="Helvetica Neue UltraLight"/>
                <a:cs typeface="Helvetica Neue UltraLight"/>
                <a:sym typeface="Helvetica Neue UltraLight"/>
              </a:rPr>
              <a:t>lanations</a:t>
            </a:r>
          </a:p>
        </p:txBody>
      </p:sp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SHAP values">
            <a:extLst>
              <a:ext uri="{FF2B5EF4-FFF2-40B4-BE49-F238E27FC236}">
                <a16:creationId xmlns:a16="http://schemas.microsoft.com/office/drawing/2014/main" id="{0FE4F370-708F-F2D5-F7D3-E425ED11E61B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 defTabSz="1525858">
              <a:defRPr sz="5280" spc="-105"/>
            </a:lvl1pPr>
          </a:lstStyle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t>SHAP values </a:t>
            </a:r>
          </a:p>
        </p:txBody>
      </p:sp>
      <p:sp>
        <p:nvSpPr>
          <p:cNvPr id="397" name="is the set of all features…">
            <a:extLst>
              <a:ext uri="{FF2B5EF4-FFF2-40B4-BE49-F238E27FC236}">
                <a16:creationId xmlns:a16="http://schemas.microsoft.com/office/drawing/2014/main" id="{3DC807C7-B37B-A2AF-ACD1-D195F077F726}"/>
              </a:ext>
            </a:extLst>
          </p:cNvPr>
          <p:cNvSpPr txBox="1">
            <a:spLocks noRot="1" noChangeAspect="1" noMove="1" noResize="1" noEditPoints="1" noAdjustHandles="1" noChangeArrowheads="1" noChangeShapeType="1" noTextEdit="1"/>
          </p:cNvSpPr>
          <p:nvPr/>
        </p:nvSpPr>
        <p:spPr>
          <a:xfrm>
            <a:off x="698500" y="4202239"/>
            <a:ext cx="11607800" cy="4844557"/>
          </a:xfrm>
          <a:prstGeom prst="rect">
            <a:avLst/>
          </a:prstGeom>
          <a:blipFill>
            <a:blip r:embed="rId3"/>
            <a:stretch>
              <a:fillRect l="-1313" t="-1887"/>
            </a:stretch>
          </a:blipFill>
          <a:ln w="12700">
            <a:miter lim="400000"/>
          </a:ln>
        </p:spPr>
        <p:txBody>
          <a:bodyPr/>
          <a:lstStyle/>
          <a:p>
            <a:r>
              <a:rPr lang="en-US">
                <a:noFill/>
              </a:rPr>
              <a:t> 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8FCB870-934A-1EE5-085C-40704E30B359}"/>
                  </a:ext>
                </a:extLst>
              </p:cNvPr>
              <p:cNvSpPr txBox="1"/>
              <p:nvPr/>
            </p:nvSpPr>
            <p:spPr>
              <a:xfrm>
                <a:off x="1663700" y="1841506"/>
                <a:ext cx="9969500" cy="1974964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sp3d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US" dirty="0">
                    <a:solidFill>
                      <a:schemeClr val="tx1">
                        <a:lumMod val="50000"/>
                      </a:schemeClr>
                    </a:solidFill>
                  </a:rPr>
                  <a:t>For a given input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solidFill>
                      <a:schemeClr val="tx1">
                        <a:lumMod val="50000"/>
                      </a:schemeClr>
                    </a:solidFill>
                  </a:rPr>
                  <a:t>, the SHAP value for feature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dirty="0">
                    <a:solidFill>
                      <a:schemeClr val="tx1">
                        <a:lumMod val="50000"/>
                      </a:schemeClr>
                    </a:solidFill>
                  </a:rPr>
                  <a:t> is:</a:t>
                </a: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ar-AE" i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grow m:val="on"/>
                          <m:supHide m:val="on"/>
                          <m:ctrlPr>
                            <a:rPr lang="ar-AE" i="1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 i="1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ar-AE" i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⊆</m:t>
                          </m:r>
                          <m:r>
                            <a:rPr lang="ar-AE" i="1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ar-AE" i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∖</m:t>
                          </m:r>
                          <m:d>
                            <m:dPr>
                              <m:begChr m:val="{"/>
                              <m:endChr m:val="}"/>
                              <m:ctrlPr>
                                <a:rPr lang="ar-AE" i="1">
                                  <a:solidFill>
                                    <a:schemeClr val="tx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e>
                          </m:d>
                        </m:sub>
                        <m:sup/>
                        <m:e>
                          <m:f>
                            <m:fPr>
                              <m:ctrlPr>
                                <a:rPr lang="ar-AE" i="1">
                                  <a:solidFill>
                                    <a:schemeClr val="tx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0" smtClean="0">
                                  <a:solidFill>
                                    <a:schemeClr val="tx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chemeClr val="tx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  <m:r>
                                <a:rPr lang="en-US" b="0" i="0" smtClean="0">
                                  <a:solidFill>
                                    <a:schemeClr val="tx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|!</m:t>
                              </m:r>
                              <m:d>
                                <m:dPr>
                                  <m:ctrlPr>
                                    <a:rPr lang="ar-AE" i="1">
                                      <a:solidFill>
                                        <a:schemeClr val="tx1">
                                          <a:lumMod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i="1">
                                      <a:solidFill>
                                        <a:schemeClr val="tx1">
                                          <a:lumMod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ar-AE" i="0">
                                      <a:solidFill>
                                        <a:schemeClr val="tx1">
                                          <a:lumMod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b="0" i="0" smtClean="0">
                                      <a:solidFill>
                                        <a:schemeClr val="tx1">
                                          <a:lumMod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solidFill>
                                        <a:schemeClr val="tx1">
                                          <a:lumMod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S</m:t>
                                  </m:r>
                                  <m:r>
                                    <a:rPr lang="en-US" b="0" i="0" smtClean="0">
                                      <a:solidFill>
                                        <a:schemeClr val="tx1">
                                          <a:lumMod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|−</m:t>
                                  </m:r>
                                  <m:r>
                                    <a:rPr lang="ar-AE" i="0">
                                      <a:solidFill>
                                        <a:schemeClr val="tx1">
                                          <a:lumMod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  <m:r>
                                <a:rPr lang="ar-AE" i="0">
                                  <a:solidFill>
                                    <a:schemeClr val="tx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!</m:t>
                              </m:r>
                            </m:num>
                            <m:den>
                              <m:r>
                                <a:rPr lang="ar-AE" i="1">
                                  <a:solidFill>
                                    <a:schemeClr val="tx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ar-AE" i="0">
                                  <a:solidFill>
                                    <a:schemeClr val="tx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!</m:t>
                              </m:r>
                            </m:den>
                          </m:f>
                        </m:e>
                      </m:nary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i="1">
                                  <a:solidFill>
                                    <a:schemeClr val="tx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solidFill>
                                    <a:schemeClr val="tx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ar-AE" i="1">
                                  <a:solidFill>
                                    <a:schemeClr val="tx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solidFill>
                                    <a:schemeClr val="tx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solidFill>
                                    <a:schemeClr val="tx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  <m:r>
                                <a:rPr lang="ar-AE" i="0">
                                  <a:solidFill>
                                    <a:schemeClr val="tx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∪</m:t>
                              </m:r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ar-AE" i="1">
                                      <a:solidFill>
                                        <a:schemeClr val="tx1">
                                          <a:lumMod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e>
                              </m:d>
                            </m:e>
                          </m:d>
                          <m:r>
                            <a:rPr lang="ar-AE" i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ar-AE" i="1">
                                  <a:solidFill>
                                    <a:schemeClr val="tx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solidFill>
                                    <a:schemeClr val="tx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ar-AE" i="1">
                                  <a:solidFill>
                                    <a:schemeClr val="tx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solidFill>
                                    <a:schemeClr val="tx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solidFill>
                                    <a:schemeClr val="tx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ar-AE" dirty="0">
                  <a:solidFill>
                    <a:schemeClr val="tx1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8FCB870-934A-1EE5-085C-40704E30B3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3700" y="1841506"/>
                <a:ext cx="9969500" cy="1974964"/>
              </a:xfrm>
              <a:prstGeom prst="rect">
                <a:avLst/>
              </a:prstGeom>
              <a:blipFill>
                <a:blip r:embed="rId4"/>
                <a:stretch>
                  <a:fillRect l="-1284" t="-2778"/>
                </a:stretch>
              </a:blipFill>
              <a:ln w="12700" cap="flat">
                <a:noFill/>
                <a:miter lim="400000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1746" name="These properties are directly derived from the axioms of Shapley values in cooperative game theory…">
                <a:extLst>
                  <a:ext uri="{FF2B5EF4-FFF2-40B4-BE49-F238E27FC236}">
                    <a16:creationId xmlns:a16="http://schemas.microsoft.com/office/drawing/2014/main" id="{5507457D-E881-E3C3-F75E-2164963173DC}"/>
                  </a:ext>
                </a:extLst>
              </p:cNvPr>
              <p:cNvSpPr txBox="1">
                <a:spLocks noGrp="1" noChangeArrowheads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eaLnBrk="1" hangingPunct="1"/>
                <a:r>
                  <a:rPr lang="en-US" altLang="en-US" dirty="0"/>
                  <a:t>These properties are directly derived from the axioms of Shapley values in cooperative game theory</a:t>
                </a:r>
              </a:p>
              <a:p>
                <a:pPr marL="1016000" lvl="1" eaLnBrk="1" hangingPunct="1"/>
                <a:r>
                  <a:rPr lang="en-US" altLang="en-US" dirty="0"/>
                  <a:t>Efficiency (sum to model output)</a:t>
                </a:r>
              </a:p>
              <a:p>
                <a:pPr marL="1016000" lvl="1" eaLnBrk="1" hangingPunct="1"/>
                <a:r>
                  <a:rPr lang="en-US" altLang="en-US" dirty="0"/>
                  <a:t>Symmetry (fairness)                        if features </a:t>
                </a:r>
                <a14:m>
                  <m:oMath xmlns:m="http://schemas.openxmlformats.org/officeDocument/2006/math">
                    <m:r>
                      <a:rPr lang="en-US" altLang="en-US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altLang="en-US" dirty="0"/>
                  <a:t>, </a:t>
                </a:r>
                <a14:m>
                  <m:oMath xmlns:m="http://schemas.openxmlformats.org/officeDocument/2006/math">
                    <m:r>
                      <a:rPr lang="en-US" altLang="en-US" i="1" dirty="0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altLang="en-US" dirty="0"/>
                  <a:t> contribute equally</a:t>
                </a:r>
              </a:p>
              <a:p>
                <a:pPr marL="1016000" lvl="1" eaLnBrk="1" hangingPunct="1"/>
                <a:r>
                  <a:rPr lang="en-US" altLang="en-US" dirty="0"/>
                  <a:t>Additivity (consistency)</a:t>
                </a:r>
              </a:p>
              <a:p>
                <a:pPr eaLnBrk="1" hangingPunct="1"/>
                <a:r>
                  <a:rPr lang="en-US" altLang="en-US" dirty="0"/>
                  <a:t>SHAP is the only feature attribution method that satisfies these properties</a:t>
                </a:r>
              </a:p>
              <a:p>
                <a:pPr marL="1016000" lvl="1" eaLnBrk="1" hangingPunct="1"/>
                <a:r>
                  <a:rPr lang="en-US" altLang="en-US" dirty="0"/>
                  <a:t>Mathematically justifies and makes SHAP more trustworthy compared to other methods</a:t>
                </a:r>
              </a:p>
            </p:txBody>
          </p:sp>
        </mc:Choice>
        <mc:Fallback xmlns="">
          <p:sp>
            <p:nvSpPr>
              <p:cNvPr id="31746" name="These properties are directly derived from the axioms of Shapley values in cooperative game theory…">
                <a:extLst>
                  <a:ext uri="{FF2B5EF4-FFF2-40B4-BE49-F238E27FC236}">
                    <a16:creationId xmlns:a16="http://schemas.microsoft.com/office/drawing/2014/main" id="{5507457D-E881-E3C3-F75E-2164963173DC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 l="-1313" t="-1596" r="-18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0" name="Properties of SHAP">
            <a:extLst>
              <a:ext uri="{FF2B5EF4-FFF2-40B4-BE49-F238E27FC236}">
                <a16:creationId xmlns:a16="http://schemas.microsoft.com/office/drawing/2014/main" id="{F91E8899-6806-DC6C-2BDE-681549FA8B82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 defTabSz="1525858">
              <a:defRPr sz="5280" spc="-105"/>
            </a:lvl1pPr>
          </a:lstStyle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dirty="0"/>
              <a:t>Properties of SHAP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BA512EB-DC02-03E6-EBA2-21C5251FEA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4776" y="2870201"/>
            <a:ext cx="4307147" cy="104495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D37F681-0857-177A-FDEA-A7E19C2AF0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3339" y="3915157"/>
            <a:ext cx="1541562" cy="572579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The sum of all SHAP values for a given instances equals the difference between the model’s prediction and the baseline expectation…">
            <a:extLst>
              <a:ext uri="{FF2B5EF4-FFF2-40B4-BE49-F238E27FC236}">
                <a16:creationId xmlns:a16="http://schemas.microsoft.com/office/drawing/2014/main" id="{7C4A8073-D882-642C-D328-E60B750E7F54}"/>
              </a:ext>
            </a:extLst>
          </p:cNvPr>
          <p:cNvSpPr txBox="1">
            <a:spLocks noGrp="1" noRot="1" noChangeAspect="1" noMove="1" noResize="1" noEditPoints="1" noAdjustHandles="1" noChangeArrowheads="1" noChangeShapeType="1" noTextEdit="1"/>
          </p:cNvSpPr>
          <p:nvPr>
            <p:ph type="body" idx="1"/>
          </p:nvPr>
        </p:nvSpPr>
        <p:spPr>
          <a:xfrm>
            <a:off x="698500" y="1924756"/>
            <a:ext cx="11607800" cy="7640537"/>
          </a:xfrm>
          <a:blipFill>
            <a:blip r:embed="rId2"/>
            <a:stretch>
              <a:fillRect r="-893"/>
            </a:stretch>
          </a:blipFill>
          <a:ln w="12700">
            <a:miter lim="400000"/>
          </a:ln>
        </p:spPr>
        <p:txBody>
          <a:bodyPr/>
          <a:lstStyle/>
          <a:p>
            <a:r>
              <a:rPr lang="en-US">
                <a:noFill/>
              </a:rPr>
              <a:t> </a:t>
            </a:r>
          </a:p>
        </p:txBody>
      </p:sp>
      <p:sp>
        <p:nvSpPr>
          <p:cNvPr id="403" name="Properties of SHAP: Efficiency">
            <a:extLst>
              <a:ext uri="{FF2B5EF4-FFF2-40B4-BE49-F238E27FC236}">
                <a16:creationId xmlns:a16="http://schemas.microsoft.com/office/drawing/2014/main" id="{AD9DAC8A-3BCA-63F7-8C78-CF30D13FF15C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 defTabSz="1525858">
              <a:defRPr sz="5280" spc="-105"/>
            </a:lvl1pPr>
          </a:lstStyle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t>Properties of SHAP: Efficiency </a:t>
            </a:r>
          </a:p>
        </p:txBody>
      </p:sp>
    </p:spTree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If   for all  , then…">
            <a:extLst>
              <a:ext uri="{FF2B5EF4-FFF2-40B4-BE49-F238E27FC236}">
                <a16:creationId xmlns:a16="http://schemas.microsoft.com/office/drawing/2014/main" id="{BFB9C5D9-9901-5A93-6D3E-0CCB33500500}"/>
              </a:ext>
            </a:extLst>
          </p:cNvPr>
          <p:cNvSpPr txBox="1">
            <a:spLocks noGrp="1" noRot="1" noChangeAspect="1" noMove="1" noResize="1" noEditPoints="1" noAdjustHandles="1" noChangeArrowheads="1" noChangeShapeType="1" noTextEdit="1"/>
          </p:cNvSpPr>
          <p:nvPr>
            <p:ph type="body" idx="1"/>
          </p:nvPr>
        </p:nvSpPr>
        <p:spPr>
          <a:xfrm>
            <a:off x="698500" y="1949480"/>
            <a:ext cx="11607800" cy="7640537"/>
          </a:xfrm>
          <a:blipFill>
            <a:blip r:embed="rId2"/>
            <a:stretch>
              <a:fillRect l="-1313" t="-958"/>
            </a:stretch>
          </a:blipFill>
          <a:ln w="12700">
            <a:miter lim="400000"/>
          </a:ln>
        </p:spPr>
        <p:txBody>
          <a:bodyPr/>
          <a:lstStyle/>
          <a:p>
            <a:r>
              <a:rPr lang="en-US">
                <a:noFill/>
              </a:rPr>
              <a:t> </a:t>
            </a:r>
          </a:p>
        </p:txBody>
      </p:sp>
      <p:sp>
        <p:nvSpPr>
          <p:cNvPr id="406" name="Properties of SHAP: Symmetry">
            <a:extLst>
              <a:ext uri="{FF2B5EF4-FFF2-40B4-BE49-F238E27FC236}">
                <a16:creationId xmlns:a16="http://schemas.microsoft.com/office/drawing/2014/main" id="{1CBB646A-C0FE-E2B5-6B9A-2C69472A4052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 defTabSz="1525858">
              <a:defRPr sz="5280" spc="-105"/>
            </a:lvl1pPr>
          </a:lstStyle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t>Properties of SHAP: Symmetry </a:t>
            </a:r>
          </a:p>
        </p:txBody>
      </p:sp>
    </p:spTree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Mathematical Consistency…">
            <a:extLst>
              <a:ext uri="{FF2B5EF4-FFF2-40B4-BE49-F238E27FC236}">
                <a16:creationId xmlns:a16="http://schemas.microsoft.com/office/drawing/2014/main" id="{17D17AD3-92DB-3929-792B-1A3084E8B6B1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>
          <a:xfrm>
            <a:off x="698500" y="1949450"/>
            <a:ext cx="11607800" cy="7640638"/>
          </a:xfrm>
        </p:spPr>
        <p:txBody>
          <a:bodyPr/>
          <a:lstStyle/>
          <a:p>
            <a:pPr eaLnBrk="1" hangingPunct="1"/>
            <a:r>
              <a:rPr lang="en-US" altLang="en-US"/>
              <a:t>Mathematical Consistency</a:t>
            </a:r>
          </a:p>
          <a:p>
            <a:pPr marL="1016000" lvl="1" eaLnBrk="1" hangingPunct="1"/>
            <a:r>
              <a:rPr lang="en-US" altLang="en-US"/>
              <a:t>If a model changes to depend more on a feature, the SHAP value for that feature should not decrease</a:t>
            </a:r>
          </a:p>
          <a:p>
            <a:pPr marL="1016000" lvl="1" eaLnBrk="1" hangingPunct="1"/>
            <a:r>
              <a:rPr lang="en-US" altLang="en-US"/>
              <a:t>This ensure that SHAP values are consistent across different models</a:t>
            </a:r>
          </a:p>
        </p:txBody>
      </p:sp>
      <p:sp>
        <p:nvSpPr>
          <p:cNvPr id="409" name="Properties of SHAP: Additivity">
            <a:extLst>
              <a:ext uri="{FF2B5EF4-FFF2-40B4-BE49-F238E27FC236}">
                <a16:creationId xmlns:a16="http://schemas.microsoft.com/office/drawing/2014/main" id="{AA3933B7-BAB7-452E-3CF0-6C6C5C95DDC3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 defTabSz="1525858">
              <a:defRPr sz="5280" spc="-105"/>
            </a:lvl1pPr>
          </a:lstStyle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t>Properties of SHAP: Additivity </a:t>
            </a:r>
          </a:p>
        </p:txBody>
      </p:sp>
    </p:spTree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Kernel SHAP (slow but model agnostic)…">
            <a:extLst>
              <a:ext uri="{FF2B5EF4-FFF2-40B4-BE49-F238E27FC236}">
                <a16:creationId xmlns:a16="http://schemas.microsoft.com/office/drawing/2014/main" id="{8699129B-C30E-F2CC-A800-7E7101B2B5C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98500" y="1801813"/>
            <a:ext cx="11607800" cy="7640637"/>
          </a:xfrm>
        </p:spPr>
        <p:txBody>
          <a:bodyPr>
            <a:normAutofit/>
          </a:bodyPr>
          <a:lstStyle/>
          <a:p>
            <a:pPr marL="365759" indent="-365759" defTabSz="1664572" eaLnBrk="1" fontAlgn="auto" hangingPunct="1">
              <a:spcBef>
                <a:spcPts val="3000"/>
              </a:spcBef>
              <a:spcAft>
                <a:spcPts val="0"/>
              </a:spcAft>
              <a:defRPr sz="2880"/>
            </a:pPr>
            <a:r>
              <a:rPr sz="2880"/>
              <a:t>Kernel SHAP </a:t>
            </a:r>
            <a:r>
              <a:rPr sz="2880" i="1">
                <a:latin typeface="Avenir Next Ultra Light"/>
                <a:ea typeface="Avenir Next Ultra Light"/>
                <a:cs typeface="Avenir Next Ultra Light"/>
                <a:sym typeface="Avenir Next Ultra Light"/>
              </a:rPr>
              <a:t>(slow but model agnostic)</a:t>
            </a:r>
          </a:p>
          <a:p>
            <a:pPr marL="975359" lvl="1" indent="-365759" defTabSz="1664572" eaLnBrk="1" fontAlgn="auto" hangingPunct="1">
              <a:spcBef>
                <a:spcPts val="3000"/>
              </a:spcBef>
              <a:spcAft>
                <a:spcPts val="0"/>
              </a:spcAft>
              <a:defRPr sz="2880"/>
            </a:pPr>
            <a:r>
              <a:rPr sz="2880"/>
              <a:t>Works for any model</a:t>
            </a:r>
          </a:p>
          <a:p>
            <a:pPr marL="975359" lvl="1" indent="-365759" defTabSz="1664572" eaLnBrk="1" fontAlgn="auto" hangingPunct="1">
              <a:spcBef>
                <a:spcPts val="3000"/>
              </a:spcBef>
              <a:spcAft>
                <a:spcPts val="0"/>
              </a:spcAft>
              <a:defRPr sz="2880"/>
            </a:pPr>
            <a:r>
              <a:rPr sz="2880"/>
              <a:t>Uses random sampling and wtd regression to estimate values</a:t>
            </a:r>
          </a:p>
          <a:p>
            <a:pPr marL="365759" indent="-365759" defTabSz="1664572" eaLnBrk="1" fontAlgn="auto" hangingPunct="1">
              <a:spcBef>
                <a:spcPts val="3000"/>
              </a:spcBef>
              <a:spcAft>
                <a:spcPts val="0"/>
              </a:spcAft>
              <a:defRPr sz="2880"/>
            </a:pPr>
            <a:r>
              <a:rPr sz="2880"/>
              <a:t>Tree SHAP </a:t>
            </a:r>
            <a:r>
              <a:rPr sz="2880" i="1">
                <a:latin typeface="Avenir Next Ultra Light"/>
                <a:ea typeface="Avenir Next Ultra Light"/>
                <a:cs typeface="Avenir Next Ultra Light"/>
                <a:sym typeface="Avenir Next Ultra Light"/>
              </a:rPr>
              <a:t>(fast but only works for tree based models)</a:t>
            </a:r>
          </a:p>
          <a:p>
            <a:pPr marL="975359" lvl="1" indent="-365759" defTabSz="1664572" eaLnBrk="1" fontAlgn="auto" hangingPunct="1">
              <a:spcBef>
                <a:spcPts val="3000"/>
              </a:spcBef>
              <a:spcAft>
                <a:spcPts val="0"/>
              </a:spcAft>
              <a:defRPr sz="2880"/>
            </a:pPr>
            <a:r>
              <a:rPr sz="2880"/>
              <a:t>Optimized for tree models (RF, Boosting)</a:t>
            </a:r>
          </a:p>
          <a:p>
            <a:pPr marL="975359" lvl="1" indent="-365759" defTabSz="1664572" eaLnBrk="1" fontAlgn="auto" hangingPunct="1">
              <a:spcBef>
                <a:spcPts val="3000"/>
              </a:spcBef>
              <a:spcAft>
                <a:spcPts val="0"/>
              </a:spcAft>
              <a:defRPr sz="2880"/>
            </a:pPr>
            <a:r>
              <a:rPr sz="2880"/>
              <a:t>Uses dynamic programming to compute SHAP value exactly</a:t>
            </a:r>
          </a:p>
          <a:p>
            <a:pPr marL="365759" indent="-365759" defTabSz="1664572" eaLnBrk="1" fontAlgn="auto" hangingPunct="1">
              <a:spcBef>
                <a:spcPts val="3000"/>
              </a:spcBef>
              <a:spcAft>
                <a:spcPts val="0"/>
              </a:spcAft>
              <a:defRPr sz="2880"/>
            </a:pPr>
            <a:r>
              <a:rPr sz="2880"/>
              <a:t>Deep SHAP </a:t>
            </a:r>
            <a:r>
              <a:rPr sz="2880" i="1">
                <a:latin typeface="Avenir Next Ultra Light"/>
                <a:ea typeface="Avenir Next Ultra Light"/>
                <a:cs typeface="Avenir Next Ultra Light"/>
                <a:sym typeface="Avenir Next Ultra Light"/>
              </a:rPr>
              <a:t>(faster than kernel SHAP)</a:t>
            </a:r>
          </a:p>
          <a:p>
            <a:pPr marL="975359" lvl="1" indent="-365759" defTabSz="1664572" eaLnBrk="1" fontAlgn="auto" hangingPunct="1">
              <a:spcBef>
                <a:spcPts val="3000"/>
              </a:spcBef>
              <a:spcAft>
                <a:spcPts val="0"/>
              </a:spcAft>
              <a:defRPr sz="2880"/>
            </a:pPr>
            <a:r>
              <a:rPr sz="2880"/>
              <a:t>Optimized for neural networks</a:t>
            </a:r>
          </a:p>
          <a:p>
            <a:pPr marL="975359" lvl="1" indent="-365759" defTabSz="1664572" eaLnBrk="1" fontAlgn="auto" hangingPunct="1">
              <a:spcBef>
                <a:spcPts val="3000"/>
              </a:spcBef>
              <a:spcAft>
                <a:spcPts val="0"/>
              </a:spcAft>
              <a:defRPr sz="2880"/>
            </a:pPr>
            <a:r>
              <a:rPr sz="2880"/>
              <a:t>Uses back propagation and DeepLIFT to estimate SHAP values</a:t>
            </a:r>
          </a:p>
        </p:txBody>
      </p:sp>
      <p:sp>
        <p:nvSpPr>
          <p:cNvPr id="415" name="Types of SHAP">
            <a:extLst>
              <a:ext uri="{FF2B5EF4-FFF2-40B4-BE49-F238E27FC236}">
                <a16:creationId xmlns:a16="http://schemas.microsoft.com/office/drawing/2014/main" id="{ABB0ECB9-02FA-B4AA-CFDC-839A3DB262C5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 defTabSz="1525858">
              <a:defRPr sz="5280" spc="-105"/>
            </a:lvl1pPr>
          </a:lstStyle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t>Types of SHAP</a:t>
            </a:r>
          </a:p>
        </p:txBody>
      </p:sp>
    </p:spTree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SHAP is a local explanation technique…">
            <a:extLst>
              <a:ext uri="{FF2B5EF4-FFF2-40B4-BE49-F238E27FC236}">
                <a16:creationId xmlns:a16="http://schemas.microsoft.com/office/drawing/2014/main" id="{B07141FF-3A7B-2B95-C0B9-96D6FF0EE888}"/>
              </a:ext>
            </a:extLst>
          </p:cNvPr>
          <p:cNvSpPr txBox="1"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defTabSz="1733930" eaLnBrk="1" fontAlgn="auto" hangingPunct="1">
              <a:spcAft>
                <a:spcPts val="0"/>
              </a:spcAft>
              <a:defRPr/>
            </a:pPr>
            <a:r>
              <a:t>SHAP is a local explanation technique</a:t>
            </a:r>
          </a:p>
          <a:p>
            <a:pPr marL="1016000" lvl="1" defTabSz="1733930" eaLnBrk="1" fontAlgn="auto" hangingPunct="1">
              <a:spcAft>
                <a:spcPts val="0"/>
              </a:spcAft>
              <a:defRPr/>
            </a:pPr>
            <a:r>
              <a:t>Designed to explain how each feature contributes to the final prediction of</a:t>
            </a:r>
            <a:r>
              <a:rPr i="1">
                <a:latin typeface="+mn-lt"/>
                <a:ea typeface="+mn-ea"/>
                <a:cs typeface="+mn-cs"/>
                <a:sym typeface="Avenir Next Demi Bold"/>
              </a:rPr>
              <a:t> an individual prediction</a:t>
            </a:r>
          </a:p>
          <a:p>
            <a:pPr defTabSz="1733930" eaLnBrk="1" fontAlgn="auto" hangingPunct="1">
              <a:spcAft>
                <a:spcPts val="0"/>
              </a:spcAft>
              <a:defRPr/>
            </a:pPr>
            <a:r>
              <a:t>Global explanations can be computed by aggregation </a:t>
            </a:r>
          </a:p>
        </p:txBody>
      </p:sp>
      <p:sp>
        <p:nvSpPr>
          <p:cNvPr id="418" name="Local Explainability">
            <a:extLst>
              <a:ext uri="{FF2B5EF4-FFF2-40B4-BE49-F238E27FC236}">
                <a16:creationId xmlns:a16="http://schemas.microsoft.com/office/drawing/2014/main" id="{F104C0E3-3A20-6F08-F802-F52A0BCD682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 defTabSz="1525858">
              <a:defRPr sz="5280" spc="-105"/>
            </a:lvl1pPr>
          </a:lstStyle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t>Local Explainability </a:t>
            </a:r>
          </a:p>
        </p:txBody>
      </p:sp>
    </p:spTree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Example: Human- vs Natural-Started Fire">
            <a:extLst>
              <a:ext uri="{FF2B5EF4-FFF2-40B4-BE49-F238E27FC236}">
                <a16:creationId xmlns:a16="http://schemas.microsoft.com/office/drawing/2014/main" id="{4D7B8485-3169-640D-D4F2-47F418A08A25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defTabSz="173393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t>Example:</a:t>
            </a:r>
            <a:br/>
            <a:r>
              <a:rPr sz="7300" spc="-145">
                <a:latin typeface="Helvetica Neue Thin"/>
                <a:ea typeface="Helvetica Neue Thin"/>
                <a:cs typeface="Helvetica Neue Thin"/>
                <a:sym typeface="Helvetica Neue Thin"/>
              </a:rPr>
              <a:t>Human- vs Natural-Started Fire</a:t>
            </a:r>
          </a:p>
        </p:txBody>
      </p:sp>
    </p:spTree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Global Importances:">
            <a:extLst>
              <a:ext uri="{FF2B5EF4-FFF2-40B4-BE49-F238E27FC236}">
                <a16:creationId xmlns:a16="http://schemas.microsoft.com/office/drawing/2014/main" id="{05D0034F-2477-8743-CC1D-A7993F6F32C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3" y="163513"/>
            <a:ext cx="4240212" cy="1244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eaLnBrk="1"/>
            <a:r>
              <a:rPr lang="en-US" altLang="en-US" sz="3300" b="1">
                <a:solidFill>
                  <a:srgbClr val="000000"/>
                </a:solidFill>
              </a:rPr>
              <a:t>Global Importances:</a:t>
            </a:r>
            <a:br>
              <a:rPr lang="en-US" altLang="en-US" sz="3300" b="1">
                <a:solidFill>
                  <a:srgbClr val="000000"/>
                </a:solidFill>
              </a:rPr>
            </a:br>
            <a:endParaRPr lang="en-US" altLang="en-US" sz="3300" b="1">
              <a:solidFill>
                <a:srgbClr val="000000"/>
              </a:solidFill>
            </a:endParaRPr>
          </a:p>
        </p:txBody>
      </p:sp>
      <p:sp>
        <p:nvSpPr>
          <p:cNvPr id="39939" name="Mean absolute SHAP value over all the samples">
            <a:extLst>
              <a:ext uri="{FF2B5EF4-FFF2-40B4-BE49-F238E27FC236}">
                <a16:creationId xmlns:a16="http://schemas.microsoft.com/office/drawing/2014/main" id="{8B9E2C05-6B69-C5A3-3A9B-DBB2DA1815B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17638" y="1090613"/>
            <a:ext cx="9005887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>
            <a:spAutoFit/>
          </a:bodyPr>
          <a:lstStyle/>
          <a:p>
            <a:pPr eaLnBrk="1"/>
            <a:r>
              <a:rPr lang="en-US" altLang="en-US"/>
              <a:t>Mean absolute SHAP value over all the samples</a:t>
            </a:r>
          </a:p>
        </p:txBody>
      </p:sp>
      <p:pic>
        <p:nvPicPr>
          <p:cNvPr id="39940" name="pasted-movie.png" descr="pasted-movie.png">
            <a:extLst>
              <a:ext uri="{FF2B5EF4-FFF2-40B4-BE49-F238E27FC236}">
                <a16:creationId xmlns:a16="http://schemas.microsoft.com/office/drawing/2014/main" id="{764869F6-25A0-FAAE-B692-5521902224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5700" y="3236913"/>
            <a:ext cx="10223500" cy="5257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Global Importances:">
            <a:extLst>
              <a:ext uri="{FF2B5EF4-FFF2-40B4-BE49-F238E27FC236}">
                <a16:creationId xmlns:a16="http://schemas.microsoft.com/office/drawing/2014/main" id="{B25590E4-1AF9-B78A-C6C7-3F6C099AA7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3" y="163513"/>
            <a:ext cx="4240212" cy="1244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eaLnBrk="1"/>
            <a:r>
              <a:rPr lang="en-US" altLang="en-US" sz="3300" b="1">
                <a:solidFill>
                  <a:srgbClr val="000000"/>
                </a:solidFill>
              </a:rPr>
              <a:t>Global Importances:</a:t>
            </a:r>
            <a:br>
              <a:rPr lang="en-US" altLang="en-US" sz="3300" b="1">
                <a:solidFill>
                  <a:srgbClr val="000000"/>
                </a:solidFill>
              </a:rPr>
            </a:br>
            <a:endParaRPr lang="en-US" altLang="en-US" sz="3300" b="1">
              <a:solidFill>
                <a:srgbClr val="000000"/>
              </a:solidFill>
            </a:endParaRPr>
          </a:p>
        </p:txBody>
      </p:sp>
      <p:pic>
        <p:nvPicPr>
          <p:cNvPr id="40963" name="pasted-movie.png" descr="pasted-movie.png">
            <a:extLst>
              <a:ext uri="{FF2B5EF4-FFF2-40B4-BE49-F238E27FC236}">
                <a16:creationId xmlns:a16="http://schemas.microsoft.com/office/drawing/2014/main" id="{B1880809-99D9-93CF-5DF5-3185934B08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524125"/>
            <a:ext cx="13004800" cy="4705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40964" name="Scatterplots of feature value vs SHAP value">
            <a:extLst>
              <a:ext uri="{FF2B5EF4-FFF2-40B4-BE49-F238E27FC236}">
                <a16:creationId xmlns:a16="http://schemas.microsoft.com/office/drawing/2014/main" id="{A0F1D0B4-3509-56FD-06B3-A47A858F472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17638" y="1090613"/>
            <a:ext cx="9005887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>
            <a:spAutoFit/>
          </a:bodyPr>
          <a:lstStyle/>
          <a:p>
            <a:pPr eaLnBrk="1"/>
            <a:r>
              <a:rPr lang="en-US" altLang="en-US"/>
              <a:t>Scatterplots of feature value vs SHAP value</a:t>
            </a:r>
          </a:p>
        </p:txBody>
      </p:sp>
    </p:spTree>
  </p:cSld>
  <p:clrMapOvr>
    <a:masterClrMapping/>
  </p:clrMapOvr>
  <p:transition spd="med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Global Importances:">
            <a:extLst>
              <a:ext uri="{FF2B5EF4-FFF2-40B4-BE49-F238E27FC236}">
                <a16:creationId xmlns:a16="http://schemas.microsoft.com/office/drawing/2014/main" id="{3F63EA98-2995-1F01-73B1-5DE27CE98B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3" y="163513"/>
            <a:ext cx="4240212" cy="1244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eaLnBrk="1"/>
            <a:r>
              <a:rPr lang="en-US" altLang="en-US" sz="3300" b="1">
                <a:solidFill>
                  <a:srgbClr val="000000"/>
                </a:solidFill>
              </a:rPr>
              <a:t>Global Importances:</a:t>
            </a:r>
            <a:br>
              <a:rPr lang="en-US" altLang="en-US" sz="3300" b="1">
                <a:solidFill>
                  <a:srgbClr val="000000"/>
                </a:solidFill>
              </a:rPr>
            </a:br>
            <a:endParaRPr lang="en-US" altLang="en-US" sz="3300" b="1">
              <a:solidFill>
                <a:srgbClr val="000000"/>
              </a:solidFill>
            </a:endParaRPr>
          </a:p>
        </p:txBody>
      </p:sp>
      <p:sp>
        <p:nvSpPr>
          <p:cNvPr id="41987" name="Beeswarm Plot">
            <a:extLst>
              <a:ext uri="{FF2B5EF4-FFF2-40B4-BE49-F238E27FC236}">
                <a16:creationId xmlns:a16="http://schemas.microsoft.com/office/drawing/2014/main" id="{93EA0BAD-A9C3-C4E5-7A2D-A8FBD64364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17638" y="1090613"/>
            <a:ext cx="9005887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>
            <a:spAutoFit/>
          </a:bodyPr>
          <a:lstStyle/>
          <a:p>
            <a:pPr eaLnBrk="1"/>
            <a:r>
              <a:rPr lang="en-US" altLang="en-US"/>
              <a:t>Beeswarm Plot</a:t>
            </a:r>
          </a:p>
        </p:txBody>
      </p:sp>
      <p:pic>
        <p:nvPicPr>
          <p:cNvPr id="41988" name="pasted-movie.png" descr="pasted-movie.png">
            <a:extLst>
              <a:ext uri="{FF2B5EF4-FFF2-40B4-BE49-F238E27FC236}">
                <a16:creationId xmlns:a16="http://schemas.microsoft.com/office/drawing/2014/main" id="{AF93DE7F-7115-10B0-A46B-D68A5F0DEA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0050" y="2463800"/>
            <a:ext cx="9664700" cy="482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med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Local Importance: Waterfall plot">
            <a:extLst>
              <a:ext uri="{FF2B5EF4-FFF2-40B4-BE49-F238E27FC236}">
                <a16:creationId xmlns:a16="http://schemas.microsoft.com/office/drawing/2014/main" id="{42628BDB-EA08-2933-6286-D59C38A9152B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 defTabSz="1525858">
              <a:defRPr sz="5280" spc="-105"/>
            </a:lvl1pPr>
          </a:lstStyle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t>Local Importance: Waterfall plot</a:t>
            </a:r>
          </a:p>
        </p:txBody>
      </p:sp>
      <p:sp>
        <p:nvSpPr>
          <p:cNvPr id="43011" name="(Single prediction)">
            <a:extLst>
              <a:ext uri="{FF2B5EF4-FFF2-40B4-BE49-F238E27FC236}">
                <a16:creationId xmlns:a16="http://schemas.microsoft.com/office/drawing/2014/main" id="{E20A9E9E-3A93-3FD7-D340-961010E6EF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4713" y="1709738"/>
            <a:ext cx="9005887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>
            <a:spAutoFit/>
          </a:bodyPr>
          <a:lstStyle/>
          <a:p>
            <a:pPr eaLnBrk="1"/>
            <a:r>
              <a:rPr lang="en-US" altLang="en-US"/>
              <a:t>(Single prediction)</a:t>
            </a:r>
          </a:p>
        </p:txBody>
      </p:sp>
      <p:pic>
        <p:nvPicPr>
          <p:cNvPr id="43012" name="pasted-movie.png" descr="pasted-movie.png">
            <a:extLst>
              <a:ext uri="{FF2B5EF4-FFF2-40B4-BE49-F238E27FC236}">
                <a16:creationId xmlns:a16="http://schemas.microsoft.com/office/drawing/2014/main" id="{51A80F7F-B39C-2BAF-204F-FD4B9AF31C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850" y="2744788"/>
            <a:ext cx="11341100" cy="5575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Local Importance: Bar plot">
            <a:extLst>
              <a:ext uri="{FF2B5EF4-FFF2-40B4-BE49-F238E27FC236}">
                <a16:creationId xmlns:a16="http://schemas.microsoft.com/office/drawing/2014/main" id="{89A7F4F5-5436-63E5-CE58-6E5B40035A7F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 defTabSz="1525858">
              <a:defRPr sz="5280" spc="-105"/>
            </a:lvl1pPr>
          </a:lstStyle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t>Local Importance: Bar plot</a:t>
            </a:r>
          </a:p>
        </p:txBody>
      </p:sp>
      <p:pic>
        <p:nvPicPr>
          <p:cNvPr id="44035" name="pasted-movie.png" descr="pasted-movie.png">
            <a:extLst>
              <a:ext uri="{FF2B5EF4-FFF2-40B4-BE49-F238E27FC236}">
                <a16:creationId xmlns:a16="http://schemas.microsoft.com/office/drawing/2014/main" id="{59A8A10E-E4A3-8C04-3372-BB9BDA97DA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5113" y="2865438"/>
            <a:ext cx="9934575" cy="4668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44036" name="(Single prediction)">
            <a:extLst>
              <a:ext uri="{FF2B5EF4-FFF2-40B4-BE49-F238E27FC236}">
                <a16:creationId xmlns:a16="http://schemas.microsoft.com/office/drawing/2014/main" id="{CAA3EF49-EA14-D759-E855-B3DA6B982E9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4713" y="1709738"/>
            <a:ext cx="9005887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>
            <a:spAutoFit/>
          </a:bodyPr>
          <a:lstStyle/>
          <a:p>
            <a:pPr eaLnBrk="1"/>
            <a:r>
              <a:rPr lang="en-US" altLang="en-US"/>
              <a:t>(Single prediction)</a:t>
            </a:r>
          </a:p>
        </p:txBody>
      </p:sp>
    </p:spTree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Local Importance: Force plot">
            <a:extLst>
              <a:ext uri="{FF2B5EF4-FFF2-40B4-BE49-F238E27FC236}">
                <a16:creationId xmlns:a16="http://schemas.microsoft.com/office/drawing/2014/main" id="{0E60842A-C560-EEC1-6C20-1181EBF7E37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 defTabSz="1525858">
              <a:defRPr sz="5280" spc="-105"/>
            </a:lvl1pPr>
          </a:lstStyle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t>Local Importance: Force plot</a:t>
            </a:r>
          </a:p>
        </p:txBody>
      </p:sp>
      <p:sp>
        <p:nvSpPr>
          <p:cNvPr id="45059" name="(Single prediction)">
            <a:extLst>
              <a:ext uri="{FF2B5EF4-FFF2-40B4-BE49-F238E27FC236}">
                <a16:creationId xmlns:a16="http://schemas.microsoft.com/office/drawing/2014/main" id="{796EBB61-C087-5456-0E9E-D0ECA9308E0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4713" y="1709738"/>
            <a:ext cx="9005887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>
            <a:spAutoFit/>
          </a:bodyPr>
          <a:lstStyle/>
          <a:p>
            <a:pPr eaLnBrk="1"/>
            <a:r>
              <a:rPr lang="en-US" altLang="en-US"/>
              <a:t>(Single prediction)</a:t>
            </a:r>
          </a:p>
        </p:txBody>
      </p:sp>
      <p:pic>
        <p:nvPicPr>
          <p:cNvPr id="45060" name="pasted-movie.png" descr="pasted-movie.png">
            <a:extLst>
              <a:ext uri="{FF2B5EF4-FFF2-40B4-BE49-F238E27FC236}">
                <a16:creationId xmlns:a16="http://schemas.microsoft.com/office/drawing/2014/main" id="{5486CB2C-DE1D-057A-BB20-3020B88509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990975"/>
            <a:ext cx="13004800" cy="1771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med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91AC99C-1850-497F-4BD6-C9B63198BD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SHAP gives us two views of a model:</a:t>
            </a:r>
          </a:p>
          <a:p>
            <a:pPr lvl="1"/>
            <a:r>
              <a:rPr lang="en-US" dirty="0"/>
              <a:t>Global: which features matter overall</a:t>
            </a:r>
          </a:p>
          <a:p>
            <a:pPr lvl="2"/>
            <a:r>
              <a:rPr lang="en-US" dirty="0"/>
              <a:t>Bar plots tell us how much a feature matters.</a:t>
            </a:r>
          </a:p>
          <a:p>
            <a:pPr lvl="2"/>
            <a:r>
              <a:rPr lang="en-US" dirty="0"/>
              <a:t>Scatter and </a:t>
            </a:r>
            <a:r>
              <a:rPr lang="en-US" dirty="0" err="1"/>
              <a:t>beeswarm</a:t>
            </a:r>
            <a:r>
              <a:rPr lang="en-US" dirty="0"/>
              <a:t> plots tell us how it affects predictions</a:t>
            </a:r>
          </a:p>
          <a:p>
            <a:pPr lvl="1"/>
            <a:r>
              <a:rPr lang="en-US" dirty="0"/>
              <a:t>Local: why a specific prediction happened</a:t>
            </a:r>
          </a:p>
          <a:p>
            <a:pPr lvl="2"/>
            <a:r>
              <a:rPr lang="en-US" dirty="0"/>
              <a:t>Waterfall plots show the model’s reasoning step by step.”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5FC9097-2625-EB17-AAD8-ECB8841DA6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SHAP Value Overview</a:t>
            </a:r>
          </a:p>
        </p:txBody>
      </p:sp>
    </p:spTree>
    <p:extLst>
      <p:ext uri="{BB962C8B-B14F-4D97-AF65-F5344CB8AC3E}">
        <p14:creationId xmlns:p14="http://schemas.microsoft.com/office/powerpoint/2010/main" val="971591495"/>
      </p:ext>
    </p:extLst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But it still has a few limitations:…">
            <a:extLst>
              <a:ext uri="{FF2B5EF4-FFF2-40B4-BE49-F238E27FC236}">
                <a16:creationId xmlns:a16="http://schemas.microsoft.com/office/drawing/2014/main" id="{105AA094-C7AF-A547-0B1A-E6E026779555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But it still has a few limitations:</a:t>
            </a:r>
          </a:p>
          <a:p>
            <a:pPr marL="1016000" lvl="1" eaLnBrk="1" hangingPunct="1"/>
            <a:r>
              <a:rPr lang="en-US" altLang="en-US"/>
              <a:t>Slow (especially kernel SHAP)</a:t>
            </a:r>
          </a:p>
          <a:p>
            <a:pPr marL="1016000" lvl="1" eaLnBrk="1" hangingPunct="1"/>
            <a:r>
              <a:rPr lang="en-US" altLang="en-US"/>
              <a:t>Can be hard to interpret</a:t>
            </a:r>
          </a:p>
          <a:p>
            <a:pPr marL="1016000" lvl="1" eaLnBrk="1" hangingPunct="1"/>
            <a:r>
              <a:rPr lang="en-US" altLang="en-US"/>
              <a:t>Misleading when features are correlated</a:t>
            </a:r>
          </a:p>
          <a:p>
            <a:pPr marL="1651000" lvl="2" eaLnBrk="1" hangingPunct="1">
              <a:buFontTx/>
              <a:buChar char="‣"/>
            </a:pPr>
            <a:r>
              <a:rPr lang="en-US" altLang="en-US"/>
              <a:t>SHAP assumes that features are independent</a:t>
            </a:r>
          </a:p>
          <a:p>
            <a:pPr marL="1651000" lvl="2" eaLnBrk="1" hangingPunct="1">
              <a:buFontTx/>
              <a:buChar char="‣"/>
            </a:pPr>
            <a:r>
              <a:rPr lang="en-US" altLang="en-US"/>
              <a:t>If features are correlated, SHAP can arbitrarily split their importance or attribute too much importance to one and downplaying the other </a:t>
            </a:r>
          </a:p>
        </p:txBody>
      </p:sp>
      <p:sp>
        <p:nvSpPr>
          <p:cNvPr id="447" name="Disadvantages">
            <a:extLst>
              <a:ext uri="{FF2B5EF4-FFF2-40B4-BE49-F238E27FC236}">
                <a16:creationId xmlns:a16="http://schemas.microsoft.com/office/drawing/2014/main" id="{835822A4-2865-9718-BBCB-7B1DE64DC096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 defTabSz="1525858">
              <a:defRPr sz="5280" spc="-105"/>
            </a:lvl1pPr>
          </a:lstStyle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t>Disadvantages</a:t>
            </a:r>
          </a:p>
        </p:txBody>
      </p:sp>
    </p:spTree>
  </p:cSld>
  <p:clrMapOvr>
    <a:masterClrMapping/>
  </p:clrMapOvr>
  <p:transition spd="med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SHAP is one way to help explain model predictions…">
            <a:extLst>
              <a:ext uri="{FF2B5EF4-FFF2-40B4-BE49-F238E27FC236}">
                <a16:creationId xmlns:a16="http://schemas.microsoft.com/office/drawing/2014/main" id="{A02A67FE-7F50-6E5F-4BB6-BE48A8F71416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SHAP is one way to help explain model predictions</a:t>
            </a:r>
          </a:p>
          <a:p>
            <a:pPr eaLnBrk="1" hangingPunct="1"/>
            <a:r>
              <a:rPr lang="en-US" altLang="en-US"/>
              <a:t>It is a powerful and theoretically sound method for interpreting machine learning models</a:t>
            </a:r>
          </a:p>
          <a:p>
            <a:pPr eaLnBrk="1" hangingPunct="1"/>
            <a:r>
              <a:rPr lang="en-US" altLang="en-US"/>
              <a:t>The shap library in python provides (fairly) fast implementation and lots of examples</a:t>
            </a:r>
          </a:p>
          <a:p>
            <a:pPr eaLnBrk="1" hangingPunct="1"/>
            <a:r>
              <a:rPr lang="en-US" altLang="en-US"/>
              <a:t>Be cautious of assigning causation </a:t>
            </a:r>
          </a:p>
        </p:txBody>
      </p:sp>
      <p:sp>
        <p:nvSpPr>
          <p:cNvPr id="450" name="Summary">
            <a:extLst>
              <a:ext uri="{FF2B5EF4-FFF2-40B4-BE49-F238E27FC236}">
                <a16:creationId xmlns:a16="http://schemas.microsoft.com/office/drawing/2014/main" id="{66DC4A6C-A39C-D577-97E5-5C626E673C67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 defTabSz="1525858">
              <a:defRPr sz="5280" spc="-105"/>
            </a:lvl1pPr>
          </a:lstStyle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t>Summary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21_BasicWhite">
  <a:themeElements>
    <a:clrScheme name="21_BasicWhite">
      <a:dk1>
        <a:srgbClr val="5E5E5E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Avenir Next Regular"/>
        <a:ea typeface="Avenir Next Regular"/>
        <a:cs typeface="Avenir Next Regular"/>
      </a:majorFont>
      <a:minorFont>
        <a:latin typeface="Avenir Next Demi Bold"/>
        <a:ea typeface="Avenir Next Demi Bold"/>
        <a:cs typeface="Avenir Next Demi Bold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173393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800" b="0" i="0" u="none" strike="noStrike" cap="none" spc="0" normalizeH="0" baseline="0">
            <a:ln>
              <a:noFill/>
            </a:ln>
            <a:solidFill>
              <a:srgbClr val="5E5E5E"/>
            </a:solidFill>
            <a:effectLst/>
            <a:uFillTx/>
            <a:latin typeface="+mj-lt"/>
            <a:ea typeface="+mj-ea"/>
            <a:cs typeface="+mj-cs"/>
            <a:sym typeface="Avenir Next Regular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Avenir Next Regular"/>
        <a:ea typeface="Avenir Next Regular"/>
        <a:cs typeface="Avenir Next Regular"/>
      </a:majorFont>
      <a:minorFont>
        <a:latin typeface="Avenir Next Demi Bold"/>
        <a:ea typeface="Avenir Next Demi Bold"/>
        <a:cs typeface="Avenir Next Demi Bold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173393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800" b="0" i="0" u="none" strike="noStrike" cap="none" spc="0" normalizeH="0" baseline="0">
            <a:ln>
              <a:noFill/>
            </a:ln>
            <a:solidFill>
              <a:srgbClr val="5E5E5E"/>
            </a:solidFill>
            <a:effectLst/>
            <a:uFillTx/>
            <a:latin typeface="+mj-lt"/>
            <a:ea typeface="+mj-ea"/>
            <a:cs typeface="+mj-cs"/>
            <a:sym typeface="Avenir Next Regular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242</TotalTime>
  <Words>1209</Words>
  <Application>Microsoft Office PowerPoint</Application>
  <PresentationFormat>Custom</PresentationFormat>
  <Paragraphs>190</Paragraphs>
  <Slides>33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43" baseType="lpstr">
      <vt:lpstr>Avenir Next Demi Bold</vt:lpstr>
      <vt:lpstr>Avenir Next Medium</vt:lpstr>
      <vt:lpstr>Avenir Next Regular</vt:lpstr>
      <vt:lpstr>Avenir Next Ultra Light</vt:lpstr>
      <vt:lpstr>Cambria Math</vt:lpstr>
      <vt:lpstr>Helvetica Neue</vt:lpstr>
      <vt:lpstr>Helvetica Neue Medium</vt:lpstr>
      <vt:lpstr>Helvetica Neue Thin</vt:lpstr>
      <vt:lpstr>Helvetica Neue UltraLight</vt:lpstr>
      <vt:lpstr>21_BasicWhite</vt:lpstr>
      <vt:lpstr>Explainable AI with SHAP  </vt:lpstr>
      <vt:lpstr>Explainable AI</vt:lpstr>
      <vt:lpstr>Shapley Values</vt:lpstr>
      <vt:lpstr>Shapley Values</vt:lpstr>
      <vt:lpstr>Shapley Values</vt:lpstr>
      <vt:lpstr>Shapley Values</vt:lpstr>
      <vt:lpstr>Shapley Values</vt:lpstr>
      <vt:lpstr>Shapley Values</vt:lpstr>
      <vt:lpstr>Shapley Values</vt:lpstr>
      <vt:lpstr>Shapley Values</vt:lpstr>
      <vt:lpstr>Shapley Values</vt:lpstr>
      <vt:lpstr>In Machine Learning</vt:lpstr>
      <vt:lpstr>SHapley Additive exPlanations</vt:lpstr>
      <vt:lpstr>Shapley applied to explainable AI</vt:lpstr>
      <vt:lpstr>SHAP</vt:lpstr>
      <vt:lpstr>SHapley Additive exPlanations</vt:lpstr>
      <vt:lpstr>SHAP values </vt:lpstr>
      <vt:lpstr>Properties of SHAP</vt:lpstr>
      <vt:lpstr>Properties of SHAP: Efficiency </vt:lpstr>
      <vt:lpstr>Properties of SHAP: Symmetry </vt:lpstr>
      <vt:lpstr>Properties of SHAP: Additivity </vt:lpstr>
      <vt:lpstr>Types of SHAP</vt:lpstr>
      <vt:lpstr>Local Explainability </vt:lpstr>
      <vt:lpstr>Example: Human- vs Natural-Started Fire</vt:lpstr>
      <vt:lpstr>PowerPoint Presentation</vt:lpstr>
      <vt:lpstr>PowerPoint Presentation</vt:lpstr>
      <vt:lpstr>PowerPoint Presentation</vt:lpstr>
      <vt:lpstr>Local Importance: Waterfall plot</vt:lpstr>
      <vt:lpstr>Local Importance: Bar plot</vt:lpstr>
      <vt:lpstr>Local Importance: Force plot</vt:lpstr>
      <vt:lpstr>SHAP Value Overview</vt:lpstr>
      <vt:lpstr>Disadvantages</vt:lpstr>
      <vt:lpstr>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Explainable AI with SHAP</dc:title>
  <dc:creator>Jake Rhodes</dc:creator>
  <cp:lastModifiedBy>Jake Rhodes</cp:lastModifiedBy>
  <cp:revision>5</cp:revision>
  <dcterms:modified xsi:type="dcterms:W3CDTF">2026-03-24T12:42:59Z</dcterms:modified>
</cp:coreProperties>
</file>