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5"/>
  </p:notesMasterIdLst>
  <p:sldIdLst>
    <p:sldId id="256" r:id="rId2"/>
    <p:sldId id="280" r:id="rId3"/>
    <p:sldId id="283" r:id="rId4"/>
    <p:sldId id="284" r:id="rId5"/>
    <p:sldId id="285" r:id="rId6"/>
    <p:sldId id="287" r:id="rId7"/>
    <p:sldId id="294" r:id="rId8"/>
    <p:sldId id="288" r:id="rId9"/>
    <p:sldId id="289" r:id="rId10"/>
    <p:sldId id="290" r:id="rId11"/>
    <p:sldId id="291" r:id="rId12"/>
    <p:sldId id="292" r:id="rId13"/>
    <p:sldId id="29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65124" autoAdjust="0"/>
  </p:normalViewPr>
  <p:slideViewPr>
    <p:cSldViewPr snapToGrid="0">
      <p:cViewPr varScale="1">
        <p:scale>
          <a:sx n="74" d="100"/>
          <a:sy n="74" d="100"/>
        </p:scale>
        <p:origin x="3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20152-7289-42ED-97D3-BBB411F9F8C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0E3D6-3C77-45F1-B7E2-5B66F3D24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E3D6-3C77-45F1-B7E2-5B66F3D24A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64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Now substitute: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Var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⁡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Cov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⁡</m:t>
                      </m:r>
                      <m:d>
                        <m:dPr>
                          <m:sepChr m:val=",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There are: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</m:oMath>
                </a14:m>
                <a:r>
                  <a:rPr lang="en-US" dirty="0"/>
                  <a:t>variance terms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covariance terms</a:t>
                </a:r>
              </a:p>
              <a:p>
                <a:r>
                  <a:rPr lang="en-US" dirty="0"/>
                  <a:t>So: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e>
                      </m:d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Divide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e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Var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⁡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limUpp>
                            <m:limUp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limUp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lim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ˉ</m:t>
                              </m:r>
                            </m:lim>
                          </m:limUpp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𝑀</m:t>
                              </m:r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</m:d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Simplify: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den>
                      </m:f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𝜌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Rearrange: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borderBoxPr>
                        <m:e>
                          <m:r>
                            <m:rPr>
                              <m:sty m:val="p"/>
                            </m:rPr>
                            <a:rPr lang="en-US" sz="120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Var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⁡</m:t>
                          </m:r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limUpp>
                                <m:limUpp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limUppPr>
                                <m:e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e>
                                <m:lim>
                                  <m:r>
                                    <a:rPr lang="ar-AE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ˉ</m:t>
                                  </m:r>
                                </m:lim>
                              </m:limUpp>
                            </m:e>
                          </m:d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𝜌</m:t>
                          </m:r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f>
                            <m:f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𝑀</m:t>
                              </m:r>
                            </m:den>
                          </m:f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borderBox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Now substitute: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Var⁡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(𝑇_𝑖 )=𝜎^2</a:t>
                </a:r>
                <a:endParaRPr lang="ar-AE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Cov⁡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(𝑇_𝑖ⓜ,𝑇_𝑗 )=𝜌𝜎^2</a:t>
                </a:r>
                <a:endParaRPr lang="ar-AE" dirty="0"/>
              </a:p>
              <a:p>
                <a:r>
                  <a:rPr lang="en-US" dirty="0"/>
                  <a:t>There are: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</a:t>
                </a:r>
                <a:r>
                  <a:rPr lang="en-US" dirty="0"/>
                  <a:t>variance terms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(𝑀−1)</a:t>
                </a:r>
                <a:r>
                  <a:rPr lang="en-US" dirty="0"/>
                  <a:t>covariance terms</a:t>
                </a:r>
              </a:p>
              <a:p>
                <a:r>
                  <a:rPr lang="en-US" dirty="0"/>
                  <a:t>So: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=𝑀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𝜎^2+𝑀(𝑀−1)𝜌𝜎^2</a:t>
                </a:r>
                <a:endParaRPr lang="ar-AE" dirty="0"/>
              </a:p>
              <a:p>
                <a:r>
                  <a:rPr lang="en-US" dirty="0"/>
                  <a:t>Divide by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𝑀^2</a:t>
                </a:r>
                <a:r>
                  <a:rPr lang="ar-AE" dirty="0"/>
                  <a:t>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Var⁡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(𝑇┴ˉ )=(𝑀𝜎^2)/𝑀^2 +(𝑀(𝑀−1)𝜌𝜎^2)/𝑀^2 </a:t>
                </a:r>
                <a:endParaRPr lang="ar-AE" dirty="0"/>
              </a:p>
              <a:p>
                <a:r>
                  <a:rPr lang="en-US" dirty="0"/>
                  <a:t>Simplify: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𝜎^2/𝑀+𝜌𝜎^2  (𝑀−1)/𝑀</a:t>
                </a:r>
                <a:endParaRPr lang="ar-AE" dirty="0"/>
              </a:p>
              <a:p>
                <a:r>
                  <a:rPr lang="en-US" dirty="0"/>
                  <a:t>Rearrange: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▭(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Var⁡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(𝑇┴ˉ )=𝜌𝜎^2+(1−𝜌)/𝑀 𝜎^2 )</a:t>
                </a:r>
                <a:endParaRPr lang="ar-AE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0E3D6-3C77-45F1-B7E2-5B66F3D24A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36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0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6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8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392970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45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  <p:sldLayoutId id="2147483687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01F75F-A154-93F9-2FE2-9F85ACB841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45" b="528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3EC0C-B664-18E2-FAA6-07592A24E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158" y="5528235"/>
            <a:ext cx="10696574" cy="770964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Random FOrests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A06C2-C984-559B-6247-4CE552425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681" y="4392705"/>
            <a:ext cx="5795251" cy="1063813"/>
          </a:xfrm>
        </p:spPr>
        <p:txBody>
          <a:bodyPr anchor="b">
            <a:normAutofit/>
          </a:bodyPr>
          <a:lstStyle/>
          <a:p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56" name="Let   be independent random variable each with variance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be </a:t>
                </a:r>
                <a:r>
                  <a:rPr lang="en-US" dirty="0" err="1"/>
                  <a:t>i.i.d.</a:t>
                </a:r>
                <a:r>
                  <a:rPr lang="en-US" dirty="0"/>
                  <a:t> random variable each with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r>
                  <a:rPr lang="en-US" dirty="0"/>
                  <a:t>Define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bar>
                    <m:r>
                      <a:rPr lang="ar-AE"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limUpp>
                      <m:limUpp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lim>
                        </m:limLow>
                      </m:e>
                      <m:lim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b>
                      <m:sSubPr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r>
                  <a:rPr lang="en-US" dirty="0"/>
                  <a:t>What is the variance of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ar-AE"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bar>
                  </m:oMath>
                </a14:m>
                <a:r>
                  <a:rPr lang="ar-AE" dirty="0"/>
                  <a:t> ?</a:t>
                </a:r>
                <a:r>
                  <a:rPr lang="ar-AE" dirty="0">
                    <a:solidFill>
                      <a:srgbClr val="00539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ar-AE" b="0" i="0" smtClean="0">
                        <a:solidFill>
                          <a:srgbClr val="00539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0" dirty="0">
                  <a:solidFill>
                    <a:srgbClr val="00539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solidFill>
                            <a:srgbClr val="005392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ar-AE" i="1">
                          <a:solidFill>
                            <a:srgbClr val="00539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bar>
                        <m:barPr>
                          <m:pos m:val="top"/>
                          <m:ctrlPr>
                            <a:rPr lang="ar-AE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ar-AE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bar>
                      <m:r>
                        <a:rPr lang="ar-AE" i="1">
                          <a:solidFill>
                            <a:srgbClr val="005392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ar-AE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solidFill>
                                    <a:srgbClr val="00539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solidFill>
                                    <a:srgbClr val="005392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i="1">
                                  <a:solidFill>
                                    <a:srgbClr val="00539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 i="1">
                              <a:solidFill>
                                <a:srgbClr val="00539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ar-AE" dirty="0">
                  <a:solidFill>
                    <a:srgbClr val="005493"/>
                  </a:solidFill>
                </a:endParaRPr>
              </a:p>
              <a:p>
                <a:r>
                  <a:rPr lang="en-US" dirty="0"/>
                  <a:t>The using the mean of random variable will result in a lower variance </a:t>
                </a:r>
              </a:p>
              <a:p>
                <a:pPr marL="0" indent="0">
                  <a:buNone/>
                </a:pPr>
                <a:endParaRPr dirty="0"/>
              </a:p>
            </p:txBody>
          </p:sp>
        </mc:Choice>
        <mc:Fallback>
          <p:sp>
            <p:nvSpPr>
              <p:cNvPr id="256" name="Let   be independent random variable each with variance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7" name="First a walk down the 340 Memory La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1473840">
              <a:defRPr sz="5100" spc="-102"/>
            </a:lvl1pPr>
          </a:lstStyle>
          <a:p>
            <a:r>
              <a:rPr lang="en-US" sz="4000" dirty="0"/>
              <a:t>Improving Variance</a:t>
            </a:r>
            <a:endParaRPr sz="40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duce the variance in the predictions by building a lot trees and averaging the results to produce a final predic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Reduce the variance in the predictions by building </a:t>
            </a:r>
            <a:r>
              <a:rPr dirty="0">
                <a:solidFill>
                  <a:srgbClr val="FF7E79"/>
                </a:solidFill>
              </a:rPr>
              <a:t>a lot</a:t>
            </a:r>
            <a:r>
              <a:rPr dirty="0"/>
              <a:t> trees and </a:t>
            </a:r>
            <a:r>
              <a:rPr dirty="0">
                <a:solidFill>
                  <a:srgbClr val="FF7E79"/>
                </a:solidFill>
              </a:rPr>
              <a:t>averaging</a:t>
            </a:r>
            <a:r>
              <a:rPr dirty="0"/>
              <a:t> the results to produce a final prediction</a:t>
            </a:r>
          </a:p>
          <a:p>
            <a:r>
              <a:rPr dirty="0"/>
              <a:t>But how can we get more data to build a new trees?</a:t>
            </a:r>
          </a:p>
          <a:p>
            <a:endParaRPr dirty="0"/>
          </a:p>
          <a:p>
            <a:r>
              <a:rPr dirty="0"/>
              <a:t>Well maybe we don’t have to…</a:t>
            </a:r>
          </a:p>
        </p:txBody>
      </p:sp>
      <p:sp>
        <p:nvSpPr>
          <p:cNvPr id="267" name="Applying this principle to tre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Applying this principle to trees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Bagging is an ensemble* method which uses bootstrap sampling to generate multiple predictions an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/>
              <a:t>Bagging</a:t>
            </a:r>
            <a:r>
              <a:t> is an </a:t>
            </a:r>
            <a:r>
              <a:rPr i="1" u="sng"/>
              <a:t>ensemble*</a:t>
            </a:r>
            <a:r>
              <a:t> method which uses bootstrap sampling to generate multiple predictions and </a:t>
            </a:r>
          </a:p>
          <a:p>
            <a:pPr lvl="1"/>
            <a:r>
              <a:t>Take a random sample of the training data </a:t>
            </a:r>
            <a:r>
              <a:rPr i="1"/>
              <a:t>with replacement</a:t>
            </a:r>
            <a:r>
              <a:t> </a:t>
            </a:r>
          </a:p>
          <a:p>
            <a:pPr lvl="1"/>
            <a:r>
              <a:t>Build a tree using the sampled data</a:t>
            </a:r>
          </a:p>
          <a:p>
            <a:pPr lvl="1"/>
            <a:r>
              <a:t>Make predictions with the model</a:t>
            </a:r>
          </a:p>
          <a:p>
            <a:pPr lvl="1"/>
            <a:r>
              <a:t>Repeat B times</a:t>
            </a:r>
          </a:p>
          <a:p>
            <a:pPr lvl="1"/>
            <a:r>
              <a:t>Average predictions across all models for final prediction</a:t>
            </a:r>
          </a:p>
        </p:txBody>
      </p:sp>
      <p:sp>
        <p:nvSpPr>
          <p:cNvPr id="270" name="Bootstrap Aggregation (ing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072831">
              <a:defRPr sz="5280" spc="-105"/>
            </a:pPr>
            <a:r>
              <a:rPr>
                <a:solidFill>
                  <a:srgbClr val="FF7E79"/>
                </a:solidFill>
              </a:rPr>
              <a:t>B</a:t>
            </a:r>
            <a:r>
              <a:t>ootstrap </a:t>
            </a:r>
            <a:r>
              <a:rPr>
                <a:solidFill>
                  <a:srgbClr val="FF7E79"/>
                </a:solidFill>
              </a:rPr>
              <a:t>Agg</a:t>
            </a:r>
            <a:r>
              <a:t>regation (</a:t>
            </a:r>
            <a:r>
              <a:rPr>
                <a:solidFill>
                  <a:srgbClr val="FF7E79"/>
                </a:solidFill>
              </a:rPr>
              <a:t>ing</a:t>
            </a:r>
            <a:r>
              <a:t>) </a:t>
            </a:r>
          </a:p>
        </p:txBody>
      </p:sp>
      <p:sp>
        <p:nvSpPr>
          <p:cNvPr id="271" name="*An ensemble method an any method that involves aggregating predictions over multiple models"/>
          <p:cNvSpPr txBox="1"/>
          <p:nvPr/>
        </p:nvSpPr>
        <p:spPr>
          <a:xfrm>
            <a:off x="1831802" y="5697950"/>
            <a:ext cx="8528396" cy="342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>
              <a:defRPr sz="2500" i="1"/>
            </a:pPr>
            <a:r>
              <a:rPr sz="1758" dirty="0"/>
              <a:t>*An </a:t>
            </a:r>
            <a:r>
              <a:rPr sz="1758" u="sng" dirty="0"/>
              <a:t>ensemble</a:t>
            </a:r>
            <a:r>
              <a:rPr sz="1758" dirty="0"/>
              <a:t> method an any method that involves aggregating predictions over multiple models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Bagging can be using for both regression and classifica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Bagging can be using for both regression and classification</a:t>
            </a:r>
          </a:p>
          <a:p>
            <a:pPr lvl="1"/>
            <a:r>
              <a:t>Regression predictions are the mean</a:t>
            </a:r>
          </a:p>
          <a:p>
            <a:pPr lvl="1"/>
            <a:r>
              <a:t>Classification predictions are the majority vote</a:t>
            </a:r>
          </a:p>
          <a:p>
            <a:r>
              <a:t>Bagging can also be used with models that aren’t decision trees</a:t>
            </a:r>
          </a:p>
        </p:txBody>
      </p:sp>
      <p:sp>
        <p:nvSpPr>
          <p:cNvPr id="274" name="More about bagg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More about bagging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8" name="The reduction in variance isn’t as strong when variables are correlated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The reduction in variance isn’t as strong when variables are correlated </a:t>
                </a:r>
                <a:br>
                  <a:rPr dirty="0"/>
                </a:br>
                <a:br>
                  <a:rPr dirty="0"/>
                </a:br>
                <a14:m>
                  <m:oMath xmlns:m="http://schemas.openxmlformats.org/officeDocument/2006/math"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sz="2285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𝐶𝑜𝑣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  <a:p>
                <a:endParaRPr dirty="0"/>
              </a:p>
              <a:p>
                <a:r>
                  <a:rPr dirty="0"/>
                  <a:t>The random forest method is similar to bagging except that it tries to de-correlate the trees through more randomization</a:t>
                </a:r>
              </a:p>
            </p:txBody>
          </p:sp>
        </mc:Choice>
        <mc:Fallback xmlns="">
          <p:sp>
            <p:nvSpPr>
              <p:cNvPr id="278" name="The reduction in variance isn’t as strong when variables are correlated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l="-51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9" name="What if the predictions aren’t independent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defTabSz="938727">
              <a:defRPr sz="4619" spc="-92"/>
            </a:pPr>
            <a:r>
              <a:rPr sz="4400" dirty="0"/>
              <a:t>What if the predictions </a:t>
            </a:r>
            <a:r>
              <a:rPr sz="4400" b="1" i="1" dirty="0">
                <a:latin typeface="+mj-lt"/>
                <a:ea typeface="+mj-ea"/>
                <a:cs typeface="+mj-cs"/>
                <a:sym typeface="Avenir Next Regular"/>
              </a:rPr>
              <a:t>aren’t</a:t>
            </a:r>
            <a:r>
              <a:rPr sz="4400" dirty="0"/>
              <a:t> independent?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A41F487-55FC-118A-FB73-2EA9F1A051E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dirty="0"/>
                  <a:t>be predictions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tree predictors (for a fixed input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). Denote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(assumed same for all trees),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(same for all trees),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Corr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(average pairwise correlation).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Cov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A41F487-55FC-118A-FB73-2EA9F1A05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51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98D5273-3D30-58B7-09C8-219DC454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variance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1FFCAB-136B-5FD5-497D-7B72052EA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50" y="4343222"/>
            <a:ext cx="5200301" cy="7905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DF03CE-57DD-0AB0-BDE0-190AFA660F5F}"/>
                  </a:ext>
                </a:extLst>
              </p:cNvPr>
              <p:cNvSpPr txBox="1"/>
              <p:nvPr/>
            </p:nvSpPr>
            <p:spPr>
              <a:xfrm>
                <a:off x="536944" y="5349087"/>
                <a:ext cx="6955465" cy="1214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220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sty m:val="p"/>
                            </m:rPr>
                            <a:rPr lang="en-US" sz="220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Var</m:t>
                          </m:r>
                          <m:r>
                            <a:rPr lang="en-US" sz="2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sz="2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limUpp>
                                <m:limUppPr>
                                  <m:ctrlPr>
                                    <a:rPr lang="ar-AE" sz="2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r>
                                    <a:rPr lang="ar-AE" sz="2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lim>
                                  <m:r>
                                    <a:rPr lang="en-US" sz="2200" b="0" i="0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</m:lim>
                              </m:limUpp>
                            </m:e>
                          </m:d>
                          <m:r>
                            <a:rPr lang="ar-AE" sz="2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sSup>
                            <m:sSupPr>
                              <m:ctrlPr>
                                <a:rPr lang="ar-AE" sz="2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2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sz="2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2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ar-AE" sz="2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den>
                          </m:f>
                          <m:sSup>
                            <m:sSupPr>
                              <m:ctrlPr>
                                <a:rPr lang="ar-AE" sz="2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ar-AE" sz="2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borderBox>
                    </m:oMath>
                  </m:oMathPara>
                </a14:m>
                <a:endParaRPr lang="ar-AE" sz="2200" dirty="0"/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DF03CE-57DD-0AB0-BDE0-190AFA660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44" y="5349087"/>
                <a:ext cx="6955465" cy="12147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595299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ake a bootstrap sample of the observations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Take a bootstrap sample of the observations</a:t>
                </a:r>
              </a:p>
              <a:p>
                <a:r>
                  <a:rPr dirty="0"/>
                  <a:t>Build </a:t>
                </a:r>
                <a:r>
                  <a:rPr lang="en-US" dirty="0"/>
                  <a:t>decision trees, but </a:t>
                </a:r>
                <a:r>
                  <a:rPr dirty="0"/>
                  <a:t>at </a:t>
                </a:r>
                <a:r>
                  <a:rPr b="1" dirty="0">
                    <a:solidFill>
                      <a:srgbClr val="FF7E79"/>
                    </a:solidFill>
                  </a:rPr>
                  <a:t>every split</a:t>
                </a:r>
                <a:r>
                  <a:rPr dirty="0"/>
                  <a:t> only consider a </a:t>
                </a:r>
                <a:r>
                  <a:rPr b="1" dirty="0"/>
                  <a:t>random sample of </a:t>
                </a:r>
                <a14:m>
                  <m:oMath xmlns:m="http://schemas.openxmlformats.org/officeDocument/2006/math"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b="1" dirty="0"/>
                  <a:t> features</a:t>
                </a:r>
                <a:r>
                  <a:rPr dirty="0"/>
                  <a:t> (from </a:t>
                </a:r>
                <a14:m>
                  <m:oMath xmlns:m="http://schemas.openxmlformats.org/officeDocument/2006/math"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dirty="0"/>
                  <a:t> total features) as split candidates</a:t>
                </a:r>
              </a:p>
              <a:p>
                <a:pPr lvl="1"/>
                <a:r>
                  <a:rPr dirty="0"/>
                  <a:t>It is typical to use </a:t>
                </a:r>
                <a14:m>
                  <m:oMath xmlns:m="http://schemas.openxmlformats.org/officeDocument/2006/math"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sz="228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sz="228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Finds alternative paths to decisions</a:t>
                </a:r>
                <a:endParaRPr dirty="0"/>
              </a:p>
              <a:p>
                <a:r>
                  <a:rPr dirty="0"/>
                  <a:t>Rationale:</a:t>
                </a:r>
              </a:p>
              <a:p>
                <a:pPr lvl="1"/>
                <a:r>
                  <a:rPr dirty="0"/>
                  <a:t>Suppose there a one </a:t>
                </a:r>
                <a:r>
                  <a:rPr b="1" dirty="0"/>
                  <a:t>very</a:t>
                </a:r>
                <a:r>
                  <a:rPr dirty="0"/>
                  <a:t> strong predictor and several </a:t>
                </a:r>
                <a:r>
                  <a:rPr u="sng" dirty="0"/>
                  <a:t>moderately</a:t>
                </a:r>
                <a:r>
                  <a:rPr dirty="0"/>
                  <a:t> strong predictors</a:t>
                </a:r>
              </a:p>
              <a:p>
                <a:pPr lvl="1"/>
                <a:r>
                  <a:rPr dirty="0"/>
                  <a:t>With bagging, most of the trees will use the very strong feature so most of the predictions will be similar </a:t>
                </a:r>
              </a:p>
            </p:txBody>
          </p:sp>
        </mc:Choice>
        <mc:Fallback xmlns="">
          <p:sp>
            <p:nvSpPr>
              <p:cNvPr id="281" name="Take a bootstrap sample of the observation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513" t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2" name="Random Fores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dirty="0"/>
              <a:t>Random Forest</a:t>
            </a:r>
            <a:r>
              <a:rPr lang="en-US" dirty="0"/>
              <a:t> Splits</a:t>
            </a:r>
            <a:endParaRPr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he bad news: The increase in predictive ability decreases the interpretability of the model (compared to one tree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262523" indent="-262523" defTabSz="1194743">
              <a:spcBef>
                <a:spcPts val="2180"/>
              </a:spcBef>
              <a:defRPr sz="2940"/>
            </a:pPr>
            <a:r>
              <a:rPr sz="1600" dirty="0"/>
              <a:t>The bad news:</a:t>
            </a:r>
            <a:br>
              <a:rPr sz="1600" dirty="0"/>
            </a:br>
            <a:r>
              <a:rPr sz="1600" dirty="0"/>
              <a:t>The increase in predictive ability decreases the interpretability of the model (compared to one tree)</a:t>
            </a:r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sz="1600" dirty="0"/>
              <a:t>We can’t just draw the tree anymore</a:t>
            </a:r>
          </a:p>
          <a:p>
            <a:pPr marL="262523" indent="-262523" defTabSz="1194743">
              <a:spcBef>
                <a:spcPts val="2180"/>
              </a:spcBef>
              <a:defRPr sz="2940"/>
            </a:pPr>
            <a:r>
              <a:rPr sz="1600" dirty="0"/>
              <a:t>The good news:</a:t>
            </a:r>
            <a:br>
              <a:rPr sz="1600" dirty="0"/>
            </a:br>
            <a:r>
              <a:rPr sz="1600" dirty="0"/>
              <a:t>We can get an overall idea of </a:t>
            </a:r>
            <a:r>
              <a:rPr sz="1600" i="1" u="sng" dirty="0"/>
              <a:t>feature importance </a:t>
            </a:r>
            <a:r>
              <a:rPr sz="1600" dirty="0"/>
              <a:t>measured by:</a:t>
            </a:r>
            <a:endParaRPr sz="1600" i="1" u="sng" dirty="0"/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sz="1600" dirty="0"/>
              <a:t>Finding splits using a particular feature</a:t>
            </a:r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sz="1600" dirty="0"/>
              <a:t>Computing the average impurity reduction across all trees</a:t>
            </a:r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sz="1600" dirty="0"/>
              <a:t>Features with the largest average decrease in impurity (Gini or entropy) are the most important </a:t>
            </a:r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sz="1600" dirty="0"/>
              <a:t>Scikit-learn scales so that feature importances sum to 1</a:t>
            </a:r>
          </a:p>
        </p:txBody>
      </p:sp>
      <p:sp>
        <p:nvSpPr>
          <p:cNvPr id="285" name="Model Interpre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rPr dirty="0"/>
              <a:t>Model Interpretation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Example of Feature Importa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Example of Feature Importance</a:t>
            </a:r>
          </a:p>
        </p:txBody>
      </p:sp>
      <p:pic>
        <p:nvPicPr>
          <p:cNvPr id="288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759" y="1760626"/>
            <a:ext cx="6072714" cy="42518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It can be shown that in a bootstrap sample, on average 2/3 of the instances are included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/>
              <a:p>
                <a:pPr marL="243772" indent="-243772" defTabSz="1109405">
                  <a:spcBef>
                    <a:spcPts val="2039"/>
                  </a:spcBef>
                  <a:defRPr sz="2730"/>
                </a:pPr>
                <a:r>
                  <a:rPr dirty="0"/>
                  <a:t>It can be shown that in a bootstrap sample, on average 2/3 of the instances are included</a:t>
                </a:r>
              </a:p>
              <a:p>
                <a:pPr marL="243772" indent="-243772" defTabSz="1109405">
                  <a:spcBef>
                    <a:spcPts val="2039"/>
                  </a:spcBef>
                  <a:defRPr sz="2730"/>
                </a:pPr>
                <a:r>
                  <a:rPr dirty="0"/>
                  <a:t>The remaining 1/3 of the instances are not used to fit a given bagged tree</a:t>
                </a:r>
              </a:p>
              <a:p>
                <a:pPr marL="650058" lvl="1" indent="-243772" defTabSz="1109405">
                  <a:spcBef>
                    <a:spcPts val="2039"/>
                  </a:spcBef>
                  <a:defRPr sz="2730"/>
                </a:pPr>
                <a:r>
                  <a:rPr dirty="0"/>
                  <a:t>The unused instances are called </a:t>
                </a:r>
                <a:r>
                  <a:rPr b="1" dirty="0">
                    <a:solidFill>
                      <a:srgbClr val="FF7E79"/>
                    </a:solidFill>
                  </a:rPr>
                  <a:t>out-of-bag</a:t>
                </a:r>
                <a:r>
                  <a:rPr dirty="0"/>
                  <a:t> (OOB)</a:t>
                </a:r>
              </a:p>
              <a:p>
                <a:pPr marL="650058" lvl="1" indent="-243772" defTabSz="1109405">
                  <a:spcBef>
                    <a:spcPts val="2039"/>
                  </a:spcBef>
                  <a:defRPr sz="2730"/>
                </a:pPr>
                <a:r>
                  <a:rPr dirty="0"/>
                  <a:t>We can make predictions instance </a:t>
                </a:r>
                <a14:m>
                  <m:oMath xmlns:m="http://schemas.openxmlformats.org/officeDocument/2006/math">
                    <m:r>
                      <a:rPr sz="2074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dirty="0"/>
                  <a:t> using trees in which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2074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2074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sz="2074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dirty="0"/>
                  <a:t> was OOB</a:t>
                </a:r>
              </a:p>
              <a:p>
                <a:pPr marL="650058" lvl="1" indent="-243772" defTabSz="1109405">
                  <a:spcBef>
                    <a:spcPts val="2039"/>
                  </a:spcBef>
                  <a:defRPr sz="2730"/>
                </a:pPr>
                <a:r>
                  <a:rPr dirty="0"/>
                  <a:t>A single prediction for instance </a:t>
                </a:r>
                <a14:m>
                  <m:oMath xmlns:m="http://schemas.openxmlformats.org/officeDocument/2006/math">
                    <m:r>
                      <a:rPr sz="2074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dirty="0"/>
                  <a:t> is computed through aggregation the trees </a:t>
                </a:r>
              </a:p>
              <a:p>
                <a:pPr marL="650058" lvl="1" indent="-243772" defTabSz="1109405">
                  <a:spcBef>
                    <a:spcPts val="2039"/>
                  </a:spcBef>
                  <a:defRPr sz="2730"/>
                </a:pPr>
                <a:r>
                  <a:rPr dirty="0"/>
                  <a:t>The overall </a:t>
                </a:r>
                <a:r>
                  <a:rPr dirty="0">
                    <a:solidFill>
                      <a:srgbClr val="FF7E79"/>
                    </a:solidFill>
                  </a:rPr>
                  <a:t>OOB error</a:t>
                </a:r>
                <a:r>
                  <a:rPr dirty="0"/>
                  <a:t> is </a:t>
                </a:r>
                <a:r>
                  <a:rPr lang="en-US" dirty="0"/>
                  <a:t>asymptotically</a:t>
                </a:r>
                <a:r>
                  <a:rPr dirty="0"/>
                  <a:t> </a:t>
                </a:r>
                <a:r>
                  <a:rPr i="1" u="sng" dirty="0"/>
                  <a:t>equivalent</a:t>
                </a:r>
                <a:r>
                  <a:rPr dirty="0"/>
                  <a:t> to performing </a:t>
                </a:r>
                <a:r>
                  <a:rPr dirty="0">
                    <a:solidFill>
                      <a:srgbClr val="0096FF"/>
                    </a:solidFill>
                  </a:rPr>
                  <a:t>leave-one-out cross-validation</a:t>
                </a:r>
                <a:r>
                  <a:rPr dirty="0"/>
                  <a:t> (if the number of trees is large enough)</a:t>
                </a:r>
              </a:p>
              <a:p>
                <a:pPr marL="1056344" lvl="2" indent="-243772" defTabSz="1109405">
                  <a:spcBef>
                    <a:spcPts val="2039"/>
                  </a:spcBef>
                  <a:defRPr sz="2730"/>
                </a:pPr>
                <a:r>
                  <a:rPr dirty="0"/>
                  <a:t>That’s like performing cross-validation for free</a:t>
                </a:r>
              </a:p>
            </p:txBody>
          </p:sp>
        </mc:Choice>
        <mc:Fallback xmlns="">
          <p:sp>
            <p:nvSpPr>
              <p:cNvPr id="290" name="It can be shown that in a bootstrap sample, on average 2/3 of the instances are included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456" t="-1794" b="-1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1" name="Out of Bag Error Estim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Out of Bag Error Estimation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n_estimators: number of trees in fores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Courier New"/>
                <a:ea typeface="Courier New"/>
                <a:cs typeface="Courier New"/>
                <a:sym typeface="Courier New"/>
              </a:rPr>
              <a:t>n_estimators</a:t>
            </a:r>
            <a:r>
              <a:t>: number of trees in forest </a:t>
            </a:r>
          </a:p>
          <a:p>
            <a:pPr lvl="1"/>
            <a:r>
              <a:t>Increasing does not lead to overfitting </a:t>
            </a:r>
          </a:p>
          <a:p>
            <a:r>
              <a:rPr>
                <a:latin typeface="Courier New"/>
                <a:ea typeface="Courier New"/>
                <a:cs typeface="Courier New"/>
                <a:sym typeface="Courier New"/>
              </a:rPr>
              <a:t>criterion</a:t>
            </a:r>
            <a:r>
              <a:t>: Gini impurity or entropy</a:t>
            </a:r>
          </a:p>
          <a:p>
            <a:r>
              <a:rPr>
                <a:latin typeface="Courier New"/>
                <a:ea typeface="Courier New"/>
                <a:cs typeface="Courier New"/>
                <a:sym typeface="Courier New"/>
              </a:rPr>
              <a:t>max_features</a:t>
            </a:r>
            <a:r>
              <a:t>: Number of features to consider at each split</a:t>
            </a:r>
          </a:p>
          <a:p>
            <a:r>
              <a:t>Tuning parameters associated with base estimator</a:t>
            </a:r>
          </a:p>
        </p:txBody>
      </p:sp>
      <p:sp>
        <p:nvSpPr>
          <p:cNvPr id="294" name="Tuning Parameters (Bagging and RF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>
            <a:lvl1pPr defTabSz="1525858">
              <a:defRPr sz="5280" spc="-105"/>
            </a:lvl1pPr>
          </a:lstStyle>
          <a:p>
            <a:r>
              <a:t>Tuning Parameters (Bagging and RF)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astin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262523" indent="-262523" defTabSz="1194743">
              <a:spcBef>
                <a:spcPts val="2180"/>
              </a:spcBef>
              <a:defRPr sz="2940"/>
            </a:pPr>
            <a:r>
              <a:rPr sz="1600" dirty="0"/>
              <a:t>Pasting </a:t>
            </a:r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sz="1600" dirty="0"/>
              <a:t>Like bagging</a:t>
            </a:r>
            <a:r>
              <a:rPr lang="en-US" sz="1600" dirty="0"/>
              <a:t>,</a:t>
            </a:r>
            <a:r>
              <a:rPr sz="1600" dirty="0"/>
              <a:t> except sample is taken without replacement</a:t>
            </a:r>
          </a:p>
          <a:p>
            <a:pPr marL="262523" indent="-262523" defTabSz="1194743">
              <a:spcBef>
                <a:spcPts val="2180"/>
              </a:spcBef>
              <a:defRPr sz="2940"/>
            </a:pPr>
            <a:r>
              <a:rPr sz="1600" dirty="0"/>
              <a:t>Random patches</a:t>
            </a:r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sz="1600" dirty="0"/>
              <a:t>Like bagging</a:t>
            </a:r>
            <a:r>
              <a:rPr lang="en-US" sz="1600" dirty="0"/>
              <a:t>,</a:t>
            </a:r>
            <a:r>
              <a:rPr sz="1600" dirty="0"/>
              <a:t> except a random sample of instances and features is used in training base estimator</a:t>
            </a:r>
          </a:p>
          <a:p>
            <a:pPr marL="262523" indent="-262523" defTabSz="1194743">
              <a:spcBef>
                <a:spcPts val="2180"/>
              </a:spcBef>
              <a:defRPr sz="2940"/>
            </a:pPr>
            <a:r>
              <a:rPr sz="1600" dirty="0"/>
              <a:t>Random subspaces</a:t>
            </a:r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sz="1600" dirty="0"/>
              <a:t>Like bagging</a:t>
            </a:r>
            <a:r>
              <a:rPr lang="en-US" sz="1600" dirty="0"/>
              <a:t>,</a:t>
            </a:r>
            <a:r>
              <a:rPr sz="1600" dirty="0"/>
              <a:t> except a random sample of features used is training base estimator</a:t>
            </a:r>
          </a:p>
          <a:p>
            <a:pPr marL="262523" indent="-262523" defTabSz="1194743">
              <a:spcBef>
                <a:spcPts val="2180"/>
              </a:spcBef>
              <a:defRPr sz="2940"/>
            </a:pPr>
            <a:r>
              <a:rPr sz="1600" dirty="0"/>
              <a:t>Extremely random trees</a:t>
            </a:r>
          </a:p>
          <a:p>
            <a:pPr marL="700063" lvl="1" indent="-262523" defTabSz="1194743">
              <a:spcBef>
                <a:spcPts val="2180"/>
              </a:spcBef>
              <a:defRPr sz="2940"/>
            </a:pPr>
            <a:r>
              <a:rPr sz="1600" dirty="0"/>
              <a:t>Like RF, except use random splits (instead of best threshold)</a:t>
            </a:r>
          </a:p>
        </p:txBody>
      </p:sp>
      <p:sp>
        <p:nvSpPr>
          <p:cNvPr id="297" name="Other vari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25858">
              <a:defRPr sz="5280" spc="-105"/>
            </a:lvl1pPr>
          </a:lstStyle>
          <a:p>
            <a:r>
              <a:t>Other variations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762</Words>
  <Application>Microsoft Office PowerPoint</Application>
  <PresentationFormat>Widescreen</PresentationFormat>
  <Paragraphs>93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Calisto MT</vt:lpstr>
      <vt:lpstr>Cambria Math</vt:lpstr>
      <vt:lpstr>Courier New</vt:lpstr>
      <vt:lpstr>Univers Condensed</vt:lpstr>
      <vt:lpstr>ChronicleVTI</vt:lpstr>
      <vt:lpstr>Random FOrests</vt:lpstr>
      <vt:lpstr>Improving Variance</vt:lpstr>
      <vt:lpstr>Applying this principle to trees</vt:lpstr>
      <vt:lpstr>Bootstrap Aggregation (ing) </vt:lpstr>
      <vt:lpstr>More about bagging</vt:lpstr>
      <vt:lpstr>What if the predictions aren’t independent?</vt:lpstr>
      <vt:lpstr>Ensemble variance</vt:lpstr>
      <vt:lpstr>Random Forest Splits</vt:lpstr>
      <vt:lpstr>Model Interpretation</vt:lpstr>
      <vt:lpstr>Example of Feature Importance</vt:lpstr>
      <vt:lpstr>Out of Bag Error Estimation</vt:lpstr>
      <vt:lpstr>Tuning Parameters (Bagging and RF)</vt:lpstr>
      <vt:lpstr>Other variations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Rhodes</dc:creator>
  <cp:lastModifiedBy>Jake Rhodes</cp:lastModifiedBy>
  <cp:revision>23</cp:revision>
  <dcterms:created xsi:type="dcterms:W3CDTF">2025-10-28T15:32:43Z</dcterms:created>
  <dcterms:modified xsi:type="dcterms:W3CDTF">2026-02-26T16:23:29Z</dcterms:modified>
</cp:coreProperties>
</file>