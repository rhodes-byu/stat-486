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27"/>
  </p:notesMasterIdLst>
  <p:sldIdLst>
    <p:sldId id="256" r:id="rId2"/>
    <p:sldId id="304" r:id="rId3"/>
    <p:sldId id="305" r:id="rId4"/>
    <p:sldId id="307" r:id="rId5"/>
    <p:sldId id="303" r:id="rId6"/>
    <p:sldId id="325" r:id="rId7"/>
    <p:sldId id="308" r:id="rId8"/>
    <p:sldId id="326" r:id="rId9"/>
    <p:sldId id="309" r:id="rId10"/>
    <p:sldId id="310" r:id="rId11"/>
    <p:sldId id="311" r:id="rId12"/>
    <p:sldId id="315" r:id="rId13"/>
    <p:sldId id="281" r:id="rId14"/>
    <p:sldId id="327" r:id="rId15"/>
    <p:sldId id="328" r:id="rId16"/>
    <p:sldId id="329" r:id="rId17"/>
    <p:sldId id="321" r:id="rId18"/>
    <p:sldId id="322" r:id="rId19"/>
    <p:sldId id="323" r:id="rId20"/>
    <p:sldId id="324" r:id="rId21"/>
    <p:sldId id="317" r:id="rId22"/>
    <p:sldId id="318" r:id="rId23"/>
    <p:sldId id="314" r:id="rId24"/>
    <p:sldId id="316" r:id="rId25"/>
    <p:sldId id="31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404" autoAdjust="0"/>
  </p:normalViewPr>
  <p:slideViewPr>
    <p:cSldViewPr snapToGrid="0">
      <p:cViewPr varScale="1">
        <p:scale>
          <a:sx n="74" d="100"/>
          <a:sy n="74" d="100"/>
        </p:scale>
        <p:origin x="340" y="56"/>
      </p:cViewPr>
      <p:guideLst/>
    </p:cSldViewPr>
  </p:slideViewPr>
  <p:outlineViewPr>
    <p:cViewPr>
      <p:scale>
        <a:sx n="33" d="100"/>
        <a:sy n="33" d="100"/>
      </p:scale>
      <p:origin x="0" y="-1028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D09587-20E1-4C26-B0FF-9FE6413C7FE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A835B79-DFCB-4539-8E5F-FBA021A15449}">
      <dgm:prSet/>
      <dgm:spPr/>
      <dgm:t>
        <a:bodyPr/>
        <a:lstStyle/>
        <a:p>
          <a:pPr>
            <a:lnSpc>
              <a:spcPct val="100000"/>
            </a:lnSpc>
          </a:pPr>
          <a:r>
            <a:rPr lang="en-US" b="1" i="0" baseline="0" dirty="0"/>
            <a:t>T</a:t>
          </a:r>
          <a:r>
            <a:rPr lang="en-US" b="0" i="0" baseline="0" dirty="0"/>
            <a:t>: Set of trees in the forest (|T| = T)</a:t>
          </a:r>
          <a:endParaRPr lang="en-US" dirty="0"/>
        </a:p>
      </dgm:t>
    </dgm:pt>
    <dgm:pt modelId="{0971EAE4-B42E-4E76-9FCE-ECC9E8A32D42}" type="parTrans" cxnId="{E38694A7-297D-47F7-849C-631ACB48D684}">
      <dgm:prSet/>
      <dgm:spPr/>
      <dgm:t>
        <a:bodyPr/>
        <a:lstStyle/>
        <a:p>
          <a:endParaRPr lang="en-US"/>
        </a:p>
      </dgm:t>
    </dgm:pt>
    <dgm:pt modelId="{3E0A9255-21BC-4E2F-B58E-795FFCE86F2B}" type="sibTrans" cxnId="{E38694A7-297D-47F7-849C-631ACB48D684}">
      <dgm:prSet/>
      <dgm:spPr/>
      <dgm:t>
        <a:bodyPr/>
        <a:lstStyle/>
        <a:p>
          <a:endParaRPr lang="en-US"/>
        </a:p>
      </dgm:t>
    </dgm:pt>
    <dgm:pt modelId="{32AF262D-F53E-4760-989E-AA8B0AD5277D}">
      <dgm:prSet/>
      <dgm:spPr/>
      <dgm:t>
        <a:bodyPr/>
        <a:lstStyle/>
        <a:p>
          <a:pPr>
            <a:lnSpc>
              <a:spcPct val="100000"/>
            </a:lnSpc>
          </a:pPr>
          <a:r>
            <a:rPr lang="en-US" b="1" i="0" baseline="0" dirty="0"/>
            <a:t>Sᵢ</a:t>
          </a:r>
          <a:r>
            <a:rPr lang="en-US" b="0" i="0" baseline="0" dirty="0"/>
            <a:t>: Trees where obs. </a:t>
          </a:r>
          <a:r>
            <a:rPr lang="en-US" b="0" i="1" baseline="0" dirty="0" err="1"/>
            <a:t>i</a:t>
          </a:r>
          <a:r>
            <a:rPr lang="en-US" b="0" i="0" baseline="0" dirty="0"/>
            <a:t>  is OOB</a:t>
          </a:r>
          <a:endParaRPr lang="en-US" dirty="0"/>
        </a:p>
      </dgm:t>
    </dgm:pt>
    <dgm:pt modelId="{E34ABC18-3E00-4EF7-8BC9-2999719B01C4}" type="parTrans" cxnId="{E6E13402-9944-4718-A78D-DCEC7DFA9CB0}">
      <dgm:prSet/>
      <dgm:spPr/>
      <dgm:t>
        <a:bodyPr/>
        <a:lstStyle/>
        <a:p>
          <a:endParaRPr lang="en-US"/>
        </a:p>
      </dgm:t>
    </dgm:pt>
    <dgm:pt modelId="{F8BF60D9-3C69-4244-BC7A-ACDC4C5EBF75}" type="sibTrans" cxnId="{E6E13402-9944-4718-A78D-DCEC7DFA9CB0}">
      <dgm:prSet/>
      <dgm:spPr/>
      <dgm:t>
        <a:bodyPr/>
        <a:lstStyle/>
        <a:p>
          <a:endParaRPr lang="en-US"/>
        </a:p>
      </dgm:t>
    </dgm:pt>
    <dgm:pt modelId="{11A86A1F-03E2-4A07-AE57-06EE99F59756}">
      <dgm:prSet/>
      <dgm:spPr/>
      <dgm:t>
        <a:bodyPr/>
        <a:lstStyle/>
        <a:p>
          <a:pPr>
            <a:lnSpc>
              <a:spcPct val="100000"/>
            </a:lnSpc>
          </a:pPr>
          <a:r>
            <a:rPr lang="en-US" b="1" i="0" baseline="0" dirty="0"/>
            <a:t>Jᵢ(t)</a:t>
          </a:r>
          <a:r>
            <a:rPr lang="en-US" b="0" i="0" baseline="0" dirty="0"/>
            <a:t>: In-bag indices in node with </a:t>
          </a:r>
          <a:r>
            <a:rPr lang="en-US" b="0" i="1" baseline="0" dirty="0" err="1"/>
            <a:t>i</a:t>
          </a:r>
          <a:r>
            <a:rPr lang="en-US" b="0" i="0" baseline="0" dirty="0"/>
            <a:t> in tree </a:t>
          </a:r>
          <a:r>
            <a:rPr lang="en-US" b="0" i="1" baseline="0" dirty="0"/>
            <a:t>t</a:t>
          </a:r>
          <a:endParaRPr lang="en-US" dirty="0"/>
        </a:p>
      </dgm:t>
    </dgm:pt>
    <dgm:pt modelId="{FDAB0F05-062C-4999-AD92-2FFD654F462C}" type="parTrans" cxnId="{C9D64A62-8B79-4A0E-813F-69125C1DDFF0}">
      <dgm:prSet/>
      <dgm:spPr/>
      <dgm:t>
        <a:bodyPr/>
        <a:lstStyle/>
        <a:p>
          <a:endParaRPr lang="en-US"/>
        </a:p>
      </dgm:t>
    </dgm:pt>
    <dgm:pt modelId="{1D9157FD-C9AD-4DDD-90B2-B81BC613C9B8}" type="sibTrans" cxnId="{C9D64A62-8B79-4A0E-813F-69125C1DDFF0}">
      <dgm:prSet/>
      <dgm:spPr/>
      <dgm:t>
        <a:bodyPr/>
        <a:lstStyle/>
        <a:p>
          <a:endParaRPr lang="en-US"/>
        </a:p>
      </dgm:t>
    </dgm:pt>
    <dgm:pt modelId="{B9BD4380-C8F7-45EC-B877-42CFEA5630D2}">
      <dgm:prSet/>
      <dgm:spPr/>
      <dgm:t>
        <a:bodyPr/>
        <a:lstStyle/>
        <a:p>
          <a:pPr>
            <a:lnSpc>
              <a:spcPct val="100000"/>
            </a:lnSpc>
          </a:pPr>
          <a:r>
            <a:rPr lang="en-US" b="1" i="0" baseline="0" dirty="0"/>
            <a:t>Mᵢ(t)</a:t>
          </a:r>
          <a:r>
            <a:rPr lang="en-US" b="0" i="0" baseline="0" dirty="0"/>
            <a:t>: Multiset of in-bag indices in </a:t>
          </a:r>
          <a:r>
            <a:rPr lang="en-US" b="0" i="1" baseline="0" dirty="0"/>
            <a:t>i</a:t>
          </a:r>
          <a:r>
            <a:rPr lang="en-US" b="0" i="0" baseline="0" dirty="0"/>
            <a:t>’s terminal node</a:t>
          </a:r>
          <a:endParaRPr lang="en-US" dirty="0"/>
        </a:p>
      </dgm:t>
    </dgm:pt>
    <dgm:pt modelId="{4C552444-127B-4D0F-9C78-AAF235B2AAA8}" type="parTrans" cxnId="{5EAC6557-FF9D-4214-9A59-49D365D5F51A}">
      <dgm:prSet/>
      <dgm:spPr/>
      <dgm:t>
        <a:bodyPr/>
        <a:lstStyle/>
        <a:p>
          <a:endParaRPr lang="en-US"/>
        </a:p>
      </dgm:t>
    </dgm:pt>
    <dgm:pt modelId="{842FFD76-95D8-4F7C-B7BD-1F31CED6BDC2}" type="sibTrans" cxnId="{5EAC6557-FF9D-4214-9A59-49D365D5F51A}">
      <dgm:prSet/>
      <dgm:spPr/>
      <dgm:t>
        <a:bodyPr/>
        <a:lstStyle/>
        <a:p>
          <a:endParaRPr lang="en-US"/>
        </a:p>
      </dgm:t>
    </dgm:pt>
    <dgm:pt modelId="{CC6DF830-09DD-485B-BD13-9523ADC36393}">
      <dgm:prSet/>
      <dgm:spPr/>
      <dgm:t>
        <a:bodyPr/>
        <a:lstStyle/>
        <a:p>
          <a:pPr>
            <a:lnSpc>
              <a:spcPct val="100000"/>
            </a:lnSpc>
          </a:pPr>
          <a:r>
            <a:rPr lang="en-US" b="1" i="0" baseline="0" dirty="0"/>
            <a:t>cⱼ(t)</a:t>
          </a:r>
          <a:r>
            <a:rPr lang="en-US" b="0" i="0" baseline="0" dirty="0"/>
            <a:t>: In-bag count of obs. J in tree t.</a:t>
          </a:r>
          <a:endParaRPr lang="en-US" dirty="0"/>
        </a:p>
      </dgm:t>
    </dgm:pt>
    <dgm:pt modelId="{C5B9CF9A-89C4-4AC9-BC15-E60E3B8408FB}" type="parTrans" cxnId="{87D0758B-26B2-4CFF-B7C5-19E107D1EE6B}">
      <dgm:prSet/>
      <dgm:spPr/>
      <dgm:t>
        <a:bodyPr/>
        <a:lstStyle/>
        <a:p>
          <a:endParaRPr lang="en-US"/>
        </a:p>
      </dgm:t>
    </dgm:pt>
    <dgm:pt modelId="{DB8D77BB-DDFB-489E-ADF8-3A6342DE4016}" type="sibTrans" cxnId="{87D0758B-26B2-4CFF-B7C5-19E107D1EE6B}">
      <dgm:prSet/>
      <dgm:spPr/>
      <dgm:t>
        <a:bodyPr/>
        <a:lstStyle/>
        <a:p>
          <a:endParaRPr lang="en-US"/>
        </a:p>
      </dgm:t>
    </dgm:pt>
    <dgm:pt modelId="{64F740A6-2F43-4135-81CE-335D006CD422}" type="pres">
      <dgm:prSet presAssocID="{66D09587-20E1-4C26-B0FF-9FE6413C7FED}" presName="root" presStyleCnt="0">
        <dgm:presLayoutVars>
          <dgm:dir/>
          <dgm:resizeHandles val="exact"/>
        </dgm:presLayoutVars>
      </dgm:prSet>
      <dgm:spPr/>
    </dgm:pt>
    <dgm:pt modelId="{51174660-8C41-4A99-9F02-A1F43A3026AB}" type="pres">
      <dgm:prSet presAssocID="{9A835B79-DFCB-4539-8E5F-FBA021A15449}" presName="compNode" presStyleCnt="0"/>
      <dgm:spPr/>
    </dgm:pt>
    <dgm:pt modelId="{B02F5C54-EC85-4537-AED3-E057707547B5}" type="pres">
      <dgm:prSet presAssocID="{9A835B79-DFCB-4539-8E5F-FBA021A15449}" presName="bgRect" presStyleLbl="bgShp" presStyleIdx="0" presStyleCnt="5"/>
      <dgm:spPr>
        <a:solidFill>
          <a:schemeClr val="accent6"/>
        </a:solidFill>
      </dgm:spPr>
    </dgm:pt>
    <dgm:pt modelId="{67F6B193-4637-4258-860C-2A801F515469}" type="pres">
      <dgm:prSet presAssocID="{9A835B79-DFCB-4539-8E5F-FBA021A1544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orest scene"/>
        </a:ext>
      </dgm:extLst>
    </dgm:pt>
    <dgm:pt modelId="{2A0720E6-1443-497A-96C5-61216332C297}" type="pres">
      <dgm:prSet presAssocID="{9A835B79-DFCB-4539-8E5F-FBA021A15449}" presName="spaceRect" presStyleCnt="0"/>
      <dgm:spPr/>
    </dgm:pt>
    <dgm:pt modelId="{609FE523-3994-4F63-BFA9-66BCA61180CC}" type="pres">
      <dgm:prSet presAssocID="{9A835B79-DFCB-4539-8E5F-FBA021A15449}" presName="parTx" presStyleLbl="revTx" presStyleIdx="0" presStyleCnt="5">
        <dgm:presLayoutVars>
          <dgm:chMax val="0"/>
          <dgm:chPref val="0"/>
        </dgm:presLayoutVars>
      </dgm:prSet>
      <dgm:spPr/>
    </dgm:pt>
    <dgm:pt modelId="{0B5D6F39-049E-4427-AEA4-FF66447E3C8F}" type="pres">
      <dgm:prSet presAssocID="{3E0A9255-21BC-4E2F-B58E-795FFCE86F2B}" presName="sibTrans" presStyleCnt="0"/>
      <dgm:spPr/>
    </dgm:pt>
    <dgm:pt modelId="{F9819CEC-6418-4C66-B1AC-EBB82A43BDC6}" type="pres">
      <dgm:prSet presAssocID="{32AF262D-F53E-4760-989E-AA8B0AD5277D}" presName="compNode" presStyleCnt="0"/>
      <dgm:spPr/>
    </dgm:pt>
    <dgm:pt modelId="{40057E8C-9404-4913-93BB-8CEEFD344193}" type="pres">
      <dgm:prSet presAssocID="{32AF262D-F53E-4760-989E-AA8B0AD5277D}" presName="bgRect" presStyleLbl="bgShp" presStyleIdx="1" presStyleCnt="5"/>
      <dgm:spPr>
        <a:solidFill>
          <a:schemeClr val="accent6"/>
        </a:solidFill>
      </dgm:spPr>
    </dgm:pt>
    <dgm:pt modelId="{01540636-AFCF-4D3B-8DDF-106C02F24B10}" type="pres">
      <dgm:prSet presAssocID="{32AF262D-F53E-4760-989E-AA8B0AD5277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04C1D27A-A99D-4EC2-8C73-30A9A54D3A0E}" type="pres">
      <dgm:prSet presAssocID="{32AF262D-F53E-4760-989E-AA8B0AD5277D}" presName="spaceRect" presStyleCnt="0"/>
      <dgm:spPr/>
    </dgm:pt>
    <dgm:pt modelId="{FF2A5799-3DD4-46E3-A605-6DEBA0BAA391}" type="pres">
      <dgm:prSet presAssocID="{32AF262D-F53E-4760-989E-AA8B0AD5277D}" presName="parTx" presStyleLbl="revTx" presStyleIdx="1" presStyleCnt="5">
        <dgm:presLayoutVars>
          <dgm:chMax val="0"/>
          <dgm:chPref val="0"/>
        </dgm:presLayoutVars>
      </dgm:prSet>
      <dgm:spPr/>
    </dgm:pt>
    <dgm:pt modelId="{4ABF9B59-9107-4A4F-B49E-204622F37423}" type="pres">
      <dgm:prSet presAssocID="{F8BF60D9-3C69-4244-BC7A-ACDC4C5EBF75}" presName="sibTrans" presStyleCnt="0"/>
      <dgm:spPr/>
    </dgm:pt>
    <dgm:pt modelId="{A04E0299-9241-4829-8AFE-E363FA377BCF}" type="pres">
      <dgm:prSet presAssocID="{11A86A1F-03E2-4A07-AE57-06EE99F59756}" presName="compNode" presStyleCnt="0"/>
      <dgm:spPr/>
    </dgm:pt>
    <dgm:pt modelId="{1E96997F-B2B1-462C-AB93-A4303EF10339}" type="pres">
      <dgm:prSet presAssocID="{11A86A1F-03E2-4A07-AE57-06EE99F59756}" presName="bgRect" presStyleLbl="bgShp" presStyleIdx="2" presStyleCnt="5"/>
      <dgm:spPr>
        <a:solidFill>
          <a:schemeClr val="accent6"/>
        </a:solidFill>
      </dgm:spPr>
    </dgm:pt>
    <dgm:pt modelId="{B8E44DEF-6784-4708-8A17-8B66A8BFE9A8}" type="pres">
      <dgm:prSet presAssocID="{11A86A1F-03E2-4A07-AE57-06EE99F5975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le"/>
        </a:ext>
      </dgm:extLst>
    </dgm:pt>
    <dgm:pt modelId="{BDE9657B-1E16-43AD-BDD4-4C5A0BD37E91}" type="pres">
      <dgm:prSet presAssocID="{11A86A1F-03E2-4A07-AE57-06EE99F59756}" presName="spaceRect" presStyleCnt="0"/>
      <dgm:spPr/>
    </dgm:pt>
    <dgm:pt modelId="{A480C371-2EE6-4717-A486-A5F9A43E37B3}" type="pres">
      <dgm:prSet presAssocID="{11A86A1F-03E2-4A07-AE57-06EE99F59756}" presName="parTx" presStyleLbl="revTx" presStyleIdx="2" presStyleCnt="5">
        <dgm:presLayoutVars>
          <dgm:chMax val="0"/>
          <dgm:chPref val="0"/>
        </dgm:presLayoutVars>
      </dgm:prSet>
      <dgm:spPr/>
    </dgm:pt>
    <dgm:pt modelId="{C455F4CE-8866-4F0C-A863-E839E7272634}" type="pres">
      <dgm:prSet presAssocID="{1D9157FD-C9AD-4DDD-90B2-B81BC613C9B8}" presName="sibTrans" presStyleCnt="0"/>
      <dgm:spPr/>
    </dgm:pt>
    <dgm:pt modelId="{D63A9315-C0CE-4335-9416-C513233164EB}" type="pres">
      <dgm:prSet presAssocID="{B9BD4380-C8F7-45EC-B877-42CFEA5630D2}" presName="compNode" presStyleCnt="0"/>
      <dgm:spPr/>
    </dgm:pt>
    <dgm:pt modelId="{DB604F5A-ABB8-4B63-8934-6587F2BB9C98}" type="pres">
      <dgm:prSet presAssocID="{B9BD4380-C8F7-45EC-B877-42CFEA5630D2}" presName="bgRect" presStyleLbl="bgShp" presStyleIdx="3" presStyleCnt="5"/>
      <dgm:spPr>
        <a:solidFill>
          <a:schemeClr val="accent6"/>
        </a:solidFill>
      </dgm:spPr>
    </dgm:pt>
    <dgm:pt modelId="{BECE3F4F-C702-46CE-923C-D45E17CAECD6}" type="pres">
      <dgm:prSet presAssocID="{B9BD4380-C8F7-45EC-B877-42CFEA5630D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search"/>
        </a:ext>
      </dgm:extLst>
    </dgm:pt>
    <dgm:pt modelId="{C9E38981-F44A-4B5A-8815-19347CBD548C}" type="pres">
      <dgm:prSet presAssocID="{B9BD4380-C8F7-45EC-B877-42CFEA5630D2}" presName="spaceRect" presStyleCnt="0"/>
      <dgm:spPr/>
    </dgm:pt>
    <dgm:pt modelId="{F4D8C0B5-4E80-4D9B-BDF3-243A4203A090}" type="pres">
      <dgm:prSet presAssocID="{B9BD4380-C8F7-45EC-B877-42CFEA5630D2}" presName="parTx" presStyleLbl="revTx" presStyleIdx="3" presStyleCnt="5">
        <dgm:presLayoutVars>
          <dgm:chMax val="0"/>
          <dgm:chPref val="0"/>
        </dgm:presLayoutVars>
      </dgm:prSet>
      <dgm:spPr/>
    </dgm:pt>
    <dgm:pt modelId="{BEF2A2DB-06D4-4830-AB07-310B9FAB9984}" type="pres">
      <dgm:prSet presAssocID="{842FFD76-95D8-4F7C-B7BD-1F31CED6BDC2}" presName="sibTrans" presStyleCnt="0"/>
      <dgm:spPr/>
    </dgm:pt>
    <dgm:pt modelId="{6B5CCC41-D433-426F-94B5-98507A8614E1}" type="pres">
      <dgm:prSet presAssocID="{CC6DF830-09DD-485B-BD13-9523ADC36393}" presName="compNode" presStyleCnt="0"/>
      <dgm:spPr/>
    </dgm:pt>
    <dgm:pt modelId="{6CE53583-C08C-4F99-9ABE-A74FEB7CCEEC}" type="pres">
      <dgm:prSet presAssocID="{CC6DF830-09DD-485B-BD13-9523ADC36393}" presName="bgRect" presStyleLbl="bgShp" presStyleIdx="4" presStyleCnt="5"/>
      <dgm:spPr>
        <a:solidFill>
          <a:schemeClr val="accent6"/>
        </a:solidFill>
      </dgm:spPr>
    </dgm:pt>
    <dgm:pt modelId="{6B000830-00E0-45A1-A334-227D0B921889}" type="pres">
      <dgm:prSet presAssocID="{CC6DF830-09DD-485B-BD13-9523ADC3639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hopping bag"/>
        </a:ext>
      </dgm:extLst>
    </dgm:pt>
    <dgm:pt modelId="{2F1C71F5-B4DF-4013-B42F-EC76B06536EB}" type="pres">
      <dgm:prSet presAssocID="{CC6DF830-09DD-485B-BD13-9523ADC36393}" presName="spaceRect" presStyleCnt="0"/>
      <dgm:spPr/>
    </dgm:pt>
    <dgm:pt modelId="{04B81E63-7BA6-43FB-9EFD-884FC77FA9F5}" type="pres">
      <dgm:prSet presAssocID="{CC6DF830-09DD-485B-BD13-9523ADC36393}" presName="parTx" presStyleLbl="revTx" presStyleIdx="4" presStyleCnt="5">
        <dgm:presLayoutVars>
          <dgm:chMax val="0"/>
          <dgm:chPref val="0"/>
        </dgm:presLayoutVars>
      </dgm:prSet>
      <dgm:spPr/>
    </dgm:pt>
  </dgm:ptLst>
  <dgm:cxnLst>
    <dgm:cxn modelId="{E6E13402-9944-4718-A78D-DCEC7DFA9CB0}" srcId="{66D09587-20E1-4C26-B0FF-9FE6413C7FED}" destId="{32AF262D-F53E-4760-989E-AA8B0AD5277D}" srcOrd="1" destOrd="0" parTransId="{E34ABC18-3E00-4EF7-8BC9-2999719B01C4}" sibTransId="{F8BF60D9-3C69-4244-BC7A-ACDC4C5EBF75}"/>
    <dgm:cxn modelId="{FE681912-4B21-4EA6-888A-986B28D53ACB}" type="presOf" srcId="{11A86A1F-03E2-4A07-AE57-06EE99F59756}" destId="{A480C371-2EE6-4717-A486-A5F9A43E37B3}" srcOrd="0" destOrd="0" presId="urn:microsoft.com/office/officeart/2018/2/layout/IconVerticalSolidList"/>
    <dgm:cxn modelId="{7ABD392E-7E22-478E-8986-81FC54200C4F}" type="presOf" srcId="{32AF262D-F53E-4760-989E-AA8B0AD5277D}" destId="{FF2A5799-3DD4-46E3-A605-6DEBA0BAA391}" srcOrd="0" destOrd="0" presId="urn:microsoft.com/office/officeart/2018/2/layout/IconVerticalSolidList"/>
    <dgm:cxn modelId="{C9D64A62-8B79-4A0E-813F-69125C1DDFF0}" srcId="{66D09587-20E1-4C26-B0FF-9FE6413C7FED}" destId="{11A86A1F-03E2-4A07-AE57-06EE99F59756}" srcOrd="2" destOrd="0" parTransId="{FDAB0F05-062C-4999-AD92-2FFD654F462C}" sibTransId="{1D9157FD-C9AD-4DDD-90B2-B81BC613C9B8}"/>
    <dgm:cxn modelId="{2E000F71-0D42-4F04-A634-F8617A203CF6}" type="presOf" srcId="{CC6DF830-09DD-485B-BD13-9523ADC36393}" destId="{04B81E63-7BA6-43FB-9EFD-884FC77FA9F5}" srcOrd="0" destOrd="0" presId="urn:microsoft.com/office/officeart/2018/2/layout/IconVerticalSolidList"/>
    <dgm:cxn modelId="{5EAC6557-FF9D-4214-9A59-49D365D5F51A}" srcId="{66D09587-20E1-4C26-B0FF-9FE6413C7FED}" destId="{B9BD4380-C8F7-45EC-B877-42CFEA5630D2}" srcOrd="3" destOrd="0" parTransId="{4C552444-127B-4D0F-9C78-AAF235B2AAA8}" sibTransId="{842FFD76-95D8-4F7C-B7BD-1F31CED6BDC2}"/>
    <dgm:cxn modelId="{B13F868A-CE04-47ED-B542-FA2DF604AB5D}" type="presOf" srcId="{B9BD4380-C8F7-45EC-B877-42CFEA5630D2}" destId="{F4D8C0B5-4E80-4D9B-BDF3-243A4203A090}" srcOrd="0" destOrd="0" presId="urn:microsoft.com/office/officeart/2018/2/layout/IconVerticalSolidList"/>
    <dgm:cxn modelId="{87D0758B-26B2-4CFF-B7C5-19E107D1EE6B}" srcId="{66D09587-20E1-4C26-B0FF-9FE6413C7FED}" destId="{CC6DF830-09DD-485B-BD13-9523ADC36393}" srcOrd="4" destOrd="0" parTransId="{C5B9CF9A-89C4-4AC9-BC15-E60E3B8408FB}" sibTransId="{DB8D77BB-DDFB-489E-ADF8-3A6342DE4016}"/>
    <dgm:cxn modelId="{E38694A7-297D-47F7-849C-631ACB48D684}" srcId="{66D09587-20E1-4C26-B0FF-9FE6413C7FED}" destId="{9A835B79-DFCB-4539-8E5F-FBA021A15449}" srcOrd="0" destOrd="0" parTransId="{0971EAE4-B42E-4E76-9FCE-ECC9E8A32D42}" sibTransId="{3E0A9255-21BC-4E2F-B58E-795FFCE86F2B}"/>
    <dgm:cxn modelId="{09649FDF-F0E5-4502-8E90-3220B300ECB9}" type="presOf" srcId="{9A835B79-DFCB-4539-8E5F-FBA021A15449}" destId="{609FE523-3994-4F63-BFA9-66BCA61180CC}" srcOrd="0" destOrd="0" presId="urn:microsoft.com/office/officeart/2018/2/layout/IconVerticalSolidList"/>
    <dgm:cxn modelId="{8DCAC2F4-8C90-45BE-8F21-74F0951F79CF}" type="presOf" srcId="{66D09587-20E1-4C26-B0FF-9FE6413C7FED}" destId="{64F740A6-2F43-4135-81CE-335D006CD422}" srcOrd="0" destOrd="0" presId="urn:microsoft.com/office/officeart/2018/2/layout/IconVerticalSolidList"/>
    <dgm:cxn modelId="{C9F3C683-A8E0-49CF-96EE-5EDBB599C658}" type="presParOf" srcId="{64F740A6-2F43-4135-81CE-335D006CD422}" destId="{51174660-8C41-4A99-9F02-A1F43A3026AB}" srcOrd="0" destOrd="0" presId="urn:microsoft.com/office/officeart/2018/2/layout/IconVerticalSolidList"/>
    <dgm:cxn modelId="{F0274B16-03B6-403F-BE16-891EB7B21C3B}" type="presParOf" srcId="{51174660-8C41-4A99-9F02-A1F43A3026AB}" destId="{B02F5C54-EC85-4537-AED3-E057707547B5}" srcOrd="0" destOrd="0" presId="urn:microsoft.com/office/officeart/2018/2/layout/IconVerticalSolidList"/>
    <dgm:cxn modelId="{30E367BE-A2F5-446B-92E1-215312C3FA8A}" type="presParOf" srcId="{51174660-8C41-4A99-9F02-A1F43A3026AB}" destId="{67F6B193-4637-4258-860C-2A801F515469}" srcOrd="1" destOrd="0" presId="urn:microsoft.com/office/officeart/2018/2/layout/IconVerticalSolidList"/>
    <dgm:cxn modelId="{2CC0AD23-1F8D-43E8-9199-39A5A71D6804}" type="presParOf" srcId="{51174660-8C41-4A99-9F02-A1F43A3026AB}" destId="{2A0720E6-1443-497A-96C5-61216332C297}" srcOrd="2" destOrd="0" presId="urn:microsoft.com/office/officeart/2018/2/layout/IconVerticalSolidList"/>
    <dgm:cxn modelId="{FFC48FF9-DA4A-409A-BDAF-EB453E94CE42}" type="presParOf" srcId="{51174660-8C41-4A99-9F02-A1F43A3026AB}" destId="{609FE523-3994-4F63-BFA9-66BCA61180CC}" srcOrd="3" destOrd="0" presId="urn:microsoft.com/office/officeart/2018/2/layout/IconVerticalSolidList"/>
    <dgm:cxn modelId="{82501953-0368-4448-AEBD-6873BA531B30}" type="presParOf" srcId="{64F740A6-2F43-4135-81CE-335D006CD422}" destId="{0B5D6F39-049E-4427-AEA4-FF66447E3C8F}" srcOrd="1" destOrd="0" presId="urn:microsoft.com/office/officeart/2018/2/layout/IconVerticalSolidList"/>
    <dgm:cxn modelId="{683389B4-F833-4393-99AB-7C28452D689E}" type="presParOf" srcId="{64F740A6-2F43-4135-81CE-335D006CD422}" destId="{F9819CEC-6418-4C66-B1AC-EBB82A43BDC6}" srcOrd="2" destOrd="0" presId="urn:microsoft.com/office/officeart/2018/2/layout/IconVerticalSolidList"/>
    <dgm:cxn modelId="{6DB5B8D9-C705-41BC-8CD5-5C974BD1C0F3}" type="presParOf" srcId="{F9819CEC-6418-4C66-B1AC-EBB82A43BDC6}" destId="{40057E8C-9404-4913-93BB-8CEEFD344193}" srcOrd="0" destOrd="0" presId="urn:microsoft.com/office/officeart/2018/2/layout/IconVerticalSolidList"/>
    <dgm:cxn modelId="{8211E53D-5E50-4CFB-8697-154AB3016C0F}" type="presParOf" srcId="{F9819CEC-6418-4C66-B1AC-EBB82A43BDC6}" destId="{01540636-AFCF-4D3B-8DDF-106C02F24B10}" srcOrd="1" destOrd="0" presId="urn:microsoft.com/office/officeart/2018/2/layout/IconVerticalSolidList"/>
    <dgm:cxn modelId="{460691D7-BF17-47B8-A562-EF719DEE25DA}" type="presParOf" srcId="{F9819CEC-6418-4C66-B1AC-EBB82A43BDC6}" destId="{04C1D27A-A99D-4EC2-8C73-30A9A54D3A0E}" srcOrd="2" destOrd="0" presId="urn:microsoft.com/office/officeart/2018/2/layout/IconVerticalSolidList"/>
    <dgm:cxn modelId="{9A0F1B2E-CB39-4E2D-9BCB-9D8A5C90A43F}" type="presParOf" srcId="{F9819CEC-6418-4C66-B1AC-EBB82A43BDC6}" destId="{FF2A5799-3DD4-46E3-A605-6DEBA0BAA391}" srcOrd="3" destOrd="0" presId="urn:microsoft.com/office/officeart/2018/2/layout/IconVerticalSolidList"/>
    <dgm:cxn modelId="{08A5D05D-1157-47CF-8917-266DA268482B}" type="presParOf" srcId="{64F740A6-2F43-4135-81CE-335D006CD422}" destId="{4ABF9B59-9107-4A4F-B49E-204622F37423}" srcOrd="3" destOrd="0" presId="urn:microsoft.com/office/officeart/2018/2/layout/IconVerticalSolidList"/>
    <dgm:cxn modelId="{C9F01F0E-E702-4A59-AFD3-AECE347C4436}" type="presParOf" srcId="{64F740A6-2F43-4135-81CE-335D006CD422}" destId="{A04E0299-9241-4829-8AFE-E363FA377BCF}" srcOrd="4" destOrd="0" presId="urn:microsoft.com/office/officeart/2018/2/layout/IconVerticalSolidList"/>
    <dgm:cxn modelId="{DB45978E-2DE8-4E10-B9DE-C0F91DC9A48C}" type="presParOf" srcId="{A04E0299-9241-4829-8AFE-E363FA377BCF}" destId="{1E96997F-B2B1-462C-AB93-A4303EF10339}" srcOrd="0" destOrd="0" presId="urn:microsoft.com/office/officeart/2018/2/layout/IconVerticalSolidList"/>
    <dgm:cxn modelId="{CD069AB8-E685-41BB-88DA-A181EC28BBFF}" type="presParOf" srcId="{A04E0299-9241-4829-8AFE-E363FA377BCF}" destId="{B8E44DEF-6784-4708-8A17-8B66A8BFE9A8}" srcOrd="1" destOrd="0" presId="urn:microsoft.com/office/officeart/2018/2/layout/IconVerticalSolidList"/>
    <dgm:cxn modelId="{C81C1972-5BB4-40CE-9CC9-85F9B73C5285}" type="presParOf" srcId="{A04E0299-9241-4829-8AFE-E363FA377BCF}" destId="{BDE9657B-1E16-43AD-BDD4-4C5A0BD37E91}" srcOrd="2" destOrd="0" presId="urn:microsoft.com/office/officeart/2018/2/layout/IconVerticalSolidList"/>
    <dgm:cxn modelId="{627B4CD3-7C9A-4B79-B97A-C5038115D68A}" type="presParOf" srcId="{A04E0299-9241-4829-8AFE-E363FA377BCF}" destId="{A480C371-2EE6-4717-A486-A5F9A43E37B3}" srcOrd="3" destOrd="0" presId="urn:microsoft.com/office/officeart/2018/2/layout/IconVerticalSolidList"/>
    <dgm:cxn modelId="{6725E969-0236-4C39-90C8-40F114B5B5B8}" type="presParOf" srcId="{64F740A6-2F43-4135-81CE-335D006CD422}" destId="{C455F4CE-8866-4F0C-A863-E839E7272634}" srcOrd="5" destOrd="0" presId="urn:microsoft.com/office/officeart/2018/2/layout/IconVerticalSolidList"/>
    <dgm:cxn modelId="{DE75980B-BD2C-4164-9ADE-3FF9A4E93E0A}" type="presParOf" srcId="{64F740A6-2F43-4135-81CE-335D006CD422}" destId="{D63A9315-C0CE-4335-9416-C513233164EB}" srcOrd="6" destOrd="0" presId="urn:microsoft.com/office/officeart/2018/2/layout/IconVerticalSolidList"/>
    <dgm:cxn modelId="{8ED257F8-24EB-4B5C-BEA1-2327190078C4}" type="presParOf" srcId="{D63A9315-C0CE-4335-9416-C513233164EB}" destId="{DB604F5A-ABB8-4B63-8934-6587F2BB9C98}" srcOrd="0" destOrd="0" presId="urn:microsoft.com/office/officeart/2018/2/layout/IconVerticalSolidList"/>
    <dgm:cxn modelId="{E13931D3-0CDA-4D49-BF3E-70B4C81EEB04}" type="presParOf" srcId="{D63A9315-C0CE-4335-9416-C513233164EB}" destId="{BECE3F4F-C702-46CE-923C-D45E17CAECD6}" srcOrd="1" destOrd="0" presId="urn:microsoft.com/office/officeart/2018/2/layout/IconVerticalSolidList"/>
    <dgm:cxn modelId="{A5840BB8-0225-4795-8607-6562D8F57549}" type="presParOf" srcId="{D63A9315-C0CE-4335-9416-C513233164EB}" destId="{C9E38981-F44A-4B5A-8815-19347CBD548C}" srcOrd="2" destOrd="0" presId="urn:microsoft.com/office/officeart/2018/2/layout/IconVerticalSolidList"/>
    <dgm:cxn modelId="{DEB9C412-D44B-4D7A-9C79-256F160CA526}" type="presParOf" srcId="{D63A9315-C0CE-4335-9416-C513233164EB}" destId="{F4D8C0B5-4E80-4D9B-BDF3-243A4203A090}" srcOrd="3" destOrd="0" presId="urn:microsoft.com/office/officeart/2018/2/layout/IconVerticalSolidList"/>
    <dgm:cxn modelId="{50CA36C7-BC4E-4A96-9DFF-58FA66D2DB90}" type="presParOf" srcId="{64F740A6-2F43-4135-81CE-335D006CD422}" destId="{BEF2A2DB-06D4-4830-AB07-310B9FAB9984}" srcOrd="7" destOrd="0" presId="urn:microsoft.com/office/officeart/2018/2/layout/IconVerticalSolidList"/>
    <dgm:cxn modelId="{15BDE96A-2593-472A-A8D5-1792CDAD8EE6}" type="presParOf" srcId="{64F740A6-2F43-4135-81CE-335D006CD422}" destId="{6B5CCC41-D433-426F-94B5-98507A8614E1}" srcOrd="8" destOrd="0" presId="urn:microsoft.com/office/officeart/2018/2/layout/IconVerticalSolidList"/>
    <dgm:cxn modelId="{8D125D7E-92CD-49C4-91F9-73A52EFF45EE}" type="presParOf" srcId="{6B5CCC41-D433-426F-94B5-98507A8614E1}" destId="{6CE53583-C08C-4F99-9ABE-A74FEB7CCEEC}" srcOrd="0" destOrd="0" presId="urn:microsoft.com/office/officeart/2018/2/layout/IconVerticalSolidList"/>
    <dgm:cxn modelId="{D27093C1-B38A-4F1D-B5FF-6A8C9E64E54D}" type="presParOf" srcId="{6B5CCC41-D433-426F-94B5-98507A8614E1}" destId="{6B000830-00E0-45A1-A334-227D0B921889}" srcOrd="1" destOrd="0" presId="urn:microsoft.com/office/officeart/2018/2/layout/IconVerticalSolidList"/>
    <dgm:cxn modelId="{DD857D04-BB62-49D6-B768-81689FBEC995}" type="presParOf" srcId="{6B5CCC41-D433-426F-94B5-98507A8614E1}" destId="{2F1C71F5-B4DF-4013-B42F-EC76B06536EB}" srcOrd="2" destOrd="0" presId="urn:microsoft.com/office/officeart/2018/2/layout/IconVerticalSolidList"/>
    <dgm:cxn modelId="{F4EDC420-0C0F-419D-97C5-C8A66D9C7DC2}" type="presParOf" srcId="{6B5CCC41-D433-426F-94B5-98507A8614E1}" destId="{04B81E63-7BA6-43FB-9EFD-884FC77FA9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3212B0-7E6F-43D8-9230-CF7DB8737D12}" type="doc">
      <dgm:prSet loTypeId="urn:microsoft.com/office/officeart/2005/8/layout/default" loCatId="list" qsTypeId="urn:microsoft.com/office/officeart/2005/8/quickstyle/simple1" qsCatId="simple" csTypeId="urn:microsoft.com/office/officeart/2005/8/colors/accent0_3" csCatId="mainScheme"/>
      <dgm:spPr/>
      <dgm:t>
        <a:bodyPr/>
        <a:lstStyle/>
        <a:p>
          <a:endParaRPr lang="en-US"/>
        </a:p>
      </dgm:t>
    </dgm:pt>
    <dgm:pt modelId="{61BF1B27-0CE9-4921-B715-5244EA41C8DA}">
      <dgm:prSet/>
      <dgm:spPr/>
      <dgm:t>
        <a:bodyPr/>
        <a:lstStyle/>
        <a:p>
          <a:r>
            <a:rPr lang="en-US"/>
            <a:t>Visualization</a:t>
          </a:r>
        </a:p>
      </dgm:t>
    </dgm:pt>
    <dgm:pt modelId="{8B5CE6BB-B98D-4A1F-8B79-B25C175AF1B0}" type="parTrans" cxnId="{97D1D3DB-2E9F-4D11-AE8C-C26D62D2EC11}">
      <dgm:prSet/>
      <dgm:spPr/>
      <dgm:t>
        <a:bodyPr/>
        <a:lstStyle/>
        <a:p>
          <a:endParaRPr lang="en-US"/>
        </a:p>
      </dgm:t>
    </dgm:pt>
    <dgm:pt modelId="{05E84EA3-5C30-4E1D-B230-081572F137E6}" type="sibTrans" cxnId="{97D1D3DB-2E9F-4D11-AE8C-C26D62D2EC11}">
      <dgm:prSet/>
      <dgm:spPr/>
      <dgm:t>
        <a:bodyPr/>
        <a:lstStyle/>
        <a:p>
          <a:endParaRPr lang="en-US"/>
        </a:p>
      </dgm:t>
    </dgm:pt>
    <dgm:pt modelId="{7671BBC6-4A95-4D4E-A572-CEB63EC0C638}">
      <dgm:prSet/>
      <dgm:spPr/>
      <dgm:t>
        <a:bodyPr/>
        <a:lstStyle/>
        <a:p>
          <a:r>
            <a:rPr lang="en-US"/>
            <a:t>Imputation</a:t>
          </a:r>
        </a:p>
      </dgm:t>
    </dgm:pt>
    <dgm:pt modelId="{6BA964E2-C619-4F7B-A267-90BEC40ABC45}" type="parTrans" cxnId="{13D01A7A-F541-46A5-8954-8BB9D9AC53D9}">
      <dgm:prSet/>
      <dgm:spPr/>
      <dgm:t>
        <a:bodyPr/>
        <a:lstStyle/>
        <a:p>
          <a:endParaRPr lang="en-US"/>
        </a:p>
      </dgm:t>
    </dgm:pt>
    <dgm:pt modelId="{839F241B-4DCA-4FF1-B070-B0E41CB6793A}" type="sibTrans" cxnId="{13D01A7A-F541-46A5-8954-8BB9D9AC53D9}">
      <dgm:prSet/>
      <dgm:spPr/>
      <dgm:t>
        <a:bodyPr/>
        <a:lstStyle/>
        <a:p>
          <a:endParaRPr lang="en-US"/>
        </a:p>
      </dgm:t>
    </dgm:pt>
    <dgm:pt modelId="{98E2DD54-4BEF-4755-AC6D-44487DE8C8C4}">
      <dgm:prSet/>
      <dgm:spPr/>
      <dgm:t>
        <a:bodyPr/>
        <a:lstStyle/>
        <a:p>
          <a:r>
            <a:rPr lang="en-US"/>
            <a:t>Outlier Detection</a:t>
          </a:r>
        </a:p>
      </dgm:t>
    </dgm:pt>
    <dgm:pt modelId="{1CE65462-46F4-4BD9-8CDF-9264D2CD9D60}" type="parTrans" cxnId="{F0F8D189-1048-471E-B7C0-87E1E2804B21}">
      <dgm:prSet/>
      <dgm:spPr/>
      <dgm:t>
        <a:bodyPr/>
        <a:lstStyle/>
        <a:p>
          <a:endParaRPr lang="en-US"/>
        </a:p>
      </dgm:t>
    </dgm:pt>
    <dgm:pt modelId="{56F3A16A-AE8F-41A8-9995-30A19E6F1F3D}" type="sibTrans" cxnId="{F0F8D189-1048-471E-B7C0-87E1E2804B21}">
      <dgm:prSet/>
      <dgm:spPr/>
      <dgm:t>
        <a:bodyPr/>
        <a:lstStyle/>
        <a:p>
          <a:endParaRPr lang="en-US"/>
        </a:p>
      </dgm:t>
    </dgm:pt>
    <dgm:pt modelId="{8C3DC301-3845-4A0B-BB9F-2A0B0A89DBBC}">
      <dgm:prSet/>
      <dgm:spPr/>
      <dgm:t>
        <a:bodyPr/>
        <a:lstStyle/>
        <a:p>
          <a:r>
            <a:rPr lang="en-US"/>
            <a:t>Uncertainty Quantification</a:t>
          </a:r>
        </a:p>
      </dgm:t>
    </dgm:pt>
    <dgm:pt modelId="{AD339D9C-6C34-444F-9039-3CFFF178CC4F}" type="parTrans" cxnId="{122602D5-81B2-4F9A-BBC2-C2A8BA75AE90}">
      <dgm:prSet/>
      <dgm:spPr/>
      <dgm:t>
        <a:bodyPr/>
        <a:lstStyle/>
        <a:p>
          <a:endParaRPr lang="en-US"/>
        </a:p>
      </dgm:t>
    </dgm:pt>
    <dgm:pt modelId="{27596E94-3315-4BA8-B390-EF649B589747}" type="sibTrans" cxnId="{122602D5-81B2-4F9A-BBC2-C2A8BA75AE90}">
      <dgm:prSet/>
      <dgm:spPr/>
      <dgm:t>
        <a:bodyPr/>
        <a:lstStyle/>
        <a:p>
          <a:endParaRPr lang="en-US"/>
        </a:p>
      </dgm:t>
    </dgm:pt>
    <dgm:pt modelId="{0EB8378F-DE02-490C-80B2-458D40909ABC}">
      <dgm:prSet/>
      <dgm:spPr/>
      <dgm:t>
        <a:bodyPr/>
        <a:lstStyle/>
        <a:p>
          <a:r>
            <a:rPr lang="en-US"/>
            <a:t>Manifold Learning/Alignment</a:t>
          </a:r>
        </a:p>
      </dgm:t>
    </dgm:pt>
    <dgm:pt modelId="{6D0B42B3-0BF2-4657-9FBF-A2E57D93D7FB}" type="parTrans" cxnId="{E17C362E-B2FF-4446-B843-086058692D2F}">
      <dgm:prSet/>
      <dgm:spPr/>
      <dgm:t>
        <a:bodyPr/>
        <a:lstStyle/>
        <a:p>
          <a:endParaRPr lang="en-US"/>
        </a:p>
      </dgm:t>
    </dgm:pt>
    <dgm:pt modelId="{174637F2-9F4A-492F-A6DB-9EF5D67B54A1}" type="sibTrans" cxnId="{E17C362E-B2FF-4446-B843-086058692D2F}">
      <dgm:prSet/>
      <dgm:spPr/>
      <dgm:t>
        <a:bodyPr/>
        <a:lstStyle/>
        <a:p>
          <a:endParaRPr lang="en-US"/>
        </a:p>
      </dgm:t>
    </dgm:pt>
    <dgm:pt modelId="{87D46686-F650-473D-8C30-F650A136EBEC}" type="pres">
      <dgm:prSet presAssocID="{AF3212B0-7E6F-43D8-9230-CF7DB8737D12}" presName="diagram" presStyleCnt="0">
        <dgm:presLayoutVars>
          <dgm:dir/>
          <dgm:resizeHandles val="exact"/>
        </dgm:presLayoutVars>
      </dgm:prSet>
      <dgm:spPr/>
    </dgm:pt>
    <dgm:pt modelId="{31CC45DB-5726-43F9-A02F-831F127DD049}" type="pres">
      <dgm:prSet presAssocID="{61BF1B27-0CE9-4921-B715-5244EA41C8DA}" presName="node" presStyleLbl="node1" presStyleIdx="0" presStyleCnt="5">
        <dgm:presLayoutVars>
          <dgm:bulletEnabled val="1"/>
        </dgm:presLayoutVars>
      </dgm:prSet>
      <dgm:spPr/>
    </dgm:pt>
    <dgm:pt modelId="{A85C0A77-6449-4079-A932-BAA89C95DF55}" type="pres">
      <dgm:prSet presAssocID="{05E84EA3-5C30-4E1D-B230-081572F137E6}" presName="sibTrans" presStyleCnt="0"/>
      <dgm:spPr/>
    </dgm:pt>
    <dgm:pt modelId="{3A020184-539A-4396-8E0E-D5D35D17FAB3}" type="pres">
      <dgm:prSet presAssocID="{7671BBC6-4A95-4D4E-A572-CEB63EC0C638}" presName="node" presStyleLbl="node1" presStyleIdx="1" presStyleCnt="5">
        <dgm:presLayoutVars>
          <dgm:bulletEnabled val="1"/>
        </dgm:presLayoutVars>
      </dgm:prSet>
      <dgm:spPr/>
    </dgm:pt>
    <dgm:pt modelId="{3B7AA13C-A333-40F7-97CC-3A0549390920}" type="pres">
      <dgm:prSet presAssocID="{839F241B-4DCA-4FF1-B070-B0E41CB6793A}" presName="sibTrans" presStyleCnt="0"/>
      <dgm:spPr/>
    </dgm:pt>
    <dgm:pt modelId="{7AD47F6A-6243-4411-A138-EBD48A61C274}" type="pres">
      <dgm:prSet presAssocID="{98E2DD54-4BEF-4755-AC6D-44487DE8C8C4}" presName="node" presStyleLbl="node1" presStyleIdx="2" presStyleCnt="5">
        <dgm:presLayoutVars>
          <dgm:bulletEnabled val="1"/>
        </dgm:presLayoutVars>
      </dgm:prSet>
      <dgm:spPr/>
    </dgm:pt>
    <dgm:pt modelId="{DD88A121-7F18-482E-9EA1-BA3FF0CB536B}" type="pres">
      <dgm:prSet presAssocID="{56F3A16A-AE8F-41A8-9995-30A19E6F1F3D}" presName="sibTrans" presStyleCnt="0"/>
      <dgm:spPr/>
    </dgm:pt>
    <dgm:pt modelId="{E0C3902E-EDCF-4813-9CF2-D212E67AF020}" type="pres">
      <dgm:prSet presAssocID="{8C3DC301-3845-4A0B-BB9F-2A0B0A89DBBC}" presName="node" presStyleLbl="node1" presStyleIdx="3" presStyleCnt="5">
        <dgm:presLayoutVars>
          <dgm:bulletEnabled val="1"/>
        </dgm:presLayoutVars>
      </dgm:prSet>
      <dgm:spPr/>
    </dgm:pt>
    <dgm:pt modelId="{B6B1F18C-86CB-4E25-84B4-19A505604D10}" type="pres">
      <dgm:prSet presAssocID="{27596E94-3315-4BA8-B390-EF649B589747}" presName="sibTrans" presStyleCnt="0"/>
      <dgm:spPr/>
    </dgm:pt>
    <dgm:pt modelId="{C0A8C513-58B7-4D76-A63A-CA6B2D61F7A8}" type="pres">
      <dgm:prSet presAssocID="{0EB8378F-DE02-490C-80B2-458D40909ABC}" presName="node" presStyleLbl="node1" presStyleIdx="4" presStyleCnt="5">
        <dgm:presLayoutVars>
          <dgm:bulletEnabled val="1"/>
        </dgm:presLayoutVars>
      </dgm:prSet>
      <dgm:spPr/>
    </dgm:pt>
  </dgm:ptLst>
  <dgm:cxnLst>
    <dgm:cxn modelId="{E17C362E-B2FF-4446-B843-086058692D2F}" srcId="{AF3212B0-7E6F-43D8-9230-CF7DB8737D12}" destId="{0EB8378F-DE02-490C-80B2-458D40909ABC}" srcOrd="4" destOrd="0" parTransId="{6D0B42B3-0BF2-4657-9FBF-A2E57D93D7FB}" sibTransId="{174637F2-9F4A-492F-A6DB-9EF5D67B54A1}"/>
    <dgm:cxn modelId="{13D01A7A-F541-46A5-8954-8BB9D9AC53D9}" srcId="{AF3212B0-7E6F-43D8-9230-CF7DB8737D12}" destId="{7671BBC6-4A95-4D4E-A572-CEB63EC0C638}" srcOrd="1" destOrd="0" parTransId="{6BA964E2-C619-4F7B-A267-90BEC40ABC45}" sibTransId="{839F241B-4DCA-4FF1-B070-B0E41CB6793A}"/>
    <dgm:cxn modelId="{5DBCC088-0487-4C26-8FCD-6E3DC05E6EDE}" type="presOf" srcId="{98E2DD54-4BEF-4755-AC6D-44487DE8C8C4}" destId="{7AD47F6A-6243-4411-A138-EBD48A61C274}" srcOrd="0" destOrd="0" presId="urn:microsoft.com/office/officeart/2005/8/layout/default"/>
    <dgm:cxn modelId="{F0F8D189-1048-471E-B7C0-87E1E2804B21}" srcId="{AF3212B0-7E6F-43D8-9230-CF7DB8737D12}" destId="{98E2DD54-4BEF-4755-AC6D-44487DE8C8C4}" srcOrd="2" destOrd="0" parTransId="{1CE65462-46F4-4BD9-8CDF-9264D2CD9D60}" sibTransId="{56F3A16A-AE8F-41A8-9995-30A19E6F1F3D}"/>
    <dgm:cxn modelId="{A0D34995-2A47-43A1-A62D-4F8CA199D105}" type="presOf" srcId="{AF3212B0-7E6F-43D8-9230-CF7DB8737D12}" destId="{87D46686-F650-473D-8C30-F650A136EBEC}" srcOrd="0" destOrd="0" presId="urn:microsoft.com/office/officeart/2005/8/layout/default"/>
    <dgm:cxn modelId="{6A6455B6-9EFC-4E05-AF51-9D081830AB0F}" type="presOf" srcId="{61BF1B27-0CE9-4921-B715-5244EA41C8DA}" destId="{31CC45DB-5726-43F9-A02F-831F127DD049}" srcOrd="0" destOrd="0" presId="urn:microsoft.com/office/officeart/2005/8/layout/default"/>
    <dgm:cxn modelId="{C535A6BA-321C-48E7-BEA1-AFA38D317C96}" type="presOf" srcId="{8C3DC301-3845-4A0B-BB9F-2A0B0A89DBBC}" destId="{E0C3902E-EDCF-4813-9CF2-D212E67AF020}" srcOrd="0" destOrd="0" presId="urn:microsoft.com/office/officeart/2005/8/layout/default"/>
    <dgm:cxn modelId="{6F4230C0-7C7B-4E76-86D6-20915D87331E}" type="presOf" srcId="{7671BBC6-4A95-4D4E-A572-CEB63EC0C638}" destId="{3A020184-539A-4396-8E0E-D5D35D17FAB3}" srcOrd="0" destOrd="0" presId="urn:microsoft.com/office/officeart/2005/8/layout/default"/>
    <dgm:cxn modelId="{122602D5-81B2-4F9A-BBC2-C2A8BA75AE90}" srcId="{AF3212B0-7E6F-43D8-9230-CF7DB8737D12}" destId="{8C3DC301-3845-4A0B-BB9F-2A0B0A89DBBC}" srcOrd="3" destOrd="0" parTransId="{AD339D9C-6C34-444F-9039-3CFFF178CC4F}" sibTransId="{27596E94-3315-4BA8-B390-EF649B589747}"/>
    <dgm:cxn modelId="{97D1D3DB-2E9F-4D11-AE8C-C26D62D2EC11}" srcId="{AF3212B0-7E6F-43D8-9230-CF7DB8737D12}" destId="{61BF1B27-0CE9-4921-B715-5244EA41C8DA}" srcOrd="0" destOrd="0" parTransId="{8B5CE6BB-B98D-4A1F-8B79-B25C175AF1B0}" sibTransId="{05E84EA3-5C30-4E1D-B230-081572F137E6}"/>
    <dgm:cxn modelId="{7AB812FD-0047-472B-A71D-36A3041F4B99}" type="presOf" srcId="{0EB8378F-DE02-490C-80B2-458D40909ABC}" destId="{C0A8C513-58B7-4D76-A63A-CA6B2D61F7A8}" srcOrd="0" destOrd="0" presId="urn:microsoft.com/office/officeart/2005/8/layout/default"/>
    <dgm:cxn modelId="{A6387AF9-F0DB-47ED-8EF6-6A4356E9A269}" type="presParOf" srcId="{87D46686-F650-473D-8C30-F650A136EBEC}" destId="{31CC45DB-5726-43F9-A02F-831F127DD049}" srcOrd="0" destOrd="0" presId="urn:microsoft.com/office/officeart/2005/8/layout/default"/>
    <dgm:cxn modelId="{E78B01E0-5250-4593-8DA8-39B5E2E56641}" type="presParOf" srcId="{87D46686-F650-473D-8C30-F650A136EBEC}" destId="{A85C0A77-6449-4079-A932-BAA89C95DF55}" srcOrd="1" destOrd="0" presId="urn:microsoft.com/office/officeart/2005/8/layout/default"/>
    <dgm:cxn modelId="{04F32183-1599-439E-AF0C-05864A1D9C4A}" type="presParOf" srcId="{87D46686-F650-473D-8C30-F650A136EBEC}" destId="{3A020184-539A-4396-8E0E-D5D35D17FAB3}" srcOrd="2" destOrd="0" presId="urn:microsoft.com/office/officeart/2005/8/layout/default"/>
    <dgm:cxn modelId="{8F9A7103-1DF2-446B-BA65-17E9BA027DCA}" type="presParOf" srcId="{87D46686-F650-473D-8C30-F650A136EBEC}" destId="{3B7AA13C-A333-40F7-97CC-3A0549390920}" srcOrd="3" destOrd="0" presId="urn:microsoft.com/office/officeart/2005/8/layout/default"/>
    <dgm:cxn modelId="{37DB5679-7219-44A2-B10B-CB40477CAC4F}" type="presParOf" srcId="{87D46686-F650-473D-8C30-F650A136EBEC}" destId="{7AD47F6A-6243-4411-A138-EBD48A61C274}" srcOrd="4" destOrd="0" presId="urn:microsoft.com/office/officeart/2005/8/layout/default"/>
    <dgm:cxn modelId="{0775CDF7-E306-44F5-B384-2F531877F030}" type="presParOf" srcId="{87D46686-F650-473D-8C30-F650A136EBEC}" destId="{DD88A121-7F18-482E-9EA1-BA3FF0CB536B}" srcOrd="5" destOrd="0" presId="urn:microsoft.com/office/officeart/2005/8/layout/default"/>
    <dgm:cxn modelId="{7E4CF354-BE1F-4947-BC47-356CB6EEE4F9}" type="presParOf" srcId="{87D46686-F650-473D-8C30-F650A136EBEC}" destId="{E0C3902E-EDCF-4813-9CF2-D212E67AF020}" srcOrd="6" destOrd="0" presId="urn:microsoft.com/office/officeart/2005/8/layout/default"/>
    <dgm:cxn modelId="{7BFDC7F3-F904-4360-9482-6B14A5DFD878}" type="presParOf" srcId="{87D46686-F650-473D-8C30-F650A136EBEC}" destId="{B6B1F18C-86CB-4E25-84B4-19A505604D10}" srcOrd="7" destOrd="0" presId="urn:microsoft.com/office/officeart/2005/8/layout/default"/>
    <dgm:cxn modelId="{276C7A02-4DA5-4108-92CE-9F3722DE4D9B}" type="presParOf" srcId="{87D46686-F650-473D-8C30-F650A136EBEC}" destId="{C0A8C513-58B7-4D76-A63A-CA6B2D61F7A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2F5C54-EC85-4537-AED3-E057707547B5}">
      <dsp:nvSpPr>
        <dsp:cNvPr id="0" name=""/>
        <dsp:cNvSpPr/>
      </dsp:nvSpPr>
      <dsp:spPr>
        <a:xfrm>
          <a:off x="0" y="3273"/>
          <a:ext cx="5800725" cy="697295"/>
        </a:xfrm>
        <a:prstGeom prst="roundRect">
          <a:avLst>
            <a:gd name="adj" fmla="val 10000"/>
          </a:avLst>
        </a:prstGeom>
        <a:solidFill>
          <a:schemeClr val="accent6"/>
        </a:solidFill>
        <a:ln>
          <a:noFill/>
        </a:ln>
        <a:effectLst/>
      </dsp:spPr>
      <dsp:style>
        <a:lnRef idx="0">
          <a:scrgbClr r="0" g="0" b="0"/>
        </a:lnRef>
        <a:fillRef idx="1">
          <a:scrgbClr r="0" g="0" b="0"/>
        </a:fillRef>
        <a:effectRef idx="0">
          <a:scrgbClr r="0" g="0" b="0"/>
        </a:effectRef>
        <a:fontRef idx="minor"/>
      </dsp:style>
    </dsp:sp>
    <dsp:sp modelId="{67F6B193-4637-4258-860C-2A801F515469}">
      <dsp:nvSpPr>
        <dsp:cNvPr id="0" name=""/>
        <dsp:cNvSpPr/>
      </dsp:nvSpPr>
      <dsp:spPr>
        <a:xfrm>
          <a:off x="210932" y="160165"/>
          <a:ext cx="383512" cy="3835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9FE523-3994-4F63-BFA9-66BCA61180CC}">
      <dsp:nvSpPr>
        <dsp:cNvPr id="0" name=""/>
        <dsp:cNvSpPr/>
      </dsp:nvSpPr>
      <dsp:spPr>
        <a:xfrm>
          <a:off x="805376" y="3273"/>
          <a:ext cx="4995348" cy="697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97" tIns="73797" rIns="73797" bIns="73797" numCol="1" spcCol="1270" anchor="ctr" anchorCtr="0">
          <a:noAutofit/>
        </a:bodyPr>
        <a:lstStyle/>
        <a:p>
          <a:pPr marL="0" lvl="0" indent="0" algn="l" defTabSz="800100">
            <a:lnSpc>
              <a:spcPct val="100000"/>
            </a:lnSpc>
            <a:spcBef>
              <a:spcPct val="0"/>
            </a:spcBef>
            <a:spcAft>
              <a:spcPct val="35000"/>
            </a:spcAft>
            <a:buNone/>
          </a:pPr>
          <a:r>
            <a:rPr lang="en-US" sz="1800" b="1" i="0" kern="1200" baseline="0" dirty="0"/>
            <a:t>T</a:t>
          </a:r>
          <a:r>
            <a:rPr lang="en-US" sz="1800" b="0" i="0" kern="1200" baseline="0" dirty="0"/>
            <a:t>: Set of trees in the forest (|T| = T)</a:t>
          </a:r>
          <a:endParaRPr lang="en-US" sz="1800" kern="1200" dirty="0"/>
        </a:p>
      </dsp:txBody>
      <dsp:txXfrm>
        <a:off x="805376" y="3273"/>
        <a:ext cx="4995348" cy="697295"/>
      </dsp:txXfrm>
    </dsp:sp>
    <dsp:sp modelId="{40057E8C-9404-4913-93BB-8CEEFD344193}">
      <dsp:nvSpPr>
        <dsp:cNvPr id="0" name=""/>
        <dsp:cNvSpPr/>
      </dsp:nvSpPr>
      <dsp:spPr>
        <a:xfrm>
          <a:off x="0" y="874893"/>
          <a:ext cx="5800725" cy="697295"/>
        </a:xfrm>
        <a:prstGeom prst="roundRect">
          <a:avLst>
            <a:gd name="adj" fmla="val 10000"/>
          </a:avLst>
        </a:prstGeom>
        <a:solidFill>
          <a:schemeClr val="accent6"/>
        </a:solidFill>
        <a:ln>
          <a:noFill/>
        </a:ln>
        <a:effectLst/>
      </dsp:spPr>
      <dsp:style>
        <a:lnRef idx="0">
          <a:scrgbClr r="0" g="0" b="0"/>
        </a:lnRef>
        <a:fillRef idx="1">
          <a:scrgbClr r="0" g="0" b="0"/>
        </a:fillRef>
        <a:effectRef idx="0">
          <a:scrgbClr r="0" g="0" b="0"/>
        </a:effectRef>
        <a:fontRef idx="minor"/>
      </dsp:style>
    </dsp:sp>
    <dsp:sp modelId="{01540636-AFCF-4D3B-8DDF-106C02F24B10}">
      <dsp:nvSpPr>
        <dsp:cNvPr id="0" name=""/>
        <dsp:cNvSpPr/>
      </dsp:nvSpPr>
      <dsp:spPr>
        <a:xfrm>
          <a:off x="210932" y="1031785"/>
          <a:ext cx="383512" cy="3835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2A5799-3DD4-46E3-A605-6DEBA0BAA391}">
      <dsp:nvSpPr>
        <dsp:cNvPr id="0" name=""/>
        <dsp:cNvSpPr/>
      </dsp:nvSpPr>
      <dsp:spPr>
        <a:xfrm>
          <a:off x="805376" y="874893"/>
          <a:ext cx="4995348" cy="697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97" tIns="73797" rIns="73797" bIns="73797" numCol="1" spcCol="1270" anchor="ctr" anchorCtr="0">
          <a:noAutofit/>
        </a:bodyPr>
        <a:lstStyle/>
        <a:p>
          <a:pPr marL="0" lvl="0" indent="0" algn="l" defTabSz="800100">
            <a:lnSpc>
              <a:spcPct val="100000"/>
            </a:lnSpc>
            <a:spcBef>
              <a:spcPct val="0"/>
            </a:spcBef>
            <a:spcAft>
              <a:spcPct val="35000"/>
            </a:spcAft>
            <a:buNone/>
          </a:pPr>
          <a:r>
            <a:rPr lang="en-US" sz="1800" b="1" i="0" kern="1200" baseline="0" dirty="0"/>
            <a:t>Sᵢ</a:t>
          </a:r>
          <a:r>
            <a:rPr lang="en-US" sz="1800" b="0" i="0" kern="1200" baseline="0" dirty="0"/>
            <a:t>: Trees where obs. </a:t>
          </a:r>
          <a:r>
            <a:rPr lang="en-US" sz="1800" b="0" i="1" kern="1200" baseline="0" dirty="0" err="1"/>
            <a:t>i</a:t>
          </a:r>
          <a:r>
            <a:rPr lang="en-US" sz="1800" b="0" i="0" kern="1200" baseline="0" dirty="0"/>
            <a:t>  is OOB</a:t>
          </a:r>
          <a:endParaRPr lang="en-US" sz="1800" kern="1200" dirty="0"/>
        </a:p>
      </dsp:txBody>
      <dsp:txXfrm>
        <a:off x="805376" y="874893"/>
        <a:ext cx="4995348" cy="697295"/>
      </dsp:txXfrm>
    </dsp:sp>
    <dsp:sp modelId="{1E96997F-B2B1-462C-AB93-A4303EF10339}">
      <dsp:nvSpPr>
        <dsp:cNvPr id="0" name=""/>
        <dsp:cNvSpPr/>
      </dsp:nvSpPr>
      <dsp:spPr>
        <a:xfrm>
          <a:off x="0" y="1746513"/>
          <a:ext cx="5800725" cy="697295"/>
        </a:xfrm>
        <a:prstGeom prst="roundRect">
          <a:avLst>
            <a:gd name="adj" fmla="val 10000"/>
          </a:avLst>
        </a:prstGeom>
        <a:solidFill>
          <a:schemeClr val="accent6"/>
        </a:solidFill>
        <a:ln>
          <a:noFill/>
        </a:ln>
        <a:effectLst/>
      </dsp:spPr>
      <dsp:style>
        <a:lnRef idx="0">
          <a:scrgbClr r="0" g="0" b="0"/>
        </a:lnRef>
        <a:fillRef idx="1">
          <a:scrgbClr r="0" g="0" b="0"/>
        </a:fillRef>
        <a:effectRef idx="0">
          <a:scrgbClr r="0" g="0" b="0"/>
        </a:effectRef>
        <a:fontRef idx="minor"/>
      </dsp:style>
    </dsp:sp>
    <dsp:sp modelId="{B8E44DEF-6784-4708-8A17-8B66A8BFE9A8}">
      <dsp:nvSpPr>
        <dsp:cNvPr id="0" name=""/>
        <dsp:cNvSpPr/>
      </dsp:nvSpPr>
      <dsp:spPr>
        <a:xfrm>
          <a:off x="210932" y="1903405"/>
          <a:ext cx="383512" cy="3835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80C371-2EE6-4717-A486-A5F9A43E37B3}">
      <dsp:nvSpPr>
        <dsp:cNvPr id="0" name=""/>
        <dsp:cNvSpPr/>
      </dsp:nvSpPr>
      <dsp:spPr>
        <a:xfrm>
          <a:off x="805376" y="1746513"/>
          <a:ext cx="4995348" cy="697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97" tIns="73797" rIns="73797" bIns="73797" numCol="1" spcCol="1270" anchor="ctr" anchorCtr="0">
          <a:noAutofit/>
        </a:bodyPr>
        <a:lstStyle/>
        <a:p>
          <a:pPr marL="0" lvl="0" indent="0" algn="l" defTabSz="800100">
            <a:lnSpc>
              <a:spcPct val="100000"/>
            </a:lnSpc>
            <a:spcBef>
              <a:spcPct val="0"/>
            </a:spcBef>
            <a:spcAft>
              <a:spcPct val="35000"/>
            </a:spcAft>
            <a:buNone/>
          </a:pPr>
          <a:r>
            <a:rPr lang="en-US" sz="1800" b="1" i="0" kern="1200" baseline="0" dirty="0"/>
            <a:t>Jᵢ(t)</a:t>
          </a:r>
          <a:r>
            <a:rPr lang="en-US" sz="1800" b="0" i="0" kern="1200" baseline="0" dirty="0"/>
            <a:t>: In-bag indices in node with </a:t>
          </a:r>
          <a:r>
            <a:rPr lang="en-US" sz="1800" b="0" i="1" kern="1200" baseline="0" dirty="0" err="1"/>
            <a:t>i</a:t>
          </a:r>
          <a:r>
            <a:rPr lang="en-US" sz="1800" b="0" i="0" kern="1200" baseline="0" dirty="0"/>
            <a:t> in tree </a:t>
          </a:r>
          <a:r>
            <a:rPr lang="en-US" sz="1800" b="0" i="1" kern="1200" baseline="0" dirty="0"/>
            <a:t>t</a:t>
          </a:r>
          <a:endParaRPr lang="en-US" sz="1800" kern="1200" dirty="0"/>
        </a:p>
      </dsp:txBody>
      <dsp:txXfrm>
        <a:off x="805376" y="1746513"/>
        <a:ext cx="4995348" cy="697295"/>
      </dsp:txXfrm>
    </dsp:sp>
    <dsp:sp modelId="{DB604F5A-ABB8-4B63-8934-6587F2BB9C98}">
      <dsp:nvSpPr>
        <dsp:cNvPr id="0" name=""/>
        <dsp:cNvSpPr/>
      </dsp:nvSpPr>
      <dsp:spPr>
        <a:xfrm>
          <a:off x="0" y="2618133"/>
          <a:ext cx="5800725" cy="697295"/>
        </a:xfrm>
        <a:prstGeom prst="roundRect">
          <a:avLst>
            <a:gd name="adj" fmla="val 10000"/>
          </a:avLst>
        </a:prstGeom>
        <a:solidFill>
          <a:schemeClr val="accent6"/>
        </a:solidFill>
        <a:ln>
          <a:noFill/>
        </a:ln>
        <a:effectLst/>
      </dsp:spPr>
      <dsp:style>
        <a:lnRef idx="0">
          <a:scrgbClr r="0" g="0" b="0"/>
        </a:lnRef>
        <a:fillRef idx="1">
          <a:scrgbClr r="0" g="0" b="0"/>
        </a:fillRef>
        <a:effectRef idx="0">
          <a:scrgbClr r="0" g="0" b="0"/>
        </a:effectRef>
        <a:fontRef idx="minor"/>
      </dsp:style>
    </dsp:sp>
    <dsp:sp modelId="{BECE3F4F-C702-46CE-923C-D45E17CAECD6}">
      <dsp:nvSpPr>
        <dsp:cNvPr id="0" name=""/>
        <dsp:cNvSpPr/>
      </dsp:nvSpPr>
      <dsp:spPr>
        <a:xfrm>
          <a:off x="210932" y="2775025"/>
          <a:ext cx="383512" cy="3835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D8C0B5-4E80-4D9B-BDF3-243A4203A090}">
      <dsp:nvSpPr>
        <dsp:cNvPr id="0" name=""/>
        <dsp:cNvSpPr/>
      </dsp:nvSpPr>
      <dsp:spPr>
        <a:xfrm>
          <a:off x="805376" y="2618133"/>
          <a:ext cx="4995348" cy="697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97" tIns="73797" rIns="73797" bIns="73797" numCol="1" spcCol="1270" anchor="ctr" anchorCtr="0">
          <a:noAutofit/>
        </a:bodyPr>
        <a:lstStyle/>
        <a:p>
          <a:pPr marL="0" lvl="0" indent="0" algn="l" defTabSz="800100">
            <a:lnSpc>
              <a:spcPct val="100000"/>
            </a:lnSpc>
            <a:spcBef>
              <a:spcPct val="0"/>
            </a:spcBef>
            <a:spcAft>
              <a:spcPct val="35000"/>
            </a:spcAft>
            <a:buNone/>
          </a:pPr>
          <a:r>
            <a:rPr lang="en-US" sz="1800" b="1" i="0" kern="1200" baseline="0" dirty="0"/>
            <a:t>Mᵢ(t)</a:t>
          </a:r>
          <a:r>
            <a:rPr lang="en-US" sz="1800" b="0" i="0" kern="1200" baseline="0" dirty="0"/>
            <a:t>: Multiset of in-bag indices in </a:t>
          </a:r>
          <a:r>
            <a:rPr lang="en-US" sz="1800" b="0" i="1" kern="1200" baseline="0" dirty="0"/>
            <a:t>i</a:t>
          </a:r>
          <a:r>
            <a:rPr lang="en-US" sz="1800" b="0" i="0" kern="1200" baseline="0" dirty="0"/>
            <a:t>’s terminal node</a:t>
          </a:r>
          <a:endParaRPr lang="en-US" sz="1800" kern="1200" dirty="0"/>
        </a:p>
      </dsp:txBody>
      <dsp:txXfrm>
        <a:off x="805376" y="2618133"/>
        <a:ext cx="4995348" cy="697295"/>
      </dsp:txXfrm>
    </dsp:sp>
    <dsp:sp modelId="{6CE53583-C08C-4F99-9ABE-A74FEB7CCEEC}">
      <dsp:nvSpPr>
        <dsp:cNvPr id="0" name=""/>
        <dsp:cNvSpPr/>
      </dsp:nvSpPr>
      <dsp:spPr>
        <a:xfrm>
          <a:off x="0" y="3489753"/>
          <a:ext cx="5800725" cy="697295"/>
        </a:xfrm>
        <a:prstGeom prst="roundRect">
          <a:avLst>
            <a:gd name="adj" fmla="val 10000"/>
          </a:avLst>
        </a:prstGeom>
        <a:solidFill>
          <a:schemeClr val="accent6"/>
        </a:solidFill>
        <a:ln>
          <a:noFill/>
        </a:ln>
        <a:effectLst/>
      </dsp:spPr>
      <dsp:style>
        <a:lnRef idx="0">
          <a:scrgbClr r="0" g="0" b="0"/>
        </a:lnRef>
        <a:fillRef idx="1">
          <a:scrgbClr r="0" g="0" b="0"/>
        </a:fillRef>
        <a:effectRef idx="0">
          <a:scrgbClr r="0" g="0" b="0"/>
        </a:effectRef>
        <a:fontRef idx="minor"/>
      </dsp:style>
    </dsp:sp>
    <dsp:sp modelId="{6B000830-00E0-45A1-A334-227D0B921889}">
      <dsp:nvSpPr>
        <dsp:cNvPr id="0" name=""/>
        <dsp:cNvSpPr/>
      </dsp:nvSpPr>
      <dsp:spPr>
        <a:xfrm>
          <a:off x="210932" y="3646644"/>
          <a:ext cx="383512" cy="38351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B81E63-7BA6-43FB-9EFD-884FC77FA9F5}">
      <dsp:nvSpPr>
        <dsp:cNvPr id="0" name=""/>
        <dsp:cNvSpPr/>
      </dsp:nvSpPr>
      <dsp:spPr>
        <a:xfrm>
          <a:off x="805376" y="3489753"/>
          <a:ext cx="4995348" cy="697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97" tIns="73797" rIns="73797" bIns="73797" numCol="1" spcCol="1270" anchor="ctr" anchorCtr="0">
          <a:noAutofit/>
        </a:bodyPr>
        <a:lstStyle/>
        <a:p>
          <a:pPr marL="0" lvl="0" indent="0" algn="l" defTabSz="800100">
            <a:lnSpc>
              <a:spcPct val="100000"/>
            </a:lnSpc>
            <a:spcBef>
              <a:spcPct val="0"/>
            </a:spcBef>
            <a:spcAft>
              <a:spcPct val="35000"/>
            </a:spcAft>
            <a:buNone/>
          </a:pPr>
          <a:r>
            <a:rPr lang="en-US" sz="1800" b="1" i="0" kern="1200" baseline="0" dirty="0"/>
            <a:t>cⱼ(t)</a:t>
          </a:r>
          <a:r>
            <a:rPr lang="en-US" sz="1800" b="0" i="0" kern="1200" baseline="0" dirty="0"/>
            <a:t>: In-bag count of obs. J in tree t.</a:t>
          </a:r>
          <a:endParaRPr lang="en-US" sz="1800" kern="1200" dirty="0"/>
        </a:p>
      </dsp:txBody>
      <dsp:txXfrm>
        <a:off x="805376" y="3489753"/>
        <a:ext cx="4995348" cy="6972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C45DB-5726-43F9-A02F-831F127DD049}">
      <dsp:nvSpPr>
        <dsp:cNvPr id="0" name=""/>
        <dsp:cNvSpPr/>
      </dsp:nvSpPr>
      <dsp:spPr>
        <a:xfrm>
          <a:off x="743415" y="313"/>
          <a:ext cx="2876556" cy="17259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Visualization</a:t>
          </a:r>
        </a:p>
      </dsp:txBody>
      <dsp:txXfrm>
        <a:off x="743415" y="313"/>
        <a:ext cx="2876556" cy="1725934"/>
      </dsp:txXfrm>
    </dsp:sp>
    <dsp:sp modelId="{3A020184-539A-4396-8E0E-D5D35D17FAB3}">
      <dsp:nvSpPr>
        <dsp:cNvPr id="0" name=""/>
        <dsp:cNvSpPr/>
      </dsp:nvSpPr>
      <dsp:spPr>
        <a:xfrm>
          <a:off x="3907627" y="313"/>
          <a:ext cx="2876556" cy="17259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Imputation</a:t>
          </a:r>
        </a:p>
      </dsp:txBody>
      <dsp:txXfrm>
        <a:off x="3907627" y="313"/>
        <a:ext cx="2876556" cy="1725934"/>
      </dsp:txXfrm>
    </dsp:sp>
    <dsp:sp modelId="{7AD47F6A-6243-4411-A138-EBD48A61C274}">
      <dsp:nvSpPr>
        <dsp:cNvPr id="0" name=""/>
        <dsp:cNvSpPr/>
      </dsp:nvSpPr>
      <dsp:spPr>
        <a:xfrm>
          <a:off x="7071840" y="313"/>
          <a:ext cx="2876556" cy="17259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Outlier Detection</a:t>
          </a:r>
        </a:p>
      </dsp:txBody>
      <dsp:txXfrm>
        <a:off x="7071840" y="313"/>
        <a:ext cx="2876556" cy="1725934"/>
      </dsp:txXfrm>
    </dsp:sp>
    <dsp:sp modelId="{E0C3902E-EDCF-4813-9CF2-D212E67AF020}">
      <dsp:nvSpPr>
        <dsp:cNvPr id="0" name=""/>
        <dsp:cNvSpPr/>
      </dsp:nvSpPr>
      <dsp:spPr>
        <a:xfrm>
          <a:off x="2325521" y="2013902"/>
          <a:ext cx="2876556" cy="17259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Uncertainty Quantification</a:t>
          </a:r>
        </a:p>
      </dsp:txBody>
      <dsp:txXfrm>
        <a:off x="2325521" y="2013902"/>
        <a:ext cx="2876556" cy="1725934"/>
      </dsp:txXfrm>
    </dsp:sp>
    <dsp:sp modelId="{C0A8C513-58B7-4D76-A63A-CA6B2D61F7A8}">
      <dsp:nvSpPr>
        <dsp:cNvPr id="0" name=""/>
        <dsp:cNvSpPr/>
      </dsp:nvSpPr>
      <dsp:spPr>
        <a:xfrm>
          <a:off x="5489733" y="2013902"/>
          <a:ext cx="2876556" cy="17259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Manifold Learning/Alignment</a:t>
          </a:r>
        </a:p>
      </dsp:txBody>
      <dsp:txXfrm>
        <a:off x="5489733" y="2013902"/>
        <a:ext cx="2876556" cy="172593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20152-7289-42ED-97D3-BBB411F9F8C0}"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E3D6-3C77-45F1-B7E2-5B66F3D24A72}" type="slidenum">
              <a:rPr lang="en-US" smtClean="0"/>
              <a:t>‹#›</a:t>
            </a:fld>
            <a:endParaRPr lang="en-US"/>
          </a:p>
        </p:txBody>
      </p:sp>
    </p:spTree>
    <p:extLst>
      <p:ext uri="{BB962C8B-B14F-4D97-AF65-F5344CB8AC3E}">
        <p14:creationId xmlns:p14="http://schemas.microsoft.com/office/powerpoint/2010/main" val="356487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MDS applied to Euclidean distances and RF proximities (Original and OOB) on the Sonar dataset~\</a:t>
            </a:r>
            <a:r>
              <a:rPr lang="en-US" dirty="0" err="1"/>
              <a:t>citep</a:t>
            </a:r>
            <a:r>
              <a:rPr lang="en-US" dirty="0"/>
              <a:t>{UCI2019}. The RF accuracy was 84.13\%. It is clear supervision helps, but the original proximities show exaggerated class separation, while OOB presents some level of noise.</a:t>
            </a:r>
          </a:p>
        </p:txBody>
      </p:sp>
      <p:sp>
        <p:nvSpPr>
          <p:cNvPr id="4" name="Slide Number Placeholder 3"/>
          <p:cNvSpPr>
            <a:spLocks noGrp="1"/>
          </p:cNvSpPr>
          <p:nvPr>
            <p:ph type="sldNum" sz="quarter" idx="5"/>
          </p:nvPr>
        </p:nvSpPr>
        <p:spPr/>
        <p:txBody>
          <a:bodyPr/>
          <a:lstStyle/>
          <a:p>
            <a:fld id="{98F0E3D6-3C77-45F1-B7E2-5B66F3D24A72}" type="slidenum">
              <a:rPr lang="en-US" smtClean="0"/>
              <a:t>14</a:t>
            </a:fld>
            <a:endParaRPr lang="en-US"/>
          </a:p>
        </p:txBody>
      </p:sp>
    </p:spTree>
    <p:extLst>
      <p:ext uri="{BB962C8B-B14F-4D97-AF65-F5344CB8AC3E}">
        <p14:creationId xmlns:p14="http://schemas.microsoft.com/office/powerpoint/2010/main" val="1567043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6B97-8442-E94C-3E4A-358B922D1D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DA893-1FCB-0DFA-DC74-ED09E34B72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9469C-4494-A822-055A-FF1D4D2DD783}"/>
              </a:ext>
            </a:extLst>
          </p:cNvPr>
          <p:cNvSpPr>
            <a:spLocks noGrp="1"/>
          </p:cNvSpPr>
          <p:nvPr>
            <p:ph type="body" idx="1"/>
          </p:nvPr>
        </p:nvSpPr>
        <p:spPr/>
        <p:txBody>
          <a:bodyPr/>
          <a:lstStyle/>
          <a:p>
            <a:r>
              <a:rPr lang="en-US" dirty="0"/>
              <a:t>MDS applied to Euclidean distances and RF proximities (Original and OOB) on the Sonar dataset~\</a:t>
            </a:r>
            <a:r>
              <a:rPr lang="en-US" dirty="0" err="1"/>
              <a:t>citep</a:t>
            </a:r>
            <a:r>
              <a:rPr lang="en-US" dirty="0"/>
              <a:t>{UCI2019}. The RF accuracy was 84.13\%. It is clear supervision helps, but the original proximities show exaggerated class separation, while OOB presents some level of noise.</a:t>
            </a:r>
          </a:p>
        </p:txBody>
      </p:sp>
      <p:sp>
        <p:nvSpPr>
          <p:cNvPr id="4" name="Slide Number Placeholder 3">
            <a:extLst>
              <a:ext uri="{FF2B5EF4-FFF2-40B4-BE49-F238E27FC236}">
                <a16:creationId xmlns:a16="http://schemas.microsoft.com/office/drawing/2014/main" id="{0CA2E14E-558C-B5F8-7C36-E8E7D5C7780F}"/>
              </a:ext>
            </a:extLst>
          </p:cNvPr>
          <p:cNvSpPr>
            <a:spLocks noGrp="1"/>
          </p:cNvSpPr>
          <p:nvPr>
            <p:ph type="sldNum" sz="quarter" idx="5"/>
          </p:nvPr>
        </p:nvSpPr>
        <p:spPr/>
        <p:txBody>
          <a:bodyPr/>
          <a:lstStyle/>
          <a:p>
            <a:fld id="{98F0E3D6-3C77-45F1-B7E2-5B66F3D24A72}" type="slidenum">
              <a:rPr lang="en-US" smtClean="0"/>
              <a:t>15</a:t>
            </a:fld>
            <a:endParaRPr lang="en-US"/>
          </a:p>
        </p:txBody>
      </p:sp>
    </p:spTree>
    <p:extLst>
      <p:ext uri="{BB962C8B-B14F-4D97-AF65-F5344CB8AC3E}">
        <p14:creationId xmlns:p14="http://schemas.microsoft.com/office/powerpoint/2010/main" val="1877005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3/4/2026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3/4/2026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3/4/2026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3/4/2026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3/4/2026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3/4/2026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3/4/2026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3/4/2026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3/4/2026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3/4/2026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3/4/2026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A283E6C1-A698-44ED-B112-2185C527C814}"/>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6" name="Title 7">
            <a:extLst>
              <a:ext uri="{FF2B5EF4-FFF2-40B4-BE49-F238E27FC236}">
                <a16:creationId xmlns:a16="http://schemas.microsoft.com/office/drawing/2014/main" id="{B8DA9715-F69D-45C0-8C20-D23271722306}"/>
              </a:ext>
            </a:extLst>
          </p:cNvPr>
          <p:cNvSpPr>
            <a:spLocks noGrp="1"/>
          </p:cNvSpPr>
          <p:nvPr>
            <p:ph type="title"/>
          </p:nvPr>
        </p:nvSpPr>
        <p:spPr>
          <a:xfrm>
            <a:off x="845164" y="1034470"/>
            <a:ext cx="10515600" cy="899783"/>
          </a:xfrm>
        </p:spPr>
        <p:txBody>
          <a:bodyPr wrap="none" anchor="ctr">
            <a:noAutofit/>
          </a:bodyPr>
          <a:lstStyle>
            <a:lvl1pPr algn="l">
              <a:spcBef>
                <a:spcPts val="0"/>
              </a:spcBef>
              <a:defRPr baseline="0"/>
            </a:lvl1pPr>
          </a:lstStyle>
          <a:p>
            <a:pPr algn="ctr"/>
            <a:r>
              <a:rPr lang="en-US"/>
              <a:t>Click to edit Master title style</a:t>
            </a:r>
            <a:endParaRPr lang="en-US" dirty="0"/>
          </a:p>
        </p:txBody>
      </p:sp>
      <p:sp>
        <p:nvSpPr>
          <p:cNvPr id="10" name="Text Placeholder 9">
            <a:extLst>
              <a:ext uri="{FF2B5EF4-FFF2-40B4-BE49-F238E27FC236}">
                <a16:creationId xmlns:a16="http://schemas.microsoft.com/office/drawing/2014/main" id="{EA11834F-2E86-44CF-9B7B-879C54D3E3DE}"/>
              </a:ext>
            </a:extLst>
          </p:cNvPr>
          <p:cNvSpPr>
            <a:spLocks noGrp="1"/>
          </p:cNvSpPr>
          <p:nvPr>
            <p:ph type="body" sz="quarter" idx="16" hasCustomPrompt="1"/>
          </p:nvPr>
        </p:nvSpPr>
        <p:spPr>
          <a:xfrm>
            <a:off x="845164" y="1900962"/>
            <a:ext cx="10112375" cy="1954213"/>
          </a:xfrm>
        </p:spPr>
        <p:txBody>
          <a:bodyPr anchor="t"/>
          <a:lstStyle>
            <a:lvl1pPr marL="0" indent="0" algn="just">
              <a:buNone/>
              <a:defRPr baseline="0"/>
            </a:lvl1pPr>
            <a:lvl2pPr marL="274320" indent="0" algn="ctr">
              <a:buFont typeface="Arial" panose="020B0604020202020204" pitchFamily="34" charset="0"/>
              <a:buNone/>
              <a:defRPr/>
            </a:lvl2pPr>
            <a:lvl3pPr marL="228600" indent="0" algn="ctr">
              <a:buNone/>
              <a:defRPr/>
            </a:lvl3pPr>
            <a:lvl4pPr marL="640080" indent="0" algn="ctr">
              <a:buFont typeface="Arial" panose="020B0604020202020204" pitchFamily="34" charset="0"/>
              <a:buNone/>
              <a:defRPr/>
            </a:lvl4pPr>
            <a:lvl5pPr marL="685800" indent="0" algn="ctr">
              <a:buNone/>
              <a:defRPr/>
            </a:lvl5pPr>
          </a:lstStyle>
          <a:p>
            <a:pPr lvl="0"/>
            <a:r>
              <a:rPr lang="en-US" dirty="0"/>
              <a:t>Click to add text</a:t>
            </a:r>
          </a:p>
        </p:txBody>
      </p:sp>
      <p:sp>
        <p:nvSpPr>
          <p:cNvPr id="13" name="Picture Placeholder 12">
            <a:extLst>
              <a:ext uri="{FF2B5EF4-FFF2-40B4-BE49-F238E27FC236}">
                <a16:creationId xmlns:a16="http://schemas.microsoft.com/office/drawing/2014/main" id="{06B13C98-6A68-488A-A861-3651BEFFDB91}"/>
              </a:ext>
            </a:extLst>
          </p:cNvPr>
          <p:cNvSpPr>
            <a:spLocks noGrp="1"/>
          </p:cNvSpPr>
          <p:nvPr>
            <p:ph type="pic" sz="quarter" idx="13"/>
          </p:nvPr>
        </p:nvSpPr>
        <p:spPr>
          <a:xfrm>
            <a:off x="0" y="4160520"/>
            <a:ext cx="4067175" cy="2697480"/>
          </a:xfrm>
          <a:solidFill>
            <a:schemeClr val="bg2">
              <a:lumMod val="50000"/>
              <a:lumOff val="50000"/>
            </a:schemeClr>
          </a:solidFill>
        </p:spPr>
        <p:txBody>
          <a:bodyPr/>
          <a:lstStyle/>
          <a:p>
            <a:r>
              <a:rPr lang="en-US"/>
              <a:t>Click icon to add picture</a:t>
            </a:r>
            <a:endParaRPr lang="en-US" dirty="0"/>
          </a:p>
        </p:txBody>
      </p:sp>
      <p:sp>
        <p:nvSpPr>
          <p:cNvPr id="18" name="Date Placeholder 3">
            <a:extLst>
              <a:ext uri="{FF2B5EF4-FFF2-40B4-BE49-F238E27FC236}">
                <a16:creationId xmlns:a16="http://schemas.microsoft.com/office/drawing/2014/main" id="{2938ABF9-B914-4702-BD3C-440D785C4B8E}"/>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dirty="0"/>
              <a:t>2025</a:t>
            </a:r>
          </a:p>
        </p:txBody>
      </p:sp>
      <p:sp>
        <p:nvSpPr>
          <p:cNvPr id="14" name="Picture Placeholder 12">
            <a:extLst>
              <a:ext uri="{FF2B5EF4-FFF2-40B4-BE49-F238E27FC236}">
                <a16:creationId xmlns:a16="http://schemas.microsoft.com/office/drawing/2014/main" id="{A8DDEC8E-7A5B-45B1-87C2-928F65F6DC8B}"/>
              </a:ext>
            </a:extLst>
          </p:cNvPr>
          <p:cNvSpPr>
            <a:spLocks noGrp="1"/>
          </p:cNvSpPr>
          <p:nvPr>
            <p:ph type="pic" sz="quarter" idx="14"/>
          </p:nvPr>
        </p:nvSpPr>
        <p:spPr>
          <a:xfrm>
            <a:off x="4059936" y="4160520"/>
            <a:ext cx="4133088" cy="2697480"/>
          </a:xfrm>
          <a:solidFill>
            <a:schemeClr val="bg2">
              <a:lumMod val="50000"/>
              <a:lumOff val="50000"/>
            </a:schemeClr>
          </a:solidFill>
        </p:spPr>
        <p:txBody>
          <a:bodyPr/>
          <a:lstStyle/>
          <a:p>
            <a:r>
              <a:rPr lang="en-US"/>
              <a:t>Click icon to add picture</a:t>
            </a:r>
            <a:endParaRPr lang="en-US" dirty="0"/>
          </a:p>
        </p:txBody>
      </p:sp>
      <p:sp>
        <p:nvSpPr>
          <p:cNvPr id="19" name="Footer Placeholder 4">
            <a:extLst>
              <a:ext uri="{FF2B5EF4-FFF2-40B4-BE49-F238E27FC236}">
                <a16:creationId xmlns:a16="http://schemas.microsoft.com/office/drawing/2014/main" id="{3D694128-BF72-4548-B72F-CAFBFD2346E1}"/>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 </a:t>
            </a:r>
          </a:p>
        </p:txBody>
      </p:sp>
      <p:sp>
        <p:nvSpPr>
          <p:cNvPr id="15" name="Picture Placeholder 12">
            <a:extLst>
              <a:ext uri="{FF2B5EF4-FFF2-40B4-BE49-F238E27FC236}">
                <a16:creationId xmlns:a16="http://schemas.microsoft.com/office/drawing/2014/main" id="{5E558F1D-66DC-426F-B815-D10EB6BC4E0B}"/>
              </a:ext>
            </a:extLst>
          </p:cNvPr>
          <p:cNvSpPr>
            <a:spLocks noGrp="1"/>
          </p:cNvSpPr>
          <p:nvPr>
            <p:ph type="pic" sz="quarter" idx="15"/>
          </p:nvPr>
        </p:nvSpPr>
        <p:spPr>
          <a:xfrm>
            <a:off x="8193024" y="4160520"/>
            <a:ext cx="4005072" cy="2697480"/>
          </a:xfrm>
          <a:solidFill>
            <a:schemeClr val="bg2">
              <a:lumMod val="50000"/>
              <a:lumOff val="50000"/>
            </a:schemeClr>
          </a:solidFill>
        </p:spPr>
        <p:txBody>
          <a:body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3EC1452B-8D51-4F49-9A26-8D49BCE7AABB}"/>
              </a:ext>
              <a:ext uri="{C183D7F6-B498-43B3-948B-1728B52AA6E4}">
                <adec:decorative xmlns:adec="http://schemas.microsoft.com/office/drawing/2017/decorative" val="1"/>
              </a:ext>
            </a:extLst>
          </p:cNvPr>
          <p:cNvCxnSpPr>
            <a:cxnSpLocks/>
          </p:cNvCxnSpPr>
          <p:nvPr userDrawn="1"/>
        </p:nvCxnSpPr>
        <p:spPr>
          <a:xfrm>
            <a:off x="3950899" y="1555564"/>
            <a:ext cx="4290204" cy="0"/>
          </a:xfrm>
          <a:prstGeom prst="line">
            <a:avLst/>
          </a:prstGeom>
          <a:ln w="19050">
            <a:solidFill>
              <a:schemeClr val="accent1">
                <a:alpha val="75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68719BE9-7631-4214-B581-04437DDA5C17}"/>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403172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65A6970-043A-47D8-B545-755078B0D7EB}"/>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7">
            <a:extLst>
              <a:ext uri="{FF2B5EF4-FFF2-40B4-BE49-F238E27FC236}">
                <a16:creationId xmlns:a16="http://schemas.microsoft.com/office/drawing/2014/main" id="{86AC1DD3-428F-4C39-A551-E13ABD51BDBF}"/>
              </a:ext>
            </a:extLst>
          </p:cNvPr>
          <p:cNvSpPr>
            <a:spLocks noGrp="1"/>
          </p:cNvSpPr>
          <p:nvPr>
            <p:ph type="title"/>
          </p:nvPr>
        </p:nvSpPr>
        <p:spPr>
          <a:xfrm>
            <a:off x="647699" y="647700"/>
            <a:ext cx="3483421" cy="2866599"/>
          </a:xfrm>
        </p:spPr>
        <p:txBody>
          <a:bodyPr>
            <a:normAutofit/>
          </a:bodyPr>
          <a:lstStyle/>
          <a:p>
            <a:pPr algn="r"/>
            <a:r>
              <a:rPr lang="en-US"/>
              <a:t>Click to edit Master title style</a:t>
            </a:r>
            <a:endParaRPr lang="en-US" dirty="0"/>
          </a:p>
        </p:txBody>
      </p:sp>
      <p:cxnSp>
        <p:nvCxnSpPr>
          <p:cNvPr id="7" name="Straight Connector 6">
            <a:extLst>
              <a:ext uri="{FF2B5EF4-FFF2-40B4-BE49-F238E27FC236}">
                <a16:creationId xmlns:a16="http://schemas.microsoft.com/office/drawing/2014/main" id="{0661C8BF-A13F-41C7-AD96-FF1FF2487316}"/>
              </a:ext>
              <a:ext uri="{C183D7F6-B498-43B3-948B-1728B52AA6E4}">
                <adec:decorative xmlns:adec="http://schemas.microsoft.com/office/drawing/2017/decorative" val="1"/>
              </a:ext>
            </a:extLst>
          </p:cNvPr>
          <p:cNvCxnSpPr>
            <a:cxnSpLocks/>
          </p:cNvCxnSpPr>
          <p:nvPr userDrawn="1"/>
        </p:nvCxnSpPr>
        <p:spPr>
          <a:xfrm>
            <a:off x="4572000" y="1344305"/>
            <a:ext cx="0" cy="1610436"/>
          </a:xfrm>
          <a:prstGeom prst="line">
            <a:avLst/>
          </a:prstGeom>
          <a:ln w="19050">
            <a:solidFill>
              <a:schemeClr val="accent1">
                <a:lumMod val="75000"/>
                <a:alpha val="7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8">
            <a:extLst>
              <a:ext uri="{FF2B5EF4-FFF2-40B4-BE49-F238E27FC236}">
                <a16:creationId xmlns:a16="http://schemas.microsoft.com/office/drawing/2014/main" id="{C48B2C18-58F4-4964-8F53-1A6C5CA463DE}"/>
              </a:ext>
            </a:extLst>
          </p:cNvPr>
          <p:cNvSpPr>
            <a:spLocks noGrp="1"/>
          </p:cNvSpPr>
          <p:nvPr>
            <p:ph idx="1"/>
          </p:nvPr>
        </p:nvSpPr>
        <p:spPr>
          <a:xfrm>
            <a:off x="5117909" y="647700"/>
            <a:ext cx="6401231" cy="2982604"/>
          </a:xfrm>
        </p:spPr>
        <p:txBody>
          <a:bodyPr anchor="ctr">
            <a:normAutofit/>
          </a:bodyPr>
          <a:lstStyle>
            <a:lvl1pPr marL="0" indent="0">
              <a:buNone/>
              <a:defRPr/>
            </a:lvl1pPr>
          </a:lstStyle>
          <a:p>
            <a:pPr lvl="0"/>
            <a:r>
              <a:rPr lang="en-US"/>
              <a:t>Click to edit Master text styles</a:t>
            </a:r>
          </a:p>
        </p:txBody>
      </p:sp>
      <p:sp>
        <p:nvSpPr>
          <p:cNvPr id="14" name="Picture Placeholder 13">
            <a:extLst>
              <a:ext uri="{FF2B5EF4-FFF2-40B4-BE49-F238E27FC236}">
                <a16:creationId xmlns:a16="http://schemas.microsoft.com/office/drawing/2014/main" id="{60AF7978-E274-4580-9576-25C42D06B28B}"/>
              </a:ext>
            </a:extLst>
          </p:cNvPr>
          <p:cNvSpPr>
            <a:spLocks noGrp="1"/>
          </p:cNvSpPr>
          <p:nvPr>
            <p:ph type="pic" sz="quarter" idx="13"/>
          </p:nvPr>
        </p:nvSpPr>
        <p:spPr>
          <a:xfrm>
            <a:off x="667512" y="4142232"/>
            <a:ext cx="2606040" cy="2075688"/>
          </a:xfrm>
          <a:solidFill>
            <a:schemeClr val="bg2">
              <a:lumMod val="50000"/>
              <a:lumOff val="50000"/>
            </a:schemeClr>
          </a:solidFill>
        </p:spPr>
        <p:txBody>
          <a:bodyPr/>
          <a:lstStyle/>
          <a:p>
            <a:r>
              <a:rPr lang="en-US"/>
              <a:t>Click icon to add picture</a:t>
            </a:r>
            <a:endParaRPr lang="en-US" dirty="0"/>
          </a:p>
        </p:txBody>
      </p:sp>
      <p:sp>
        <p:nvSpPr>
          <p:cNvPr id="16" name="Picture Placeholder 13">
            <a:extLst>
              <a:ext uri="{FF2B5EF4-FFF2-40B4-BE49-F238E27FC236}">
                <a16:creationId xmlns:a16="http://schemas.microsoft.com/office/drawing/2014/main" id="{C26149A3-CFBC-4F7F-B065-171177885AF8}"/>
              </a:ext>
            </a:extLst>
          </p:cNvPr>
          <p:cNvSpPr>
            <a:spLocks noGrp="1"/>
          </p:cNvSpPr>
          <p:nvPr>
            <p:ph type="pic" sz="quarter" idx="15"/>
          </p:nvPr>
        </p:nvSpPr>
        <p:spPr>
          <a:xfrm>
            <a:off x="3416041" y="4142232"/>
            <a:ext cx="2606040" cy="2075688"/>
          </a:xfrm>
          <a:solidFill>
            <a:schemeClr val="bg2">
              <a:lumMod val="50000"/>
              <a:lumOff val="50000"/>
            </a:schemeClr>
          </a:solidFill>
        </p:spPr>
        <p:txBody>
          <a:bodyPr/>
          <a:lstStyle/>
          <a:p>
            <a:r>
              <a:rPr lang="en-US"/>
              <a:t>Click icon to add picture</a:t>
            </a:r>
            <a:endParaRPr lang="en-US" dirty="0"/>
          </a:p>
        </p:txBody>
      </p:sp>
      <p:sp>
        <p:nvSpPr>
          <p:cNvPr id="17" name="Picture Placeholder 13">
            <a:extLst>
              <a:ext uri="{FF2B5EF4-FFF2-40B4-BE49-F238E27FC236}">
                <a16:creationId xmlns:a16="http://schemas.microsoft.com/office/drawing/2014/main" id="{47CA6D41-6659-4919-BF3F-FCA2AB53F4FE}"/>
              </a:ext>
            </a:extLst>
          </p:cNvPr>
          <p:cNvSpPr>
            <a:spLocks noGrp="1"/>
          </p:cNvSpPr>
          <p:nvPr>
            <p:ph type="pic" sz="quarter" idx="16"/>
          </p:nvPr>
        </p:nvSpPr>
        <p:spPr>
          <a:xfrm>
            <a:off x="6164570" y="4142232"/>
            <a:ext cx="2606040" cy="2075688"/>
          </a:xfrm>
          <a:solidFill>
            <a:schemeClr val="bg2">
              <a:lumMod val="50000"/>
              <a:lumOff val="50000"/>
            </a:schemeClr>
          </a:solidFill>
        </p:spPr>
        <p:txBody>
          <a:bodyPr/>
          <a:lstStyle/>
          <a:p>
            <a:r>
              <a:rPr lang="en-US"/>
              <a:t>Click icon to add picture</a:t>
            </a:r>
            <a:endParaRPr lang="en-US" dirty="0"/>
          </a:p>
        </p:txBody>
      </p:sp>
      <p:sp>
        <p:nvSpPr>
          <p:cNvPr id="15" name="Picture Placeholder 13">
            <a:extLst>
              <a:ext uri="{FF2B5EF4-FFF2-40B4-BE49-F238E27FC236}">
                <a16:creationId xmlns:a16="http://schemas.microsoft.com/office/drawing/2014/main" id="{20E6777B-4AD1-427E-904E-21086E731818}"/>
              </a:ext>
            </a:extLst>
          </p:cNvPr>
          <p:cNvSpPr>
            <a:spLocks noGrp="1"/>
          </p:cNvSpPr>
          <p:nvPr>
            <p:ph type="pic" sz="quarter" idx="14"/>
          </p:nvPr>
        </p:nvSpPr>
        <p:spPr>
          <a:xfrm>
            <a:off x="8913100" y="4142232"/>
            <a:ext cx="2606040" cy="2075688"/>
          </a:xfrm>
          <a:solidFill>
            <a:schemeClr val="bg2">
              <a:lumMod val="50000"/>
              <a:lumOff val="50000"/>
            </a:schemeClr>
          </a:solidFill>
        </p:spPr>
        <p:txBody>
          <a:bodyPr/>
          <a:lstStyle/>
          <a:p>
            <a:r>
              <a:rPr lang="en-US"/>
              <a:t>Click icon to add picture</a:t>
            </a:r>
            <a:endParaRPr lang="en-US" dirty="0"/>
          </a:p>
        </p:txBody>
      </p:sp>
      <p:sp>
        <p:nvSpPr>
          <p:cNvPr id="20" name="Date Placeholder 3">
            <a:extLst>
              <a:ext uri="{FF2B5EF4-FFF2-40B4-BE49-F238E27FC236}">
                <a16:creationId xmlns:a16="http://schemas.microsoft.com/office/drawing/2014/main" id="{7E0D4C96-36DA-4C90-B4F7-FD78F9F06EC4}"/>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dirty="0"/>
              <a:t>2025</a:t>
            </a:r>
          </a:p>
        </p:txBody>
      </p:sp>
      <p:sp>
        <p:nvSpPr>
          <p:cNvPr id="21" name="Footer Placeholder 4">
            <a:extLst>
              <a:ext uri="{FF2B5EF4-FFF2-40B4-BE49-F238E27FC236}">
                <a16:creationId xmlns:a16="http://schemas.microsoft.com/office/drawing/2014/main" id="{DCC27624-76B0-4BB8-B6D9-C01BCCE65729}"/>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 </a:t>
            </a:r>
          </a:p>
        </p:txBody>
      </p:sp>
      <p:sp>
        <p:nvSpPr>
          <p:cNvPr id="22" name="Slide Number Placeholder 5">
            <a:extLst>
              <a:ext uri="{FF2B5EF4-FFF2-40B4-BE49-F238E27FC236}">
                <a16:creationId xmlns:a16="http://schemas.microsoft.com/office/drawing/2014/main" id="{E5D71582-7D60-491E-945E-00A9A6A2E4D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715758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3/4/2026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 id="2147483687" r:id="rId12"/>
    <p:sldLayoutId id="2147483688" r:id="rId13"/>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hyperlink" Target="https://www.stat.berkeley.edu/~breiman/RandomForests/cc_home.htm#:~:text=few%20data%20sets.-,Proximities,by%20the%20number%20of%20trees." TargetMode="Externa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7.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23.e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44.jpg"/><Relationship Id="rId3" Type="http://schemas.openxmlformats.org/officeDocument/2006/relationships/image" Target="../media/image39.jp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8893BAF-81D5-3CB5-EA4F-5ED7680CA025}"/>
              </a:ext>
            </a:extLst>
          </p:cNvPr>
          <p:cNvPicPr>
            <a:picLocks noChangeAspect="1"/>
          </p:cNvPicPr>
          <p:nvPr/>
        </p:nvPicPr>
        <p:blipFill>
          <a:blip r:embed="rId2"/>
          <a:srcRect t="3542" b="12189"/>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704088" y="871759"/>
            <a:ext cx="5067300" cy="3497042"/>
          </a:xfrm>
        </p:spPr>
        <p:txBody>
          <a:bodyPr anchor="t">
            <a:normAutofit/>
          </a:bodyPr>
          <a:lstStyle/>
          <a:p>
            <a:r>
              <a:rPr lang="en-US" dirty="0">
                <a:solidFill>
                  <a:srgbClr val="FFFFFF"/>
                </a:solidFill>
              </a:rPr>
              <a:t>Random Forest Proximities</a:t>
            </a:r>
          </a:p>
        </p:txBody>
      </p:sp>
      <p:sp>
        <p:nvSpPr>
          <p:cNvPr id="3" name="Subtitle 2">
            <a:extLst>
              <a:ext uri="{FF2B5EF4-FFF2-40B4-BE49-F238E27FC236}">
                <a16:creationId xmlns:a16="http://schemas.microsoft.com/office/drawing/2014/main" id="{A11A06C2-C984-559B-6247-4CE552425B27}"/>
              </a:ext>
            </a:extLst>
          </p:cNvPr>
          <p:cNvSpPr>
            <a:spLocks noGrp="1"/>
          </p:cNvSpPr>
          <p:nvPr>
            <p:ph type="subTitle" idx="1"/>
          </p:nvPr>
        </p:nvSpPr>
        <p:spPr>
          <a:xfrm>
            <a:off x="704088" y="5157694"/>
            <a:ext cx="5019676" cy="976406"/>
          </a:xfrm>
        </p:spPr>
        <p:txBody>
          <a:bodyPr anchor="t">
            <a:normAutofit/>
          </a:bodyPr>
          <a:lstStyle/>
          <a:p>
            <a:endParaRPr lang="en-US">
              <a:solidFill>
                <a:srgbClr val="FFFFFF"/>
              </a:solidFill>
            </a:endParaRPr>
          </a:p>
        </p:txBody>
      </p:sp>
      <p:cxnSp>
        <p:nvCxnSpPr>
          <p:cNvPr id="20" name="Straight Connector 1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9B5DD-6906-659F-8647-385FE63E14C3}"/>
              </a:ext>
            </a:extLst>
          </p:cNvPr>
          <p:cNvSpPr>
            <a:spLocks noGrp="1"/>
          </p:cNvSpPr>
          <p:nvPr>
            <p:ph type="title"/>
          </p:nvPr>
        </p:nvSpPr>
        <p:spPr>
          <a:xfrm>
            <a:off x="839788" y="665629"/>
            <a:ext cx="10515600" cy="818995"/>
          </a:xfrm>
        </p:spPr>
        <p:txBody>
          <a:bodyPr anchor="ctr">
            <a:normAutofit/>
          </a:bodyPr>
          <a:lstStyle/>
          <a:p>
            <a:r>
              <a:rPr lang="en-US" dirty="0"/>
              <a:t>Benefits of Random Forests</a:t>
            </a:r>
          </a:p>
        </p:txBody>
      </p:sp>
      <p:sp>
        <p:nvSpPr>
          <p:cNvPr id="16" name="Content Placeholder 2">
            <a:extLst>
              <a:ext uri="{FF2B5EF4-FFF2-40B4-BE49-F238E27FC236}">
                <a16:creationId xmlns:a16="http://schemas.microsoft.com/office/drawing/2014/main" id="{6C022A1A-4BF3-2C75-856A-14604BB78EB9}"/>
              </a:ext>
            </a:extLst>
          </p:cNvPr>
          <p:cNvSpPr>
            <a:spLocks noGrp="1"/>
          </p:cNvSpPr>
          <p:nvPr>
            <p:ph sz="quarter" idx="4"/>
          </p:nvPr>
        </p:nvSpPr>
        <p:spPr>
          <a:xfrm>
            <a:off x="839788" y="1766412"/>
            <a:ext cx="5183188" cy="3751268"/>
          </a:xfrm>
        </p:spPr>
        <p:txBody>
          <a:bodyPr>
            <a:normAutofit/>
          </a:bodyPr>
          <a:lstStyle/>
          <a:p>
            <a:pPr marL="342900" indent="-342900">
              <a:buFont typeface="Arial" panose="020B0604020202020204" pitchFamily="34" charset="0"/>
              <a:buChar char="•"/>
            </a:pPr>
            <a:r>
              <a:rPr lang="en-US" dirty="0"/>
              <a:t>Classification and regression</a:t>
            </a:r>
          </a:p>
          <a:p>
            <a:pPr marL="342900" indent="-342900">
              <a:buFont typeface="Arial" panose="020B0604020202020204" pitchFamily="34" charset="0"/>
              <a:buChar char="•"/>
            </a:pPr>
            <a:r>
              <a:rPr lang="en-US" dirty="0"/>
              <a:t>Mixed variable types</a:t>
            </a:r>
          </a:p>
          <a:p>
            <a:pPr marL="342900" indent="-342900">
              <a:buFont typeface="Arial" panose="020B0604020202020204" pitchFamily="34" charset="0"/>
              <a:buChar char="•"/>
            </a:pPr>
            <a:r>
              <a:rPr lang="en-US" dirty="0"/>
              <a:t>Estimate of generalization error</a:t>
            </a:r>
          </a:p>
          <a:p>
            <a:pPr marL="342900" indent="-342900">
              <a:buFont typeface="Arial" panose="020B0604020202020204" pitchFamily="34" charset="0"/>
              <a:buChar char="•"/>
            </a:pPr>
            <a:r>
              <a:rPr lang="en-US" dirty="0"/>
              <a:t>Trivially parallelizable</a:t>
            </a:r>
          </a:p>
          <a:p>
            <a:pPr marL="342900" indent="-342900">
              <a:buFont typeface="Arial" panose="020B0604020202020204" pitchFamily="34" charset="0"/>
              <a:buChar char="•"/>
            </a:pPr>
            <a:r>
              <a:rPr lang="en-US" dirty="0"/>
              <a:t>Scale invariant</a:t>
            </a:r>
          </a:p>
          <a:p>
            <a:pPr marL="342900" indent="-342900">
              <a:buFont typeface="Arial" panose="020B0604020202020204" pitchFamily="34" charset="0"/>
              <a:buChar char="•"/>
            </a:pPr>
            <a:r>
              <a:rPr lang="en-US" dirty="0"/>
              <a:t>Insensitive to outliers in predictor space</a:t>
            </a:r>
          </a:p>
          <a:p>
            <a:pPr marL="342900" indent="-342900">
              <a:buFont typeface="Arial" panose="020B0604020202020204" pitchFamily="34" charset="0"/>
              <a:buChar char="•"/>
            </a:pPr>
            <a:r>
              <a:rPr lang="en-US" dirty="0"/>
              <a:t>Model non-linear relationships</a:t>
            </a:r>
          </a:p>
          <a:p>
            <a:pPr marL="342900" indent="-342900">
              <a:buFont typeface="Arial" panose="020B0604020202020204" pitchFamily="34" charset="0"/>
              <a:buChar char="•"/>
            </a:pPr>
            <a:r>
              <a:rPr lang="en-US" dirty="0"/>
              <a:t>Natural produce a measure of similarity</a:t>
            </a:r>
          </a:p>
          <a:p>
            <a:pPr marL="342900" indent="-342900">
              <a:buFont typeface="Arial" panose="020B0604020202020204" pitchFamily="34" charset="0"/>
              <a:buChar char="•"/>
            </a:pPr>
            <a:endParaRPr lang="en-US" dirty="0"/>
          </a:p>
        </p:txBody>
      </p:sp>
      <p:sp>
        <p:nvSpPr>
          <p:cNvPr id="7" name="Date Placeholder 6">
            <a:extLst>
              <a:ext uri="{FF2B5EF4-FFF2-40B4-BE49-F238E27FC236}">
                <a16:creationId xmlns:a16="http://schemas.microsoft.com/office/drawing/2014/main" id="{EB94D723-2978-A344-A57C-3739C2516E35}"/>
              </a:ext>
            </a:extLst>
          </p:cNvPr>
          <p:cNvSpPr>
            <a:spLocks noGrp="1"/>
          </p:cNvSpPr>
          <p:nvPr>
            <p:ph type="dt" sz="half" idx="10"/>
          </p:nvPr>
        </p:nvSpPr>
        <p:spPr>
          <a:xfrm>
            <a:off x="258792" y="6356350"/>
            <a:ext cx="3322608" cy="365125"/>
          </a:xfrm>
        </p:spPr>
        <p:txBody>
          <a:bodyPr anchor="ctr">
            <a:normAutofit/>
          </a:bodyPr>
          <a:lstStyle/>
          <a:p>
            <a:pPr>
              <a:spcAft>
                <a:spcPts val="600"/>
              </a:spcAft>
            </a:pPr>
            <a:r>
              <a:rPr lang="en-US" dirty="0"/>
              <a:t>2025</a:t>
            </a:r>
          </a:p>
        </p:txBody>
      </p:sp>
      <p:sp>
        <p:nvSpPr>
          <p:cNvPr id="9" name="Slide Number Placeholder 8">
            <a:extLst>
              <a:ext uri="{FF2B5EF4-FFF2-40B4-BE49-F238E27FC236}">
                <a16:creationId xmlns:a16="http://schemas.microsoft.com/office/drawing/2014/main" id="{910913B5-1E74-7A30-ECF8-0DE81DEAFF35}"/>
              </a:ext>
            </a:extLst>
          </p:cNvPr>
          <p:cNvSpPr>
            <a:spLocks noGrp="1"/>
          </p:cNvSpPr>
          <p:nvPr>
            <p:ph type="sldNum" sz="quarter" idx="12"/>
          </p:nvPr>
        </p:nvSpPr>
        <p:spPr>
          <a:xfrm>
            <a:off x="10518474" y="6356350"/>
            <a:ext cx="1414733" cy="365125"/>
          </a:xfrm>
        </p:spPr>
        <p:txBody>
          <a:bodyPr anchor="ctr">
            <a:normAutofit lnSpcReduction="10000"/>
          </a:bodyPr>
          <a:lstStyle/>
          <a:p>
            <a:pPr>
              <a:spcAft>
                <a:spcPts val="600"/>
              </a:spcAft>
            </a:pPr>
            <a:fld id="{AE208ADF-3ADD-483D-A721-14E3EEE2C135}" type="slidenum">
              <a:rPr lang="en-US" smtClean="0"/>
              <a:pPr>
                <a:spcAft>
                  <a:spcPts val="600"/>
                </a:spcAft>
              </a:pPr>
              <a:t>2</a:t>
            </a:fld>
            <a:endParaRPr lang="en-US"/>
          </a:p>
        </p:txBody>
      </p:sp>
    </p:spTree>
    <p:extLst>
      <p:ext uri="{BB962C8B-B14F-4D97-AF65-F5344CB8AC3E}">
        <p14:creationId xmlns:p14="http://schemas.microsoft.com/office/powerpoint/2010/main" val="130156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7A723D-743A-49C3-7D9A-A663368FAA55}"/>
              </a:ext>
            </a:extLst>
          </p:cNvPr>
          <p:cNvSpPr>
            <a:spLocks noGrp="1"/>
          </p:cNvSpPr>
          <p:nvPr>
            <p:ph type="title"/>
          </p:nvPr>
        </p:nvSpPr>
        <p:spPr>
          <a:xfrm>
            <a:off x="838200" y="608295"/>
            <a:ext cx="10515600" cy="899783"/>
          </a:xfrm>
        </p:spPr>
        <p:txBody>
          <a:bodyPr/>
          <a:lstStyle/>
          <a:p>
            <a:r>
              <a:rPr lang="en-US" dirty="0"/>
              <a:t>Random Forest Proximities</a:t>
            </a:r>
          </a:p>
        </p:txBody>
      </p:sp>
      <p:sp>
        <p:nvSpPr>
          <p:cNvPr id="17" name="Text Placeholder 16">
            <a:extLst>
              <a:ext uri="{FF2B5EF4-FFF2-40B4-BE49-F238E27FC236}">
                <a16:creationId xmlns:a16="http://schemas.microsoft.com/office/drawing/2014/main" id="{75B7B54D-DC43-8474-E3D8-9BC72F8C53FC}"/>
              </a:ext>
            </a:extLst>
          </p:cNvPr>
          <p:cNvSpPr>
            <a:spLocks noGrp="1"/>
          </p:cNvSpPr>
          <p:nvPr>
            <p:ph type="body" sz="quarter" idx="16"/>
          </p:nvPr>
        </p:nvSpPr>
        <p:spPr>
          <a:xfrm>
            <a:off x="838200" y="1474787"/>
            <a:ext cx="10112375" cy="1954213"/>
          </a:xfrm>
        </p:spPr>
        <p:txBody>
          <a:bodyPr>
            <a:normAutofit/>
          </a:bodyPr>
          <a:lstStyle/>
          <a:p>
            <a:r>
              <a:rPr lang="en-US" sz="3200" dirty="0"/>
              <a:t>“[Proximities] are one of the most useful tools in random forests.”</a:t>
            </a:r>
          </a:p>
          <a:p>
            <a:r>
              <a:rPr lang="en-US" sz="3200" dirty="0"/>
              <a:t>--Leo </a:t>
            </a:r>
            <a:r>
              <a:rPr lang="en-US" sz="3200" dirty="0" err="1"/>
              <a:t>Breiman</a:t>
            </a:r>
            <a:endParaRPr lang="en-US" sz="3200" dirty="0"/>
          </a:p>
        </p:txBody>
      </p:sp>
      <p:sp>
        <p:nvSpPr>
          <p:cNvPr id="9" name="Slide Number Placeholder 8">
            <a:extLst>
              <a:ext uri="{FF2B5EF4-FFF2-40B4-BE49-F238E27FC236}">
                <a16:creationId xmlns:a16="http://schemas.microsoft.com/office/drawing/2014/main" id="{095326F7-8558-8EB2-CE90-8D4D6DD49435}"/>
              </a:ext>
            </a:extLst>
          </p:cNvPr>
          <p:cNvSpPr>
            <a:spLocks noGrp="1"/>
          </p:cNvSpPr>
          <p:nvPr>
            <p:ph type="sldNum" sz="quarter" idx="4"/>
          </p:nvPr>
        </p:nvSpPr>
        <p:spPr/>
        <p:txBody>
          <a:bodyPr/>
          <a:lstStyle/>
          <a:p>
            <a:fld id="{AE208ADF-3ADD-483D-A721-14E3EEE2C135}" type="slidenum">
              <a:rPr lang="en-US" smtClean="0"/>
              <a:pPr/>
              <a:t>3</a:t>
            </a:fld>
            <a:endParaRPr lang="en-US" dirty="0"/>
          </a:p>
        </p:txBody>
      </p:sp>
      <p:sp>
        <p:nvSpPr>
          <p:cNvPr id="18" name="Text Placeholder 16">
            <a:extLst>
              <a:ext uri="{FF2B5EF4-FFF2-40B4-BE49-F238E27FC236}">
                <a16:creationId xmlns:a16="http://schemas.microsoft.com/office/drawing/2014/main" id="{C3733F08-8D04-5D59-1DE4-01C480763B9B}"/>
              </a:ext>
            </a:extLst>
          </p:cNvPr>
          <p:cNvSpPr txBox="1">
            <a:spLocks/>
          </p:cNvSpPr>
          <p:nvPr/>
        </p:nvSpPr>
        <p:spPr>
          <a:xfrm>
            <a:off x="838199" y="3764745"/>
            <a:ext cx="10112375" cy="1954213"/>
          </a:xfrm>
          <a:prstGeom prst="rect">
            <a:avLst/>
          </a:prstGeom>
        </p:spPr>
        <p:txBody>
          <a:bodyPr vert="horz" lIns="91440" tIns="45720" rIns="91440" bIns="45720" rtlCol="0" anchor="t">
            <a:normAutofit fontScale="62500" lnSpcReduction="20000"/>
          </a:bodyPr>
          <a:lstStyle>
            <a:lvl1pPr marL="0" indent="0" algn="just" defTabSz="914400" rtl="0" eaLnBrk="1" latinLnBrk="0" hangingPunct="1">
              <a:lnSpc>
                <a:spcPct val="120000"/>
              </a:lnSpc>
              <a:spcBef>
                <a:spcPts val="1000"/>
              </a:spcBef>
              <a:buSzPct val="80000"/>
              <a:buFont typeface="Arial" panose="020B0604020202020204" pitchFamily="34" charset="0"/>
              <a:buNone/>
              <a:defRPr sz="2400" kern="1200" spc="100" baseline="0">
                <a:solidFill>
                  <a:schemeClr val="tx2">
                    <a:alpha val="85000"/>
                  </a:schemeClr>
                </a:solidFill>
                <a:latin typeface="+mn-lt"/>
                <a:ea typeface="+mn-ea"/>
                <a:cs typeface="+mn-cs"/>
              </a:defRPr>
            </a:lvl1pPr>
            <a:lvl2pPr marL="274320" indent="0" algn="ctr" defTabSz="914400" rtl="0" eaLnBrk="1" latinLnBrk="0" hangingPunct="1">
              <a:lnSpc>
                <a:spcPct val="120000"/>
              </a:lnSpc>
              <a:spcBef>
                <a:spcPts val="500"/>
              </a:spcBef>
              <a:buFont typeface="Arial" panose="020B0604020202020204" pitchFamily="34" charset="0"/>
              <a:buNone/>
              <a:defRPr sz="1800" b="1" kern="1200" spc="100" baseline="0">
                <a:solidFill>
                  <a:schemeClr val="tx2">
                    <a:alpha val="85000"/>
                  </a:schemeClr>
                </a:solidFill>
                <a:latin typeface="+mn-lt"/>
                <a:ea typeface="+mn-ea"/>
                <a:cs typeface="+mn-cs"/>
              </a:defRPr>
            </a:lvl2pPr>
            <a:lvl3pPr marL="228600" indent="0" algn="ctr" defTabSz="914400" rtl="0" eaLnBrk="1" latinLnBrk="0" hangingPunct="1">
              <a:lnSpc>
                <a:spcPct val="120000"/>
              </a:lnSpc>
              <a:spcBef>
                <a:spcPts val="500"/>
              </a:spcBef>
              <a:buFont typeface="Arial" panose="020B0604020202020204" pitchFamily="34" charset="0"/>
              <a:buNone/>
              <a:defRPr sz="1800" kern="1200" spc="100" baseline="0">
                <a:solidFill>
                  <a:schemeClr val="tx2">
                    <a:alpha val="85000"/>
                  </a:schemeClr>
                </a:solidFill>
                <a:latin typeface="+mn-lt"/>
                <a:ea typeface="+mn-ea"/>
                <a:cs typeface="+mn-cs"/>
              </a:defRPr>
            </a:lvl3pPr>
            <a:lvl4pPr marL="640080" indent="0" algn="ctr" defTabSz="914400" rtl="0" eaLnBrk="1" latinLnBrk="0" hangingPunct="1">
              <a:lnSpc>
                <a:spcPct val="120000"/>
              </a:lnSpc>
              <a:spcBef>
                <a:spcPts val="500"/>
              </a:spcBef>
              <a:buFont typeface="Arial" panose="020B0604020202020204" pitchFamily="34" charset="0"/>
              <a:buNone/>
              <a:defRPr sz="1600" i="1" kern="1200" spc="100" baseline="0">
                <a:solidFill>
                  <a:schemeClr val="tx2">
                    <a:alpha val="85000"/>
                  </a:schemeClr>
                </a:solidFill>
                <a:latin typeface="+mn-lt"/>
                <a:ea typeface="+mn-ea"/>
                <a:cs typeface="+mn-cs"/>
              </a:defRPr>
            </a:lvl4pPr>
            <a:lvl5pPr marL="685800" indent="0" algn="ctr" defTabSz="914400" rtl="0" eaLnBrk="1" latinLnBrk="0" hangingPunct="1">
              <a:lnSpc>
                <a:spcPct val="120000"/>
              </a:lnSpc>
              <a:spcBef>
                <a:spcPts val="500"/>
              </a:spcBef>
              <a:buSzPct val="80000"/>
              <a:buFont typeface="Arial" panose="020B0604020202020204" pitchFamily="34" charset="0"/>
              <a:buNone/>
              <a:defRPr sz="1600" kern="1200" spc="100" baseline="0">
                <a:solidFill>
                  <a:schemeClr val="tx2">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600" dirty="0"/>
              <a:t>Original description: </a:t>
            </a:r>
          </a:p>
          <a:p>
            <a:r>
              <a:rPr lang="en-US" sz="3200" dirty="0"/>
              <a:t>“The proximities originally formed a </a:t>
            </a:r>
            <a:r>
              <a:rPr lang="en-US" sz="3200" dirty="0" err="1"/>
              <a:t>NxN</a:t>
            </a:r>
            <a:r>
              <a:rPr lang="en-US" sz="3200" dirty="0"/>
              <a:t> matrix. After a tree is grown, put all of the data, both training and </a:t>
            </a:r>
            <a:r>
              <a:rPr lang="en-US" sz="3200" dirty="0" err="1"/>
              <a:t>oob</a:t>
            </a:r>
            <a:r>
              <a:rPr lang="en-US" sz="3200" dirty="0"/>
              <a:t>, down the tree. If cases k and n are in the same terminal node increase their proximity by one. At the end, normalize the proximities by dividing by the number of trees.”</a:t>
            </a:r>
          </a:p>
        </p:txBody>
      </p:sp>
      <p:sp>
        <p:nvSpPr>
          <p:cNvPr id="20" name="TextBox 19">
            <a:extLst>
              <a:ext uri="{FF2B5EF4-FFF2-40B4-BE49-F238E27FC236}">
                <a16:creationId xmlns:a16="http://schemas.microsoft.com/office/drawing/2014/main" id="{3733D553-14B3-9427-808F-42047A9476A0}"/>
              </a:ext>
            </a:extLst>
          </p:cNvPr>
          <p:cNvSpPr txBox="1"/>
          <p:nvPr/>
        </p:nvSpPr>
        <p:spPr>
          <a:xfrm>
            <a:off x="838199" y="5788040"/>
            <a:ext cx="10112374" cy="646331"/>
          </a:xfrm>
          <a:prstGeom prst="rect">
            <a:avLst/>
          </a:prstGeom>
          <a:noFill/>
        </p:spPr>
        <p:txBody>
          <a:bodyPr wrap="square">
            <a:spAutoFit/>
          </a:bodyPr>
          <a:lstStyle/>
          <a:p>
            <a:r>
              <a:rPr lang="en-US" dirty="0">
                <a:hlinkClick r:id="rId2"/>
              </a:rPr>
              <a:t>https://www.stat.berkeley.edu/~breiman/RandomForests/cc_home.htm#:~:text=few%20data%20sets.-,Proximities,by%20the%20number%20of%20trees.</a:t>
            </a:r>
            <a:endParaRPr lang="en-US" dirty="0"/>
          </a:p>
        </p:txBody>
      </p:sp>
    </p:spTree>
    <p:extLst>
      <p:ext uri="{BB962C8B-B14F-4D97-AF65-F5344CB8AC3E}">
        <p14:creationId xmlns:p14="http://schemas.microsoft.com/office/powerpoint/2010/main" val="3115577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8C62B-8F4D-65FA-7042-6CA8F3F55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4BCC22-1A5E-F6A2-F357-76548133B847}"/>
              </a:ext>
            </a:extLst>
          </p:cNvPr>
          <p:cNvSpPr>
            <a:spLocks noGrp="1"/>
          </p:cNvSpPr>
          <p:nvPr>
            <p:ph type="title"/>
          </p:nvPr>
        </p:nvSpPr>
        <p:spPr/>
        <p:txBody>
          <a:bodyPr/>
          <a:lstStyle/>
          <a:p>
            <a:r>
              <a:rPr lang="en-US" dirty="0"/>
              <a:t>Proximities in a Nutshell</a:t>
            </a:r>
          </a:p>
        </p:txBody>
      </p:sp>
      <p:sp>
        <p:nvSpPr>
          <p:cNvPr id="6" name="Content Placeholder 5">
            <a:extLst>
              <a:ext uri="{FF2B5EF4-FFF2-40B4-BE49-F238E27FC236}">
                <a16:creationId xmlns:a16="http://schemas.microsoft.com/office/drawing/2014/main" id="{A6F59D85-DC1B-09F6-5963-F8DAB6E5CA2F}"/>
              </a:ext>
            </a:extLst>
          </p:cNvPr>
          <p:cNvSpPr>
            <a:spLocks noGrp="1"/>
          </p:cNvSpPr>
          <p:nvPr>
            <p:ph sz="quarter" idx="4"/>
          </p:nvPr>
        </p:nvSpPr>
        <p:spPr>
          <a:xfrm>
            <a:off x="839787" y="2044853"/>
            <a:ext cx="10515599" cy="3751268"/>
          </a:xfrm>
        </p:spPr>
        <p:txBody>
          <a:bodyPr/>
          <a:lstStyle/>
          <a:p>
            <a:pPr marL="0" indent="0">
              <a:buNone/>
            </a:pPr>
            <a:r>
              <a:rPr lang="en-US" dirty="0"/>
              <a:t>“Proximities don’t just measure the similarity of the variables---they also take into account the importance of the variables.”</a:t>
            </a:r>
          </a:p>
          <a:p>
            <a:pPr marL="0" indent="0">
              <a:buNone/>
            </a:pPr>
            <a:r>
              <a:rPr lang="en-US" dirty="0"/>
              <a:t>“Two cases that have quite different predictor variables might have large proximity if they differ only on variables that are not important.”</a:t>
            </a:r>
          </a:p>
          <a:p>
            <a:pPr marL="0" indent="0">
              <a:buNone/>
            </a:pPr>
            <a:r>
              <a:rPr lang="en-US" dirty="0"/>
              <a:t>“Two cases that have quite similar values of the predictor variables might have small proximity if they differ on inputs that are important.”</a:t>
            </a:r>
          </a:p>
          <a:p>
            <a:pPr marL="0" indent="0">
              <a:buNone/>
            </a:pPr>
            <a:r>
              <a:rPr lang="en-US" dirty="0"/>
              <a:t>--Adele Cutler</a:t>
            </a:r>
          </a:p>
        </p:txBody>
      </p:sp>
      <p:sp>
        <p:nvSpPr>
          <p:cNvPr id="7" name="Date Placeholder 6">
            <a:extLst>
              <a:ext uri="{FF2B5EF4-FFF2-40B4-BE49-F238E27FC236}">
                <a16:creationId xmlns:a16="http://schemas.microsoft.com/office/drawing/2014/main" id="{E8E8C822-3995-86A9-CAF7-31EACA37B79C}"/>
              </a:ext>
            </a:extLst>
          </p:cNvPr>
          <p:cNvSpPr>
            <a:spLocks noGrp="1"/>
          </p:cNvSpPr>
          <p:nvPr>
            <p:ph type="dt" sz="half" idx="10"/>
          </p:nvPr>
        </p:nvSpPr>
        <p:spPr/>
        <p:txBody>
          <a:bodyPr/>
          <a:lstStyle/>
          <a:p>
            <a:r>
              <a:rPr lang="en-US" dirty="0"/>
              <a:t>2025</a:t>
            </a:r>
          </a:p>
        </p:txBody>
      </p:sp>
      <p:sp>
        <p:nvSpPr>
          <p:cNvPr id="9" name="Slide Number Placeholder 8">
            <a:extLst>
              <a:ext uri="{FF2B5EF4-FFF2-40B4-BE49-F238E27FC236}">
                <a16:creationId xmlns:a16="http://schemas.microsoft.com/office/drawing/2014/main" id="{07D38FA6-219A-75D3-E402-311E0D4F4A27}"/>
              </a:ext>
            </a:extLst>
          </p:cNvPr>
          <p:cNvSpPr>
            <a:spLocks noGrp="1"/>
          </p:cNvSpPr>
          <p:nvPr>
            <p:ph type="sldNum" sz="quarter" idx="12"/>
          </p:nvPr>
        </p:nvSpPr>
        <p:spPr/>
        <p:txBody>
          <a:bodyPr/>
          <a:lstStyle/>
          <a:p>
            <a:fld id="{AE208ADF-3ADD-483D-A721-14E3EEE2C135}" type="slidenum">
              <a:rPr lang="en-US" smtClean="0"/>
              <a:pPr/>
              <a:t>4</a:t>
            </a:fld>
            <a:endParaRPr lang="en-US" dirty="0"/>
          </a:p>
        </p:txBody>
      </p:sp>
    </p:spTree>
    <p:extLst>
      <p:ext uri="{BB962C8B-B14F-4D97-AF65-F5344CB8AC3E}">
        <p14:creationId xmlns:p14="http://schemas.microsoft.com/office/powerpoint/2010/main" val="271087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562BC2B5-5D6B-8D6C-E32B-56267B0F7CD6}"/>
              </a:ext>
            </a:extLst>
          </p:cNvPr>
          <p:cNvSpPr/>
          <p:nvPr/>
        </p:nvSpPr>
        <p:spPr>
          <a:xfrm>
            <a:off x="5882480" y="2325252"/>
            <a:ext cx="5756277" cy="380178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F8F212-933B-B9D8-05C4-4A9D10790F17}"/>
              </a:ext>
            </a:extLst>
          </p:cNvPr>
          <p:cNvSpPr>
            <a:spLocks noGrp="1"/>
          </p:cNvSpPr>
          <p:nvPr>
            <p:ph type="title"/>
          </p:nvPr>
        </p:nvSpPr>
        <p:spPr/>
        <p:txBody>
          <a:bodyPr/>
          <a:lstStyle/>
          <a:p>
            <a:r>
              <a:rPr lang="en-US" dirty="0"/>
              <a:t>What are Random Forest Proximities</a:t>
            </a:r>
          </a:p>
        </p:txBody>
      </p:sp>
      <p:sp>
        <p:nvSpPr>
          <p:cNvPr id="3" name="Text Placeholder 2">
            <a:extLst>
              <a:ext uri="{FF2B5EF4-FFF2-40B4-BE49-F238E27FC236}">
                <a16:creationId xmlns:a16="http://schemas.microsoft.com/office/drawing/2014/main" id="{58D027C9-33E9-D0D1-D32A-7E0318F37D7F}"/>
              </a:ext>
            </a:extLst>
          </p:cNvPr>
          <p:cNvSpPr>
            <a:spLocks noGrp="1"/>
          </p:cNvSpPr>
          <p:nvPr>
            <p:ph type="body" idx="1"/>
          </p:nvPr>
        </p:nvSpPr>
        <p:spPr/>
        <p:txBody>
          <a:bodyPr/>
          <a:lstStyle/>
          <a:p>
            <a:r>
              <a:rPr lang="en-US" dirty="0"/>
              <a:t>Proximities as a metric</a:t>
            </a:r>
          </a:p>
        </p:txBody>
      </p:sp>
      <p:sp>
        <p:nvSpPr>
          <p:cNvPr id="4" name="Content Placeholder 3">
            <a:extLst>
              <a:ext uri="{FF2B5EF4-FFF2-40B4-BE49-F238E27FC236}">
                <a16:creationId xmlns:a16="http://schemas.microsoft.com/office/drawing/2014/main" id="{FD13E4F5-27B8-7702-BA8A-431715693ECD}"/>
              </a:ext>
            </a:extLst>
          </p:cNvPr>
          <p:cNvSpPr>
            <a:spLocks noGrp="1"/>
          </p:cNvSpPr>
          <p:nvPr>
            <p:ph sz="half" idx="2"/>
          </p:nvPr>
        </p:nvSpPr>
        <p:spPr/>
        <p:txBody>
          <a:bodyPr/>
          <a:lstStyle/>
          <a:p>
            <a:r>
              <a:rPr lang="en-US" dirty="0"/>
              <a:t>A measure of “closeness”</a:t>
            </a:r>
          </a:p>
          <a:p>
            <a:r>
              <a:rPr lang="en-US" dirty="0"/>
              <a:t>Supervised, but not class-conditional</a:t>
            </a:r>
          </a:p>
          <a:p>
            <a:r>
              <a:rPr lang="en-US" dirty="0"/>
              <a:t>Based on splits (optimized over responses)</a:t>
            </a:r>
          </a:p>
          <a:p>
            <a:r>
              <a:rPr lang="en-US" dirty="0"/>
              <a:t>Natural incorporation of variable importance</a:t>
            </a:r>
          </a:p>
        </p:txBody>
      </p:sp>
      <p:pic>
        <p:nvPicPr>
          <p:cNvPr id="11" name="Content Placeholder 10" descr="A screenshot of a video game&#10;&#10;AI-generated content may be incorrect.">
            <a:extLst>
              <a:ext uri="{FF2B5EF4-FFF2-40B4-BE49-F238E27FC236}">
                <a16:creationId xmlns:a16="http://schemas.microsoft.com/office/drawing/2014/main" id="{27DC0220-8B25-4F1F-0539-8E3C8FE0606A}"/>
              </a:ext>
            </a:extLst>
          </p:cNvPr>
          <p:cNvPicPr>
            <a:picLocks noGrp="1" noChangeAspect="1"/>
          </p:cNvPicPr>
          <p:nvPr>
            <p:ph sz="quarter" idx="4"/>
          </p:nvPr>
        </p:nvPicPr>
        <p:blipFill>
          <a:blip r:embed="rId2"/>
          <a:stretch>
            <a:fillRect/>
          </a:stretch>
        </p:blipFill>
        <p:spPr>
          <a:xfrm>
            <a:off x="6169025" y="2635091"/>
            <a:ext cx="5183188" cy="3262631"/>
          </a:xfrm>
        </p:spPr>
      </p:pic>
      <p:sp>
        <p:nvSpPr>
          <p:cNvPr id="9" name="Slide Number Placeholder 8">
            <a:extLst>
              <a:ext uri="{FF2B5EF4-FFF2-40B4-BE49-F238E27FC236}">
                <a16:creationId xmlns:a16="http://schemas.microsoft.com/office/drawing/2014/main" id="{F4A3498B-2288-A324-C0EC-50B3C151C2DF}"/>
              </a:ext>
            </a:extLst>
          </p:cNvPr>
          <p:cNvSpPr>
            <a:spLocks noGrp="1"/>
          </p:cNvSpPr>
          <p:nvPr>
            <p:ph type="sldNum" sz="quarter" idx="12"/>
          </p:nvPr>
        </p:nvSpPr>
        <p:spPr/>
        <p:txBody>
          <a:bodyPr/>
          <a:lstStyle/>
          <a:p>
            <a:fld id="{AE208ADF-3ADD-483D-A721-14E3EEE2C135}" type="slidenum">
              <a:rPr lang="en-US" smtClean="0"/>
              <a:pPr/>
              <a:t>5</a:t>
            </a:fld>
            <a:endParaRPr lang="en-US" dirty="0"/>
          </a:p>
        </p:txBody>
      </p:sp>
    </p:spTree>
    <p:extLst>
      <p:ext uri="{BB962C8B-B14F-4D97-AF65-F5344CB8AC3E}">
        <p14:creationId xmlns:p14="http://schemas.microsoft.com/office/powerpoint/2010/main" val="1143096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012E9-679A-49F5-AE28-DE7E9E42DB61}"/>
              </a:ext>
            </a:extLst>
          </p:cNvPr>
          <p:cNvSpPr>
            <a:spLocks noGrp="1"/>
          </p:cNvSpPr>
          <p:nvPr>
            <p:ph type="title"/>
          </p:nvPr>
        </p:nvSpPr>
        <p:spPr/>
        <p:txBody>
          <a:bodyPr/>
          <a:lstStyle/>
          <a:p>
            <a:r>
              <a:rPr lang="en-US" dirty="0"/>
              <a:t>Original formulation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B12EC0-4C3D-BF46-153E-9CA87019B01C}"/>
                  </a:ext>
                </a:extLst>
              </p:cNvPr>
              <p:cNvSpPr>
                <a:spLocks noGrp="1"/>
              </p:cNvSpPr>
              <p:nvPr>
                <p:ph idx="1"/>
              </p:nvPr>
            </p:nvSpPr>
            <p:spPr>
              <a:xfrm>
                <a:off x="750367" y="1721865"/>
                <a:ext cx="10691265" cy="3739896"/>
              </a:xfrm>
            </p:spPr>
            <p:txBody>
              <a:bodyPr>
                <a:normAutofit lnSpcReduction="10000"/>
              </a:bodyPr>
              <a:lstStyle/>
              <a:p>
                <a:pPr marL="0" indent="0">
                  <a:buNone/>
                </a:pPr>
                <a:r>
                  <a:rPr lang="en-US" dirty="0"/>
                  <a:t>The random forest proximity between observations </a:t>
                </a:r>
                <a:r>
                  <a:rPr lang="en-US" dirty="0" err="1"/>
                  <a:t>i</a:t>
                </a:r>
                <a:r>
                  <a:rPr lang="en-US" dirty="0"/>
                  <a:t> and j is given by: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where T is the number of trees in the forest 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𝑖</m:t>
                        </m:r>
                        <m:d>
                          <m:dPr>
                            <m:ctrlPr>
                              <a:rPr lang="en-US" i="1" dirty="0" smtClean="0">
                                <a:latin typeface="Cambria Math" panose="02040503050406030204" pitchFamily="18" charset="0"/>
                              </a:rPr>
                            </m:ctrlPr>
                          </m:dPr>
                          <m:e>
                            <m:r>
                              <a:rPr lang="en-US" i="1" dirty="0">
                                <a:latin typeface="Cambria Math" panose="02040503050406030204" pitchFamily="18" charset="0"/>
                              </a:rPr>
                              <m:t>𝑡</m:t>
                            </m:r>
                          </m:e>
                        </m:d>
                      </m:sub>
                    </m:sSub>
                  </m:oMath>
                </a14:m>
                <a:r>
                  <a:rPr lang="en-US" dirty="0"/>
                  <a:t> is the terminal node in tree t that contains observation </a:t>
                </a:r>
                <a:r>
                  <a:rPr lang="en-US" dirty="0" err="1"/>
                  <a:t>i</a:t>
                </a:r>
                <a:r>
                  <a:rPr lang="en-US" dirty="0"/>
                  <a:t>. That is, the proximity between observations </a:t>
                </a:r>
                <a:r>
                  <a:rPr lang="en-US" dirty="0" err="1"/>
                  <a:t>i</a:t>
                </a:r>
                <a:r>
                  <a:rPr lang="en-US" dirty="0"/>
                  <a:t> and j is the proportion of trees in which they reside in the same terminal node.</a:t>
                </a:r>
              </a:p>
              <a:p>
                <a:endParaRPr lang="en-US" dirty="0"/>
              </a:p>
            </p:txBody>
          </p:sp>
        </mc:Choice>
        <mc:Fallback xmlns="">
          <p:sp>
            <p:nvSpPr>
              <p:cNvPr id="3" name="Content Placeholder 2">
                <a:extLst>
                  <a:ext uri="{FF2B5EF4-FFF2-40B4-BE49-F238E27FC236}">
                    <a16:creationId xmlns:a16="http://schemas.microsoft.com/office/drawing/2014/main" id="{64B12EC0-4C3D-BF46-153E-9CA87019B01C}"/>
                  </a:ext>
                </a:extLst>
              </p:cNvPr>
              <p:cNvSpPr>
                <a:spLocks noGrp="1" noRot="1" noChangeAspect="1" noMove="1" noResize="1" noEditPoints="1" noAdjustHandles="1" noChangeArrowheads="1" noChangeShapeType="1" noTextEdit="1"/>
              </p:cNvSpPr>
              <p:nvPr>
                <p:ph idx="1"/>
              </p:nvPr>
            </p:nvSpPr>
            <p:spPr>
              <a:xfrm>
                <a:off x="750367" y="1721865"/>
                <a:ext cx="10691265" cy="3739896"/>
              </a:xfrm>
              <a:blipFill>
                <a:blip r:embed="rId2"/>
                <a:stretch>
                  <a:fillRect l="-570" t="-81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790D242-D906-F495-C8D1-921DD8332E3D}"/>
              </a:ext>
            </a:extLst>
          </p:cNvPr>
          <p:cNvPicPr>
            <a:picLocks noChangeAspect="1"/>
          </p:cNvPicPr>
          <p:nvPr/>
        </p:nvPicPr>
        <p:blipFill>
          <a:blip r:embed="rId3"/>
          <a:stretch>
            <a:fillRect/>
          </a:stretch>
        </p:blipFill>
        <p:spPr>
          <a:xfrm>
            <a:off x="2170896" y="2647187"/>
            <a:ext cx="4436154" cy="1025653"/>
          </a:xfrm>
          <a:prstGeom prst="rect">
            <a:avLst/>
          </a:prstGeom>
        </p:spPr>
      </p:pic>
    </p:spTree>
    <p:extLst>
      <p:ext uri="{BB962C8B-B14F-4D97-AF65-F5344CB8AC3E}">
        <p14:creationId xmlns:p14="http://schemas.microsoft.com/office/powerpoint/2010/main" val="1928408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A0152B-2261-82AE-55A0-0E098D25D3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93220-EA74-126E-C5FF-5BC044D28DF0}"/>
              </a:ext>
            </a:extLst>
          </p:cNvPr>
          <p:cNvSpPr>
            <a:spLocks noGrp="1"/>
          </p:cNvSpPr>
          <p:nvPr>
            <p:ph type="title"/>
          </p:nvPr>
        </p:nvSpPr>
        <p:spPr/>
        <p:txBody>
          <a:bodyPr/>
          <a:lstStyle/>
          <a:p>
            <a:r>
              <a:rPr lang="en-US" dirty="0"/>
              <a:t>Other Proximity Considerations</a:t>
            </a:r>
          </a:p>
        </p:txBody>
      </p:sp>
      <p:sp>
        <p:nvSpPr>
          <p:cNvPr id="4" name="Content Placeholder 3">
            <a:extLst>
              <a:ext uri="{FF2B5EF4-FFF2-40B4-BE49-F238E27FC236}">
                <a16:creationId xmlns:a16="http://schemas.microsoft.com/office/drawing/2014/main" id="{3F72350C-04D6-21B9-F246-2DCD375D07C5}"/>
              </a:ext>
            </a:extLst>
          </p:cNvPr>
          <p:cNvSpPr>
            <a:spLocks noGrp="1"/>
          </p:cNvSpPr>
          <p:nvPr>
            <p:ph sz="half" idx="2"/>
          </p:nvPr>
        </p:nvSpPr>
        <p:spPr>
          <a:xfrm>
            <a:off x="839788" y="1875099"/>
            <a:ext cx="3466927" cy="4266757"/>
          </a:xfrm>
        </p:spPr>
        <p:txBody>
          <a:bodyPr/>
          <a:lstStyle/>
          <a:p>
            <a:r>
              <a:rPr lang="en-US" dirty="0"/>
              <a:t>Overfit if use all training data</a:t>
            </a:r>
          </a:p>
          <a:p>
            <a:pPr marL="560070" lvl="1" indent="-285750">
              <a:buFont typeface="Arial" panose="020B0604020202020204" pitchFamily="34" charset="0"/>
              <a:buChar char="•"/>
            </a:pPr>
            <a:r>
              <a:rPr lang="en-US" dirty="0"/>
              <a:t>Trees grown until pure (typically)</a:t>
            </a:r>
          </a:p>
          <a:p>
            <a:pPr marL="560070" lvl="1" indent="-285750">
              <a:buFont typeface="Arial" panose="020B0604020202020204" pitchFamily="34" charset="0"/>
              <a:buChar char="•"/>
            </a:pPr>
            <a:r>
              <a:rPr lang="en-US" dirty="0"/>
              <a:t>In-bag points of different classes always in different nodes</a:t>
            </a:r>
          </a:p>
          <a:p>
            <a:pPr marL="560070" lvl="1" indent="-285750">
              <a:buFont typeface="Arial" panose="020B0604020202020204" pitchFamily="34" charset="0"/>
              <a:buChar char="•"/>
            </a:pPr>
            <a:r>
              <a:rPr lang="en-US" dirty="0"/>
              <a:t>Exaggerate class separation</a:t>
            </a:r>
          </a:p>
          <a:p>
            <a:endParaRPr lang="en-US" dirty="0"/>
          </a:p>
        </p:txBody>
      </p:sp>
      <p:sp>
        <p:nvSpPr>
          <p:cNvPr id="9" name="Slide Number Placeholder 8">
            <a:extLst>
              <a:ext uri="{FF2B5EF4-FFF2-40B4-BE49-F238E27FC236}">
                <a16:creationId xmlns:a16="http://schemas.microsoft.com/office/drawing/2014/main" id="{6F1AC638-A51A-D8B1-9DD5-8A67F862A082}"/>
              </a:ext>
            </a:extLst>
          </p:cNvPr>
          <p:cNvSpPr>
            <a:spLocks noGrp="1"/>
          </p:cNvSpPr>
          <p:nvPr>
            <p:ph type="sldNum" sz="quarter" idx="12"/>
          </p:nvPr>
        </p:nvSpPr>
        <p:spPr/>
        <p:txBody>
          <a:bodyPr/>
          <a:lstStyle/>
          <a:p>
            <a:fld id="{AE208ADF-3ADD-483D-A721-14E3EEE2C135}" type="slidenum">
              <a:rPr lang="en-US" smtClean="0"/>
              <a:pPr/>
              <a:t>7</a:t>
            </a:fld>
            <a:endParaRPr lang="en-US" dirty="0"/>
          </a:p>
        </p:txBody>
      </p:sp>
      <p:pic>
        <p:nvPicPr>
          <p:cNvPr id="8" name="Content Placeholder 7" descr="A comparison of different colored dots&#10;&#10;AI-generated content may be incorrect.">
            <a:extLst>
              <a:ext uri="{FF2B5EF4-FFF2-40B4-BE49-F238E27FC236}">
                <a16:creationId xmlns:a16="http://schemas.microsoft.com/office/drawing/2014/main" id="{9A0B9F23-8E72-0509-E1BF-27B6C802D391}"/>
              </a:ext>
            </a:extLst>
          </p:cNvPr>
          <p:cNvPicPr>
            <a:picLocks noGrp="1" noChangeAspect="1"/>
          </p:cNvPicPr>
          <p:nvPr>
            <p:ph sz="quarter" idx="4"/>
          </p:nvPr>
        </p:nvPicPr>
        <p:blipFill>
          <a:blip r:embed="rId2"/>
          <a:stretch>
            <a:fillRect/>
          </a:stretch>
        </p:blipFill>
        <p:spPr>
          <a:xfrm>
            <a:off x="4306715" y="1875099"/>
            <a:ext cx="7511130" cy="3460830"/>
          </a:xfrm>
        </p:spPr>
      </p:pic>
      <p:sp>
        <p:nvSpPr>
          <p:cNvPr id="15" name="TextBox 14">
            <a:extLst>
              <a:ext uri="{FF2B5EF4-FFF2-40B4-BE49-F238E27FC236}">
                <a16:creationId xmlns:a16="http://schemas.microsoft.com/office/drawing/2014/main" id="{E9DF3028-F80F-48F2-DCC4-71027D7E09B2}"/>
              </a:ext>
            </a:extLst>
          </p:cNvPr>
          <p:cNvSpPr txBox="1"/>
          <p:nvPr/>
        </p:nvSpPr>
        <p:spPr>
          <a:xfrm>
            <a:off x="4732961" y="5415727"/>
            <a:ext cx="6094070" cy="923330"/>
          </a:xfrm>
          <a:prstGeom prst="rect">
            <a:avLst/>
          </a:prstGeom>
          <a:noFill/>
        </p:spPr>
        <p:txBody>
          <a:bodyPr wrap="square">
            <a:spAutoFit/>
          </a:bodyPr>
          <a:lstStyle/>
          <a:p>
            <a:r>
              <a:rPr lang="en-US" dirty="0"/>
              <a:t>A random sample of 300 points generated from a bivariate normal distribution was randomly assigned one of three classes. MDS was applied to 1 – proximities.</a:t>
            </a:r>
          </a:p>
        </p:txBody>
      </p:sp>
    </p:spTree>
    <p:extLst>
      <p:ext uri="{BB962C8B-B14F-4D97-AF65-F5344CB8AC3E}">
        <p14:creationId xmlns:p14="http://schemas.microsoft.com/office/powerpoint/2010/main" val="2520995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8827B-3078-03C1-6C87-1C2C1BAABD4A}"/>
              </a:ext>
            </a:extLst>
          </p:cNvPr>
          <p:cNvSpPr>
            <a:spLocks noGrp="1"/>
          </p:cNvSpPr>
          <p:nvPr>
            <p:ph type="title"/>
          </p:nvPr>
        </p:nvSpPr>
        <p:spPr/>
        <p:txBody>
          <a:bodyPr/>
          <a:lstStyle/>
          <a:p>
            <a:r>
              <a:rPr lang="en-US" dirty="0"/>
              <a:t>OOB Formulation</a:t>
            </a:r>
          </a:p>
        </p:txBody>
      </p:sp>
      <p:sp>
        <p:nvSpPr>
          <p:cNvPr id="3" name="Content Placeholder 2">
            <a:extLst>
              <a:ext uri="{FF2B5EF4-FFF2-40B4-BE49-F238E27FC236}">
                <a16:creationId xmlns:a16="http://schemas.microsoft.com/office/drawing/2014/main" id="{B79B07FA-2097-0127-ED82-E04F1DC504A0}"/>
              </a:ext>
            </a:extLst>
          </p:cNvPr>
          <p:cNvSpPr>
            <a:spLocks noGrp="1"/>
          </p:cNvSpPr>
          <p:nvPr>
            <p:ph idx="1"/>
          </p:nvPr>
        </p:nvSpPr>
        <p:spPr>
          <a:xfrm>
            <a:off x="700635" y="1779230"/>
            <a:ext cx="10691265" cy="3739896"/>
          </a:xfrm>
        </p:spPr>
        <p:txBody>
          <a:bodyPr>
            <a:normAutofit/>
          </a:bodyPr>
          <a:lstStyle/>
          <a:p>
            <a:r>
              <a:rPr lang="en-US" dirty="0"/>
              <a:t>The original proximities accentuate class differences</a:t>
            </a:r>
          </a:p>
          <a:p>
            <a:r>
              <a:rPr lang="en-US" dirty="0"/>
              <a:t> Artificial separation (sometimes linearly separable) is encoded</a:t>
            </a:r>
          </a:p>
          <a:p>
            <a:r>
              <a:rPr lang="en-US" dirty="0"/>
              <a:t>This does not match the generalization error rate (or OOB rate)</a:t>
            </a:r>
          </a:p>
          <a:p>
            <a:r>
              <a:rPr lang="en-US" dirty="0"/>
              <a:t>An alternative formulation uses only OOB points (ESL, Hastie 2009): </a:t>
            </a:r>
          </a:p>
          <a:p>
            <a:pPr lvl="1"/>
            <a:r>
              <a:rPr lang="en-US" dirty="0"/>
              <a:t>“In growing a random forest, an N × N proximity matrix is accumulated for the training data. For every tree, any pair of OOB observations sharing a terminal node has their proximity increased by one. This proximity matrix is then represented in two dimensions using multidimensional scaling. The idea is that even though the data may be high-dimensional, involving mixed variables, etc., the proximity plot gives an indication of which observations are effectively close together in the eyes of the random forest classifier. “</a:t>
            </a:r>
            <a:endParaRPr lang="en-US" dirty="0">
              <a:solidFill>
                <a:srgbClr val="FF0000"/>
              </a:solidFill>
            </a:endParaRPr>
          </a:p>
        </p:txBody>
      </p:sp>
    </p:spTree>
    <p:extLst>
      <p:ext uri="{BB962C8B-B14F-4D97-AF65-F5344CB8AC3E}">
        <p14:creationId xmlns:p14="http://schemas.microsoft.com/office/powerpoint/2010/main" val="2882983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B2A732EB-EB0D-0022-B725-0F7BEB251041}"/>
              </a:ext>
            </a:extLst>
          </p:cNvPr>
          <p:cNvSpPr/>
          <p:nvPr/>
        </p:nvSpPr>
        <p:spPr>
          <a:xfrm>
            <a:off x="8105775" y="3048000"/>
            <a:ext cx="3467100" cy="133350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94DE3E-3FD1-FE47-37FD-A8E2A7AE8D91}"/>
              </a:ext>
            </a:extLst>
          </p:cNvPr>
          <p:cNvSpPr>
            <a:spLocks noGrp="1"/>
          </p:cNvSpPr>
          <p:nvPr>
            <p:ph type="title"/>
          </p:nvPr>
        </p:nvSpPr>
        <p:spPr/>
        <p:txBody>
          <a:bodyPr/>
          <a:lstStyle/>
          <a:p>
            <a:r>
              <a:rPr lang="en-US" dirty="0"/>
              <a:t>Proximities as Neighbor-based Predictor</a:t>
            </a:r>
          </a:p>
        </p:txBody>
      </p:sp>
      <p:sp>
        <p:nvSpPr>
          <p:cNvPr id="4" name="Content Placeholder 3">
            <a:extLst>
              <a:ext uri="{FF2B5EF4-FFF2-40B4-BE49-F238E27FC236}">
                <a16:creationId xmlns:a16="http://schemas.microsoft.com/office/drawing/2014/main" id="{CEFDBBF2-9F61-F5C0-2E7E-892F4A3F5FC2}"/>
              </a:ext>
            </a:extLst>
          </p:cNvPr>
          <p:cNvSpPr>
            <a:spLocks noGrp="1"/>
          </p:cNvSpPr>
          <p:nvPr>
            <p:ph sz="half" idx="2"/>
          </p:nvPr>
        </p:nvSpPr>
        <p:spPr>
          <a:xfrm>
            <a:off x="839788" y="2044853"/>
            <a:ext cx="7056437" cy="3751268"/>
          </a:xfrm>
        </p:spPr>
        <p:txBody>
          <a:bodyPr>
            <a:normAutofit fontScale="92500" lnSpcReduction="10000"/>
          </a:bodyPr>
          <a:lstStyle/>
          <a:p>
            <a:pPr marL="0" indent="0">
              <a:buNone/>
            </a:pPr>
            <a:r>
              <a:rPr lang="en-US" b="1" dirty="0"/>
              <a:t>What do we want? </a:t>
            </a:r>
          </a:p>
          <a:p>
            <a:r>
              <a:rPr lang="en-US" dirty="0"/>
              <a:t>The similarity measure to encapsulate the supervised learning from the random forest!</a:t>
            </a:r>
          </a:p>
          <a:p>
            <a:r>
              <a:rPr lang="en-US" dirty="0"/>
              <a:t>E.g., we want a proximity-weighted predictor to match the RF OOB predictions.</a:t>
            </a:r>
          </a:p>
          <a:p>
            <a:r>
              <a:rPr lang="en-US" dirty="0"/>
              <a:t>This is </a:t>
            </a:r>
            <a:r>
              <a:rPr lang="en-US" b="1" dirty="0"/>
              <a:t>not the case </a:t>
            </a:r>
            <a:r>
              <a:rPr lang="en-US" dirty="0"/>
              <a:t>with the original definition, even when limiting it to OOB points only.</a:t>
            </a:r>
          </a:p>
          <a:p>
            <a:pPr marL="0" indent="0">
              <a:buNone/>
            </a:pPr>
            <a:r>
              <a:rPr lang="en-US" b="1" dirty="0"/>
              <a:t>Why does this not work?</a:t>
            </a:r>
          </a:p>
          <a:p>
            <a:r>
              <a:rPr lang="en-US" dirty="0"/>
              <a:t>The voting mechanism in random forests considers all training instances, not just pairwise relationships.</a:t>
            </a:r>
          </a:p>
        </p:txBody>
      </p:sp>
      <p:sp>
        <p:nvSpPr>
          <p:cNvPr id="7" name="Date Placeholder 6">
            <a:extLst>
              <a:ext uri="{FF2B5EF4-FFF2-40B4-BE49-F238E27FC236}">
                <a16:creationId xmlns:a16="http://schemas.microsoft.com/office/drawing/2014/main" id="{16E946E6-CF5D-0363-716D-3BDC345041E0}"/>
              </a:ext>
            </a:extLst>
          </p:cNvPr>
          <p:cNvSpPr>
            <a:spLocks noGrp="1"/>
          </p:cNvSpPr>
          <p:nvPr>
            <p:ph type="dt" sz="half" idx="10"/>
          </p:nvPr>
        </p:nvSpPr>
        <p:spPr/>
        <p:txBody>
          <a:bodyPr/>
          <a:lstStyle/>
          <a:p>
            <a:r>
              <a:rPr lang="en-US" dirty="0"/>
              <a:t>2025</a:t>
            </a:r>
          </a:p>
        </p:txBody>
      </p:sp>
      <p:sp>
        <p:nvSpPr>
          <p:cNvPr id="9" name="Slide Number Placeholder 8">
            <a:extLst>
              <a:ext uri="{FF2B5EF4-FFF2-40B4-BE49-F238E27FC236}">
                <a16:creationId xmlns:a16="http://schemas.microsoft.com/office/drawing/2014/main" id="{81DC6CE1-4010-4D19-C87E-26E3E07BD3CF}"/>
              </a:ext>
            </a:extLst>
          </p:cNvPr>
          <p:cNvSpPr>
            <a:spLocks noGrp="1"/>
          </p:cNvSpPr>
          <p:nvPr>
            <p:ph type="sldNum" sz="quarter" idx="12"/>
          </p:nvPr>
        </p:nvSpPr>
        <p:spPr/>
        <p:txBody>
          <a:bodyPr/>
          <a:lstStyle/>
          <a:p>
            <a:fld id="{AE208ADF-3ADD-483D-A721-14E3EEE2C135}" type="slidenum">
              <a:rPr lang="en-US" smtClean="0"/>
              <a:pPr/>
              <a:t>9</a:t>
            </a:fld>
            <a:endParaRPr lang="en-US" dirty="0"/>
          </a:p>
        </p:txBody>
      </p:sp>
      <p:sp>
        <p:nvSpPr>
          <p:cNvPr id="10" name="Content Placeholder 3">
            <a:extLst>
              <a:ext uri="{FF2B5EF4-FFF2-40B4-BE49-F238E27FC236}">
                <a16:creationId xmlns:a16="http://schemas.microsoft.com/office/drawing/2014/main" id="{7F4538A7-4B09-B3B4-1934-AD2465475AB5}"/>
              </a:ext>
            </a:extLst>
          </p:cNvPr>
          <p:cNvSpPr txBox="1">
            <a:spLocks/>
          </p:cNvSpPr>
          <p:nvPr/>
        </p:nvSpPr>
        <p:spPr>
          <a:xfrm>
            <a:off x="8029575" y="2044853"/>
            <a:ext cx="4162425" cy="375126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80000"/>
              <a:buFont typeface="Arial" panose="020B0604020202020204" pitchFamily="34" charset="0"/>
              <a:buChar char="•"/>
              <a:defRPr sz="2400" kern="1200" spc="100" baseline="0">
                <a:solidFill>
                  <a:schemeClr val="tx2">
                    <a:alpha val="85000"/>
                  </a:schemeClr>
                </a:solidFill>
                <a:latin typeface="+mn-lt"/>
                <a:ea typeface="+mn-ea"/>
                <a:cs typeface="+mn-cs"/>
              </a:defRPr>
            </a:lvl1pPr>
            <a:lvl2pPr marL="274320" indent="0" algn="l" defTabSz="914400" rtl="0" eaLnBrk="1" latinLnBrk="0" hangingPunct="1">
              <a:lnSpc>
                <a:spcPct val="120000"/>
              </a:lnSpc>
              <a:spcBef>
                <a:spcPts val="500"/>
              </a:spcBef>
              <a:buFontTx/>
              <a:buNone/>
              <a:defRPr sz="1800" b="1" kern="1200" spc="100" baseline="0">
                <a:solidFill>
                  <a:schemeClr val="tx2">
                    <a:alpha val="85000"/>
                  </a:schemeClr>
                </a:solidFill>
                <a:latin typeface="+mn-lt"/>
                <a:ea typeface="+mn-ea"/>
                <a:cs typeface="+mn-cs"/>
              </a:defRPr>
            </a:lvl2pPr>
            <a:lvl3pPr marL="571500" indent="-342900" algn="l" defTabSz="914400" rtl="0" eaLnBrk="1" latinLnBrk="0" hangingPunct="1">
              <a:lnSpc>
                <a:spcPct val="120000"/>
              </a:lnSpc>
              <a:spcBef>
                <a:spcPts val="500"/>
              </a:spcBef>
              <a:buFont typeface="Arial" panose="020B0604020202020204" pitchFamily="34" charset="0"/>
              <a:buChar char="•"/>
              <a:defRPr sz="1800" kern="1200" spc="100" baseline="0">
                <a:solidFill>
                  <a:schemeClr val="tx2">
                    <a:alpha val="85000"/>
                  </a:schemeClr>
                </a:solidFill>
                <a:latin typeface="+mn-lt"/>
                <a:ea typeface="+mn-ea"/>
                <a:cs typeface="+mn-cs"/>
              </a:defRPr>
            </a:lvl3pPr>
            <a:lvl4pPr marL="640080" indent="0" algn="l" defTabSz="914400" rtl="0" eaLnBrk="1" latinLnBrk="0" hangingPunct="1">
              <a:lnSpc>
                <a:spcPct val="120000"/>
              </a:lnSpc>
              <a:spcBef>
                <a:spcPts val="500"/>
              </a:spcBef>
              <a:buFont typeface="Arial" panose="020B0604020202020204" pitchFamily="34" charset="0"/>
              <a:buNone/>
              <a:defRPr sz="1600" i="1" kern="1200" spc="100" baseline="0">
                <a:solidFill>
                  <a:schemeClr val="tx2">
                    <a:alpha val="85000"/>
                  </a:schemeClr>
                </a:solidFill>
                <a:latin typeface="+mn-lt"/>
                <a:ea typeface="+mn-ea"/>
                <a:cs typeface="+mn-cs"/>
              </a:defRPr>
            </a:lvl4pPr>
            <a:lvl5pPr marL="914400" indent="-228600" algn="l" defTabSz="914400" rtl="0" eaLnBrk="1" latinLnBrk="0" hangingPunct="1">
              <a:lnSpc>
                <a:spcPct val="120000"/>
              </a:lnSpc>
              <a:spcBef>
                <a:spcPts val="500"/>
              </a:spcBef>
              <a:buSzPct val="80000"/>
              <a:buFont typeface="Arial" panose="020B0604020202020204" pitchFamily="34" charset="0"/>
              <a:buChar char="•"/>
              <a:defRPr sz="1600" kern="1200" spc="100" baseline="0">
                <a:solidFill>
                  <a:schemeClr val="tx2">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Similar to KNN Predictions:</a:t>
            </a:r>
            <a:endParaRPr lang="en-US" dirty="0"/>
          </a:p>
        </p:txBody>
      </p:sp>
      <p:pic>
        <p:nvPicPr>
          <p:cNvPr id="12" name="Picture 11">
            <a:extLst>
              <a:ext uri="{FF2B5EF4-FFF2-40B4-BE49-F238E27FC236}">
                <a16:creationId xmlns:a16="http://schemas.microsoft.com/office/drawing/2014/main" id="{0A5DA5E1-E014-14E7-6A1B-5956D2F68032}"/>
              </a:ext>
            </a:extLst>
          </p:cNvPr>
          <p:cNvPicPr>
            <a:picLocks noChangeAspect="1"/>
          </p:cNvPicPr>
          <p:nvPr/>
        </p:nvPicPr>
        <p:blipFill>
          <a:blip r:embed="rId2"/>
          <a:stretch>
            <a:fillRect/>
          </a:stretch>
        </p:blipFill>
        <p:spPr>
          <a:xfrm>
            <a:off x="8243378" y="3169948"/>
            <a:ext cx="3236597" cy="1125972"/>
          </a:xfrm>
          <a:prstGeom prst="rect">
            <a:avLst/>
          </a:prstGeom>
        </p:spPr>
      </p:pic>
    </p:spTree>
    <p:extLst>
      <p:ext uri="{BB962C8B-B14F-4D97-AF65-F5344CB8AC3E}">
        <p14:creationId xmlns:p14="http://schemas.microsoft.com/office/powerpoint/2010/main" val="4279820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5E70C-A57C-32A7-7D5E-E8815D355187}"/>
              </a:ext>
            </a:extLst>
          </p:cNvPr>
          <p:cNvSpPr>
            <a:spLocks noGrp="1"/>
          </p:cNvSpPr>
          <p:nvPr>
            <p:ph type="title"/>
          </p:nvPr>
        </p:nvSpPr>
        <p:spPr/>
        <p:txBody>
          <a:bodyPr>
            <a:normAutofit/>
          </a:bodyPr>
          <a:lstStyle/>
          <a:p>
            <a:r>
              <a:rPr lang="en-US" dirty="0"/>
              <a:t>Accuracy Preserving Proximities </a:t>
            </a:r>
          </a:p>
        </p:txBody>
      </p:sp>
      <p:sp>
        <p:nvSpPr>
          <p:cNvPr id="3" name="Text Placeholder 2">
            <a:extLst>
              <a:ext uri="{FF2B5EF4-FFF2-40B4-BE49-F238E27FC236}">
                <a16:creationId xmlns:a16="http://schemas.microsoft.com/office/drawing/2014/main" id="{5BF0DBEC-3FB3-1522-C189-6BB9CF609321}"/>
              </a:ext>
            </a:extLst>
          </p:cNvPr>
          <p:cNvSpPr>
            <a:spLocks noGrp="1"/>
          </p:cNvSpPr>
          <p:nvPr>
            <p:ph type="body" idx="1"/>
          </p:nvPr>
        </p:nvSpPr>
        <p:spPr/>
        <p:txBody>
          <a:bodyPr/>
          <a:lstStyle/>
          <a:p>
            <a:r>
              <a:rPr lang="en-US" dirty="0"/>
              <a:t>Account for Prediction</a:t>
            </a:r>
          </a:p>
        </p:txBody>
      </p:sp>
      <p:sp>
        <p:nvSpPr>
          <p:cNvPr id="4" name="Content Placeholder 3">
            <a:extLst>
              <a:ext uri="{FF2B5EF4-FFF2-40B4-BE49-F238E27FC236}">
                <a16:creationId xmlns:a16="http://schemas.microsoft.com/office/drawing/2014/main" id="{4A4ACC64-9AA6-B9B9-D994-99CA96D29D61}"/>
              </a:ext>
            </a:extLst>
          </p:cNvPr>
          <p:cNvSpPr>
            <a:spLocks noGrp="1"/>
          </p:cNvSpPr>
          <p:nvPr>
            <p:ph sz="half" idx="2"/>
          </p:nvPr>
        </p:nvSpPr>
        <p:spPr/>
        <p:txBody>
          <a:bodyPr/>
          <a:lstStyle/>
          <a:p>
            <a:r>
              <a:rPr lang="en-US" dirty="0"/>
              <a:t>Proximities to be defined between an OOB point and all “similar” training points.</a:t>
            </a:r>
          </a:p>
          <a:p>
            <a:r>
              <a:rPr lang="en-US" dirty="0"/>
              <a:t>Tree-wise proximities proportionate to size of terminal node.</a:t>
            </a:r>
          </a:p>
          <a:p>
            <a:r>
              <a:rPr lang="en-US" dirty="0"/>
              <a:t>Proximity weighted predictor matches OOB or test predictions.</a:t>
            </a:r>
          </a:p>
          <a:p>
            <a:endParaRPr lang="en-US" dirty="0"/>
          </a:p>
        </p:txBody>
      </p:sp>
      <p:sp>
        <p:nvSpPr>
          <p:cNvPr id="7" name="Date Placeholder 6">
            <a:extLst>
              <a:ext uri="{FF2B5EF4-FFF2-40B4-BE49-F238E27FC236}">
                <a16:creationId xmlns:a16="http://schemas.microsoft.com/office/drawing/2014/main" id="{D6FD0BFD-58C3-9430-262B-C36B091CDA10}"/>
              </a:ext>
            </a:extLst>
          </p:cNvPr>
          <p:cNvSpPr>
            <a:spLocks noGrp="1"/>
          </p:cNvSpPr>
          <p:nvPr>
            <p:ph type="dt" sz="half" idx="10"/>
          </p:nvPr>
        </p:nvSpPr>
        <p:spPr/>
        <p:txBody>
          <a:bodyPr/>
          <a:lstStyle/>
          <a:p>
            <a:r>
              <a:rPr lang="en-US" dirty="0"/>
              <a:t>2025</a:t>
            </a:r>
          </a:p>
        </p:txBody>
      </p:sp>
      <p:sp>
        <p:nvSpPr>
          <p:cNvPr id="9" name="Slide Number Placeholder 8">
            <a:extLst>
              <a:ext uri="{FF2B5EF4-FFF2-40B4-BE49-F238E27FC236}">
                <a16:creationId xmlns:a16="http://schemas.microsoft.com/office/drawing/2014/main" id="{FCD2E724-38FF-02F5-741D-1507CA0680E4}"/>
              </a:ext>
            </a:extLst>
          </p:cNvPr>
          <p:cNvSpPr>
            <a:spLocks noGrp="1"/>
          </p:cNvSpPr>
          <p:nvPr>
            <p:ph type="sldNum" sz="quarter" idx="12"/>
          </p:nvPr>
        </p:nvSpPr>
        <p:spPr/>
        <p:txBody>
          <a:bodyPr/>
          <a:lstStyle/>
          <a:p>
            <a:fld id="{AE208ADF-3ADD-483D-A721-14E3EEE2C135}" type="slidenum">
              <a:rPr lang="en-US" smtClean="0"/>
              <a:pPr/>
              <a:t>10</a:t>
            </a:fld>
            <a:endParaRPr lang="en-US" dirty="0"/>
          </a:p>
        </p:txBody>
      </p:sp>
      <p:sp>
        <p:nvSpPr>
          <p:cNvPr id="10" name="Rectangle: Rounded Corners 9">
            <a:extLst>
              <a:ext uri="{FF2B5EF4-FFF2-40B4-BE49-F238E27FC236}">
                <a16:creationId xmlns:a16="http://schemas.microsoft.com/office/drawing/2014/main" id="{51C21773-2D25-AD66-DA0B-BD46085B23D2}"/>
              </a:ext>
            </a:extLst>
          </p:cNvPr>
          <p:cNvSpPr/>
          <p:nvPr/>
        </p:nvSpPr>
        <p:spPr>
          <a:xfrm>
            <a:off x="5882479" y="2019595"/>
            <a:ext cx="5756277" cy="380178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10" descr="A screenshot of a video game&#10;&#10;AI-generated content may be incorrect.">
            <a:extLst>
              <a:ext uri="{FF2B5EF4-FFF2-40B4-BE49-F238E27FC236}">
                <a16:creationId xmlns:a16="http://schemas.microsoft.com/office/drawing/2014/main" id="{41935B73-5AB4-C740-42C5-BFA40BE5F106}"/>
              </a:ext>
            </a:extLst>
          </p:cNvPr>
          <p:cNvPicPr>
            <a:picLocks noChangeAspect="1"/>
          </p:cNvPicPr>
          <p:nvPr/>
        </p:nvPicPr>
        <p:blipFill>
          <a:blip r:embed="rId2"/>
          <a:stretch>
            <a:fillRect/>
          </a:stretch>
        </p:blipFill>
        <p:spPr>
          <a:xfrm>
            <a:off x="6169024" y="2329434"/>
            <a:ext cx="5183188" cy="3262631"/>
          </a:xfrm>
          <a:prstGeom prst="rect">
            <a:avLst/>
          </a:prstGeom>
        </p:spPr>
      </p:pic>
    </p:spTree>
    <p:extLst>
      <p:ext uri="{BB962C8B-B14F-4D97-AF65-F5344CB8AC3E}">
        <p14:creationId xmlns:p14="http://schemas.microsoft.com/office/powerpoint/2010/main" val="4126820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70DFB2CB-317A-06FF-F5B9-2DB37379632E}"/>
              </a:ext>
            </a:extLst>
          </p:cNvPr>
          <p:cNvSpPr/>
          <p:nvPr/>
        </p:nvSpPr>
        <p:spPr>
          <a:xfrm>
            <a:off x="6781800" y="3290607"/>
            <a:ext cx="5248275" cy="114300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7682FD64-911E-80D2-738A-35799944E53C}"/>
              </a:ext>
            </a:extLst>
          </p:cNvPr>
          <p:cNvSpPr>
            <a:spLocks noGrp="1"/>
          </p:cNvSpPr>
          <p:nvPr>
            <p:ph type="title"/>
          </p:nvPr>
        </p:nvSpPr>
        <p:spPr>
          <a:xfrm>
            <a:off x="838200" y="769107"/>
            <a:ext cx="10515600" cy="819738"/>
          </a:xfrm>
        </p:spPr>
        <p:txBody>
          <a:bodyPr anchor="ctr">
            <a:normAutofit fontScale="90000"/>
          </a:bodyPr>
          <a:lstStyle/>
          <a:p>
            <a:pPr>
              <a:lnSpc>
                <a:spcPct val="90000"/>
              </a:lnSpc>
            </a:pPr>
            <a:r>
              <a:rPr lang="en-US" sz="3100" dirty="0"/>
              <a:t>Random Forest Geometry- and Accuracy-Preserving Proximities</a:t>
            </a:r>
          </a:p>
        </p:txBody>
      </p:sp>
      <p:sp>
        <p:nvSpPr>
          <p:cNvPr id="7" name="Date Placeholder 6">
            <a:extLst>
              <a:ext uri="{FF2B5EF4-FFF2-40B4-BE49-F238E27FC236}">
                <a16:creationId xmlns:a16="http://schemas.microsoft.com/office/drawing/2014/main" id="{3567B3E9-B237-224D-D0A5-8D28A181DEC6}"/>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900" b="1" kern="1200" spc="100" baseline="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2025</a:t>
            </a:r>
            <a:endParaRPr lang="en-US" dirty="0"/>
          </a:p>
        </p:txBody>
      </p:sp>
      <p:sp>
        <p:nvSpPr>
          <p:cNvPr id="9" name="Slide Number Placeholder 8">
            <a:extLst>
              <a:ext uri="{FF2B5EF4-FFF2-40B4-BE49-F238E27FC236}">
                <a16:creationId xmlns:a16="http://schemas.microsoft.com/office/drawing/2014/main" id="{DBF210CE-1192-F84D-69DD-41D678BED501}"/>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900" b="1" kern="120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AE208ADF-3ADD-483D-A721-14E3EEE2C135}" type="slidenum">
              <a:rPr lang="en-US" smtClean="0"/>
              <a:pPr>
                <a:spcAft>
                  <a:spcPts val="600"/>
                </a:spcAft>
              </a:pPr>
              <a:t>11</a:t>
            </a:fld>
            <a:endParaRPr lang="en-US"/>
          </a:p>
        </p:txBody>
      </p:sp>
      <p:graphicFrame>
        <p:nvGraphicFramePr>
          <p:cNvPr id="18" name="Rectangle 2">
            <a:extLst>
              <a:ext uri="{FF2B5EF4-FFF2-40B4-BE49-F238E27FC236}">
                <a16:creationId xmlns:a16="http://schemas.microsoft.com/office/drawing/2014/main" id="{49DD8BD3-E428-E4B5-18CD-6901A7F85DA6}"/>
              </a:ext>
            </a:extLst>
          </p:cNvPr>
          <p:cNvGraphicFramePr>
            <a:graphicFrameLocks noGrp="1"/>
          </p:cNvGraphicFramePr>
          <p:nvPr>
            <p:ph idx="1"/>
          </p:nvPr>
        </p:nvGraphicFramePr>
        <p:xfrm>
          <a:off x="838200" y="1811756"/>
          <a:ext cx="5800725" cy="41903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1" name="Picture 20">
            <a:extLst>
              <a:ext uri="{FF2B5EF4-FFF2-40B4-BE49-F238E27FC236}">
                <a16:creationId xmlns:a16="http://schemas.microsoft.com/office/drawing/2014/main" id="{5C6E8BC9-DCAB-0619-000C-B3B496CD49B9}"/>
              </a:ext>
            </a:extLst>
          </p:cNvPr>
          <p:cNvPicPr>
            <a:picLocks noChangeAspect="1"/>
          </p:cNvPicPr>
          <p:nvPr/>
        </p:nvPicPr>
        <p:blipFill>
          <a:blip r:embed="rId7"/>
          <a:stretch>
            <a:fillRect/>
          </a:stretch>
        </p:blipFill>
        <p:spPr>
          <a:xfrm>
            <a:off x="6956640" y="3452238"/>
            <a:ext cx="4898594" cy="819738"/>
          </a:xfrm>
          <a:prstGeom prst="rect">
            <a:avLst/>
          </a:prstGeom>
        </p:spPr>
      </p:pic>
    </p:spTree>
    <p:extLst>
      <p:ext uri="{BB962C8B-B14F-4D97-AF65-F5344CB8AC3E}">
        <p14:creationId xmlns:p14="http://schemas.microsoft.com/office/powerpoint/2010/main" val="4192433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642A2-3EF8-F0A3-651D-45F5A89A11B0}"/>
              </a:ext>
            </a:extLst>
          </p:cNvPr>
          <p:cNvSpPr>
            <a:spLocks noGrp="1"/>
          </p:cNvSpPr>
          <p:nvPr>
            <p:ph type="title"/>
          </p:nvPr>
        </p:nvSpPr>
        <p:spPr/>
        <p:txBody>
          <a:bodyPr/>
          <a:lstStyle/>
          <a:p>
            <a:r>
              <a:rPr lang="en-US" dirty="0"/>
              <a:t>RF-GAP Proximities Notes</a:t>
            </a:r>
          </a:p>
        </p:txBody>
      </p:sp>
      <p:sp>
        <p:nvSpPr>
          <p:cNvPr id="3" name="Content Placeholder 2">
            <a:extLst>
              <a:ext uri="{FF2B5EF4-FFF2-40B4-BE49-F238E27FC236}">
                <a16:creationId xmlns:a16="http://schemas.microsoft.com/office/drawing/2014/main" id="{BB7A3466-B8A2-1F18-5571-B31C61462576}"/>
              </a:ext>
            </a:extLst>
          </p:cNvPr>
          <p:cNvSpPr>
            <a:spLocks noGrp="1"/>
          </p:cNvSpPr>
          <p:nvPr>
            <p:ph idx="1"/>
          </p:nvPr>
        </p:nvSpPr>
        <p:spPr>
          <a:xfrm>
            <a:off x="700634" y="1744580"/>
            <a:ext cx="10609049" cy="4473340"/>
          </a:xfrm>
        </p:spPr>
        <p:txBody>
          <a:bodyPr>
            <a:normAutofit/>
          </a:bodyPr>
          <a:lstStyle/>
          <a:p>
            <a:r>
              <a:rPr lang="en-US" dirty="0"/>
              <a:t>RF-GAP proximities are not symmetric! </a:t>
            </a:r>
          </a:p>
          <a:p>
            <a:r>
              <a:rPr lang="en-US" dirty="0"/>
              <a:t>By design, p(</a:t>
            </a:r>
            <a:r>
              <a:rPr lang="en-US" dirty="0" err="1"/>
              <a:t>i</a:t>
            </a:r>
            <a:r>
              <a:rPr lang="en-US" dirty="0"/>
              <a:t>, </a:t>
            </a:r>
            <a:r>
              <a:rPr lang="en-US" dirty="0" err="1"/>
              <a:t>i</a:t>
            </a:r>
            <a:r>
              <a:rPr lang="en-US" dirty="0"/>
              <a:t>) = 0 to serve as proper weights for RF predictions.</a:t>
            </a:r>
          </a:p>
          <a:p>
            <a:r>
              <a:rPr lang="en-US" dirty="0"/>
              <a:t>For some applications, we must reassign self-similarity and symmetrize.</a:t>
            </a:r>
          </a:p>
          <a:p>
            <a:endParaRPr lang="en-US" dirty="0"/>
          </a:p>
          <a:p>
            <a:endParaRPr lang="en-US" dirty="0"/>
          </a:p>
          <a:p>
            <a:endParaRPr lang="en-US" dirty="0"/>
          </a:p>
          <a:p>
            <a:endParaRPr lang="en-US" dirty="0"/>
          </a:p>
          <a:p>
            <a:endParaRPr lang="en-US" dirty="0"/>
          </a:p>
          <a:p>
            <a:r>
              <a:rPr lang="en-US" dirty="0"/>
              <a:t>This guarantees that self-similarity is maximal but on the same scale.</a:t>
            </a:r>
          </a:p>
          <a:p>
            <a:endParaRPr lang="en-US" dirty="0"/>
          </a:p>
          <a:p>
            <a:pPr marL="0" indent="0">
              <a:buNone/>
            </a:pPr>
            <a:endParaRPr lang="en-US" dirty="0"/>
          </a:p>
        </p:txBody>
      </p:sp>
      <p:sp>
        <p:nvSpPr>
          <p:cNvPr id="4" name="Date Placeholder 3">
            <a:extLst>
              <a:ext uri="{FF2B5EF4-FFF2-40B4-BE49-F238E27FC236}">
                <a16:creationId xmlns:a16="http://schemas.microsoft.com/office/drawing/2014/main" id="{1B478FA3-315E-0722-F5EF-4443FE7E86D3}"/>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defPPr>
              <a:defRPr lang="en-US"/>
            </a:defPPr>
            <a:lvl1pPr marL="0" algn="l" defTabSz="914400" rtl="0" eaLnBrk="1" latinLnBrk="0" hangingPunct="1">
              <a:defRPr sz="900" b="1" kern="1200" spc="100" baseline="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2025</a:t>
            </a:r>
            <a:endParaRPr lang="en-US" dirty="0"/>
          </a:p>
        </p:txBody>
      </p:sp>
      <p:sp>
        <p:nvSpPr>
          <p:cNvPr id="6" name="Slide Number Placeholder 5">
            <a:extLst>
              <a:ext uri="{FF2B5EF4-FFF2-40B4-BE49-F238E27FC236}">
                <a16:creationId xmlns:a16="http://schemas.microsoft.com/office/drawing/2014/main" id="{73D08186-5D17-5205-8A4C-C7A6A47CB827}"/>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defPPr>
              <a:defRPr lang="en-US"/>
            </a:defPPr>
            <a:lvl1pPr marL="0" algn="r" defTabSz="914400" rtl="0" eaLnBrk="1" latinLnBrk="0" hangingPunct="1">
              <a:defRPr sz="900" b="1" kern="120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208ADF-3ADD-483D-A721-14E3EEE2C135}" type="slidenum">
              <a:rPr lang="en-US" smtClean="0"/>
              <a:pPr/>
              <a:t>12</a:t>
            </a:fld>
            <a:endParaRPr lang="en-US" dirty="0"/>
          </a:p>
        </p:txBody>
      </p:sp>
      <p:sp>
        <p:nvSpPr>
          <p:cNvPr id="9" name="Rectangle: Rounded Corners 8">
            <a:extLst>
              <a:ext uri="{FF2B5EF4-FFF2-40B4-BE49-F238E27FC236}">
                <a16:creationId xmlns:a16="http://schemas.microsoft.com/office/drawing/2014/main" id="{6D01FE56-6AB4-4832-75CE-579EDC18F216}"/>
              </a:ext>
            </a:extLst>
          </p:cNvPr>
          <p:cNvSpPr/>
          <p:nvPr/>
        </p:nvSpPr>
        <p:spPr>
          <a:xfrm>
            <a:off x="3136392" y="3145536"/>
            <a:ext cx="4572000" cy="235000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AAB0009-AD91-0516-9952-900FE6B4CAF0}"/>
              </a:ext>
            </a:extLst>
          </p:cNvPr>
          <p:cNvPicPr>
            <a:picLocks noChangeAspect="1"/>
          </p:cNvPicPr>
          <p:nvPr/>
        </p:nvPicPr>
        <p:blipFill>
          <a:blip r:embed="rId2"/>
          <a:stretch>
            <a:fillRect/>
          </a:stretch>
        </p:blipFill>
        <p:spPr>
          <a:xfrm>
            <a:off x="3310128" y="3300984"/>
            <a:ext cx="4206240" cy="2042576"/>
          </a:xfrm>
          <a:prstGeom prst="rect">
            <a:avLst/>
          </a:prstGeom>
        </p:spPr>
      </p:pic>
    </p:spTree>
    <p:extLst>
      <p:ext uri="{BB962C8B-B14F-4D97-AF65-F5344CB8AC3E}">
        <p14:creationId xmlns:p14="http://schemas.microsoft.com/office/powerpoint/2010/main" val="488209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2848AE-C966-F2AD-9845-15BB18F01B61}"/>
            </a:ext>
          </a:extLst>
        </p:cNvPr>
        <p:cNvGrpSpPr/>
        <p:nvPr/>
      </p:nvGrpSpPr>
      <p:grpSpPr>
        <a:xfrm>
          <a:off x="0" y="0"/>
          <a:ext cx="0" cy="0"/>
          <a:chOff x="0" y="0"/>
          <a:chExt cx="0" cy="0"/>
        </a:xfrm>
      </p:grpSpPr>
      <p:cxnSp>
        <p:nvCxnSpPr>
          <p:cNvPr id="82" name="Straight Connector 81">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86" name="Rectangle 85">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FF9676-3A9E-34D1-7D93-5B1A93964849}"/>
              </a:ext>
            </a:extLst>
          </p:cNvPr>
          <p:cNvSpPr>
            <a:spLocks noGrp="1"/>
          </p:cNvSpPr>
          <p:nvPr>
            <p:ph type="title"/>
          </p:nvPr>
        </p:nvSpPr>
        <p:spPr>
          <a:xfrm>
            <a:off x="700087" y="909638"/>
            <a:ext cx="10691813" cy="1155618"/>
          </a:xfrm>
        </p:spPr>
        <p:txBody>
          <a:bodyPr vert="horz" lIns="91440" tIns="45720" rIns="91440" bIns="45720" rtlCol="0" anchor="t">
            <a:normAutofit/>
          </a:bodyPr>
          <a:lstStyle/>
          <a:p>
            <a:r>
              <a:rPr lang="en-US" dirty="0"/>
              <a:t>Applications of Proximities</a:t>
            </a:r>
          </a:p>
        </p:txBody>
      </p:sp>
      <p:cxnSp>
        <p:nvCxnSpPr>
          <p:cNvPr id="88" name="Straight Connector 87">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Date Placeholder 73">
            <a:extLst>
              <a:ext uri="{FF2B5EF4-FFF2-40B4-BE49-F238E27FC236}">
                <a16:creationId xmlns:a16="http://schemas.microsoft.com/office/drawing/2014/main" id="{32F92EA9-F512-573A-9EDF-E0292D06023E}"/>
              </a:ext>
            </a:extLst>
          </p:cNvPr>
          <p:cNvSpPr>
            <a:spLocks noGrp="1"/>
          </p:cNvSpPr>
          <p:nvPr>
            <p:ph type="dt" sz="half" idx="2"/>
          </p:nvPr>
        </p:nvSpPr>
        <p:spPr>
          <a:xfrm>
            <a:off x="8369448" y="6356350"/>
            <a:ext cx="2549564" cy="365125"/>
          </a:xfrm>
        </p:spPr>
        <p:txBody>
          <a:bodyPr vert="horz" lIns="91440" tIns="45720" rIns="91440" bIns="45720" rtlCol="0" anchor="ctr">
            <a:normAutofit/>
          </a:bodyPr>
          <a:lstStyle/>
          <a:p>
            <a:pPr algn="r">
              <a:spcAft>
                <a:spcPts val="600"/>
              </a:spcAft>
            </a:pPr>
            <a:r>
              <a:rPr lang="en-US" sz="1050">
                <a:solidFill>
                  <a:schemeClr val="tx1"/>
                </a:solidFill>
              </a:rPr>
              <a:t>2025</a:t>
            </a:r>
          </a:p>
        </p:txBody>
      </p:sp>
      <p:sp>
        <p:nvSpPr>
          <p:cNvPr id="76" name="Slide Number Placeholder 75">
            <a:extLst>
              <a:ext uri="{FF2B5EF4-FFF2-40B4-BE49-F238E27FC236}">
                <a16:creationId xmlns:a16="http://schemas.microsoft.com/office/drawing/2014/main" id="{AB6F4E14-B86D-718C-9514-B7C31E9DD9B2}"/>
              </a:ext>
            </a:extLst>
          </p:cNvPr>
          <p:cNvSpPr>
            <a:spLocks noGrp="1"/>
          </p:cNvSpPr>
          <p:nvPr>
            <p:ph type="sldNum" sz="quarter" idx="4"/>
          </p:nvPr>
        </p:nvSpPr>
        <p:spPr>
          <a:xfrm>
            <a:off x="10919012" y="6356350"/>
            <a:ext cx="672354" cy="365125"/>
          </a:xfrm>
        </p:spPr>
        <p:txBody>
          <a:bodyPr vert="horz" lIns="91440" tIns="45720" rIns="91440" bIns="45720" rtlCol="0" anchor="ctr">
            <a:normAutofit/>
          </a:bodyPr>
          <a:lstStyle/>
          <a:p>
            <a:pPr>
              <a:lnSpc>
                <a:spcPct val="90000"/>
              </a:lnSpc>
              <a:spcAft>
                <a:spcPts val="600"/>
              </a:spcAft>
            </a:pPr>
            <a:fld id="{AE208ADF-3ADD-483D-A721-14E3EEE2C135}" type="slidenum">
              <a:rPr lang="en-US" sz="1800" smtClean="0">
                <a:solidFill>
                  <a:schemeClr val="tx1"/>
                </a:solidFill>
              </a:rPr>
              <a:pPr>
                <a:lnSpc>
                  <a:spcPct val="90000"/>
                </a:lnSpc>
                <a:spcAft>
                  <a:spcPts val="600"/>
                </a:spcAft>
              </a:pPr>
              <a:t>13</a:t>
            </a:fld>
            <a:endParaRPr lang="en-US" sz="1800">
              <a:solidFill>
                <a:schemeClr val="tx1"/>
              </a:solidFill>
            </a:endParaRPr>
          </a:p>
        </p:txBody>
      </p:sp>
      <p:graphicFrame>
        <p:nvGraphicFramePr>
          <p:cNvPr id="78" name="Content Placeholder 2">
            <a:extLst>
              <a:ext uri="{FF2B5EF4-FFF2-40B4-BE49-F238E27FC236}">
                <a16:creationId xmlns:a16="http://schemas.microsoft.com/office/drawing/2014/main" id="{ABBAE900-2793-BCB4-1DD2-449AC65A3362}"/>
              </a:ext>
            </a:extLst>
          </p:cNvPr>
          <p:cNvGraphicFramePr>
            <a:graphicFrameLocks noGrp="1"/>
          </p:cNvGraphicFramePr>
          <p:nvPr>
            <p:ph idx="1"/>
            <p:extLst>
              <p:ext uri="{D42A27DB-BD31-4B8C-83A1-F6EECF244321}">
                <p14:modId xmlns:p14="http://schemas.microsoft.com/office/powerpoint/2010/main" val="986703179"/>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5852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EEF77-3766-E1F5-EB64-87502818CBA9}"/>
              </a:ext>
            </a:extLst>
          </p:cNvPr>
          <p:cNvSpPr>
            <a:spLocks noGrp="1"/>
          </p:cNvSpPr>
          <p:nvPr>
            <p:ph type="title"/>
          </p:nvPr>
        </p:nvSpPr>
        <p:spPr/>
        <p:txBody>
          <a:bodyPr>
            <a:normAutofit fontScale="90000"/>
          </a:bodyPr>
          <a:lstStyle/>
          <a:p>
            <a:r>
              <a:rPr lang="en-US" dirty="0"/>
              <a:t>Multi-dimensional scaling for Visualization</a:t>
            </a:r>
          </a:p>
        </p:txBody>
      </p:sp>
      <p:sp>
        <p:nvSpPr>
          <p:cNvPr id="7" name="Content Placeholder 6">
            <a:extLst>
              <a:ext uri="{FF2B5EF4-FFF2-40B4-BE49-F238E27FC236}">
                <a16:creationId xmlns:a16="http://schemas.microsoft.com/office/drawing/2014/main" id="{8E8B4231-74A9-A68C-35E4-CB6057960316}"/>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4F5D62FE-6C00-C559-A1CB-D288FE47BCCD}"/>
              </a:ext>
            </a:extLst>
          </p:cNvPr>
          <p:cNvPicPr>
            <a:picLocks noChangeAspect="1"/>
          </p:cNvPicPr>
          <p:nvPr/>
        </p:nvPicPr>
        <p:blipFill>
          <a:blip r:embed="rId3"/>
          <a:stretch>
            <a:fillRect/>
          </a:stretch>
        </p:blipFill>
        <p:spPr>
          <a:xfrm>
            <a:off x="239484" y="1785256"/>
            <a:ext cx="11667449" cy="4851202"/>
          </a:xfrm>
          <a:prstGeom prst="rect">
            <a:avLst/>
          </a:prstGeom>
        </p:spPr>
      </p:pic>
    </p:spTree>
    <p:extLst>
      <p:ext uri="{BB962C8B-B14F-4D97-AF65-F5344CB8AC3E}">
        <p14:creationId xmlns:p14="http://schemas.microsoft.com/office/powerpoint/2010/main" val="3583739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A24A7-8C07-1557-54B4-D8E3519DB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0B22D-3497-2306-F412-D8BC1ECB7467}"/>
              </a:ext>
            </a:extLst>
          </p:cNvPr>
          <p:cNvSpPr>
            <a:spLocks noGrp="1"/>
          </p:cNvSpPr>
          <p:nvPr>
            <p:ph type="title"/>
          </p:nvPr>
        </p:nvSpPr>
        <p:spPr/>
        <p:txBody>
          <a:bodyPr>
            <a:normAutofit fontScale="90000"/>
          </a:bodyPr>
          <a:lstStyle/>
          <a:p>
            <a:r>
              <a:rPr lang="en-US" dirty="0"/>
              <a:t>Multi-dimensional scaling for Visualization</a:t>
            </a:r>
          </a:p>
        </p:txBody>
      </p:sp>
      <p:sp>
        <p:nvSpPr>
          <p:cNvPr id="7" name="Content Placeholder 6">
            <a:extLst>
              <a:ext uri="{FF2B5EF4-FFF2-40B4-BE49-F238E27FC236}">
                <a16:creationId xmlns:a16="http://schemas.microsoft.com/office/drawing/2014/main" id="{E11AFECA-1B35-D028-D750-9EC018ADCFF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2F7E5C65-0543-557E-28F3-5C1364B73183}"/>
              </a:ext>
            </a:extLst>
          </p:cNvPr>
          <p:cNvPicPr>
            <a:picLocks noChangeAspect="1"/>
          </p:cNvPicPr>
          <p:nvPr/>
        </p:nvPicPr>
        <p:blipFill>
          <a:blip r:embed="rId3"/>
          <a:stretch>
            <a:fillRect/>
          </a:stretch>
        </p:blipFill>
        <p:spPr>
          <a:xfrm>
            <a:off x="198405" y="1889925"/>
            <a:ext cx="11711941" cy="4846320"/>
          </a:xfrm>
          <a:prstGeom prst="rect">
            <a:avLst/>
          </a:prstGeom>
        </p:spPr>
      </p:pic>
    </p:spTree>
    <p:extLst>
      <p:ext uri="{BB962C8B-B14F-4D97-AF65-F5344CB8AC3E}">
        <p14:creationId xmlns:p14="http://schemas.microsoft.com/office/powerpoint/2010/main" val="3135111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0ACC9-ADF9-7891-1522-35D233D6C66F}"/>
              </a:ext>
            </a:extLst>
          </p:cNvPr>
          <p:cNvSpPr>
            <a:spLocks noGrp="1"/>
          </p:cNvSpPr>
          <p:nvPr>
            <p:ph type="title"/>
          </p:nvPr>
        </p:nvSpPr>
        <p:spPr/>
        <p:txBody>
          <a:bodyPr/>
          <a:lstStyle/>
          <a:p>
            <a:r>
              <a:rPr lang="en-US" dirty="0"/>
              <a:t>Imputation</a:t>
            </a:r>
          </a:p>
        </p:txBody>
      </p:sp>
      <p:sp>
        <p:nvSpPr>
          <p:cNvPr id="3" name="Content Placeholder 2">
            <a:extLst>
              <a:ext uri="{FF2B5EF4-FFF2-40B4-BE49-F238E27FC236}">
                <a16:creationId xmlns:a16="http://schemas.microsoft.com/office/drawing/2014/main" id="{CD856FF3-8CF7-56EC-3E1C-EC760C819A0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0A59BC5-ABF7-BA79-9E1E-D4D7FDEABAAF}"/>
              </a:ext>
            </a:extLst>
          </p:cNvPr>
          <p:cNvPicPr>
            <a:picLocks noChangeAspect="1"/>
          </p:cNvPicPr>
          <p:nvPr/>
        </p:nvPicPr>
        <p:blipFill>
          <a:blip r:embed="rId2"/>
          <a:stretch>
            <a:fillRect/>
          </a:stretch>
        </p:blipFill>
        <p:spPr>
          <a:xfrm>
            <a:off x="0" y="2483135"/>
            <a:ext cx="12192000" cy="3030418"/>
          </a:xfrm>
          <a:prstGeom prst="rect">
            <a:avLst/>
          </a:prstGeom>
        </p:spPr>
      </p:pic>
    </p:spTree>
    <p:extLst>
      <p:ext uri="{BB962C8B-B14F-4D97-AF65-F5344CB8AC3E}">
        <p14:creationId xmlns:p14="http://schemas.microsoft.com/office/powerpoint/2010/main" val="122270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1">
            <a:extLst>
              <a:ext uri="{FF2B5EF4-FFF2-40B4-BE49-F238E27FC236}">
                <a16:creationId xmlns:a16="http://schemas.microsoft.com/office/drawing/2014/main" id="{133C41B2-EBD4-FA56-929C-0CFDF3C6EC92}"/>
              </a:ext>
            </a:extLst>
          </p:cNvPr>
          <p:cNvSpPr>
            <a:spLocks noGrp="1"/>
          </p:cNvSpPr>
          <p:nvPr>
            <p:ph sz="half" idx="1"/>
          </p:nvPr>
        </p:nvSpPr>
        <p:spPr>
          <a:xfrm>
            <a:off x="838200" y="1811756"/>
            <a:ext cx="5181600" cy="4365207"/>
          </a:xfrm>
        </p:spPr>
        <p:txBody>
          <a:bodyPr/>
          <a:lstStyle/>
          <a:p>
            <a:endParaRPr lang="en-US" dirty="0"/>
          </a:p>
        </p:txBody>
      </p:sp>
      <p:sp>
        <p:nvSpPr>
          <p:cNvPr id="12" name="Content Placeholder 2">
            <a:extLst>
              <a:ext uri="{FF2B5EF4-FFF2-40B4-BE49-F238E27FC236}">
                <a16:creationId xmlns:a16="http://schemas.microsoft.com/office/drawing/2014/main" id="{AFEEB994-5AB8-864F-FA41-DC8B70508EA8}"/>
              </a:ext>
            </a:extLst>
          </p:cNvPr>
          <p:cNvSpPr>
            <a:spLocks noGrp="1"/>
          </p:cNvSpPr>
          <p:nvPr>
            <p:ph sz="half" idx="2"/>
          </p:nvPr>
        </p:nvSpPr>
        <p:spPr>
          <a:xfrm>
            <a:off x="6172200" y="1811756"/>
            <a:ext cx="5181600" cy="4365207"/>
          </a:xfrm>
        </p:spPr>
        <p:txBody>
          <a:bodyPr/>
          <a:lstStyle/>
          <a:p>
            <a:endParaRPr lang="en-US"/>
          </a:p>
        </p:txBody>
      </p:sp>
      <p:sp>
        <p:nvSpPr>
          <p:cNvPr id="4" name="Title 3">
            <a:extLst>
              <a:ext uri="{FF2B5EF4-FFF2-40B4-BE49-F238E27FC236}">
                <a16:creationId xmlns:a16="http://schemas.microsoft.com/office/drawing/2014/main" id="{0D01C623-F76F-A1DD-944F-143E1D84E99D}"/>
              </a:ext>
            </a:extLst>
          </p:cNvPr>
          <p:cNvSpPr>
            <a:spLocks noGrp="1"/>
          </p:cNvSpPr>
          <p:nvPr>
            <p:ph type="title"/>
          </p:nvPr>
        </p:nvSpPr>
        <p:spPr>
          <a:xfrm>
            <a:off x="838200" y="662427"/>
            <a:ext cx="10515600" cy="819738"/>
          </a:xfrm>
        </p:spPr>
        <p:txBody>
          <a:bodyPr anchor="ctr">
            <a:normAutofit/>
          </a:bodyPr>
          <a:lstStyle/>
          <a:p>
            <a:r>
              <a:rPr lang="en-US" dirty="0"/>
              <a:t>Oversampling</a:t>
            </a:r>
          </a:p>
        </p:txBody>
      </p:sp>
      <p:graphicFrame>
        <p:nvGraphicFramePr>
          <p:cNvPr id="9" name="Object 8">
            <a:extLst>
              <a:ext uri="{FF2B5EF4-FFF2-40B4-BE49-F238E27FC236}">
                <a16:creationId xmlns:a16="http://schemas.microsoft.com/office/drawing/2014/main" id="{B1DC27C1-7A79-CD88-4CCB-B9A7CAA06DB3}"/>
              </a:ext>
            </a:extLst>
          </p:cNvPr>
          <p:cNvGraphicFramePr>
            <a:graphicFrameLocks noChangeAspect="1"/>
          </p:cNvGraphicFramePr>
          <p:nvPr/>
        </p:nvGraphicFramePr>
        <p:xfrm>
          <a:off x="831024" y="1579754"/>
          <a:ext cx="5049646" cy="5049646"/>
        </p:xfrm>
        <a:graphic>
          <a:graphicData uri="http://schemas.openxmlformats.org/presentationml/2006/ole">
            <mc:AlternateContent xmlns:mc="http://schemas.openxmlformats.org/markup-compatibility/2006">
              <mc:Choice xmlns:v="urn:schemas-microsoft-com:vml" Requires="v">
                <p:oleObj name="Acrobat Document" r:id="rId2" imgW="2743200" imgH="2743200" progId="Acrobat.Document.DC">
                  <p:embed/>
                </p:oleObj>
              </mc:Choice>
              <mc:Fallback>
                <p:oleObj name="Acrobat Document" r:id="rId2" imgW="2743200" imgH="2743200" progId="Acrobat.Document.DC">
                  <p:embed/>
                  <p:pic>
                    <p:nvPicPr>
                      <p:cNvPr id="9" name="Object 8">
                        <a:extLst>
                          <a:ext uri="{FF2B5EF4-FFF2-40B4-BE49-F238E27FC236}">
                            <a16:creationId xmlns:a16="http://schemas.microsoft.com/office/drawing/2014/main" id="{B1DC27C1-7A79-CD88-4CCB-B9A7CAA06DB3}"/>
                          </a:ext>
                        </a:extLst>
                      </p:cNvPr>
                      <p:cNvPicPr/>
                      <p:nvPr/>
                    </p:nvPicPr>
                    <p:blipFill>
                      <a:blip r:embed="rId3"/>
                      <a:stretch>
                        <a:fillRect/>
                      </a:stretch>
                    </p:blipFill>
                    <p:spPr>
                      <a:xfrm>
                        <a:off x="831024" y="1579754"/>
                        <a:ext cx="5049646" cy="5049646"/>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EC2E75C9-34F7-E509-355A-AE90DB59BBCD}"/>
              </a:ext>
            </a:extLst>
          </p:cNvPr>
          <p:cNvGraphicFramePr>
            <a:graphicFrameLocks noChangeAspect="1"/>
          </p:cNvGraphicFramePr>
          <p:nvPr/>
        </p:nvGraphicFramePr>
        <p:xfrm>
          <a:off x="6148261" y="1579754"/>
          <a:ext cx="5049646" cy="5049646"/>
        </p:xfrm>
        <a:graphic>
          <a:graphicData uri="http://schemas.openxmlformats.org/presentationml/2006/ole">
            <mc:AlternateContent xmlns:mc="http://schemas.openxmlformats.org/markup-compatibility/2006">
              <mc:Choice xmlns:v="urn:schemas-microsoft-com:vml" Requires="v">
                <p:oleObj name="Acrobat Document" r:id="rId4" imgW="2742997" imgH="2743200" progId="Acrobat.Document.DC">
                  <p:embed/>
                </p:oleObj>
              </mc:Choice>
              <mc:Fallback>
                <p:oleObj name="Acrobat Document" r:id="rId4" imgW="2742997" imgH="2743200" progId="Acrobat.Document.DC">
                  <p:embed/>
                  <p:pic>
                    <p:nvPicPr>
                      <p:cNvPr id="11" name="Object 10">
                        <a:extLst>
                          <a:ext uri="{FF2B5EF4-FFF2-40B4-BE49-F238E27FC236}">
                            <a16:creationId xmlns:a16="http://schemas.microsoft.com/office/drawing/2014/main" id="{EC2E75C9-34F7-E509-355A-AE90DB59BBCD}"/>
                          </a:ext>
                        </a:extLst>
                      </p:cNvPr>
                      <p:cNvPicPr/>
                      <p:nvPr/>
                    </p:nvPicPr>
                    <p:blipFill>
                      <a:blip r:embed="rId5"/>
                      <a:stretch>
                        <a:fillRect/>
                      </a:stretch>
                    </p:blipFill>
                    <p:spPr>
                      <a:xfrm>
                        <a:off x="6148261" y="1579754"/>
                        <a:ext cx="5049646" cy="5049646"/>
                      </a:xfrm>
                      <a:prstGeom prst="rect">
                        <a:avLst/>
                      </a:prstGeom>
                    </p:spPr>
                  </p:pic>
                </p:oleObj>
              </mc:Fallback>
            </mc:AlternateContent>
          </a:graphicData>
        </a:graphic>
      </p:graphicFrame>
    </p:spTree>
    <p:extLst>
      <p:ext uri="{BB962C8B-B14F-4D97-AF65-F5344CB8AC3E}">
        <p14:creationId xmlns:p14="http://schemas.microsoft.com/office/powerpoint/2010/main" val="2974664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974EB6-C5F5-C741-A03D-6C66C86D845B}"/>
              </a:ext>
            </a:extLst>
          </p:cNvPr>
          <p:cNvSpPr>
            <a:spLocks noGrp="1"/>
          </p:cNvSpPr>
          <p:nvPr>
            <p:ph sz="half" idx="1"/>
          </p:nvPr>
        </p:nvSpPr>
        <p:spPr/>
        <p:txBody>
          <a:bodyPr/>
          <a:lstStyle/>
          <a:p>
            <a:endParaRPr lang="en-US" dirty="0"/>
          </a:p>
        </p:txBody>
      </p:sp>
      <p:sp>
        <p:nvSpPr>
          <p:cNvPr id="3" name="Content Placeholder 2">
            <a:extLst>
              <a:ext uri="{FF2B5EF4-FFF2-40B4-BE49-F238E27FC236}">
                <a16:creationId xmlns:a16="http://schemas.microsoft.com/office/drawing/2014/main" id="{D6EB81D2-FEF9-9BE4-634B-2B64141115E2}"/>
              </a:ext>
            </a:extLst>
          </p:cNvPr>
          <p:cNvSpPr>
            <a:spLocks noGrp="1"/>
          </p:cNvSpPr>
          <p:nvPr>
            <p:ph sz="half" idx="2"/>
          </p:nvPr>
        </p:nvSpPr>
        <p:spPr/>
        <p:txBody>
          <a:bodyPr/>
          <a:lstStyle/>
          <a:p>
            <a:endParaRPr lang="en-US"/>
          </a:p>
        </p:txBody>
      </p:sp>
      <p:sp>
        <p:nvSpPr>
          <p:cNvPr id="5" name="Title 1">
            <a:extLst>
              <a:ext uri="{FF2B5EF4-FFF2-40B4-BE49-F238E27FC236}">
                <a16:creationId xmlns:a16="http://schemas.microsoft.com/office/drawing/2014/main" id="{10650CDC-9534-7A5D-7725-FB20589CF774}"/>
              </a:ext>
            </a:extLst>
          </p:cNvPr>
          <p:cNvSpPr txBox="1">
            <a:spLocks/>
          </p:cNvSpPr>
          <p:nvPr/>
        </p:nvSpPr>
        <p:spPr>
          <a:xfrm>
            <a:off x="803094" y="80295"/>
            <a:ext cx="10515600" cy="1325563"/>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000" kern="1200">
                <a:solidFill>
                  <a:schemeClr val="tx2">
                    <a:alpha val="75000"/>
                  </a:schemeClr>
                </a:solidFill>
                <a:latin typeface="+mj-lt"/>
                <a:ea typeface="+mj-ea"/>
                <a:cs typeface="+mj-cs"/>
              </a:defRPr>
            </a:lvl1pPr>
          </a:lstStyle>
          <a:p>
            <a:r>
              <a:rPr lang="en-US" dirty="0"/>
              <a:t>Intervals from Out-of-Bag Error Distribution (</a:t>
            </a:r>
            <a:r>
              <a:rPr lang="en-US" dirty="0" err="1"/>
              <a:t>Haozhe</a:t>
            </a:r>
            <a:r>
              <a:rPr lang="en-US" dirty="0"/>
              <a:t> Zhang and Nordman, 2020)</a:t>
            </a:r>
          </a:p>
        </p:txBody>
      </p:sp>
      <p:pic>
        <p:nvPicPr>
          <p:cNvPr id="6" name="Picture 5">
            <a:extLst>
              <a:ext uri="{FF2B5EF4-FFF2-40B4-BE49-F238E27FC236}">
                <a16:creationId xmlns:a16="http://schemas.microsoft.com/office/drawing/2014/main" id="{20B1D349-DC7E-D48E-8D11-8D8C3F7E3CAD}"/>
              </a:ext>
            </a:extLst>
          </p:cNvPr>
          <p:cNvPicPr>
            <a:picLocks noChangeAspect="1"/>
          </p:cNvPicPr>
          <p:nvPr/>
        </p:nvPicPr>
        <p:blipFill>
          <a:blip r:embed="rId2"/>
          <a:stretch>
            <a:fillRect/>
          </a:stretch>
        </p:blipFill>
        <p:spPr>
          <a:xfrm>
            <a:off x="279637" y="2780408"/>
            <a:ext cx="6161262" cy="517358"/>
          </a:xfrm>
          <a:prstGeom prst="rect">
            <a:avLst/>
          </a:prstGeom>
        </p:spPr>
      </p:pic>
      <p:pic>
        <p:nvPicPr>
          <p:cNvPr id="7" name="Content Placeholder 9">
            <a:extLst>
              <a:ext uri="{FF2B5EF4-FFF2-40B4-BE49-F238E27FC236}">
                <a16:creationId xmlns:a16="http://schemas.microsoft.com/office/drawing/2014/main" id="{DA66B555-A3CB-CBB1-AD78-67568F6EBEB9}"/>
              </a:ext>
            </a:extLst>
          </p:cNvPr>
          <p:cNvPicPr>
            <a:picLocks noChangeAspect="1"/>
          </p:cNvPicPr>
          <p:nvPr/>
        </p:nvPicPr>
        <p:blipFill>
          <a:blip r:embed="rId3"/>
          <a:stretch>
            <a:fillRect/>
          </a:stretch>
        </p:blipFill>
        <p:spPr>
          <a:xfrm>
            <a:off x="668628" y="3618860"/>
            <a:ext cx="5725451" cy="685800"/>
          </a:xfrm>
          <a:prstGeom prst="rect">
            <a:avLst/>
          </a:prstGeom>
        </p:spPr>
      </p:pic>
      <p:pic>
        <p:nvPicPr>
          <p:cNvPr id="10" name="Picture 9">
            <a:extLst>
              <a:ext uri="{FF2B5EF4-FFF2-40B4-BE49-F238E27FC236}">
                <a16:creationId xmlns:a16="http://schemas.microsoft.com/office/drawing/2014/main" id="{B38A8836-E054-0CF7-2DAE-C5EE6BABD8B8}"/>
              </a:ext>
            </a:extLst>
          </p:cNvPr>
          <p:cNvPicPr>
            <a:picLocks noChangeAspect="1"/>
          </p:cNvPicPr>
          <p:nvPr/>
        </p:nvPicPr>
        <p:blipFill>
          <a:blip r:embed="rId4"/>
          <a:stretch>
            <a:fillRect/>
          </a:stretch>
        </p:blipFill>
        <p:spPr>
          <a:xfrm>
            <a:off x="271491" y="3618860"/>
            <a:ext cx="319869" cy="166332"/>
          </a:xfrm>
          <a:prstGeom prst="rect">
            <a:avLst/>
          </a:prstGeom>
        </p:spPr>
      </p:pic>
      <p:pic>
        <p:nvPicPr>
          <p:cNvPr id="12" name="Content Placeholder 5">
            <a:extLst>
              <a:ext uri="{FF2B5EF4-FFF2-40B4-BE49-F238E27FC236}">
                <a16:creationId xmlns:a16="http://schemas.microsoft.com/office/drawing/2014/main" id="{A1C0F875-BD60-67AE-0FB9-28F138F56E6A}"/>
              </a:ext>
            </a:extLst>
          </p:cNvPr>
          <p:cNvPicPr>
            <a:picLocks noChangeAspect="1"/>
          </p:cNvPicPr>
          <p:nvPr/>
        </p:nvPicPr>
        <p:blipFill>
          <a:blip r:embed="rId5"/>
          <a:stretch>
            <a:fillRect/>
          </a:stretch>
        </p:blipFill>
        <p:spPr>
          <a:xfrm>
            <a:off x="6470279" y="1609054"/>
            <a:ext cx="5128164" cy="4790926"/>
          </a:xfrm>
          <a:prstGeom prst="rect">
            <a:avLst/>
          </a:prstGeom>
        </p:spPr>
      </p:pic>
    </p:spTree>
    <p:extLst>
      <p:ext uri="{BB962C8B-B14F-4D97-AF65-F5344CB8AC3E}">
        <p14:creationId xmlns:p14="http://schemas.microsoft.com/office/powerpoint/2010/main" val="330701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09E25-DFC0-DFED-0A22-DD463B932231}"/>
              </a:ext>
            </a:extLst>
          </p:cNvPr>
          <p:cNvSpPr>
            <a:spLocks noGrp="1"/>
          </p:cNvSpPr>
          <p:nvPr>
            <p:ph type="title"/>
          </p:nvPr>
        </p:nvSpPr>
        <p:spPr>
          <a:xfrm>
            <a:off x="850900" y="77084"/>
            <a:ext cx="10515600" cy="1325563"/>
          </a:xfrm>
        </p:spPr>
        <p:txBody>
          <a:bodyPr/>
          <a:lstStyle/>
          <a:p>
            <a:r>
              <a:rPr lang="en-US" dirty="0"/>
              <a:t>Regression – Prediction Intervals</a:t>
            </a:r>
          </a:p>
        </p:txBody>
      </p:sp>
      <p:sp>
        <p:nvSpPr>
          <p:cNvPr id="6" name="Content Placeholder 2">
            <a:extLst>
              <a:ext uri="{FF2B5EF4-FFF2-40B4-BE49-F238E27FC236}">
                <a16:creationId xmlns:a16="http://schemas.microsoft.com/office/drawing/2014/main" id="{E91F7EBE-747D-2471-F41D-CA597E502AC3}"/>
              </a:ext>
            </a:extLst>
          </p:cNvPr>
          <p:cNvSpPr>
            <a:spLocks noGrp="1"/>
          </p:cNvSpPr>
          <p:nvPr>
            <p:ph sz="half" idx="1"/>
          </p:nvPr>
        </p:nvSpPr>
        <p:spPr>
          <a:xfrm>
            <a:off x="838200" y="1825625"/>
            <a:ext cx="5181600" cy="4351338"/>
          </a:xfrm>
        </p:spPr>
        <p:txBody>
          <a:bodyPr/>
          <a:lstStyle/>
          <a:p>
            <a:pPr marL="0" indent="0">
              <a:buNone/>
            </a:pPr>
            <a:r>
              <a:rPr lang="en-US" dirty="0"/>
              <a:t>(1) Weighted out-of-bag errors:</a:t>
            </a:r>
          </a:p>
          <a:p>
            <a:pPr marL="0" indent="0">
              <a:buNone/>
            </a:pPr>
            <a:endParaRPr lang="en-US" dirty="0"/>
          </a:p>
        </p:txBody>
      </p:sp>
      <p:sp>
        <p:nvSpPr>
          <p:cNvPr id="7" name="Content Placeholder 3">
            <a:extLst>
              <a:ext uri="{FF2B5EF4-FFF2-40B4-BE49-F238E27FC236}">
                <a16:creationId xmlns:a16="http://schemas.microsoft.com/office/drawing/2014/main" id="{0A7F3E0C-464F-8068-BDBA-063FE00C0EC4}"/>
              </a:ext>
            </a:extLst>
          </p:cNvPr>
          <p:cNvSpPr>
            <a:spLocks noGrp="1"/>
          </p:cNvSpPr>
          <p:nvPr>
            <p:ph sz="half" idx="2"/>
          </p:nvPr>
        </p:nvSpPr>
        <p:spPr>
          <a:xfrm>
            <a:off x="6172200" y="1825625"/>
            <a:ext cx="5181600" cy="4351338"/>
          </a:xfrm>
        </p:spPr>
        <p:txBody>
          <a:bodyPr/>
          <a:lstStyle/>
          <a:p>
            <a:pPr marL="0" indent="0">
              <a:buNone/>
            </a:pPr>
            <a:r>
              <a:rPr lang="en-US" dirty="0"/>
              <a:t>(2) Localized error distribution:</a:t>
            </a:r>
          </a:p>
          <a:p>
            <a:pPr marL="0" indent="0">
              <a:buNone/>
            </a:pPr>
            <a:endParaRPr lang="en-US" dirty="0"/>
          </a:p>
          <a:p>
            <a:pPr marL="0" indent="0">
              <a:buNone/>
            </a:pPr>
            <a:endParaRPr lang="en-US" dirty="0"/>
          </a:p>
          <a:p>
            <a:pPr marL="0" indent="0">
              <a:buNone/>
            </a:pPr>
            <a:r>
              <a:rPr lang="en-US" dirty="0"/>
              <a:t>Where: </a:t>
            </a:r>
          </a:p>
          <a:p>
            <a:r>
              <a:rPr lang="en-US" dirty="0"/>
              <a:t>         is the distribution of OOB errors limited to the </a:t>
            </a:r>
            <a:r>
              <a:rPr lang="en-US" i="1" dirty="0"/>
              <a:t>     </a:t>
            </a:r>
            <a:r>
              <a:rPr lang="en-US" dirty="0"/>
              <a:t>nearest* neighbors of       . </a:t>
            </a:r>
          </a:p>
          <a:p>
            <a:pPr marL="0" indent="0">
              <a:buNone/>
            </a:pPr>
            <a:endParaRPr lang="en-US" dirty="0"/>
          </a:p>
        </p:txBody>
      </p:sp>
      <p:pic>
        <p:nvPicPr>
          <p:cNvPr id="8" name="Picture 7">
            <a:extLst>
              <a:ext uri="{FF2B5EF4-FFF2-40B4-BE49-F238E27FC236}">
                <a16:creationId xmlns:a16="http://schemas.microsoft.com/office/drawing/2014/main" id="{0FCE59D0-9AEC-A766-0650-1A12F482FF8D}"/>
              </a:ext>
            </a:extLst>
          </p:cNvPr>
          <p:cNvPicPr>
            <a:picLocks noChangeAspect="1"/>
          </p:cNvPicPr>
          <p:nvPr/>
        </p:nvPicPr>
        <p:blipFill>
          <a:blip r:embed="rId2"/>
          <a:stretch>
            <a:fillRect/>
          </a:stretch>
        </p:blipFill>
        <p:spPr>
          <a:xfrm>
            <a:off x="1252251" y="2330987"/>
            <a:ext cx="3120678" cy="1046136"/>
          </a:xfrm>
          <a:prstGeom prst="rect">
            <a:avLst/>
          </a:prstGeom>
        </p:spPr>
      </p:pic>
      <p:pic>
        <p:nvPicPr>
          <p:cNvPr id="9" name="Picture 8">
            <a:extLst>
              <a:ext uri="{FF2B5EF4-FFF2-40B4-BE49-F238E27FC236}">
                <a16:creationId xmlns:a16="http://schemas.microsoft.com/office/drawing/2014/main" id="{BC37A676-0439-EB44-6199-11E1B7EDFAED}"/>
              </a:ext>
            </a:extLst>
          </p:cNvPr>
          <p:cNvPicPr>
            <a:picLocks noChangeAspect="1"/>
          </p:cNvPicPr>
          <p:nvPr/>
        </p:nvPicPr>
        <p:blipFill>
          <a:blip r:embed="rId3"/>
          <a:stretch>
            <a:fillRect/>
          </a:stretch>
        </p:blipFill>
        <p:spPr>
          <a:xfrm>
            <a:off x="6306519" y="2457286"/>
            <a:ext cx="4414072" cy="750432"/>
          </a:xfrm>
          <a:prstGeom prst="rect">
            <a:avLst/>
          </a:prstGeom>
        </p:spPr>
      </p:pic>
      <p:pic>
        <p:nvPicPr>
          <p:cNvPr id="10" name="Picture 9">
            <a:extLst>
              <a:ext uri="{FF2B5EF4-FFF2-40B4-BE49-F238E27FC236}">
                <a16:creationId xmlns:a16="http://schemas.microsoft.com/office/drawing/2014/main" id="{F0811958-3C03-F826-F6C9-22417FB0DD99}"/>
              </a:ext>
            </a:extLst>
          </p:cNvPr>
          <p:cNvPicPr>
            <a:picLocks noChangeAspect="1"/>
          </p:cNvPicPr>
          <p:nvPr/>
        </p:nvPicPr>
        <p:blipFill>
          <a:blip r:embed="rId4"/>
          <a:stretch>
            <a:fillRect/>
          </a:stretch>
        </p:blipFill>
        <p:spPr>
          <a:xfrm>
            <a:off x="6517473" y="3684550"/>
            <a:ext cx="461816" cy="326350"/>
          </a:xfrm>
          <a:prstGeom prst="rect">
            <a:avLst/>
          </a:prstGeom>
        </p:spPr>
      </p:pic>
      <p:pic>
        <p:nvPicPr>
          <p:cNvPr id="11" name="Picture 10">
            <a:extLst>
              <a:ext uri="{FF2B5EF4-FFF2-40B4-BE49-F238E27FC236}">
                <a16:creationId xmlns:a16="http://schemas.microsoft.com/office/drawing/2014/main" id="{CC2377A8-76CD-917E-9072-24EA5BEBA5DD}"/>
              </a:ext>
            </a:extLst>
          </p:cNvPr>
          <p:cNvPicPr>
            <a:picLocks noChangeAspect="1"/>
          </p:cNvPicPr>
          <p:nvPr/>
        </p:nvPicPr>
        <p:blipFill>
          <a:blip r:embed="rId5"/>
          <a:stretch>
            <a:fillRect/>
          </a:stretch>
        </p:blipFill>
        <p:spPr>
          <a:xfrm>
            <a:off x="10680670" y="4087666"/>
            <a:ext cx="311068" cy="249538"/>
          </a:xfrm>
          <a:prstGeom prst="rect">
            <a:avLst/>
          </a:prstGeom>
        </p:spPr>
      </p:pic>
      <p:sp>
        <p:nvSpPr>
          <p:cNvPr id="12" name="TextBox 11">
            <a:extLst>
              <a:ext uri="{FF2B5EF4-FFF2-40B4-BE49-F238E27FC236}">
                <a16:creationId xmlns:a16="http://schemas.microsoft.com/office/drawing/2014/main" id="{07363F52-0604-F27A-2C4C-9598D858AE76}"/>
              </a:ext>
            </a:extLst>
          </p:cNvPr>
          <p:cNvSpPr txBox="1"/>
          <p:nvPr/>
        </p:nvSpPr>
        <p:spPr>
          <a:xfrm>
            <a:off x="7538655" y="5422847"/>
            <a:ext cx="3821495" cy="369332"/>
          </a:xfrm>
          <a:prstGeom prst="rect">
            <a:avLst/>
          </a:prstGeom>
          <a:noFill/>
        </p:spPr>
        <p:txBody>
          <a:bodyPr wrap="none" rtlCol="0">
            <a:spAutoFit/>
          </a:bodyPr>
          <a:lstStyle/>
          <a:p>
            <a:r>
              <a:rPr lang="en-US" dirty="0"/>
              <a:t>*Nearest based on RF-GAP proximity</a:t>
            </a:r>
          </a:p>
        </p:txBody>
      </p:sp>
      <p:pic>
        <p:nvPicPr>
          <p:cNvPr id="13" name="Picture 12">
            <a:extLst>
              <a:ext uri="{FF2B5EF4-FFF2-40B4-BE49-F238E27FC236}">
                <a16:creationId xmlns:a16="http://schemas.microsoft.com/office/drawing/2014/main" id="{5DF1461D-22C4-7B49-2727-A10EF09DAE8A}"/>
              </a:ext>
            </a:extLst>
          </p:cNvPr>
          <p:cNvPicPr>
            <a:picLocks noChangeAspect="1"/>
          </p:cNvPicPr>
          <p:nvPr/>
        </p:nvPicPr>
        <p:blipFill>
          <a:blip r:embed="rId6"/>
          <a:stretch>
            <a:fillRect/>
          </a:stretch>
        </p:blipFill>
        <p:spPr>
          <a:xfrm>
            <a:off x="7950020" y="4102004"/>
            <a:ext cx="260535" cy="253298"/>
          </a:xfrm>
          <a:prstGeom prst="rect">
            <a:avLst/>
          </a:prstGeom>
        </p:spPr>
      </p:pic>
      <p:sp>
        <p:nvSpPr>
          <p:cNvPr id="14" name="Title 1">
            <a:extLst>
              <a:ext uri="{FF2B5EF4-FFF2-40B4-BE49-F238E27FC236}">
                <a16:creationId xmlns:a16="http://schemas.microsoft.com/office/drawing/2014/main" id="{9105BAB2-227D-050B-B6BE-5B95DC900963}"/>
              </a:ext>
            </a:extLst>
          </p:cNvPr>
          <p:cNvSpPr txBox="1">
            <a:spLocks/>
          </p:cNvSpPr>
          <p:nvPr/>
        </p:nvSpPr>
        <p:spPr>
          <a:xfrm>
            <a:off x="844550" y="898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solidFill>
                  <a:schemeClr val="tx2"/>
                </a:solidFill>
              </a:rPr>
              <a:t>Random Forest Interval Residual Estimation (RF-FIRE)</a:t>
            </a:r>
          </a:p>
        </p:txBody>
      </p:sp>
      <p:pic>
        <p:nvPicPr>
          <p:cNvPr id="15" name="Picture 14">
            <a:extLst>
              <a:ext uri="{FF2B5EF4-FFF2-40B4-BE49-F238E27FC236}">
                <a16:creationId xmlns:a16="http://schemas.microsoft.com/office/drawing/2014/main" id="{218D0910-843A-04BA-F373-2641B04EACE5}"/>
              </a:ext>
            </a:extLst>
          </p:cNvPr>
          <p:cNvPicPr>
            <a:picLocks noChangeAspect="1"/>
          </p:cNvPicPr>
          <p:nvPr/>
        </p:nvPicPr>
        <p:blipFill>
          <a:blip r:embed="rId7"/>
          <a:stretch>
            <a:fillRect/>
          </a:stretch>
        </p:blipFill>
        <p:spPr>
          <a:xfrm>
            <a:off x="1252251" y="3488958"/>
            <a:ext cx="3653189" cy="2998321"/>
          </a:xfrm>
          <a:prstGeom prst="rect">
            <a:avLst/>
          </a:prstGeom>
        </p:spPr>
      </p:pic>
      <p:pic>
        <p:nvPicPr>
          <p:cNvPr id="16" name="Picture 15">
            <a:extLst>
              <a:ext uri="{FF2B5EF4-FFF2-40B4-BE49-F238E27FC236}">
                <a16:creationId xmlns:a16="http://schemas.microsoft.com/office/drawing/2014/main" id="{D26AAAAE-1925-C31B-676E-C9C41F0FC4D4}"/>
              </a:ext>
            </a:extLst>
          </p:cNvPr>
          <p:cNvPicPr>
            <a:picLocks noChangeAspect="1"/>
          </p:cNvPicPr>
          <p:nvPr/>
        </p:nvPicPr>
        <p:blipFill>
          <a:blip r:embed="rId8"/>
          <a:stretch>
            <a:fillRect/>
          </a:stretch>
        </p:blipFill>
        <p:spPr>
          <a:xfrm>
            <a:off x="10515605" y="6140913"/>
            <a:ext cx="1606179" cy="640003"/>
          </a:xfrm>
          <a:prstGeom prst="rect">
            <a:avLst/>
          </a:prstGeom>
        </p:spPr>
      </p:pic>
    </p:spTree>
    <p:extLst>
      <p:ext uri="{BB962C8B-B14F-4D97-AF65-F5344CB8AC3E}">
        <p14:creationId xmlns:p14="http://schemas.microsoft.com/office/powerpoint/2010/main" val="1194654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D810CFE-0D3A-3BF0-8CB0-77C1F87EC95A}"/>
              </a:ext>
            </a:extLst>
          </p:cNvPr>
          <p:cNvSpPr>
            <a:spLocks noGrp="1"/>
          </p:cNvSpPr>
          <p:nvPr>
            <p:ph type="title"/>
          </p:nvPr>
        </p:nvSpPr>
        <p:spPr>
          <a:xfrm>
            <a:off x="838200" y="95618"/>
            <a:ext cx="10515600" cy="1325563"/>
          </a:xfrm>
        </p:spPr>
        <p:txBody>
          <a:bodyPr/>
          <a:lstStyle/>
          <a:p>
            <a:r>
              <a:rPr lang="en-US" dirty="0"/>
              <a:t>Regression – RF-FIRE (Localized Error Dist.)</a:t>
            </a:r>
          </a:p>
        </p:txBody>
      </p:sp>
      <p:pic>
        <p:nvPicPr>
          <p:cNvPr id="6" name="Picture 5">
            <a:extLst>
              <a:ext uri="{FF2B5EF4-FFF2-40B4-BE49-F238E27FC236}">
                <a16:creationId xmlns:a16="http://schemas.microsoft.com/office/drawing/2014/main" id="{C1D5F155-7BCD-B74C-3878-ACF252FBE4FD}"/>
              </a:ext>
            </a:extLst>
          </p:cNvPr>
          <p:cNvPicPr>
            <a:picLocks noChangeAspect="1"/>
          </p:cNvPicPr>
          <p:nvPr/>
        </p:nvPicPr>
        <p:blipFill>
          <a:blip r:embed="rId2"/>
          <a:stretch>
            <a:fillRect/>
          </a:stretch>
        </p:blipFill>
        <p:spPr>
          <a:xfrm>
            <a:off x="118092" y="1816608"/>
            <a:ext cx="11977652" cy="4042771"/>
          </a:xfrm>
          <a:prstGeom prst="rect">
            <a:avLst/>
          </a:prstGeom>
        </p:spPr>
      </p:pic>
    </p:spTree>
    <p:extLst>
      <p:ext uri="{BB962C8B-B14F-4D97-AF65-F5344CB8AC3E}">
        <p14:creationId xmlns:p14="http://schemas.microsoft.com/office/powerpoint/2010/main" val="1524405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45045-D00A-A176-CF91-47EEAA8DC214}"/>
              </a:ext>
            </a:extLst>
          </p:cNvPr>
          <p:cNvSpPr>
            <a:spLocks noGrp="1"/>
          </p:cNvSpPr>
          <p:nvPr>
            <p:ph type="title"/>
          </p:nvPr>
        </p:nvSpPr>
        <p:spPr/>
        <p:txBody>
          <a:bodyPr>
            <a:normAutofit fontScale="90000"/>
          </a:bodyPr>
          <a:lstStyle/>
          <a:p>
            <a:r>
              <a:rPr lang="en-US" dirty="0"/>
              <a:t>Time Series Classification – Proximity Forests</a:t>
            </a:r>
          </a:p>
        </p:txBody>
      </p:sp>
      <p:pic>
        <p:nvPicPr>
          <p:cNvPr id="8" name="Content Placeholder 7">
            <a:extLst>
              <a:ext uri="{FF2B5EF4-FFF2-40B4-BE49-F238E27FC236}">
                <a16:creationId xmlns:a16="http://schemas.microsoft.com/office/drawing/2014/main" id="{56D79F0A-057E-B3F7-E1F0-18C6274BF6CF}"/>
              </a:ext>
            </a:extLst>
          </p:cNvPr>
          <p:cNvPicPr>
            <a:picLocks noGrp="1" noChangeAspect="1"/>
          </p:cNvPicPr>
          <p:nvPr>
            <p:ph idx="1"/>
          </p:nvPr>
        </p:nvPicPr>
        <p:blipFill>
          <a:blip r:embed="rId2"/>
          <a:stretch>
            <a:fillRect/>
          </a:stretch>
        </p:blipFill>
        <p:spPr>
          <a:xfrm>
            <a:off x="1290587" y="1425371"/>
            <a:ext cx="9085446" cy="5296104"/>
          </a:xfrm>
        </p:spPr>
      </p:pic>
      <p:sp>
        <p:nvSpPr>
          <p:cNvPr id="4" name="Date Placeholder 3">
            <a:extLst>
              <a:ext uri="{FF2B5EF4-FFF2-40B4-BE49-F238E27FC236}">
                <a16:creationId xmlns:a16="http://schemas.microsoft.com/office/drawing/2014/main" id="{7DF308C2-BE2A-7629-7973-224391061D7E}"/>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defPPr>
              <a:defRPr lang="en-US"/>
            </a:defPPr>
            <a:lvl1pPr marL="0" algn="l" defTabSz="914400" rtl="0" eaLnBrk="1" latinLnBrk="0" hangingPunct="1">
              <a:defRPr sz="900" b="1" kern="1200" spc="100" baseline="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2025</a:t>
            </a:r>
            <a:endParaRPr lang="en-US" dirty="0"/>
          </a:p>
        </p:txBody>
      </p:sp>
      <p:sp>
        <p:nvSpPr>
          <p:cNvPr id="5" name="Footer Placeholder 4">
            <a:extLst>
              <a:ext uri="{FF2B5EF4-FFF2-40B4-BE49-F238E27FC236}">
                <a16:creationId xmlns:a16="http://schemas.microsoft.com/office/drawing/2014/main" id="{4F6D8D7C-630B-7E67-E5F7-692F1B4E75EE}"/>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defPPr>
              <a:defRPr lang="en-US"/>
            </a:defPPr>
            <a:lvl1pPr marL="0" algn="ctr" defTabSz="914400" rtl="0" eaLnBrk="1" latinLnBrk="0" hangingPunct="1">
              <a:defRPr sz="900" b="1" kern="1200" cap="all" spc="400" baseline="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t>
            </a:r>
            <a:endParaRPr lang="en-US" dirty="0"/>
          </a:p>
        </p:txBody>
      </p:sp>
      <p:sp>
        <p:nvSpPr>
          <p:cNvPr id="6" name="Slide Number Placeholder 5">
            <a:extLst>
              <a:ext uri="{FF2B5EF4-FFF2-40B4-BE49-F238E27FC236}">
                <a16:creationId xmlns:a16="http://schemas.microsoft.com/office/drawing/2014/main" id="{FE0ABCFB-E96E-9FCD-63F4-76C1F8F8E124}"/>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defPPr>
              <a:defRPr lang="en-US"/>
            </a:defPPr>
            <a:lvl1pPr marL="0" algn="r" defTabSz="914400" rtl="0" eaLnBrk="1" latinLnBrk="0" hangingPunct="1">
              <a:defRPr sz="900" b="1" kern="120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208ADF-3ADD-483D-A721-14E3EEE2C135}" type="slidenum">
              <a:rPr lang="en-US" smtClean="0"/>
              <a:pPr/>
              <a:t>21</a:t>
            </a:fld>
            <a:endParaRPr lang="en-US" dirty="0"/>
          </a:p>
        </p:txBody>
      </p:sp>
    </p:spTree>
    <p:extLst>
      <p:ext uri="{BB962C8B-B14F-4D97-AF65-F5344CB8AC3E}">
        <p14:creationId xmlns:p14="http://schemas.microsoft.com/office/powerpoint/2010/main" val="2566023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6E86-CBC9-0D50-BDD9-2C4EFAFF74D3}"/>
              </a:ext>
            </a:extLst>
          </p:cNvPr>
          <p:cNvSpPr>
            <a:spLocks noGrp="1"/>
          </p:cNvSpPr>
          <p:nvPr>
            <p:ph type="title"/>
          </p:nvPr>
        </p:nvSpPr>
        <p:spPr/>
        <p:txBody>
          <a:bodyPr/>
          <a:lstStyle/>
          <a:p>
            <a:r>
              <a:rPr lang="en-US" dirty="0"/>
              <a:t>Random Forest Autoencoders </a:t>
            </a:r>
          </a:p>
        </p:txBody>
      </p:sp>
      <p:pic>
        <p:nvPicPr>
          <p:cNvPr id="8" name="Content Placeholder 7">
            <a:extLst>
              <a:ext uri="{FF2B5EF4-FFF2-40B4-BE49-F238E27FC236}">
                <a16:creationId xmlns:a16="http://schemas.microsoft.com/office/drawing/2014/main" id="{E54259D8-5A3E-7138-2B60-4C47303BA3B3}"/>
              </a:ext>
            </a:extLst>
          </p:cNvPr>
          <p:cNvPicPr>
            <a:picLocks noGrp="1" noChangeAspect="1"/>
          </p:cNvPicPr>
          <p:nvPr>
            <p:ph idx="1"/>
          </p:nvPr>
        </p:nvPicPr>
        <p:blipFill>
          <a:blip r:embed="rId2"/>
          <a:stretch>
            <a:fillRect/>
          </a:stretch>
        </p:blipFill>
        <p:spPr>
          <a:xfrm>
            <a:off x="1139976" y="1811338"/>
            <a:ext cx="9912047" cy="4191000"/>
          </a:xfrm>
        </p:spPr>
      </p:pic>
      <p:sp>
        <p:nvSpPr>
          <p:cNvPr id="4" name="Date Placeholder 3">
            <a:extLst>
              <a:ext uri="{FF2B5EF4-FFF2-40B4-BE49-F238E27FC236}">
                <a16:creationId xmlns:a16="http://schemas.microsoft.com/office/drawing/2014/main" id="{98B629D9-E8EB-F87B-C9F7-A3854CA2C421}"/>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defPPr>
              <a:defRPr lang="en-US"/>
            </a:defPPr>
            <a:lvl1pPr marL="0" algn="l" defTabSz="914400" rtl="0" eaLnBrk="1" latinLnBrk="0" hangingPunct="1">
              <a:defRPr sz="900" b="1" kern="1200" spc="100" baseline="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2025</a:t>
            </a:r>
            <a:endParaRPr lang="en-US" dirty="0"/>
          </a:p>
        </p:txBody>
      </p:sp>
      <p:sp>
        <p:nvSpPr>
          <p:cNvPr id="6" name="Slide Number Placeholder 5">
            <a:extLst>
              <a:ext uri="{FF2B5EF4-FFF2-40B4-BE49-F238E27FC236}">
                <a16:creationId xmlns:a16="http://schemas.microsoft.com/office/drawing/2014/main" id="{D8CFC7FC-E851-DDF7-3336-51BBB1814BF7}"/>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defPPr>
              <a:defRPr lang="en-US"/>
            </a:defPPr>
            <a:lvl1pPr marL="0" algn="r" defTabSz="914400" rtl="0" eaLnBrk="1" latinLnBrk="0" hangingPunct="1">
              <a:defRPr sz="900" b="1" kern="120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208ADF-3ADD-483D-A721-14E3EEE2C135}" type="slidenum">
              <a:rPr lang="en-US" smtClean="0"/>
              <a:pPr/>
              <a:t>22</a:t>
            </a:fld>
            <a:endParaRPr lang="en-US" dirty="0"/>
          </a:p>
        </p:txBody>
      </p:sp>
    </p:spTree>
    <p:extLst>
      <p:ext uri="{BB962C8B-B14F-4D97-AF65-F5344CB8AC3E}">
        <p14:creationId xmlns:p14="http://schemas.microsoft.com/office/powerpoint/2010/main" val="3104576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B488D-607D-BF8A-0A1E-E2FEF2DF49A6}"/>
              </a:ext>
            </a:extLst>
          </p:cNvPr>
          <p:cNvSpPr>
            <a:spLocks noGrp="1"/>
          </p:cNvSpPr>
          <p:nvPr>
            <p:ph type="title"/>
          </p:nvPr>
        </p:nvSpPr>
        <p:spPr/>
        <p:txBody>
          <a:bodyPr>
            <a:normAutofit/>
          </a:bodyPr>
          <a:lstStyle/>
          <a:p>
            <a:r>
              <a:rPr lang="en-US" dirty="0"/>
              <a:t>RF-Manifold Alignment</a:t>
            </a:r>
          </a:p>
        </p:txBody>
      </p:sp>
      <p:sp>
        <p:nvSpPr>
          <p:cNvPr id="4" name="Date Placeholder 3">
            <a:extLst>
              <a:ext uri="{FF2B5EF4-FFF2-40B4-BE49-F238E27FC236}">
                <a16:creationId xmlns:a16="http://schemas.microsoft.com/office/drawing/2014/main" id="{4C26FBC3-F626-D09C-90B4-37FD1F41CB87}"/>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defPPr>
              <a:defRPr lang="en-US"/>
            </a:defPPr>
            <a:lvl1pPr marL="0" algn="l" defTabSz="914400" rtl="0" eaLnBrk="1" latinLnBrk="0" hangingPunct="1">
              <a:defRPr sz="900" b="1" kern="1200" spc="100" baseline="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2025</a:t>
            </a:r>
            <a:endParaRPr lang="en-US" dirty="0"/>
          </a:p>
        </p:txBody>
      </p:sp>
      <p:sp>
        <p:nvSpPr>
          <p:cNvPr id="6" name="Slide Number Placeholder 5">
            <a:extLst>
              <a:ext uri="{FF2B5EF4-FFF2-40B4-BE49-F238E27FC236}">
                <a16:creationId xmlns:a16="http://schemas.microsoft.com/office/drawing/2014/main" id="{4B694D5D-412F-A1C3-F303-01EAF1E3744D}"/>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defPPr>
              <a:defRPr lang="en-US"/>
            </a:defPPr>
            <a:lvl1pPr marL="0" algn="r" defTabSz="914400" rtl="0" eaLnBrk="1" latinLnBrk="0" hangingPunct="1">
              <a:defRPr sz="900" b="1" kern="120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208ADF-3ADD-483D-A721-14E3EEE2C135}" type="slidenum">
              <a:rPr lang="en-US" smtClean="0"/>
              <a:pPr/>
              <a:t>23</a:t>
            </a:fld>
            <a:endParaRPr lang="en-US" dirty="0"/>
          </a:p>
        </p:txBody>
      </p:sp>
      <p:grpSp>
        <p:nvGrpSpPr>
          <p:cNvPr id="49" name="Group 48">
            <a:extLst>
              <a:ext uri="{FF2B5EF4-FFF2-40B4-BE49-F238E27FC236}">
                <a16:creationId xmlns:a16="http://schemas.microsoft.com/office/drawing/2014/main" id="{72C5D445-FC76-F971-FCF5-B59A78159741}"/>
              </a:ext>
            </a:extLst>
          </p:cNvPr>
          <p:cNvGrpSpPr/>
          <p:nvPr/>
        </p:nvGrpSpPr>
        <p:grpSpPr>
          <a:xfrm>
            <a:off x="6702730" y="1001027"/>
            <a:ext cx="4725678" cy="5409820"/>
            <a:chOff x="9293100" y="0"/>
            <a:chExt cx="8910447" cy="10286999"/>
          </a:xfrm>
        </p:grpSpPr>
        <p:pic>
          <p:nvPicPr>
            <p:cNvPr id="38" name="Google Shape;200;g34e0a5e0e01_0_8">
              <a:extLst>
                <a:ext uri="{FF2B5EF4-FFF2-40B4-BE49-F238E27FC236}">
                  <a16:creationId xmlns:a16="http://schemas.microsoft.com/office/drawing/2014/main" id="{66E0EC13-C279-A0E8-3124-653CA03EEDAC}"/>
                </a:ext>
              </a:extLst>
            </p:cNvPr>
            <p:cNvPicPr preferRelativeResize="0"/>
            <p:nvPr/>
          </p:nvPicPr>
          <p:blipFill>
            <a:blip r:embed="rId2">
              <a:alphaModFix/>
            </a:blip>
            <a:stretch>
              <a:fillRect/>
            </a:stretch>
          </p:blipFill>
          <p:spPr>
            <a:xfrm>
              <a:off x="9807724" y="0"/>
              <a:ext cx="7728127" cy="10286999"/>
            </a:xfrm>
            <a:prstGeom prst="rect">
              <a:avLst/>
            </a:prstGeom>
            <a:noFill/>
            <a:ln>
              <a:noFill/>
            </a:ln>
          </p:spPr>
        </p:pic>
        <p:pic>
          <p:nvPicPr>
            <p:cNvPr id="39" name="Google Shape;201;g34e0a5e0e01_0_8" descr="Colorful Cartoon Style Column Chart ...">
              <a:extLst>
                <a:ext uri="{FF2B5EF4-FFF2-40B4-BE49-F238E27FC236}">
                  <a16:creationId xmlns:a16="http://schemas.microsoft.com/office/drawing/2014/main" id="{5A3605F5-E7AC-8028-D045-F2A0914F7BD2}"/>
                </a:ext>
              </a:extLst>
            </p:cNvPr>
            <p:cNvPicPr preferRelativeResize="0"/>
            <p:nvPr/>
          </p:nvPicPr>
          <p:blipFill rotWithShape="1">
            <a:blip r:embed="rId3">
              <a:alphaModFix/>
            </a:blip>
            <a:srcRect l="11529" r="16677"/>
            <a:stretch/>
          </p:blipFill>
          <p:spPr>
            <a:xfrm>
              <a:off x="12678526" y="548592"/>
              <a:ext cx="2133900" cy="1664432"/>
            </a:xfrm>
            <a:prstGeom prst="rect">
              <a:avLst/>
            </a:prstGeom>
            <a:noFill/>
            <a:ln>
              <a:noFill/>
            </a:ln>
          </p:spPr>
        </p:pic>
        <p:pic>
          <p:nvPicPr>
            <p:cNvPr id="40" name="Google Shape;202;g34e0a5e0e01_0_8" descr="Computer Network Stock Illustrations ...">
              <a:extLst>
                <a:ext uri="{FF2B5EF4-FFF2-40B4-BE49-F238E27FC236}">
                  <a16:creationId xmlns:a16="http://schemas.microsoft.com/office/drawing/2014/main" id="{28E5967E-6E0D-E50E-DA72-EDEF773FFCCD}"/>
                </a:ext>
              </a:extLst>
            </p:cNvPr>
            <p:cNvPicPr preferRelativeResize="0"/>
            <p:nvPr/>
          </p:nvPicPr>
          <p:blipFill>
            <a:blip r:embed="rId4">
              <a:alphaModFix/>
            </a:blip>
            <a:stretch>
              <a:fillRect/>
            </a:stretch>
          </p:blipFill>
          <p:spPr>
            <a:xfrm>
              <a:off x="16614397" y="3045600"/>
              <a:ext cx="1589150" cy="1617800"/>
            </a:xfrm>
            <a:prstGeom prst="rect">
              <a:avLst/>
            </a:prstGeom>
            <a:noFill/>
            <a:ln>
              <a:noFill/>
            </a:ln>
          </p:spPr>
        </p:pic>
        <p:pic>
          <p:nvPicPr>
            <p:cNvPr id="41" name="Google Shape;203;g34e0a5e0e01_0_8" descr="Scatter plot Vector Icons free download ...">
              <a:extLst>
                <a:ext uri="{FF2B5EF4-FFF2-40B4-BE49-F238E27FC236}">
                  <a16:creationId xmlns:a16="http://schemas.microsoft.com/office/drawing/2014/main" id="{C0935956-CE6D-A621-BB68-335E202B8E81}"/>
                </a:ext>
              </a:extLst>
            </p:cNvPr>
            <p:cNvPicPr preferRelativeResize="0"/>
            <p:nvPr/>
          </p:nvPicPr>
          <p:blipFill rotWithShape="1">
            <a:blip r:embed="rId5">
              <a:alphaModFix/>
            </a:blip>
            <a:srcRect l="5112" t="7029" r="6273" b="-7029"/>
            <a:stretch/>
          </p:blipFill>
          <p:spPr>
            <a:xfrm rot="-3015536">
              <a:off x="16462360" y="8895275"/>
              <a:ext cx="1179231" cy="1330726"/>
            </a:xfrm>
            <a:prstGeom prst="rect">
              <a:avLst/>
            </a:prstGeom>
            <a:noFill/>
            <a:ln>
              <a:noFill/>
            </a:ln>
          </p:spPr>
        </p:pic>
        <p:pic>
          <p:nvPicPr>
            <p:cNvPr id="42" name="Google Shape;204;g34e0a5e0e01_0_8" descr="Neural Network Vector Art, Icons, and ...">
              <a:extLst>
                <a:ext uri="{FF2B5EF4-FFF2-40B4-BE49-F238E27FC236}">
                  <a16:creationId xmlns:a16="http://schemas.microsoft.com/office/drawing/2014/main" id="{B8289CC4-4667-F54A-1FB5-1104A209DD52}"/>
                </a:ext>
              </a:extLst>
            </p:cNvPr>
            <p:cNvPicPr preferRelativeResize="0"/>
            <p:nvPr/>
          </p:nvPicPr>
          <p:blipFill>
            <a:blip r:embed="rId6">
              <a:alphaModFix/>
            </a:blip>
            <a:stretch>
              <a:fillRect/>
            </a:stretch>
          </p:blipFill>
          <p:spPr>
            <a:xfrm>
              <a:off x="9356575" y="7214900"/>
              <a:ext cx="2339250" cy="2339225"/>
            </a:xfrm>
            <a:prstGeom prst="rect">
              <a:avLst/>
            </a:prstGeom>
            <a:noFill/>
            <a:ln>
              <a:noFill/>
            </a:ln>
          </p:spPr>
        </p:pic>
        <p:pic>
          <p:nvPicPr>
            <p:cNvPr id="43" name="Google Shape;205;g34e0a5e0e01_0_8" descr="Shortest Path in Binary Matrix - LeetCode">
              <a:extLst>
                <a:ext uri="{FF2B5EF4-FFF2-40B4-BE49-F238E27FC236}">
                  <a16:creationId xmlns:a16="http://schemas.microsoft.com/office/drawing/2014/main" id="{6BEB652F-AB06-72DE-5394-51F4B92CA892}"/>
                </a:ext>
              </a:extLst>
            </p:cNvPr>
            <p:cNvPicPr preferRelativeResize="0"/>
            <p:nvPr/>
          </p:nvPicPr>
          <p:blipFill rotWithShape="1">
            <a:blip r:embed="rId7">
              <a:alphaModFix/>
            </a:blip>
            <a:srcRect r="58862"/>
            <a:stretch/>
          </p:blipFill>
          <p:spPr>
            <a:xfrm>
              <a:off x="9293100" y="2461470"/>
              <a:ext cx="1589150" cy="1675726"/>
            </a:xfrm>
            <a:prstGeom prst="rect">
              <a:avLst/>
            </a:prstGeom>
            <a:noFill/>
            <a:ln>
              <a:noFill/>
            </a:ln>
          </p:spPr>
        </p:pic>
        <p:sp>
          <p:nvSpPr>
            <p:cNvPr id="44" name="Google Shape;206;g34e0a5e0e01_0_8">
              <a:extLst>
                <a:ext uri="{FF2B5EF4-FFF2-40B4-BE49-F238E27FC236}">
                  <a16:creationId xmlns:a16="http://schemas.microsoft.com/office/drawing/2014/main" id="{7136AD68-3B19-3121-3EC3-946C4FCFE667}"/>
                </a:ext>
              </a:extLst>
            </p:cNvPr>
            <p:cNvSpPr/>
            <p:nvPr/>
          </p:nvSpPr>
          <p:spPr>
            <a:xfrm>
              <a:off x="17128551" y="3471899"/>
              <a:ext cx="186600" cy="189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5" name="Google Shape;207;g34e0a5e0e01_0_8">
              <a:extLst>
                <a:ext uri="{FF2B5EF4-FFF2-40B4-BE49-F238E27FC236}">
                  <a16:creationId xmlns:a16="http://schemas.microsoft.com/office/drawing/2014/main" id="{AFFAD03A-0013-47EB-C8E5-6A8A6F0BF436}"/>
                </a:ext>
              </a:extLst>
            </p:cNvPr>
            <p:cNvSpPr/>
            <p:nvPr/>
          </p:nvSpPr>
          <p:spPr>
            <a:xfrm>
              <a:off x="17315662" y="4365883"/>
              <a:ext cx="186600" cy="189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6" name="Google Shape;208;g34e0a5e0e01_0_8">
              <a:extLst>
                <a:ext uri="{FF2B5EF4-FFF2-40B4-BE49-F238E27FC236}">
                  <a16:creationId xmlns:a16="http://schemas.microsoft.com/office/drawing/2014/main" id="{7160612B-6604-34BB-C510-FD6C333CA7BB}"/>
                </a:ext>
              </a:extLst>
            </p:cNvPr>
            <p:cNvSpPr/>
            <p:nvPr/>
          </p:nvSpPr>
          <p:spPr>
            <a:xfrm>
              <a:off x="17315653" y="3144753"/>
              <a:ext cx="186600" cy="189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7" name="Google Shape;209;g34e0a5e0e01_0_8">
              <a:extLst>
                <a:ext uri="{FF2B5EF4-FFF2-40B4-BE49-F238E27FC236}">
                  <a16:creationId xmlns:a16="http://schemas.microsoft.com/office/drawing/2014/main" id="{C7CCF6E2-5FAB-354F-E999-3DB83F52F24B}"/>
                </a:ext>
              </a:extLst>
            </p:cNvPr>
            <p:cNvSpPr/>
            <p:nvPr/>
          </p:nvSpPr>
          <p:spPr>
            <a:xfrm>
              <a:off x="17832198" y="4064913"/>
              <a:ext cx="186600" cy="189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48" name="Google Shape;210;g34e0a5e0e01_0_8" descr="Diffusion Physics Process Vector Info ...">
              <a:extLst>
                <a:ext uri="{FF2B5EF4-FFF2-40B4-BE49-F238E27FC236}">
                  <a16:creationId xmlns:a16="http://schemas.microsoft.com/office/drawing/2014/main" id="{80C5142E-D5FF-2434-36CC-51562581B58A}"/>
                </a:ext>
              </a:extLst>
            </p:cNvPr>
            <p:cNvPicPr preferRelativeResize="0"/>
            <p:nvPr/>
          </p:nvPicPr>
          <p:blipFill rotWithShape="1">
            <a:blip r:embed="rId8">
              <a:alphaModFix/>
            </a:blip>
            <a:srcRect l="6533" t="18934" b="24510"/>
            <a:stretch/>
          </p:blipFill>
          <p:spPr>
            <a:xfrm>
              <a:off x="14244250" y="5051600"/>
              <a:ext cx="2003025" cy="1212000"/>
            </a:xfrm>
            <a:prstGeom prst="rect">
              <a:avLst/>
            </a:prstGeom>
            <a:noFill/>
            <a:ln>
              <a:noFill/>
            </a:ln>
          </p:spPr>
        </p:pic>
      </p:grpSp>
      <p:sp>
        <p:nvSpPr>
          <p:cNvPr id="51" name="Google Shape;257;g34dfbea774c_0_50">
            <a:extLst>
              <a:ext uri="{FF2B5EF4-FFF2-40B4-BE49-F238E27FC236}">
                <a16:creationId xmlns:a16="http://schemas.microsoft.com/office/drawing/2014/main" id="{BB52710C-4ED3-9EFB-04EB-EA2BC614A4C9}"/>
              </a:ext>
            </a:extLst>
          </p:cNvPr>
          <p:cNvSpPr txBox="1"/>
          <p:nvPr/>
        </p:nvSpPr>
        <p:spPr>
          <a:xfrm>
            <a:off x="564889" y="5633228"/>
            <a:ext cx="4924383" cy="1088247"/>
          </a:xfrm>
          <a:prstGeom prst="rect">
            <a:avLst/>
          </a:prstGeom>
          <a:noFill/>
          <a:ln>
            <a:noFill/>
          </a:ln>
        </p:spPr>
        <p:txBody>
          <a:bodyPr spcFirstLastPara="1" wrap="square" lIns="0" tIns="0" rIns="0" bIns="0" anchor="t" anchorCtr="0">
            <a:spAutoFit/>
          </a:bodyPr>
          <a:lstStyle/>
          <a:p>
            <a:pPr marL="0" marR="0" lvl="0" indent="0" algn="ctr" rtl="0">
              <a:lnSpc>
                <a:spcPct val="136012"/>
              </a:lnSpc>
              <a:spcBef>
                <a:spcPts val="0"/>
              </a:spcBef>
              <a:spcAft>
                <a:spcPts val="0"/>
              </a:spcAft>
              <a:buNone/>
            </a:pPr>
            <a:r>
              <a:rPr lang="en-US" sz="2600" b="1" dirty="0">
                <a:solidFill>
                  <a:schemeClr val="accent2">
                    <a:lumMod val="75000"/>
                  </a:schemeClr>
                </a:solidFill>
              </a:rPr>
              <a:t>RF-MASH’s resulting manifold on the seeds data set</a:t>
            </a:r>
            <a:endParaRPr sz="2600" b="1" i="0" u="none" strike="noStrike" cap="none" dirty="0">
              <a:solidFill>
                <a:schemeClr val="accent2">
                  <a:lumMod val="75000"/>
                </a:schemeClr>
              </a:solidFill>
            </a:endParaRPr>
          </a:p>
        </p:txBody>
      </p:sp>
      <p:pic>
        <p:nvPicPr>
          <p:cNvPr id="52" name="Google Shape;340;g35ba145b0e3_0_73">
            <a:extLst>
              <a:ext uri="{FF2B5EF4-FFF2-40B4-BE49-F238E27FC236}">
                <a16:creationId xmlns:a16="http://schemas.microsoft.com/office/drawing/2014/main" id="{7D782FC7-86E1-A509-895C-9369CE9AFE8E}"/>
              </a:ext>
            </a:extLst>
          </p:cNvPr>
          <p:cNvPicPr preferRelativeResize="0"/>
          <p:nvPr/>
        </p:nvPicPr>
        <p:blipFill rotWithShape="1">
          <a:blip r:embed="rId9">
            <a:alphaModFix/>
          </a:blip>
          <a:srcRect l="7581" t="8057" r="3844" b="5862"/>
          <a:stretch/>
        </p:blipFill>
        <p:spPr>
          <a:xfrm>
            <a:off x="344695" y="1789674"/>
            <a:ext cx="5331940" cy="3617048"/>
          </a:xfrm>
          <a:prstGeom prst="rect">
            <a:avLst/>
          </a:prstGeom>
          <a:noFill/>
          <a:ln>
            <a:noFill/>
          </a:ln>
        </p:spPr>
      </p:pic>
    </p:spTree>
    <p:extLst>
      <p:ext uri="{BB962C8B-B14F-4D97-AF65-F5344CB8AC3E}">
        <p14:creationId xmlns:p14="http://schemas.microsoft.com/office/powerpoint/2010/main" val="361628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61E7-F3C9-828B-DB69-D4091D7BAED6}"/>
              </a:ext>
            </a:extLst>
          </p:cNvPr>
          <p:cNvSpPr>
            <a:spLocks noGrp="1"/>
          </p:cNvSpPr>
          <p:nvPr>
            <p:ph type="title"/>
          </p:nvPr>
        </p:nvSpPr>
        <p:spPr/>
        <p:txBody>
          <a:bodyPr/>
          <a:lstStyle/>
          <a:p>
            <a:r>
              <a:rPr lang="en-US" dirty="0"/>
              <a:t>Diffusion over Combined Proximities</a:t>
            </a:r>
          </a:p>
        </p:txBody>
      </p:sp>
      <p:sp>
        <p:nvSpPr>
          <p:cNvPr id="4" name="Date Placeholder 3">
            <a:extLst>
              <a:ext uri="{FF2B5EF4-FFF2-40B4-BE49-F238E27FC236}">
                <a16:creationId xmlns:a16="http://schemas.microsoft.com/office/drawing/2014/main" id="{7041F675-7AC6-9DF0-5F19-EEA2901D4EC7}"/>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defPPr>
              <a:defRPr lang="en-US"/>
            </a:defPPr>
            <a:lvl1pPr marL="0" algn="l" defTabSz="914400" rtl="0" eaLnBrk="1" latinLnBrk="0" hangingPunct="1">
              <a:defRPr sz="900" b="1" kern="1200" spc="100" baseline="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2025</a:t>
            </a:r>
            <a:endParaRPr lang="en-US" dirty="0"/>
          </a:p>
        </p:txBody>
      </p:sp>
      <p:sp>
        <p:nvSpPr>
          <p:cNvPr id="5" name="Footer Placeholder 4">
            <a:extLst>
              <a:ext uri="{FF2B5EF4-FFF2-40B4-BE49-F238E27FC236}">
                <a16:creationId xmlns:a16="http://schemas.microsoft.com/office/drawing/2014/main" id="{037B39F0-3880-FFD4-A181-F29053F1A763}"/>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defPPr>
              <a:defRPr lang="en-US"/>
            </a:defPPr>
            <a:lvl1pPr marL="0" algn="ctr" defTabSz="914400" rtl="0" eaLnBrk="1" latinLnBrk="0" hangingPunct="1">
              <a:defRPr sz="900" b="1" kern="1200" cap="all" spc="400" baseline="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t>
            </a:r>
            <a:endParaRPr lang="en-US" dirty="0"/>
          </a:p>
        </p:txBody>
      </p:sp>
      <p:sp>
        <p:nvSpPr>
          <p:cNvPr id="6" name="Slide Number Placeholder 5">
            <a:extLst>
              <a:ext uri="{FF2B5EF4-FFF2-40B4-BE49-F238E27FC236}">
                <a16:creationId xmlns:a16="http://schemas.microsoft.com/office/drawing/2014/main" id="{13AAB382-FC9C-13F6-0441-D9B32C6B6121}"/>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defPPr>
              <a:defRPr lang="en-US"/>
            </a:defPPr>
            <a:lvl1pPr marL="0" algn="r" defTabSz="914400" rtl="0" eaLnBrk="1" latinLnBrk="0" hangingPunct="1">
              <a:defRPr sz="900" b="1" kern="120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208ADF-3ADD-483D-A721-14E3EEE2C135}" type="slidenum">
              <a:rPr lang="en-US" smtClean="0"/>
              <a:pPr/>
              <a:t>24</a:t>
            </a:fld>
            <a:endParaRPr lang="en-US" dirty="0"/>
          </a:p>
        </p:txBody>
      </p:sp>
      <p:pic>
        <p:nvPicPr>
          <p:cNvPr id="7" name="Google Shape;216;p8">
            <a:extLst>
              <a:ext uri="{FF2B5EF4-FFF2-40B4-BE49-F238E27FC236}">
                <a16:creationId xmlns:a16="http://schemas.microsoft.com/office/drawing/2014/main" id="{4EBABF96-78C2-27C3-B6D0-2D22160F1F9C}"/>
              </a:ext>
            </a:extLst>
          </p:cNvPr>
          <p:cNvPicPr preferRelativeResize="0">
            <a:picLocks noGrp="1"/>
          </p:cNvPicPr>
          <p:nvPr>
            <p:ph idx="1"/>
          </p:nvPr>
        </p:nvPicPr>
        <p:blipFill>
          <a:blip r:embed="rId2">
            <a:alphaModFix/>
          </a:blip>
          <a:stretch>
            <a:fillRect/>
          </a:stretch>
        </p:blipFill>
        <p:spPr>
          <a:xfrm>
            <a:off x="900378" y="1811338"/>
            <a:ext cx="10391244" cy="4191000"/>
          </a:xfrm>
          <a:prstGeom prst="rect">
            <a:avLst/>
          </a:prstGeom>
          <a:noFill/>
          <a:ln>
            <a:noFill/>
          </a:ln>
        </p:spPr>
      </p:pic>
    </p:spTree>
    <p:extLst>
      <p:ext uri="{BB962C8B-B14F-4D97-AF65-F5344CB8AC3E}">
        <p14:creationId xmlns:p14="http://schemas.microsoft.com/office/powerpoint/2010/main" val="3499340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212F9-E0D3-0493-99A5-410A23095356}"/>
              </a:ext>
            </a:extLst>
          </p:cNvPr>
          <p:cNvSpPr>
            <a:spLocks noGrp="1"/>
          </p:cNvSpPr>
          <p:nvPr>
            <p:ph type="title"/>
          </p:nvPr>
        </p:nvSpPr>
        <p:spPr/>
        <p:txBody>
          <a:bodyPr/>
          <a:lstStyle/>
          <a:p>
            <a:r>
              <a:rPr lang="en-US" dirty="0"/>
              <a:t>RF-AE Example</a:t>
            </a:r>
          </a:p>
        </p:txBody>
      </p:sp>
      <p:pic>
        <p:nvPicPr>
          <p:cNvPr id="8" name="Content Placeholder 7">
            <a:extLst>
              <a:ext uri="{FF2B5EF4-FFF2-40B4-BE49-F238E27FC236}">
                <a16:creationId xmlns:a16="http://schemas.microsoft.com/office/drawing/2014/main" id="{DB6AA426-E35C-4109-3082-AEDC0B4F5382}"/>
              </a:ext>
            </a:extLst>
          </p:cNvPr>
          <p:cNvPicPr>
            <a:picLocks noGrp="1" noChangeAspect="1"/>
          </p:cNvPicPr>
          <p:nvPr>
            <p:ph idx="1"/>
          </p:nvPr>
        </p:nvPicPr>
        <p:blipFill>
          <a:blip r:embed="rId2"/>
          <a:stretch>
            <a:fillRect/>
          </a:stretch>
        </p:blipFill>
        <p:spPr>
          <a:xfrm>
            <a:off x="1274423" y="1811338"/>
            <a:ext cx="9643154" cy="4191000"/>
          </a:xfrm>
        </p:spPr>
      </p:pic>
      <p:sp>
        <p:nvSpPr>
          <p:cNvPr id="4" name="Date Placeholder 3">
            <a:extLst>
              <a:ext uri="{FF2B5EF4-FFF2-40B4-BE49-F238E27FC236}">
                <a16:creationId xmlns:a16="http://schemas.microsoft.com/office/drawing/2014/main" id="{9C8B9C98-831F-B87B-8BCF-18B1B4A7A2DB}"/>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defPPr>
              <a:defRPr lang="en-US"/>
            </a:defPPr>
            <a:lvl1pPr marL="0" algn="l" defTabSz="914400" rtl="0" eaLnBrk="1" latinLnBrk="0" hangingPunct="1">
              <a:defRPr sz="900" b="1" kern="1200" spc="100" baseline="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2025</a:t>
            </a:r>
            <a:endParaRPr lang="en-US" dirty="0"/>
          </a:p>
        </p:txBody>
      </p:sp>
      <p:sp>
        <p:nvSpPr>
          <p:cNvPr id="6" name="Slide Number Placeholder 5">
            <a:extLst>
              <a:ext uri="{FF2B5EF4-FFF2-40B4-BE49-F238E27FC236}">
                <a16:creationId xmlns:a16="http://schemas.microsoft.com/office/drawing/2014/main" id="{CB71D320-2AA8-A29D-05E5-6B546A596B55}"/>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defPPr>
              <a:defRPr lang="en-US"/>
            </a:defPPr>
            <a:lvl1pPr marL="0" algn="r" defTabSz="914400" rtl="0" eaLnBrk="1" latinLnBrk="0" hangingPunct="1">
              <a:defRPr sz="900" b="1" kern="1200">
                <a:solidFill>
                  <a:schemeClr val="tx2">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208ADF-3ADD-483D-A721-14E3EEE2C135}" type="slidenum">
              <a:rPr lang="en-US" smtClean="0"/>
              <a:pPr/>
              <a:t>25</a:t>
            </a:fld>
            <a:endParaRPr lang="en-US" dirty="0"/>
          </a:p>
        </p:txBody>
      </p:sp>
    </p:spTree>
    <p:extLst>
      <p:ext uri="{BB962C8B-B14F-4D97-AF65-F5344CB8AC3E}">
        <p14:creationId xmlns:p14="http://schemas.microsoft.com/office/powerpoint/2010/main" val="183644294"/>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688</TotalTime>
  <Words>1025</Words>
  <Application>Microsoft Office PowerPoint</Application>
  <PresentationFormat>Widescreen</PresentationFormat>
  <Paragraphs>136</Paragraphs>
  <Slides>25</Slides>
  <Notes>2</Notes>
  <HiddenSlides>1</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3" baseType="lpstr">
      <vt:lpstr>Aptos</vt:lpstr>
      <vt:lpstr>Arial</vt:lpstr>
      <vt:lpstr>Calibri</vt:lpstr>
      <vt:lpstr>Calisto MT</vt:lpstr>
      <vt:lpstr>Cambria Math</vt:lpstr>
      <vt:lpstr>Univers Condensed</vt:lpstr>
      <vt:lpstr>ChronicleVTI</vt:lpstr>
      <vt:lpstr>Acrobat Document</vt:lpstr>
      <vt:lpstr>Random Forest Proximities</vt:lpstr>
      <vt:lpstr>Benefits of Random Forests</vt:lpstr>
      <vt:lpstr>Random Forest Proximities</vt:lpstr>
      <vt:lpstr>Proximities in a Nutshell</vt:lpstr>
      <vt:lpstr>What are Random Forest Proximities</vt:lpstr>
      <vt:lpstr>Original formulation</vt:lpstr>
      <vt:lpstr>Other Proximity Considerations</vt:lpstr>
      <vt:lpstr>OOB Formulation</vt:lpstr>
      <vt:lpstr>Proximities as Neighbor-based Predictor</vt:lpstr>
      <vt:lpstr>Accuracy Preserving Proximities </vt:lpstr>
      <vt:lpstr>Random Forest Geometry- and Accuracy-Preserving Proximities</vt:lpstr>
      <vt:lpstr>RF-GAP Proximities Notes</vt:lpstr>
      <vt:lpstr>Applications of Proximities</vt:lpstr>
      <vt:lpstr>Multi-dimensional scaling for Visualization</vt:lpstr>
      <vt:lpstr>Multi-dimensional scaling for Visualization</vt:lpstr>
      <vt:lpstr>Imputation</vt:lpstr>
      <vt:lpstr>Oversampling</vt:lpstr>
      <vt:lpstr>PowerPoint Presentation</vt:lpstr>
      <vt:lpstr>Regression – Prediction Intervals</vt:lpstr>
      <vt:lpstr>Regression – RF-FIRE (Localized Error Dist.)</vt:lpstr>
      <vt:lpstr>Time Series Classification – Proximity Forests</vt:lpstr>
      <vt:lpstr>Random Forest Autoencoders </vt:lpstr>
      <vt:lpstr>RF-Manifold Alignment</vt:lpstr>
      <vt:lpstr>Diffusion over Combined Proximities</vt:lpstr>
      <vt:lpstr>RF-AE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32</cp:revision>
  <dcterms:created xsi:type="dcterms:W3CDTF">2025-10-28T15:32:43Z</dcterms:created>
  <dcterms:modified xsi:type="dcterms:W3CDTF">2026-03-04T22:20:40Z</dcterms:modified>
</cp:coreProperties>
</file>