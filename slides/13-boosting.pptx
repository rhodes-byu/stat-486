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" ContentType="image/ti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6" r:id="rId1"/>
  </p:sldMasterIdLst>
  <p:notesMasterIdLst>
    <p:notesMasterId r:id="rId26"/>
  </p:notesMasterIdLst>
  <p:sldIdLst>
    <p:sldId id="256" r:id="rId2"/>
    <p:sldId id="295" r:id="rId3"/>
    <p:sldId id="296" r:id="rId4"/>
    <p:sldId id="297" r:id="rId5"/>
    <p:sldId id="298" r:id="rId6"/>
    <p:sldId id="299" r:id="rId7"/>
    <p:sldId id="300" r:id="rId8"/>
    <p:sldId id="301" r:id="rId9"/>
    <p:sldId id="302" r:id="rId10"/>
    <p:sldId id="303" r:id="rId11"/>
    <p:sldId id="304" r:id="rId12"/>
    <p:sldId id="305" r:id="rId13"/>
    <p:sldId id="306" r:id="rId14"/>
    <p:sldId id="307" r:id="rId15"/>
    <p:sldId id="308" r:id="rId16"/>
    <p:sldId id="309" r:id="rId17"/>
    <p:sldId id="310" r:id="rId18"/>
    <p:sldId id="311" r:id="rId19"/>
    <p:sldId id="312" r:id="rId20"/>
    <p:sldId id="313" r:id="rId21"/>
    <p:sldId id="314" r:id="rId22"/>
    <p:sldId id="315" r:id="rId23"/>
    <p:sldId id="316" r:id="rId24"/>
    <p:sldId id="317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9" autoAdjust="0"/>
    <p:restoredTop sz="94660"/>
  </p:normalViewPr>
  <p:slideViewPr>
    <p:cSldViewPr snapToGrid="0">
      <p:cViewPr>
        <p:scale>
          <a:sx n="75" d="100"/>
          <a:sy n="75" d="100"/>
        </p:scale>
        <p:origin x="284" y="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5320152-7289-42ED-97D3-BBB411F9F8C0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8F0E3D6-3C77-45F1-B7E2-5B66F3D24A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48739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DE6C8-AB1D-4204-BC9C-3366B0BF0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4088" y="889820"/>
            <a:ext cx="9989574" cy="3598606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7B9009-EE50-4EE5-B6EB-CD6EC83D3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4088" y="4488426"/>
            <a:ext cx="6991776" cy="130277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8667E-058A-436F-B8EA-5B3A99D43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1EADE-8E88-4C7C-8AC5-FB148DE4940E}" type="datetime1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80305-1AD7-482D-BFFD-6CDB83AB3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762A1-52E9-402D-B65E-DF193E44C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8143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7CA6-BFD9-4CB1-8892-F6B062E82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DA8C3-9C0C-4E52-9A62-E4DB159E6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3EC35-E02F-41FF-9232-F90692A90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B6794-849E-4626-908B-D15793550EFB}" type="datetime1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13D38-5DF1-443B-8A12-71E834FDC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E644A-4A37-4757-9809-5B035E287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09720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6578B-CD85-4BF1-A729-E8E8079B5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383" y="1709738"/>
            <a:ext cx="1063206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448C1-C13F-4826-8347-EEB00A664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3" y="4589463"/>
            <a:ext cx="1063206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6546A-957F-4C4D-9744-1177AD258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B64E7-5594-42A3-ADBF-E95A7ACEAD64}" type="datetime1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B149C-CC63-4E3A-A83D-EF637EB51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94775-7982-41EC-B584-D51224D38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60293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E4BD8-507D-48E4-A624-F16A741C3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A07E4-3A39-457C-A059-7DFB6039D9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04088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141E17-47CE-4A78-B0FA-0E9786DA67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81344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F02C13-D3ED-4044-9716-F29D79A18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62B0B-D248-4FFB-8695-AD7FA4B1284A}" type="datetime1">
              <a:rPr lang="en-US" smtClean="0"/>
              <a:t>3/3/2026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334AD-FB29-4355-B5CF-85E61B4F3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5AA154-790C-4774-9C21-8C543E733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919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7DD35-7673-4F88-86B0-634883B5E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929147"/>
            <a:ext cx="10689336" cy="7984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C820D7-3E0B-47C6-A583-C4C839C5A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4088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839A7B-97D5-400F-B802-A0FF28FE9F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04088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E0ECA2-DBF1-4681-9DFA-93AFD1B371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81344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0EBBBB-517F-4ED7-9E51-CF0F7590B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81344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11B5C7-1E37-478F-B4B0-C7202FFE4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78EFB-9159-4510-B73F-4F0409ADE937}" type="datetime1">
              <a:rPr lang="en-US" smtClean="0"/>
              <a:t>3/3/2026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53F7EF-507C-4CB3-86C5-8B34FFFC1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3DEA6-E4EB-4C2A-8B4F-55EC965B6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72091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32964-A933-4B98-A141-A4B316DAF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684C9D-23DA-42B0-9DD3-7592F72E8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C9412-2452-4BED-A324-9D8C115361AD}" type="datetime1">
              <a:rPr lang="en-US" smtClean="0"/>
              <a:t>3/3/2026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BF8F05-876F-49D8-AE30-5BB2A91EC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3D20DA-9260-4577-BB51-789570A24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19477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2C1F24-E0A1-45A7-8EF5-92CD97993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18F62-D251-40E8-A23C-F4CFE9FEAB41}" type="datetime1">
              <a:rPr lang="en-US" smtClean="0"/>
              <a:t>3/3/2026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021C19-210E-46B0-9036-5D8AECC92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80FEF-487E-44DF-8615-DF2210419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04032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568EE-74C8-43A6-90BC-2DDD965CF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9848"/>
            <a:ext cx="4093599" cy="131673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C35AC-CAE3-48CF-A3E4-A075C9FDD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069848"/>
            <a:ext cx="6172200" cy="479120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9D03EA-5FAD-4609-A2B8-624E42684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1176"/>
            <a:ext cx="4093599" cy="331927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58D2EA-2191-4216-B64D-067BDFE12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76144-149E-4874-93A5-554A0357CF82}" type="datetime1">
              <a:rPr lang="en-US" smtClean="0"/>
              <a:t>3/3/2026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042128-DAB4-481C-BEE6-3523E8E88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50E382-C500-4A4C-A7C6-43860383A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91026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FE98B-EACF-4251-A8AF-0D9EDD17C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6800"/>
            <a:ext cx="4103431" cy="131752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05F473-761A-4002-AF70-9FF878D013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066800"/>
            <a:ext cx="6172200" cy="47942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0C2E6A-F834-4540-BB00-E13CB45DC3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2700"/>
            <a:ext cx="4103431" cy="33162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C38EAB-AD63-415C-B263-BA1D8FBE3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A65D8-0540-4835-AE5C-25D29DBA01BE}" type="datetime1">
              <a:rPr lang="en-US" smtClean="0"/>
              <a:t>3/3/2026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2E5541-B6DE-45E8-BCFE-0DFC4F574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B78D45-289B-46AF-8CB9-E6150BEA1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76653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359C1-C098-4BF4-A55D-782F4E606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343C7E-1E8B-4D38-9B81-1AA2A8978E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70B00-53AE-4D3F-91BE-A8D789ED9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C8B9C-477D-492A-96AD-1FC2CC997A73}" type="datetime1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47FC7-8124-4F70-A849-B6BCC518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CEBE4-50DC-47DB-B699-CCC024336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83652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418279-D3B8-4C6A-AB74-9DE3777712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42322" y="997974"/>
            <a:ext cx="2349043" cy="49849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8F733C-9309-4197-BACA-207CDC893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68927" y="997973"/>
            <a:ext cx="8473395" cy="49849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CD4D0-5BE6-412D-B08B-5DFFD5935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3AED5-E26D-4E29-B1B3-7847B6779594}" type="datetime1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21651-B786-4A39-A10F-F5231D0A2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04D2D-9379-40DE-9F45-3004BE54F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57883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Body Level One…"/>
          <p:cNvSpPr txBox="1">
            <a:spLocks noGrp="1"/>
          </p:cNvSpPr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Slide bullet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44" name="Slide Title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Slide Title</a:t>
            </a:r>
          </a:p>
        </p:txBody>
      </p:sp>
      <p:sp>
        <p:nvSpPr>
          <p:cNvPr id="45" name="01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1665303"/>
      </p:ext>
    </p:extLst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654844" y="2268141"/>
            <a:ext cx="10882313" cy="2321719"/>
          </a:xfrm>
          <a:prstGeom prst="rect">
            <a:avLst/>
          </a:prstGeom>
        </p:spPr>
        <p:txBody>
          <a:bodyPr anchor="ctr"/>
          <a:lstStyle>
            <a:lvl1pPr>
              <a:defRPr sz="5765" spc="-115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r>
              <a:t>Section Title</a:t>
            </a:r>
          </a:p>
        </p:txBody>
      </p:sp>
      <p:sp>
        <p:nvSpPr>
          <p:cNvPr id="72" name="Line"/>
          <p:cNvSpPr/>
          <p:nvPr/>
        </p:nvSpPr>
        <p:spPr>
          <a:xfrm>
            <a:off x="11793" y="2116543"/>
            <a:ext cx="12168415" cy="1"/>
          </a:xfrm>
          <a:prstGeom prst="line">
            <a:avLst/>
          </a:prstGeom>
          <a:ln w="25400">
            <a:solidFill>
              <a:srgbClr val="FF7E79"/>
            </a:solidFill>
            <a:miter lim="400000"/>
          </a:ln>
        </p:spPr>
        <p:txBody>
          <a:bodyPr lIns="35719" tIns="35719" rIns="35719" bIns="35719" anchor="ctr"/>
          <a:lstStyle/>
          <a:p>
            <a:endParaRPr sz="1266"/>
          </a:p>
        </p:txBody>
      </p:sp>
      <p:sp>
        <p:nvSpPr>
          <p:cNvPr id="73" name="Line"/>
          <p:cNvSpPr/>
          <p:nvPr/>
        </p:nvSpPr>
        <p:spPr>
          <a:xfrm>
            <a:off x="11792" y="4516789"/>
            <a:ext cx="12168416" cy="1"/>
          </a:xfrm>
          <a:prstGeom prst="line">
            <a:avLst/>
          </a:prstGeom>
          <a:ln w="25400">
            <a:solidFill>
              <a:srgbClr val="FF7E79"/>
            </a:solidFill>
            <a:miter lim="400000"/>
          </a:ln>
        </p:spPr>
        <p:txBody>
          <a:bodyPr lIns="35719" tIns="35719" rIns="35719" bIns="35719" anchor="ctr"/>
          <a:lstStyle/>
          <a:p>
            <a:endParaRPr sz="1266"/>
          </a:p>
        </p:txBody>
      </p:sp>
      <p:sp>
        <p:nvSpPr>
          <p:cNvPr id="74" name="01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21939507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A362AC-B59F-4AC7-B279-57DDD5336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042DB-75BD-4EC1-B6D9-8A72EF940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0635" y="2221992"/>
            <a:ext cx="10691265" cy="37398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D1378-7C96-4079-B44C-3D86B46575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69448" y="6356350"/>
            <a:ext cx="25495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fld id="{E31BA835-12AC-4E8F-955A-EA3F4DE2791F}" type="datetime1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B6B78-577F-43F5-BAEE-BF72484C98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4088" y="6356350"/>
            <a:ext cx="45397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C75B8-AF8F-4D8A-9B3D-D1951A64B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4F9B95-9045-48D2-B9F3-2927E98F54AA}"/>
              </a:ext>
            </a:extLst>
          </p:cNvPr>
          <p:cNvCxnSpPr>
            <a:cxnSpLocks/>
          </p:cNvCxnSpPr>
          <p:nvPr/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85AA86F-6A4D-4BCB-A045-D992CDC2959B}"/>
              </a:ext>
            </a:extLst>
          </p:cNvPr>
          <p:cNvCxnSpPr>
            <a:cxnSpLocks/>
          </p:cNvCxnSpPr>
          <p:nvPr/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774544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  <p:sldLayoutId id="2147483684" r:id="rId4"/>
    <p:sldLayoutId id="2147483685" r:id="rId5"/>
    <p:sldLayoutId id="2147483679" r:id="rId6"/>
    <p:sldLayoutId id="2147483675" r:id="rId7"/>
    <p:sldLayoutId id="2147483676" r:id="rId8"/>
    <p:sldLayoutId id="2147483677" r:id="rId9"/>
    <p:sldLayoutId id="2147483678" r:id="rId10"/>
    <p:sldLayoutId id="2147483680" r:id="rId11"/>
    <p:sldLayoutId id="2147483687" r:id="rId12"/>
    <p:sldLayoutId id="2147483688" r:id="rId13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 cap="all" spc="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themeOverride" Target="../theme/themeOverride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tif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20EF50A-D1D5-EF90-9191-33A0BEC94C6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1825" b="3906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612349FF-7742-42ED-ADF3-238B5DDD17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2307" y="4237318"/>
            <a:ext cx="12188952" cy="2620682"/>
          </a:xfrm>
          <a:prstGeom prst="rect">
            <a:avLst/>
          </a:prstGeom>
          <a:gradFill>
            <a:gsLst>
              <a:gs pos="42000">
                <a:srgbClr val="000000">
                  <a:alpha val="14000"/>
                </a:srgbClr>
              </a:gs>
              <a:gs pos="0">
                <a:srgbClr val="000000">
                  <a:alpha val="0"/>
                </a:srgbClr>
              </a:gs>
              <a:gs pos="100000">
                <a:srgbClr val="000000">
                  <a:alpha val="31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9F3EC0C-B664-18E2-FAA6-07592A24EF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5158" y="5528235"/>
            <a:ext cx="10696574" cy="770964"/>
          </a:xfrm>
        </p:spPr>
        <p:txBody>
          <a:bodyPr anchor="b"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Boosting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11A06C2-C984-559B-6247-4CE552425B2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9681" y="4392705"/>
            <a:ext cx="5795251" cy="1063813"/>
          </a:xfrm>
        </p:spPr>
        <p:txBody>
          <a:bodyPr anchor="b">
            <a:normAutofit/>
          </a:bodyPr>
          <a:lstStyle/>
          <a:p>
            <a:endParaRPr lang="en-US" sz="18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842478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Boosting is a technique that was developed to improve weak learners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Boosting is a technique that was developed to improve</a:t>
            </a:r>
            <a:r>
              <a:rPr b="1">
                <a:solidFill>
                  <a:srgbClr val="941751"/>
                </a:solidFill>
              </a:rPr>
              <a:t> weak learners</a:t>
            </a:r>
          </a:p>
          <a:p>
            <a:pPr lvl="1"/>
            <a:r>
              <a:rPr b="1">
                <a:solidFill>
                  <a:srgbClr val="941751"/>
                </a:solidFill>
              </a:rPr>
              <a:t>Models</a:t>
            </a:r>
            <a:r>
              <a:t> that are just barely better than random guessing</a:t>
            </a:r>
          </a:p>
          <a:p>
            <a:pPr lvl="1"/>
            <a:r>
              <a:t>Simple (few tuning parameters) and fast to train</a:t>
            </a:r>
          </a:p>
          <a:p>
            <a:pPr lvl="1"/>
            <a:r>
              <a:t>Decision “stumps” are commonly used weak learners</a:t>
            </a:r>
          </a:p>
          <a:p>
            <a:r>
              <a:t>The general idea of boosting methods is to train models </a:t>
            </a:r>
            <a:r>
              <a:rPr u="sng">
                <a:solidFill>
                  <a:srgbClr val="009193"/>
                </a:solidFill>
              </a:rPr>
              <a:t>sequentially</a:t>
            </a:r>
            <a:r>
              <a:t> and try to “</a:t>
            </a:r>
            <a:r>
              <a:rPr i="1">
                <a:solidFill>
                  <a:srgbClr val="005493"/>
                </a:solidFill>
              </a:rPr>
              <a:t>fix the mistakes</a:t>
            </a:r>
            <a:r>
              <a:t>” of the preceding model</a:t>
            </a:r>
          </a:p>
        </p:txBody>
      </p:sp>
      <p:sp>
        <p:nvSpPr>
          <p:cNvPr id="302" name="Boosting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1525858">
              <a:defRPr sz="5280" spc="-105"/>
            </a:lvl1pPr>
          </a:lstStyle>
          <a:p>
            <a:r>
              <a:t>Boosting</a:t>
            </a:r>
          </a:p>
        </p:txBody>
      </p:sp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Adaptive Boosting (AdaBoost) — increase the weight of misclassified observations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/>
              <a:t>Adaptive Boosting (AdaBoost) — increase the weight of misclassified observations</a:t>
            </a:r>
          </a:p>
          <a:p>
            <a:r>
              <a:rPr dirty="0"/>
              <a:t>Gradient Boosting — learn and then correct the mistakes of the previous step</a:t>
            </a:r>
          </a:p>
          <a:p>
            <a:pPr lvl="1"/>
            <a:r>
              <a:rPr dirty="0"/>
              <a:t>More efficient implementations:</a:t>
            </a:r>
          </a:p>
          <a:p>
            <a:pPr lvl="2"/>
            <a:r>
              <a:rPr dirty="0" err="1"/>
              <a:t>XGBoost</a:t>
            </a:r>
            <a:r>
              <a:rPr dirty="0"/>
              <a:t> (Extreme gradient boosting)</a:t>
            </a:r>
          </a:p>
          <a:p>
            <a:pPr lvl="2"/>
            <a:r>
              <a:rPr dirty="0" err="1"/>
              <a:t>LightGBM</a:t>
            </a:r>
            <a:r>
              <a:rPr dirty="0"/>
              <a:t> (Light gradient boosting machine)</a:t>
            </a:r>
          </a:p>
        </p:txBody>
      </p:sp>
      <p:sp>
        <p:nvSpPr>
          <p:cNvPr id="305" name="Common Boosting Algorithm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1525858">
              <a:defRPr sz="5280" spc="-105"/>
            </a:lvl1pPr>
          </a:lstStyle>
          <a:p>
            <a:r>
              <a:t>Common Boosting Algorithms</a:t>
            </a:r>
          </a:p>
        </p:txBody>
      </p:sp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AdaBoos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AdaBoost 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Adaptive Boosting (AdaBoost)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Adaptive Boosting (AdaBoost) </a:t>
            </a:r>
          </a:p>
          <a:p>
            <a:r>
              <a:t>Introduced in 1997</a:t>
            </a:r>
          </a:p>
          <a:p>
            <a:r>
              <a:t>The main idea is to “pay more attention” to instances that were misclassified or had large errors in the previous model</a:t>
            </a:r>
          </a:p>
          <a:p>
            <a:r>
              <a:t>Focus learning on difficult instances </a:t>
            </a:r>
          </a:p>
          <a:p>
            <a:pPr lvl="1"/>
            <a:r>
              <a:t>“Study” topics you missed last time</a:t>
            </a:r>
          </a:p>
        </p:txBody>
      </p:sp>
      <p:sp>
        <p:nvSpPr>
          <p:cNvPr id="310" name="AdaBoos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1525858">
              <a:defRPr sz="5280" spc="-105"/>
            </a:lvl1pPr>
          </a:lstStyle>
          <a:p>
            <a:r>
              <a:t>AdaBoost</a:t>
            </a:r>
          </a:p>
        </p:txBody>
      </p:sp>
    </p:spTree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12" name="Assign each instance a weight, generally   (index   refers to the   observation)…"/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1852550" y="1682338"/>
                <a:ext cx="7688734" cy="4909245"/>
              </a:xfrm>
              <a:prstGeom prst="rect">
                <a:avLst/>
              </a:prstGeom>
            </p:spPr>
            <p:txBody>
              <a:bodyPr/>
              <a:lstStyle/>
              <a:p>
                <a:pPr marL="160729" indent="-160729">
                  <a:buSzPct val="100000"/>
                  <a:buAutoNum type="arabicPeriod"/>
                </a:pPr>
                <a:r>
                  <a:rPr lang="en-US" dirty="0"/>
                  <a:t>Assign each instance a weight, generally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2285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2285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ar-AE" sz="2285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ar-AE" sz="2285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=(</m:t>
                    </m:r>
                    <m:r>
                      <a:rPr lang="ar-AE" sz="2285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ar-AE" sz="2285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a:rPr lang="ar-AE" sz="2285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ar-AE" sz="2285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br>
                  <a:rPr lang="ar-AE" dirty="0"/>
                </a:br>
                <a:r>
                  <a:rPr lang="en-US" sz="1758" dirty="0"/>
                  <a:t>(index </a:t>
                </a:r>
                <a14:m>
                  <m:oMath xmlns:m="http://schemas.openxmlformats.org/officeDocument/2006/math">
                    <m:r>
                      <a:rPr lang="en-US" sz="1898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1758" dirty="0"/>
                  <a:t> refers to the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ar-AE" sz="1898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sz="1898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p>
                        <m:r>
                          <a:rPr lang="ar-AE" sz="1898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ar-AE" sz="1898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</m:sup>
                    </m:sSup>
                  </m:oMath>
                </a14:m>
                <a:r>
                  <a:rPr lang="ar-AE" sz="1758" dirty="0"/>
                  <a:t> </a:t>
                </a:r>
                <a:r>
                  <a:rPr lang="en-US" sz="1758" dirty="0"/>
                  <a:t>observation)</a:t>
                </a:r>
              </a:p>
              <a:p>
                <a:pPr marL="160729" indent="-160729">
                  <a:buSzPct val="100000"/>
                  <a:buAutoNum type="arabicPeriod"/>
                </a:pPr>
                <a:r>
                  <a:rPr lang="en-US" dirty="0"/>
                  <a:t>Build a weak learner and make predictions </a:t>
                </a:r>
                <a:br>
                  <a:rPr lang="en-US" dirty="0"/>
                </a:br>
                <a:r>
                  <a:rPr lang="en-US" sz="1758" dirty="0"/>
                  <a:t>(index </a:t>
                </a:r>
                <a14:m>
                  <m:oMath xmlns:m="http://schemas.openxmlformats.org/officeDocument/2006/math">
                    <m:r>
                      <a:rPr lang="en-US" sz="1898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sz="1758" dirty="0"/>
                  <a:t> refers to the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ar-AE" sz="1898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sz="1898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  <m:sup>
                        <m:r>
                          <a:rPr lang="ar-AE" sz="1898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ar-AE" sz="1898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</m:sup>
                    </m:sSup>
                  </m:oMath>
                </a14:m>
                <a:r>
                  <a:rPr lang="ar-AE" sz="1758" dirty="0"/>
                  <a:t> </a:t>
                </a:r>
                <a:r>
                  <a:rPr lang="en-US" sz="1758" dirty="0"/>
                  <a:t>classifier)</a:t>
                </a:r>
                <a:br>
                  <a:rPr lang="en-US" sz="1758" dirty="0"/>
                </a:br>
                <a:r>
                  <a:rPr lang="en-US" dirty="0"/>
                  <a:t>Compute error rate of model: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2285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2285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𝜖</m:t>
                        </m:r>
                      </m:e>
                      <m:sub>
                        <m:r>
                          <a:rPr lang="ar-AE" sz="2285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ar-AE" sz="2285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ar-AE" sz="2285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ar-AE" sz="2285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∑</m:t>
                        </m:r>
                        <m:sSub>
                          <m:sSubPr>
                            <m:ctrlPr>
                              <a:rPr lang="ar-AE" sz="2285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sz="2285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ar-AE" sz="2285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ar-AE" sz="2285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  <m:r>
                          <a:rPr lang="ar-AE" sz="2285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ar-AE" sz="2285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sz="2285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ar-AE" sz="2285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ar-AE" sz="2285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≠</m:t>
                        </m:r>
                        <m:sSub>
                          <m:sSubPr>
                            <m:ctrlPr>
                              <a:rPr lang="ar-AE" sz="2285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limUpp>
                              <m:limUppPr>
                                <m:ctrlPr>
                                  <a:rPr lang="ar-AE" sz="2285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limUppPr>
                              <m:e>
                                <m:r>
                                  <a:rPr lang="ar-AE" sz="2285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lim>
                                <m:r>
                                  <a:rPr lang="ar-AE" sz="2285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^</m:t>
                                </m:r>
                              </m:lim>
                            </m:limUpp>
                          </m:e>
                          <m:sub>
                            <m:r>
                              <a:rPr lang="ar-AE" sz="2285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ar-AE" sz="2285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ar-AE" sz="2285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∑</m:t>
                        </m:r>
                        <m:sSub>
                          <m:sSubPr>
                            <m:ctrlPr>
                              <a:rPr lang="ar-AE" sz="2285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sz="2285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ar-AE" sz="2285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den>
                    </m:f>
                  </m:oMath>
                </a14:m>
                <a:br>
                  <a:rPr lang="ar-AE" dirty="0"/>
                </a:br>
                <a:r>
                  <a:rPr lang="en-US" dirty="0"/>
                  <a:t>Compute the weight of the classifier: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2285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2285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ar-AE" sz="2285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ar-AE" sz="2285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ar-AE" sz="2285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ar-AE" sz="2285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ar-AE" sz="2285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US" sz="2285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log</m:t>
                    </m:r>
                    <m:d>
                      <m:dPr>
                        <m:ctrlPr>
                          <a:rPr lang="ar-AE" sz="2285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ar-AE" sz="2285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ar-AE" sz="2285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ar-AE" sz="2285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ar-AE" sz="2285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ar-AE" sz="2285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𝜖</m:t>
                                </m:r>
                              </m:e>
                              <m:sub>
                                <m:r>
                                  <a:rPr lang="ar-AE" sz="2285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ar-AE" sz="2285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ar-AE" sz="2285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𝜖</m:t>
                                </m:r>
                              </m:e>
                              <m:sub>
                                <m:r>
                                  <a:rPr lang="ar-AE" sz="2285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</m:den>
                        </m:f>
                      </m:e>
                    </m:d>
                  </m:oMath>
                </a14:m>
                <a:br>
                  <a:rPr lang="ar-AE" dirty="0"/>
                </a:br>
                <a:r>
                  <a:rPr lang="en-US" sz="1687" dirty="0"/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1828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1828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ar-AE" sz="1828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ar-AE" sz="1687" dirty="0"/>
                  <a:t> </a:t>
                </a:r>
                <a:r>
                  <a:rPr lang="en-US" sz="1687" dirty="0"/>
                  <a:t>will be higher for models with higher accuracy)</a:t>
                </a:r>
                <a:br>
                  <a:rPr lang="en-US" sz="1687" dirty="0"/>
                </a:br>
                <a:br>
                  <a:rPr lang="en-US" sz="1687" dirty="0"/>
                </a:br>
                <a:r>
                  <a:rPr lang="en-US" sz="1687" dirty="0"/>
                  <a:t>(this is the weight of the classifier’s vote in the final ensemble prediction) </a:t>
                </a:r>
                <a:endParaRPr sz="1687" dirty="0"/>
              </a:p>
            </p:txBody>
          </p:sp>
        </mc:Choice>
        <mc:Fallback xmlns="">
          <p:sp>
            <p:nvSpPr>
              <p:cNvPr id="312" name="Assign each instance a weight, generally   (index   refers to the   observation)…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1852550" y="1682338"/>
                <a:ext cx="7688734" cy="4909245"/>
              </a:xfrm>
              <a:prstGeom prst="rect">
                <a:avLst/>
              </a:prstGeom>
              <a:blipFill>
                <a:blip r:embed="rId2"/>
                <a:stretch>
                  <a:fillRect l="-7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3" name="AdaBoos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>
            <a:normAutofit/>
          </a:bodyPr>
          <a:lstStyle>
            <a:lvl1pPr defTabSz="1525858">
              <a:defRPr sz="5280" spc="-105"/>
            </a:lvl1pPr>
          </a:lstStyle>
          <a:p>
            <a:r>
              <a:rPr sz="4000" dirty="0"/>
              <a:t>AdaBoost</a:t>
            </a:r>
          </a:p>
        </p:txBody>
      </p:sp>
    </p:spTree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15" name="Update the weights for the instances           if                               if    (and normalize by dividing by  )…"/>
              <p:cNvSpPr txBox="1">
                <a:spLocks noGrp="1"/>
              </p:cNvSpPr>
              <p:nvPr>
                <p:ph type="body" idx="1"/>
              </p:nvPr>
            </p:nvSpPr>
            <p:spPr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 marL="160729" indent="-160729">
                  <a:buSzPct val="100000"/>
                  <a:buAutoNum type="arabicPeriod" startAt="5"/>
                </a:pPr>
                <a:r>
                  <a:rPr lang="en-US" sz="1800" dirty="0"/>
                  <a:t> Update the weights for the instances </a:t>
                </a:r>
                <a:br>
                  <a:rPr lang="en-US" sz="1800" dirty="0"/>
                </a:br>
                <a:r>
                  <a:rPr lang="en-US" sz="1800" dirty="0"/>
                  <a:t>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ar-AE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ar-AE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ar-AE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𝑛𝑒𝑤</m:t>
                        </m:r>
                      </m:sub>
                    </m:sSub>
                    <m:r>
                      <a:rPr lang="ar-AE" sz="1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ar-AE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ar-AE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ar-AE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ar-AE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𝑜𝑙𝑑</m:t>
                        </m:r>
                      </m:sub>
                    </m:sSub>
                    <m:r>
                      <a:rPr lang="ar-AE" sz="1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US" sz="1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exp</m:t>
                    </m:r>
                    <m:r>
                      <a:rPr lang="en-US" sz="1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ar-AE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ar-AE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ar-AE" sz="1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ar-AE" sz="1800" dirty="0"/>
                  <a:t> </a:t>
                </a:r>
                <a:r>
                  <a:rPr lang="en-US" sz="1800" dirty="0"/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ar-AE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ar-AE" sz="1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≠</m:t>
                    </m:r>
                    <m:sSub>
                      <m:sSubPr>
                        <m:ctrlPr>
                          <a:rPr lang="ar-AE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limUpp>
                          <m:limUppPr>
                            <m:ctrlPr>
                              <a:rPr lang="ar-AE" sz="1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limUppPr>
                          <m:e>
                            <m:r>
                              <a:rPr lang="ar-AE" sz="1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lim>
                            <m:r>
                              <a:rPr lang="ar-AE" sz="18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^</m:t>
                            </m:r>
                          </m:lim>
                        </m:limUpp>
                      </m:e>
                      <m:sub>
                        <m:r>
                          <a:rPr lang="ar-AE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br>
                  <a:rPr lang="ar-AE" sz="1800" dirty="0"/>
                </a:br>
                <a:r>
                  <a:rPr lang="ar-AE" sz="1800" dirty="0"/>
                  <a:t>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ar-AE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ar-AE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ar-AE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𝑛𝑒𝑤</m:t>
                        </m:r>
                      </m:sub>
                    </m:sSub>
                    <m:r>
                      <a:rPr lang="ar-AE" sz="1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ar-AE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ar-AE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ar-AE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ar-AE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𝑜𝑙𝑑</m:t>
                        </m:r>
                      </m:sub>
                    </m:sSub>
                    <m:r>
                      <a:rPr lang="ar-AE" sz="1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US" sz="1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exp</m:t>
                    </m:r>
                    <m:r>
                      <a:rPr lang="en-US" sz="1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(−</m:t>
                    </m:r>
                    <m:sSub>
                      <m:sSubPr>
                        <m:ctrlPr>
                          <a:rPr lang="ar-AE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ar-AE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ar-AE" sz="1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1800" dirty="0"/>
                  <a:t> 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ar-AE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ar-AE" sz="1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ar-AE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limUpp>
                          <m:limUppPr>
                            <m:ctrlPr>
                              <a:rPr lang="ar-AE" sz="1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limUppPr>
                          <m:e>
                            <m:r>
                              <a:rPr lang="ar-AE" sz="1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lim>
                            <m:r>
                              <a:rPr lang="en-US" sz="18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^</m:t>
                            </m:r>
                          </m:lim>
                        </m:limUpp>
                      </m:e>
                      <m:sub>
                        <m:r>
                          <a:rPr lang="ar-AE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br>
                  <a:rPr lang="ar-AE" sz="1800" dirty="0"/>
                </a:br>
                <a:br>
                  <a:rPr lang="ar-AE" sz="1800" dirty="0"/>
                </a:br>
                <a:r>
                  <a:rPr lang="en-US" sz="1800" dirty="0"/>
                  <a:t>(and normalize by dividing by </a:t>
                </a:r>
                <a14:m>
                  <m:oMath xmlns:m="http://schemas.openxmlformats.org/officeDocument/2006/math">
                    <m:r>
                      <a:rPr lang="en-US" sz="1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∑</m:t>
                    </m:r>
                    <m:sSub>
                      <m:sSubPr>
                        <m:ctrlPr>
                          <a:rPr lang="ar-AE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ar-AE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1800" dirty="0"/>
                  <a:t>)</a:t>
                </a:r>
                <a:br>
                  <a:rPr lang="ar-AE" sz="1800" dirty="0"/>
                </a:br>
                <a:endParaRPr lang="ar-AE" sz="1800" dirty="0"/>
              </a:p>
              <a:p>
                <a:pPr marL="160729" indent="-160729">
                  <a:buSzPct val="100000"/>
                  <a:buAutoNum type="arabicPeriod" startAt="5"/>
                </a:pPr>
                <a:r>
                  <a:rPr lang="en-US" sz="1800" dirty="0"/>
                  <a:t>The next classifier will seek to minimize the weighted error, which now disproportionately penalized errors on higher-weighted instances</a:t>
                </a:r>
              </a:p>
              <a:p>
                <a:pPr marL="696491" lvl="2" indent="-160729">
                  <a:buSzPct val="100000"/>
                </a:pPr>
                <a:r>
                  <a:rPr lang="en-US" sz="1800" dirty="0"/>
                  <a:t> This essentially makes the model focus on learning the instances that were misclassified in the previous step</a:t>
                </a:r>
                <a:endParaRPr sz="1800" dirty="0"/>
              </a:p>
            </p:txBody>
          </p:sp>
        </mc:Choice>
        <mc:Fallback>
          <p:sp>
            <p:nvSpPr>
              <p:cNvPr id="315" name="Update the weights for the instances           if                               if    (and normalize by dividing by  )…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prstGeom prst="rect">
                <a:avLst/>
              </a:prstGeom>
              <a:blipFill>
                <a:blip r:embed="rId2"/>
                <a:stretch>
                  <a:fillRect l="-456" t="-816" r="-6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6" name="AdaBoos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1525858">
              <a:defRPr sz="5280" spc="-105"/>
            </a:lvl1pPr>
          </a:lstStyle>
          <a:p>
            <a:r>
              <a:t>AdaBoost</a:t>
            </a:r>
          </a:p>
        </p:txBody>
      </p:sp>
    </p:spTree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18" name="Update final model prediction…"/>
              <p:cNvSpPr txBox="1">
                <a:spLocks noGrp="1"/>
              </p:cNvSpPr>
              <p:nvPr>
                <p:ph type="body" idx="1"/>
              </p:nvPr>
            </p:nvSpPr>
            <p:spPr>
              <a:prstGeom prst="rect">
                <a:avLst/>
              </a:prstGeom>
            </p:spPr>
            <p:txBody>
              <a:bodyPr>
                <a:normAutofit lnSpcReduction="10000"/>
              </a:bodyPr>
              <a:lstStyle/>
              <a:p>
                <a:pPr marL="160729" indent="-160729">
                  <a:buSzPct val="100000"/>
                  <a:buAutoNum type="arabicPeriod" startAt="7"/>
                </a:pPr>
                <a:r>
                  <a:rPr lang="en-US" dirty="0"/>
                  <a:t> Update final model prediction</a:t>
                </a:r>
                <a:br>
                  <a:rPr lang="en-US" dirty="0"/>
                </a:br>
                <a:br>
                  <a:rPr lang="en-US" dirty="0"/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ar-AE" sz="2285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2285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ar-AE" sz="2285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𝑛𝑒𝑤</m:t>
                        </m:r>
                      </m:sub>
                    </m:sSub>
                    <m:r>
                      <a:rPr lang="ar-AE" sz="2285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ar-AE" sz="2285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ar-AE" sz="2285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)=</m:t>
                    </m:r>
                    <m:sSub>
                      <m:sSubPr>
                        <m:ctrlPr>
                          <a:rPr lang="ar-AE" sz="2285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2285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ar-AE" sz="2285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𝑜𝑙𝑑</m:t>
                        </m:r>
                      </m:sub>
                    </m:sSub>
                    <m:r>
                      <a:rPr lang="ar-AE" sz="2285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ar-AE" sz="2285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𝛼</m:t>
                    </m:r>
                    <m:r>
                      <a:rPr lang="ar-AE" sz="2285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b>
                      <m:sSubPr>
                        <m:ctrlPr>
                          <a:rPr lang="ar-AE" sz="2285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limUpp>
                          <m:limUppPr>
                            <m:ctrlPr>
                              <a:rPr lang="ar-AE" sz="2285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limUppPr>
                          <m:e>
                            <m:r>
                              <a:rPr lang="ar-AE" sz="2285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lim>
                            <m:r>
                              <a:rPr lang="ar-AE" sz="2285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^</m:t>
                            </m:r>
                          </m:lim>
                        </m:limUpp>
                      </m:e>
                      <m:sub>
                        <m:r>
                          <a:rPr lang="ar-AE" sz="2285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𝑛𝑒𝑤</m:t>
                        </m:r>
                      </m:sub>
                    </m:sSub>
                  </m:oMath>
                </a14:m>
                <a:r>
                  <a:rPr lang="ar-AE" dirty="0"/>
                  <a:t>  </a:t>
                </a:r>
                <a:br>
                  <a:rPr lang="ar-AE" dirty="0"/>
                </a:br>
                <a:endParaRPr lang="ar-AE" dirty="0"/>
              </a:p>
              <a:p>
                <a:pPr marL="160729" indent="-160729">
                  <a:buSzPct val="100000"/>
                  <a:buAutoNum type="arabicPeriod" startAt="7"/>
                </a:pPr>
                <a:r>
                  <a:rPr lang="ar-AE" dirty="0"/>
                  <a:t>  </a:t>
                </a:r>
                <a:r>
                  <a:rPr lang="en-US" dirty="0"/>
                  <a:t>A learning rate parameters is often used to regularize and make the model training process more conservative</a:t>
                </a:r>
                <a:br>
                  <a:rPr lang="en-US" dirty="0"/>
                </a:br>
                <a:br>
                  <a:rPr lang="en-US" dirty="0"/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ar-AE" sz="2285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2285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ar-AE" sz="2285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𝑛𝑒𝑤</m:t>
                        </m:r>
                      </m:sub>
                    </m:sSub>
                    <m:r>
                      <a:rPr lang="ar-AE" sz="2285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ar-AE" sz="2285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ar-AE" sz="2285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)=</m:t>
                    </m:r>
                    <m:sSub>
                      <m:sSubPr>
                        <m:ctrlPr>
                          <a:rPr lang="ar-AE" sz="2285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2285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ar-AE" sz="2285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𝑜𝑙𝑑</m:t>
                        </m:r>
                      </m:sub>
                    </m:sSub>
                    <m:r>
                      <a:rPr lang="ar-AE" sz="2285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ar-AE" sz="2285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𝜂</m:t>
                    </m:r>
                    <m:r>
                      <a:rPr lang="ar-AE" sz="2285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ar-AE" sz="2285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𝛼</m:t>
                    </m:r>
                    <m:r>
                      <a:rPr lang="ar-AE" sz="2285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b>
                      <m:sSubPr>
                        <m:ctrlPr>
                          <a:rPr lang="ar-AE" sz="2285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limUpp>
                          <m:limUppPr>
                            <m:ctrlPr>
                              <a:rPr lang="ar-AE" sz="2285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limUppPr>
                          <m:e>
                            <m:r>
                              <a:rPr lang="ar-AE" sz="2285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lim>
                            <m:r>
                              <a:rPr lang="en-US" sz="2285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^</m:t>
                            </m:r>
                          </m:lim>
                        </m:limUpp>
                      </m:e>
                      <m:sub>
                        <m:r>
                          <a:rPr lang="ar-AE" sz="2285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𝑛𝑒𝑤</m:t>
                        </m:r>
                      </m:sub>
                    </m:sSub>
                  </m:oMath>
                </a14:m>
                <a:endParaRPr lang="ar-AE" dirty="0"/>
              </a:p>
              <a:p>
                <a:pPr marL="696491" lvl="2" indent="-160729">
                  <a:buSzPct val="100000"/>
                </a:pPr>
                <a:r>
                  <a:rPr lang="en-US" dirty="0"/>
                  <a:t>A low learning rate (</a:t>
                </a:r>
                <a14:m>
                  <m:oMath xmlns:m="http://schemas.openxmlformats.org/officeDocument/2006/math">
                    <m:r>
                      <a:rPr lang="en-US" sz="2285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𝜂</m:t>
                    </m:r>
                    <m:r>
                      <a:rPr lang="en-US" sz="2285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sz="2285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dirty="0"/>
                  <a:t>) means that updates to the final model prediction are smaller </a:t>
                </a:r>
              </a:p>
              <a:p>
                <a:pPr marL="696491" lvl="2" indent="-160729">
                  <a:buSzPct val="100000"/>
                </a:pPr>
                <a:r>
                  <a:rPr lang="en-US" dirty="0"/>
                  <a:t>This can sometimes reduce overfitting by making the model’s adjustments more gradual </a:t>
                </a:r>
                <a:endParaRPr dirty="0"/>
              </a:p>
            </p:txBody>
          </p:sp>
        </mc:Choice>
        <mc:Fallback xmlns="">
          <p:sp>
            <p:nvSpPr>
              <p:cNvPr id="318" name="Update final model prediction…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prstGeom prst="rect">
                <a:avLst/>
              </a:prstGeom>
              <a:blipFill>
                <a:blip r:embed="rId2"/>
                <a:stretch>
                  <a:fillRect l="-570" t="-979" b="-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9" name="AdaBoos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1525858">
              <a:defRPr sz="5280" spc="-105"/>
            </a:lvl1pPr>
          </a:lstStyle>
          <a:p>
            <a:r>
              <a:rPr dirty="0"/>
              <a:t>AdaBoost</a:t>
            </a:r>
          </a:p>
        </p:txBody>
      </p:sp>
    </p:spTree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AdaBoos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>
            <a:normAutofit/>
          </a:bodyPr>
          <a:lstStyle>
            <a:lvl1pPr defTabSz="1525858">
              <a:defRPr sz="5280" spc="-105"/>
            </a:lvl1pPr>
          </a:lstStyle>
          <a:p>
            <a:r>
              <a:rPr sz="4000" dirty="0"/>
              <a:t>AdaBoost</a:t>
            </a:r>
          </a:p>
        </p:txBody>
      </p:sp>
      <p:pic>
        <p:nvPicPr>
          <p:cNvPr id="322" name="pasted-image.tiff" descr="pasted-image.tif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1662" y="1605172"/>
            <a:ext cx="8333961" cy="4687853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radient Boosting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Gradient Boosting</a:t>
            </a:r>
          </a:p>
        </p:txBody>
      </p:sp>
    </p:spTree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radient Boosting directly targets the residuals (regression) or gradient of the loss function (classification)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Gradient Boosting directly targets the residuals (regression) or gradient of the loss function (classification) </a:t>
            </a:r>
          </a:p>
          <a:p>
            <a:r>
              <a:t>At each step, a new weak learner is fit to the residual or pseudo-residuals </a:t>
            </a:r>
          </a:p>
        </p:txBody>
      </p:sp>
      <p:sp>
        <p:nvSpPr>
          <p:cNvPr id="327" name="Gradient Boosting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1525858">
              <a:defRPr sz="5280" spc="-105"/>
            </a:lvl1pPr>
          </a:lstStyle>
          <a:p>
            <a:r>
              <a:t>Gradient Boosting</a:t>
            </a:r>
          </a:p>
        </p:txBody>
      </p:sp>
    </p:spTree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29" name="Train a weak learner and make predictions…"/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2015133" y="1202531"/>
                <a:ext cx="8468555" cy="5501758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 marL="154299" indent="-154299" defTabSz="1170361">
                  <a:buSzPct val="100000"/>
                  <a:buAutoNum type="arabicPeriod"/>
                  <a:defRPr sz="2880"/>
                </a:pPr>
                <a:r>
                  <a:rPr sz="1700" dirty="0"/>
                  <a:t>Train a weak learner and make predictions</a:t>
                </a:r>
              </a:p>
              <a:p>
                <a:pPr marL="154299" indent="-154299" defTabSz="1170361">
                  <a:buSzPct val="100000"/>
                  <a:buAutoNum type="arabicPeriod"/>
                  <a:defRPr sz="2880"/>
                </a:pPr>
                <a:r>
                  <a:rPr sz="1700" dirty="0"/>
                  <a:t> Calculate the residuals (regression) as:</a:t>
                </a:r>
                <a:br>
                  <a:rPr sz="1700" dirty="0"/>
                </a:br>
                <a:br>
                  <a:rPr sz="1700" dirty="0"/>
                </a:br>
                <a:r>
                  <a:rPr sz="1700" i="1" dirty="0"/>
                  <a:t>Residual = Actual Target — Current Prediction </a:t>
                </a:r>
              </a:p>
              <a:p>
                <a:pPr marL="154299" indent="-154299" defTabSz="1170361">
                  <a:buSzPct val="100000"/>
                  <a:buAutoNum type="arabicPeriod"/>
                  <a:defRPr sz="2880"/>
                </a:pPr>
                <a:r>
                  <a:rPr sz="1700" dirty="0"/>
                  <a:t>Train a new weak learner that tries to predict the residuals from the previous step</a:t>
                </a:r>
              </a:p>
              <a:p>
                <a:pPr marL="154299" indent="-154299" defTabSz="1170361">
                  <a:buSzPct val="100000"/>
                  <a:buAutoNum type="arabicPeriod"/>
                  <a:defRPr sz="2880"/>
                </a:pPr>
                <a:r>
                  <a:rPr sz="1700" dirty="0"/>
                  <a:t> Update the Predictions as:</a:t>
                </a:r>
                <a:br>
                  <a:rPr sz="1700" dirty="0"/>
                </a:br>
                <a:br>
                  <a:rPr sz="1700" dirty="0"/>
                </a:br>
                <a:r>
                  <a:rPr sz="1700" dirty="0"/>
                  <a:t>New Predictions = Current Prediction + </a:t>
                </a:r>
                <a14:m>
                  <m:oMath xmlns:m="http://schemas.openxmlformats.org/officeDocument/2006/math">
                    <m:r>
                      <a:rPr sz="17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sz="1700" dirty="0"/>
                  <a:t> </a:t>
                </a:r>
                <a14:m>
                  <m:oMath xmlns:m="http://schemas.openxmlformats.org/officeDocument/2006/math">
                    <m:r>
                      <a:rPr sz="17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sz="1700" dirty="0"/>
                  <a:t> (Predictions of New Model)</a:t>
                </a:r>
                <a:br>
                  <a:rPr sz="1700" dirty="0"/>
                </a:br>
                <a:br>
                  <a:rPr sz="1700" dirty="0"/>
                </a:br>
                <a:br>
                  <a:rPr sz="1700" dirty="0"/>
                </a:br>
                <a:endParaRPr sz="1700" dirty="0"/>
              </a:p>
              <a:p>
                <a:pPr marL="138869" indent="-138869" defTabSz="1170361">
                  <a:buSzPct val="100000"/>
                  <a:buAutoNum type="arabicPeriod"/>
                  <a:defRPr sz="2880"/>
                </a:pPr>
                <a:r>
                  <a:rPr sz="1700" dirty="0"/>
                  <a:t> Repeat for a predefined number of iterations or until a stopping criterion is reached</a:t>
                </a:r>
                <a:endParaRPr lang="en-US" sz="1700" dirty="0"/>
              </a:p>
              <a:p>
                <a:pPr marL="138869" indent="-138869" defTabSz="1170361">
                  <a:buSzPct val="100000"/>
                  <a:buAutoNum type="arabicPeriod"/>
                  <a:defRPr sz="2880"/>
                </a:pPr>
                <a:r>
                  <a:rPr lang="en-US" sz="1700" dirty="0"/>
                  <a:t> Final prediction: </a:t>
                </a:r>
                <a:r>
                  <a:rPr sz="1700" dirty="0"/>
                  <a:t> </a:t>
                </a:r>
              </a:p>
            </p:txBody>
          </p:sp>
        </mc:Choice>
        <mc:Fallback xmlns="">
          <p:sp>
            <p:nvSpPr>
              <p:cNvPr id="329" name="Train a weak learner and make predictions…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2015133" y="1202531"/>
                <a:ext cx="8468555" cy="5501758"/>
              </a:xfrm>
              <a:prstGeom prst="rect">
                <a:avLst/>
              </a:prstGeom>
              <a:blipFill>
                <a:blip r:embed="rId2"/>
                <a:stretch>
                  <a:fillRect l="-432" t="-2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0" name="Gradient Boosting"/>
          <p:cNvSpPr txBox="1">
            <a:spLocks noGrp="1"/>
          </p:cNvSpPr>
          <p:nvPr>
            <p:ph type="title"/>
          </p:nvPr>
        </p:nvSpPr>
        <p:spPr>
          <a:xfrm>
            <a:off x="622997" y="0"/>
            <a:ext cx="10691265" cy="1307592"/>
          </a:xfrm>
          <a:prstGeom prst="rect">
            <a:avLst/>
          </a:prstGeom>
        </p:spPr>
        <p:txBody>
          <a:bodyPr>
            <a:normAutofit/>
          </a:bodyPr>
          <a:lstStyle>
            <a:lvl1pPr defTabSz="1525858">
              <a:defRPr sz="5280" spc="-105"/>
            </a:lvl1pPr>
          </a:lstStyle>
          <a:p>
            <a:r>
              <a:rPr sz="5240" dirty="0"/>
              <a:t>Gradient Boosting</a:t>
            </a:r>
          </a:p>
        </p:txBody>
      </p:sp>
      <p:pic>
        <p:nvPicPr>
          <p:cNvPr id="331" name="Line Line" descr="Line Line"/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6429038" y="3916394"/>
            <a:ext cx="2533808" cy="118915"/>
          </a:xfrm>
          <a:prstGeom prst="rect">
            <a:avLst/>
          </a:prstGeom>
        </p:spPr>
      </p:pic>
      <p:sp>
        <p:nvSpPr>
          <p:cNvPr id="333" name="“Predicted Residuals”"/>
          <p:cNvSpPr txBox="1"/>
          <p:nvPr/>
        </p:nvSpPr>
        <p:spPr>
          <a:xfrm>
            <a:off x="6923263" y="3909453"/>
            <a:ext cx="1824390" cy="5913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35719" tIns="35719" rIns="35719" bIns="35719" anchor="ctr">
            <a:spAutoFit/>
          </a:bodyPr>
          <a:lstStyle>
            <a:lvl1pPr>
              <a:defRPr sz="2400">
                <a:solidFill>
                  <a:srgbClr val="941751"/>
                </a:solidFill>
              </a:defRPr>
            </a:lvl1pPr>
          </a:lstStyle>
          <a:p>
            <a:r>
              <a:rPr sz="1687" dirty="0"/>
              <a:t>“Predicted Residuals”</a:t>
            </a:r>
          </a:p>
        </p:txBody>
      </p:sp>
      <p:pic>
        <p:nvPicPr>
          <p:cNvPr id="334" name="Line Line" descr="Line Line"/>
          <p:cNvPicPr>
            <a:picLocks/>
          </p:cNvPicPr>
          <p:nvPr/>
        </p:nvPicPr>
        <p:blipFill>
          <a:blip r:embed="rId4"/>
          <a:stretch>
            <a:fillRect/>
          </a:stretch>
        </p:blipFill>
        <p:spPr>
          <a:xfrm rot="18900000">
            <a:off x="5305573" y="4120592"/>
            <a:ext cx="877155" cy="234094"/>
          </a:xfrm>
          <a:prstGeom prst="rect">
            <a:avLst/>
          </a:prstGeom>
        </p:spPr>
      </p:pic>
      <p:sp>
        <p:nvSpPr>
          <p:cNvPr id="336" name="Learning Rate"/>
          <p:cNvSpPr txBox="1"/>
          <p:nvPr/>
        </p:nvSpPr>
        <p:spPr>
          <a:xfrm>
            <a:off x="4577232" y="4569928"/>
            <a:ext cx="1388009" cy="3317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35719" tIns="35719" rIns="35719" bIns="35719" anchor="ctr">
            <a:spAutoFit/>
          </a:bodyPr>
          <a:lstStyle>
            <a:lvl1pPr>
              <a:defRPr sz="2400">
                <a:solidFill>
                  <a:srgbClr val="009193"/>
                </a:solidFill>
              </a:defRPr>
            </a:lvl1pPr>
          </a:lstStyle>
          <a:p>
            <a:r>
              <a:rPr sz="1687" dirty="0"/>
              <a:t>Learning Rate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B82BCB6-1F4F-FDAC-69BE-157CD6F61B7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80252" y="5226174"/>
            <a:ext cx="3713569" cy="858589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38" name="Example (with   for simplicity)"/>
              <p:cNvSpPr txBox="1">
                <a:spLocks noGrp="1"/>
              </p:cNvSpPr>
              <p:nvPr>
                <p:ph type="title"/>
              </p:nvPr>
            </p:nvSpPr>
            <p:spPr>
              <a:xfrm>
                <a:off x="750365" y="726114"/>
                <a:ext cx="10691265" cy="1307592"/>
              </a:xfrm>
              <a:prstGeom prst="rect">
                <a:avLst/>
              </a:prstGeom>
            </p:spPr>
            <p:txBody>
              <a:bodyPr/>
              <a:lstStyle/>
              <a:p>
                <a:pPr defTabSz="926535">
                  <a:defRPr sz="4560" spc="-91"/>
                </a:pPr>
                <a:r>
                  <a:rPr dirty="0"/>
                  <a:t>Example (with </a:t>
                </a:r>
                <a14:m>
                  <m:oMath xmlns:m="http://schemas.openxmlformats.org/officeDocument/2006/math">
                    <m:r>
                      <a:rPr sz="3691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𝜆</m:t>
                    </m:r>
                    <m:r>
                      <a:rPr sz="3691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dirty="0"/>
                  <a:t> for simplicity)</a:t>
                </a:r>
                <a:endParaRPr sz="4219" dirty="0"/>
              </a:p>
            </p:txBody>
          </p:sp>
        </mc:Choice>
        <mc:Fallback xmlns="">
          <p:sp>
            <p:nvSpPr>
              <p:cNvPr id="338" name="Example (with   for simplicity)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750365" y="726114"/>
                <a:ext cx="10691265" cy="1307592"/>
              </a:xfrm>
              <a:prstGeom prst="rect">
                <a:avLst/>
              </a:prstGeom>
              <a:blipFill>
                <a:blip r:embed="rId2"/>
                <a:stretch>
                  <a:fillRect l="-2395" t="-97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39" name="Table 1"/>
          <p:cNvGraphicFramePr/>
          <p:nvPr/>
        </p:nvGraphicFramePr>
        <p:xfrm>
          <a:off x="2482500" y="1854570"/>
          <a:ext cx="7226996" cy="4277316"/>
        </p:xfrm>
        <a:graphic>
          <a:graphicData uri="http://schemas.openxmlformats.org/drawingml/2006/table">
            <a:tbl>
              <a:tblPr/>
              <a:tblGrid>
                <a:gridCol w="10324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324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324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3242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3242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3242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3242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712886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 b="1"/>
                        <a:t>Y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Yhat 1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Resid-1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>
                          <a:solidFill>
                            <a:srgbClr val="D6D6D6"/>
                          </a:solidFill>
                        </a:rPr>
                        <a:t>Yhat-2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>
                          <a:solidFill>
                            <a:srgbClr val="D6D6D6"/>
                          </a:solidFill>
                        </a:rPr>
                        <a:t>Resid-2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>
                          <a:solidFill>
                            <a:srgbClr val="D6D6D6"/>
                          </a:solidFill>
                        </a:rPr>
                        <a:t>Yhat-3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>
                          <a:solidFill>
                            <a:srgbClr val="D6D6D6"/>
                          </a:solidFill>
                        </a:rPr>
                        <a:t>Final Prediction</a:t>
                      </a: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2886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 b="1"/>
                        <a:t>0.05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0.12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-0.07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>
                          <a:solidFill>
                            <a:srgbClr val="D6D6D6"/>
                          </a:solidFill>
                        </a:rPr>
                        <a:t>-0.09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>
                          <a:solidFill>
                            <a:srgbClr val="D6D6D6"/>
                          </a:solidFill>
                        </a:rPr>
                        <a:t>0.02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>
                          <a:solidFill>
                            <a:srgbClr val="D6D6D6"/>
                          </a:solidFill>
                        </a:rPr>
                        <a:t>0.01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>
                          <a:solidFill>
                            <a:srgbClr val="D6D6D6"/>
                          </a:solidFill>
                        </a:rPr>
                        <a:t>0.04</a:t>
                      </a: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2886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 b="1"/>
                        <a:t>0.59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0.53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0.07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>
                          <a:solidFill>
                            <a:srgbClr val="D6D6D6"/>
                          </a:solidFill>
                        </a:rPr>
                        <a:t>0.04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>
                          <a:solidFill>
                            <a:srgbClr val="D6D6D6"/>
                          </a:solidFill>
                        </a:rPr>
                        <a:t>0.03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>
                          <a:solidFill>
                            <a:srgbClr val="D6D6D6"/>
                          </a:solidFill>
                        </a:rPr>
                        <a:t>-0.07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 dirty="0">
                          <a:solidFill>
                            <a:srgbClr val="D6D6D6"/>
                          </a:solidFill>
                        </a:rPr>
                        <a:t>0.5</a:t>
                      </a: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2886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 b="1"/>
                        <a:t>0.17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0.12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0.04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>
                          <a:solidFill>
                            <a:srgbClr val="D6D6D6"/>
                          </a:solidFill>
                        </a:rPr>
                        <a:t>0.04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>
                          <a:solidFill>
                            <a:srgbClr val="D6D6D6"/>
                          </a:solidFill>
                        </a:rPr>
                        <a:t>0.0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>
                          <a:solidFill>
                            <a:srgbClr val="D6D6D6"/>
                          </a:solidFill>
                        </a:rPr>
                        <a:t>0.01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>
                          <a:solidFill>
                            <a:srgbClr val="D6D6D6"/>
                          </a:solidFill>
                        </a:rPr>
                        <a:t>0.17</a:t>
                      </a: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12886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 b="1"/>
                        <a:t>-0.07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0.12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-0.19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>
                          <a:solidFill>
                            <a:srgbClr val="D6D6D6"/>
                          </a:solidFill>
                        </a:rPr>
                        <a:t>-0.09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>
                          <a:solidFill>
                            <a:srgbClr val="D6D6D6"/>
                          </a:solidFill>
                        </a:rPr>
                        <a:t>-0.1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>
                          <a:solidFill>
                            <a:srgbClr val="D6D6D6"/>
                          </a:solidFill>
                        </a:rPr>
                        <a:t>0.01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>
                          <a:solidFill>
                            <a:srgbClr val="D6D6D6"/>
                          </a:solidFill>
                        </a:rPr>
                        <a:t>0.04</a:t>
                      </a: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12886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 b="1"/>
                        <a:t>0.34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0.12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0.22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>
                          <a:solidFill>
                            <a:srgbClr val="D6D6D6"/>
                          </a:solidFill>
                        </a:rPr>
                        <a:t>0.16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>
                          <a:solidFill>
                            <a:srgbClr val="D6D6D6"/>
                          </a:solidFill>
                        </a:rPr>
                        <a:t>0.06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>
                          <a:solidFill>
                            <a:srgbClr val="D6D6D6"/>
                          </a:solidFill>
                        </a:rPr>
                        <a:t>0.01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 dirty="0">
                          <a:solidFill>
                            <a:srgbClr val="D6D6D6"/>
                          </a:solidFill>
                        </a:rPr>
                        <a:t>0.29</a:t>
                      </a: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40" name="Current Target"/>
          <p:cNvSpPr txBox="1"/>
          <p:nvPr/>
        </p:nvSpPr>
        <p:spPr>
          <a:xfrm>
            <a:off x="2652805" y="1373252"/>
            <a:ext cx="807554" cy="4832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35719" tIns="35719" rIns="35719" bIns="35719" anchor="ctr">
            <a:spAutoFit/>
          </a:bodyPr>
          <a:lstStyle>
            <a:lvl1pPr>
              <a:defRPr sz="1900" b="1">
                <a:solidFill>
                  <a:srgbClr val="000000"/>
                </a:solidFill>
              </a:defRPr>
            </a:lvl1pPr>
          </a:lstStyle>
          <a:p>
            <a:r>
              <a:rPr sz="1336"/>
              <a:t>Current Target</a:t>
            </a:r>
          </a:p>
        </p:txBody>
      </p:sp>
      <p:sp>
        <p:nvSpPr>
          <p:cNvPr id="341" name="Current Predictions"/>
          <p:cNvSpPr txBox="1"/>
          <p:nvPr/>
        </p:nvSpPr>
        <p:spPr>
          <a:xfrm>
            <a:off x="3550005" y="1373252"/>
            <a:ext cx="1027175" cy="4832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35719" tIns="35719" rIns="35719" bIns="35719" anchor="ctr">
            <a:spAutoFit/>
          </a:bodyPr>
          <a:lstStyle>
            <a:lvl1pPr>
              <a:defRPr sz="1900" b="1">
                <a:solidFill>
                  <a:srgbClr val="000000"/>
                </a:solidFill>
              </a:defRPr>
            </a:lvl1pPr>
          </a:lstStyle>
          <a:p>
            <a:r>
              <a:rPr sz="1336"/>
              <a:t>Current Predictions</a:t>
            </a:r>
          </a:p>
        </p:txBody>
      </p:sp>
      <p:sp>
        <p:nvSpPr>
          <p:cNvPr id="342" name="Step 1"/>
          <p:cNvSpPr txBox="1"/>
          <p:nvPr/>
        </p:nvSpPr>
        <p:spPr>
          <a:xfrm>
            <a:off x="8866318" y="232845"/>
            <a:ext cx="499240" cy="2669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35719" tIns="35719" rIns="35719" bIns="35719" anchor="ctr">
            <a:spAutoFit/>
          </a:bodyPr>
          <a:lstStyle/>
          <a:p>
            <a:r>
              <a:rPr sz="1266"/>
              <a:t>Step 1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Example in a Table"/>
          <p:cNvSpPr txBox="1">
            <a:spLocks noGrp="1"/>
          </p:cNvSpPr>
          <p:nvPr>
            <p:ph type="title"/>
          </p:nvPr>
        </p:nvSpPr>
        <p:spPr>
          <a:xfrm>
            <a:off x="750365" y="690077"/>
            <a:ext cx="10691265" cy="1307592"/>
          </a:xfrm>
          <a:prstGeom prst="rect">
            <a:avLst/>
          </a:prstGeom>
        </p:spPr>
        <p:txBody>
          <a:bodyPr/>
          <a:lstStyle>
            <a:lvl1pPr defTabSz="1525858">
              <a:defRPr sz="5280" spc="-105"/>
            </a:lvl1pPr>
          </a:lstStyle>
          <a:p>
            <a:r>
              <a:rPr dirty="0"/>
              <a:t>Example in a Table</a:t>
            </a:r>
          </a:p>
        </p:txBody>
      </p:sp>
      <p:graphicFrame>
        <p:nvGraphicFramePr>
          <p:cNvPr id="345" name="Table 1"/>
          <p:cNvGraphicFramePr/>
          <p:nvPr/>
        </p:nvGraphicFramePr>
        <p:xfrm>
          <a:off x="2482500" y="1854570"/>
          <a:ext cx="7226996" cy="4277316"/>
        </p:xfrm>
        <a:graphic>
          <a:graphicData uri="http://schemas.openxmlformats.org/drawingml/2006/table">
            <a:tbl>
              <a:tblPr/>
              <a:tblGrid>
                <a:gridCol w="10324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324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324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3242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3242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3242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3242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712886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Y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Yhat 1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 b="1"/>
                        <a:t>Resid-1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>
                          <a:solidFill>
                            <a:srgbClr val="D6D6D6"/>
                          </a:solidFill>
                        </a:rPr>
                        <a:t>Yhat-2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>
                          <a:solidFill>
                            <a:srgbClr val="D6D6D6"/>
                          </a:solidFill>
                        </a:rPr>
                        <a:t>Resid-2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>
                          <a:solidFill>
                            <a:srgbClr val="D6D6D6"/>
                          </a:solidFill>
                        </a:rPr>
                        <a:t>Yhat-3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>
                          <a:solidFill>
                            <a:srgbClr val="D6D6D6"/>
                          </a:solidFill>
                        </a:rPr>
                        <a:t>Final Prediction</a:t>
                      </a: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2886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0.05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0.12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 b="1"/>
                        <a:t>-0.07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>
                          <a:solidFill>
                            <a:srgbClr val="D6D6D6"/>
                          </a:solidFill>
                        </a:rPr>
                        <a:t>-0.09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>
                          <a:solidFill>
                            <a:srgbClr val="D6D6D6"/>
                          </a:solidFill>
                        </a:rPr>
                        <a:t>0.02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>
                          <a:solidFill>
                            <a:srgbClr val="D6D6D6"/>
                          </a:solidFill>
                        </a:rPr>
                        <a:t>0.01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>
                          <a:solidFill>
                            <a:srgbClr val="D6D6D6"/>
                          </a:solidFill>
                        </a:rPr>
                        <a:t>0.04</a:t>
                      </a: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2886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 dirty="0"/>
                        <a:t>0.59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0.53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 b="1"/>
                        <a:t>0.07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>
                          <a:solidFill>
                            <a:srgbClr val="D6D6D6"/>
                          </a:solidFill>
                        </a:rPr>
                        <a:t>0.04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>
                          <a:solidFill>
                            <a:srgbClr val="D6D6D6"/>
                          </a:solidFill>
                        </a:rPr>
                        <a:t>0.03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>
                          <a:solidFill>
                            <a:srgbClr val="D6D6D6"/>
                          </a:solidFill>
                        </a:rPr>
                        <a:t>-0.07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>
                          <a:solidFill>
                            <a:srgbClr val="D6D6D6"/>
                          </a:solidFill>
                        </a:rPr>
                        <a:t>0.5</a:t>
                      </a: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2886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0.17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0.12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 b="1"/>
                        <a:t>0.04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>
                          <a:solidFill>
                            <a:srgbClr val="D6D6D6"/>
                          </a:solidFill>
                        </a:rPr>
                        <a:t>0.04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>
                          <a:solidFill>
                            <a:srgbClr val="D6D6D6"/>
                          </a:solidFill>
                        </a:rPr>
                        <a:t>0.0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>
                          <a:solidFill>
                            <a:srgbClr val="D6D6D6"/>
                          </a:solidFill>
                        </a:rPr>
                        <a:t>0.01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>
                          <a:solidFill>
                            <a:srgbClr val="D6D6D6"/>
                          </a:solidFill>
                        </a:rPr>
                        <a:t>0.17</a:t>
                      </a: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12886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-0.07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0.12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 b="1"/>
                        <a:t>-0.19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>
                          <a:solidFill>
                            <a:srgbClr val="D6D6D6"/>
                          </a:solidFill>
                        </a:rPr>
                        <a:t>-0.09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>
                          <a:solidFill>
                            <a:srgbClr val="D6D6D6"/>
                          </a:solidFill>
                        </a:rPr>
                        <a:t>-0.1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>
                          <a:solidFill>
                            <a:srgbClr val="D6D6D6"/>
                          </a:solidFill>
                        </a:rPr>
                        <a:t>0.01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>
                          <a:solidFill>
                            <a:srgbClr val="D6D6D6"/>
                          </a:solidFill>
                        </a:rPr>
                        <a:t>0.04</a:t>
                      </a: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12886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0.34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0.12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 b="1"/>
                        <a:t>0.22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>
                          <a:solidFill>
                            <a:srgbClr val="D6D6D6"/>
                          </a:solidFill>
                        </a:rPr>
                        <a:t>0.16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>
                          <a:solidFill>
                            <a:srgbClr val="D6D6D6"/>
                          </a:solidFill>
                        </a:rPr>
                        <a:t>0.06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>
                          <a:solidFill>
                            <a:srgbClr val="D6D6D6"/>
                          </a:solidFill>
                        </a:rPr>
                        <a:t>0.01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 dirty="0">
                          <a:solidFill>
                            <a:srgbClr val="D6D6D6"/>
                          </a:solidFill>
                        </a:rPr>
                        <a:t>0.29</a:t>
                      </a: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46" name="Step 2"/>
          <p:cNvSpPr txBox="1"/>
          <p:nvPr/>
        </p:nvSpPr>
        <p:spPr>
          <a:xfrm>
            <a:off x="8866318" y="232845"/>
            <a:ext cx="499240" cy="2669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35719" tIns="35719" rIns="35719" bIns="35719" anchor="ctr">
            <a:spAutoFit/>
          </a:bodyPr>
          <a:lstStyle/>
          <a:p>
            <a:r>
              <a:rPr sz="1266"/>
              <a:t>Step 2</a:t>
            </a:r>
          </a:p>
        </p:txBody>
      </p:sp>
      <p:sp>
        <p:nvSpPr>
          <p:cNvPr id="347" name="Current Target"/>
          <p:cNvSpPr txBox="1"/>
          <p:nvPr/>
        </p:nvSpPr>
        <p:spPr>
          <a:xfrm>
            <a:off x="4709286" y="1343873"/>
            <a:ext cx="807555" cy="4832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35719" tIns="35719" rIns="35719" bIns="35719" anchor="ctr">
            <a:spAutoFit/>
          </a:bodyPr>
          <a:lstStyle>
            <a:lvl1pPr>
              <a:defRPr sz="1900" b="1">
                <a:solidFill>
                  <a:srgbClr val="000000"/>
                </a:solidFill>
              </a:defRPr>
            </a:lvl1pPr>
          </a:lstStyle>
          <a:p>
            <a:r>
              <a:rPr sz="1336"/>
              <a:t>Current Target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Example in a Table"/>
          <p:cNvSpPr txBox="1">
            <a:spLocks noGrp="1"/>
          </p:cNvSpPr>
          <p:nvPr>
            <p:ph type="title"/>
          </p:nvPr>
        </p:nvSpPr>
        <p:spPr>
          <a:xfrm>
            <a:off x="700635" y="646982"/>
            <a:ext cx="10691265" cy="1307592"/>
          </a:xfrm>
          <a:prstGeom prst="rect">
            <a:avLst/>
          </a:prstGeom>
        </p:spPr>
        <p:txBody>
          <a:bodyPr/>
          <a:lstStyle>
            <a:lvl1pPr defTabSz="1525858">
              <a:defRPr sz="5280" spc="-105"/>
            </a:lvl1pPr>
          </a:lstStyle>
          <a:p>
            <a:r>
              <a:rPr dirty="0"/>
              <a:t>Example in a Table</a:t>
            </a:r>
          </a:p>
        </p:txBody>
      </p:sp>
      <p:graphicFrame>
        <p:nvGraphicFramePr>
          <p:cNvPr id="350" name="Table 1"/>
          <p:cNvGraphicFramePr/>
          <p:nvPr/>
        </p:nvGraphicFramePr>
        <p:xfrm>
          <a:off x="2482500" y="1863499"/>
          <a:ext cx="7226996" cy="4277316"/>
        </p:xfrm>
        <a:graphic>
          <a:graphicData uri="http://schemas.openxmlformats.org/drawingml/2006/table">
            <a:tbl>
              <a:tblPr/>
              <a:tblGrid>
                <a:gridCol w="10324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324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324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3242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3242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3242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3242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712886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>
                          <a:solidFill>
                            <a:srgbClr val="D6D6D6"/>
                          </a:solidFill>
                        </a:rPr>
                        <a:t>Y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>
                          <a:solidFill>
                            <a:srgbClr val="D6D6D6"/>
                          </a:solidFill>
                        </a:rPr>
                        <a:t>Yhat 1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Resid-1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Yhat-2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Resid-2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>
                          <a:solidFill>
                            <a:srgbClr val="D6D6D6"/>
                          </a:solidFill>
                        </a:rPr>
                        <a:t>Yhat-3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>
                          <a:solidFill>
                            <a:srgbClr val="D6D6D6"/>
                          </a:solidFill>
                        </a:rPr>
                        <a:t>Final Prediction</a:t>
                      </a: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2886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>
                          <a:solidFill>
                            <a:srgbClr val="D6D6D6"/>
                          </a:solidFill>
                        </a:rPr>
                        <a:t>0.05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>
                          <a:solidFill>
                            <a:srgbClr val="D6D6D6"/>
                          </a:solidFill>
                        </a:rPr>
                        <a:t>0.12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-0.07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-0.09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0.02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>
                          <a:solidFill>
                            <a:srgbClr val="D6D6D6"/>
                          </a:solidFill>
                        </a:rPr>
                        <a:t>0.01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>
                          <a:solidFill>
                            <a:srgbClr val="D6D6D6"/>
                          </a:solidFill>
                        </a:rPr>
                        <a:t>0.04</a:t>
                      </a: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2886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>
                          <a:solidFill>
                            <a:srgbClr val="D6D6D6"/>
                          </a:solidFill>
                        </a:rPr>
                        <a:t>0.59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>
                          <a:solidFill>
                            <a:srgbClr val="D6D6D6"/>
                          </a:solidFill>
                        </a:rPr>
                        <a:t>0.53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0.07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0.04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0.03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>
                          <a:solidFill>
                            <a:srgbClr val="D6D6D6"/>
                          </a:solidFill>
                        </a:rPr>
                        <a:t>-0.07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>
                          <a:solidFill>
                            <a:srgbClr val="D6D6D6"/>
                          </a:solidFill>
                        </a:rPr>
                        <a:t>0.5</a:t>
                      </a: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2886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>
                          <a:solidFill>
                            <a:srgbClr val="D6D6D6"/>
                          </a:solidFill>
                        </a:rPr>
                        <a:t>0.17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>
                          <a:solidFill>
                            <a:srgbClr val="D6D6D6"/>
                          </a:solidFill>
                        </a:rPr>
                        <a:t>0.12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0.04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0.04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0.0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>
                          <a:solidFill>
                            <a:srgbClr val="D6D6D6"/>
                          </a:solidFill>
                        </a:rPr>
                        <a:t>0.01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>
                          <a:solidFill>
                            <a:srgbClr val="D6D6D6"/>
                          </a:solidFill>
                        </a:rPr>
                        <a:t>0.17</a:t>
                      </a: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12886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>
                          <a:solidFill>
                            <a:srgbClr val="D6D6D6"/>
                          </a:solidFill>
                        </a:rPr>
                        <a:t>-0.07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>
                          <a:solidFill>
                            <a:srgbClr val="D6D6D6"/>
                          </a:solidFill>
                        </a:rPr>
                        <a:t>0.12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-0.19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-0.09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-0.1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>
                          <a:solidFill>
                            <a:srgbClr val="D6D6D6"/>
                          </a:solidFill>
                        </a:rPr>
                        <a:t>0.01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>
                          <a:solidFill>
                            <a:srgbClr val="D6D6D6"/>
                          </a:solidFill>
                        </a:rPr>
                        <a:t>0.04</a:t>
                      </a: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12886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>
                          <a:solidFill>
                            <a:srgbClr val="D6D6D6"/>
                          </a:solidFill>
                        </a:rPr>
                        <a:t>0.34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>
                          <a:solidFill>
                            <a:srgbClr val="D6D6D6"/>
                          </a:solidFill>
                        </a:rPr>
                        <a:t>0.12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0.22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0.16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0.06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>
                          <a:solidFill>
                            <a:srgbClr val="D6D6D6"/>
                          </a:solidFill>
                        </a:rPr>
                        <a:t>0.01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>
                          <a:solidFill>
                            <a:srgbClr val="D6D6D6"/>
                          </a:solidFill>
                        </a:rPr>
                        <a:t>0.29</a:t>
                      </a: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51" name="Current Target"/>
          <p:cNvSpPr txBox="1"/>
          <p:nvPr/>
        </p:nvSpPr>
        <p:spPr>
          <a:xfrm>
            <a:off x="4709286" y="1343873"/>
            <a:ext cx="807555" cy="4832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35719" tIns="35719" rIns="35719" bIns="35719" anchor="ctr">
            <a:spAutoFit/>
          </a:bodyPr>
          <a:lstStyle>
            <a:lvl1pPr>
              <a:defRPr sz="1900" b="1">
                <a:solidFill>
                  <a:srgbClr val="000000"/>
                </a:solidFill>
              </a:defRPr>
            </a:lvl1pPr>
          </a:lstStyle>
          <a:p>
            <a:r>
              <a:rPr sz="1336"/>
              <a:t>Current Target</a:t>
            </a:r>
          </a:p>
        </p:txBody>
      </p:sp>
      <p:sp>
        <p:nvSpPr>
          <p:cNvPr id="352" name="Current Predictions"/>
          <p:cNvSpPr txBox="1"/>
          <p:nvPr/>
        </p:nvSpPr>
        <p:spPr>
          <a:xfrm>
            <a:off x="5606487" y="1343873"/>
            <a:ext cx="1027174" cy="4832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35719" tIns="35719" rIns="35719" bIns="35719" anchor="ctr">
            <a:spAutoFit/>
          </a:bodyPr>
          <a:lstStyle>
            <a:lvl1pPr>
              <a:defRPr sz="1900" b="1">
                <a:solidFill>
                  <a:srgbClr val="000000"/>
                </a:solidFill>
              </a:defRPr>
            </a:lvl1pPr>
          </a:lstStyle>
          <a:p>
            <a:r>
              <a:rPr sz="1336"/>
              <a:t>Current Predictions</a:t>
            </a:r>
          </a:p>
        </p:txBody>
      </p:sp>
      <p:sp>
        <p:nvSpPr>
          <p:cNvPr id="353" name="Step 2"/>
          <p:cNvSpPr txBox="1"/>
          <p:nvPr/>
        </p:nvSpPr>
        <p:spPr>
          <a:xfrm>
            <a:off x="8866318" y="232845"/>
            <a:ext cx="499240" cy="2669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35719" tIns="35719" rIns="35719" bIns="35719" anchor="ctr">
            <a:spAutoFit/>
          </a:bodyPr>
          <a:lstStyle/>
          <a:p>
            <a:r>
              <a:rPr sz="1266"/>
              <a:t>Step 2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Example in a Table"/>
          <p:cNvSpPr txBox="1">
            <a:spLocks noGrp="1"/>
          </p:cNvSpPr>
          <p:nvPr>
            <p:ph type="title"/>
          </p:nvPr>
        </p:nvSpPr>
        <p:spPr>
          <a:xfrm>
            <a:off x="700635" y="759130"/>
            <a:ext cx="10691265" cy="1307592"/>
          </a:xfrm>
          <a:prstGeom prst="rect">
            <a:avLst/>
          </a:prstGeom>
        </p:spPr>
        <p:txBody>
          <a:bodyPr/>
          <a:lstStyle>
            <a:lvl1pPr defTabSz="1525858">
              <a:defRPr sz="5280" spc="-105"/>
            </a:lvl1pPr>
          </a:lstStyle>
          <a:p>
            <a:r>
              <a:rPr dirty="0"/>
              <a:t>Example in a Table</a:t>
            </a:r>
          </a:p>
        </p:txBody>
      </p:sp>
      <p:graphicFrame>
        <p:nvGraphicFramePr>
          <p:cNvPr id="356" name="Table 1"/>
          <p:cNvGraphicFramePr/>
          <p:nvPr/>
        </p:nvGraphicFramePr>
        <p:xfrm>
          <a:off x="2482500" y="1863499"/>
          <a:ext cx="7226996" cy="4277316"/>
        </p:xfrm>
        <a:graphic>
          <a:graphicData uri="http://schemas.openxmlformats.org/drawingml/2006/table">
            <a:tbl>
              <a:tblPr/>
              <a:tblGrid>
                <a:gridCol w="10324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324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324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3242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3242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3242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3242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712886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>
                          <a:solidFill>
                            <a:srgbClr val="D6D6D6"/>
                          </a:solidFill>
                        </a:rPr>
                        <a:t>Y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>
                          <a:solidFill>
                            <a:srgbClr val="D6D6D6"/>
                          </a:solidFill>
                        </a:rPr>
                        <a:t>Yhat 1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Resid-1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Yhat-2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 b="1"/>
                        <a:t>Resid-2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>
                          <a:solidFill>
                            <a:srgbClr val="D6D6D6"/>
                          </a:solidFill>
                        </a:rPr>
                        <a:t>Yhat-3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>
                          <a:solidFill>
                            <a:srgbClr val="D6D6D6"/>
                          </a:solidFill>
                        </a:rPr>
                        <a:t>Final Prediction</a:t>
                      </a: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2886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>
                          <a:solidFill>
                            <a:srgbClr val="D6D6D6"/>
                          </a:solidFill>
                        </a:rPr>
                        <a:t>0.05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>
                          <a:solidFill>
                            <a:srgbClr val="D6D6D6"/>
                          </a:solidFill>
                        </a:rPr>
                        <a:t>0.12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-0.07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-0.09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 b="1"/>
                        <a:t>0.02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>
                          <a:solidFill>
                            <a:srgbClr val="D6D6D6"/>
                          </a:solidFill>
                        </a:rPr>
                        <a:t>0.01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>
                          <a:solidFill>
                            <a:srgbClr val="D6D6D6"/>
                          </a:solidFill>
                        </a:rPr>
                        <a:t>0.04</a:t>
                      </a: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2886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>
                          <a:solidFill>
                            <a:srgbClr val="D6D6D6"/>
                          </a:solidFill>
                        </a:rPr>
                        <a:t>0.59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>
                          <a:solidFill>
                            <a:srgbClr val="D6D6D6"/>
                          </a:solidFill>
                        </a:rPr>
                        <a:t>0.53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0.07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0.04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 b="1"/>
                        <a:t>0.03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>
                          <a:solidFill>
                            <a:srgbClr val="D6D6D6"/>
                          </a:solidFill>
                        </a:rPr>
                        <a:t>-0.07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>
                          <a:solidFill>
                            <a:srgbClr val="D6D6D6"/>
                          </a:solidFill>
                        </a:rPr>
                        <a:t>0.5</a:t>
                      </a: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2886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>
                          <a:solidFill>
                            <a:srgbClr val="D6D6D6"/>
                          </a:solidFill>
                        </a:rPr>
                        <a:t>0.17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>
                          <a:solidFill>
                            <a:srgbClr val="D6D6D6"/>
                          </a:solidFill>
                        </a:rPr>
                        <a:t>0.12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0.04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0.04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 b="1"/>
                        <a:t>0.0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>
                          <a:solidFill>
                            <a:srgbClr val="D6D6D6"/>
                          </a:solidFill>
                        </a:rPr>
                        <a:t>0.01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>
                          <a:solidFill>
                            <a:srgbClr val="D6D6D6"/>
                          </a:solidFill>
                        </a:rPr>
                        <a:t>0.17</a:t>
                      </a: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12886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>
                          <a:solidFill>
                            <a:srgbClr val="D6D6D6"/>
                          </a:solidFill>
                        </a:rPr>
                        <a:t>-0.07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>
                          <a:solidFill>
                            <a:srgbClr val="D6D6D6"/>
                          </a:solidFill>
                        </a:rPr>
                        <a:t>0.12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-0.19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-0.09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 b="1"/>
                        <a:t>-0.1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>
                          <a:solidFill>
                            <a:srgbClr val="D6D6D6"/>
                          </a:solidFill>
                        </a:rPr>
                        <a:t>0.01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>
                          <a:solidFill>
                            <a:srgbClr val="D6D6D6"/>
                          </a:solidFill>
                        </a:rPr>
                        <a:t>0.04</a:t>
                      </a: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12886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>
                          <a:solidFill>
                            <a:srgbClr val="D6D6D6"/>
                          </a:solidFill>
                        </a:rPr>
                        <a:t>0.34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>
                          <a:solidFill>
                            <a:srgbClr val="D6D6D6"/>
                          </a:solidFill>
                        </a:rPr>
                        <a:t>0.12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0.22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0.16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 b="1"/>
                        <a:t>0.06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>
                          <a:solidFill>
                            <a:srgbClr val="D6D6D6"/>
                          </a:solidFill>
                        </a:rPr>
                        <a:t>0.01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>
                          <a:solidFill>
                            <a:srgbClr val="D6D6D6"/>
                          </a:solidFill>
                        </a:rPr>
                        <a:t>0.29</a:t>
                      </a: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57" name="Current Target"/>
          <p:cNvSpPr txBox="1"/>
          <p:nvPr/>
        </p:nvSpPr>
        <p:spPr>
          <a:xfrm>
            <a:off x="6758423" y="1351218"/>
            <a:ext cx="807555" cy="4832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35719" tIns="35719" rIns="35719" bIns="35719" anchor="ctr">
            <a:spAutoFit/>
          </a:bodyPr>
          <a:lstStyle>
            <a:lvl1pPr>
              <a:defRPr sz="1900" b="1">
                <a:solidFill>
                  <a:srgbClr val="000000"/>
                </a:solidFill>
              </a:defRPr>
            </a:lvl1pPr>
          </a:lstStyle>
          <a:p>
            <a:r>
              <a:rPr sz="1336"/>
              <a:t>Current Target</a:t>
            </a:r>
          </a:p>
        </p:txBody>
      </p:sp>
      <p:sp>
        <p:nvSpPr>
          <p:cNvPr id="358" name="Step 3"/>
          <p:cNvSpPr txBox="1"/>
          <p:nvPr/>
        </p:nvSpPr>
        <p:spPr>
          <a:xfrm>
            <a:off x="8866318" y="232845"/>
            <a:ext cx="499240" cy="2669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35719" tIns="35719" rIns="35719" bIns="35719" anchor="ctr">
            <a:spAutoFit/>
          </a:bodyPr>
          <a:lstStyle/>
          <a:p>
            <a:r>
              <a:rPr sz="1266"/>
              <a:t>Step 3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Example in a Table"/>
          <p:cNvSpPr txBox="1">
            <a:spLocks noGrp="1"/>
          </p:cNvSpPr>
          <p:nvPr>
            <p:ph type="title"/>
          </p:nvPr>
        </p:nvSpPr>
        <p:spPr>
          <a:xfrm>
            <a:off x="700635" y="733250"/>
            <a:ext cx="10691265" cy="1307592"/>
          </a:xfrm>
          <a:prstGeom prst="rect">
            <a:avLst/>
          </a:prstGeom>
        </p:spPr>
        <p:txBody>
          <a:bodyPr/>
          <a:lstStyle>
            <a:lvl1pPr defTabSz="1525858">
              <a:defRPr sz="5280" spc="-105"/>
            </a:lvl1pPr>
          </a:lstStyle>
          <a:p>
            <a:r>
              <a:rPr dirty="0"/>
              <a:t>Example in a Table</a:t>
            </a:r>
          </a:p>
        </p:txBody>
      </p:sp>
      <p:graphicFrame>
        <p:nvGraphicFramePr>
          <p:cNvPr id="361" name="Table 1"/>
          <p:cNvGraphicFramePr/>
          <p:nvPr/>
        </p:nvGraphicFramePr>
        <p:xfrm>
          <a:off x="2482500" y="1863499"/>
          <a:ext cx="7226996" cy="4277316"/>
        </p:xfrm>
        <a:graphic>
          <a:graphicData uri="http://schemas.openxmlformats.org/drawingml/2006/table">
            <a:tbl>
              <a:tblPr/>
              <a:tblGrid>
                <a:gridCol w="10324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324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324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3242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3242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3242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3242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712886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>
                          <a:solidFill>
                            <a:srgbClr val="D6D6D6"/>
                          </a:solidFill>
                        </a:rPr>
                        <a:t>Y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>
                          <a:solidFill>
                            <a:srgbClr val="D6D6D6"/>
                          </a:solidFill>
                        </a:rPr>
                        <a:t>Yhat 1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>
                          <a:solidFill>
                            <a:srgbClr val="D6D6D6"/>
                          </a:solidFill>
                        </a:rPr>
                        <a:t>Resid-1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>
                          <a:solidFill>
                            <a:srgbClr val="D6D6D6"/>
                          </a:solidFill>
                        </a:rPr>
                        <a:t>Yhat-2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Resid-2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Yhat-3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>
                          <a:solidFill>
                            <a:srgbClr val="D6D6D6"/>
                          </a:solidFill>
                        </a:rPr>
                        <a:t>Final Prediction</a:t>
                      </a: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2886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>
                          <a:solidFill>
                            <a:srgbClr val="D6D6D6"/>
                          </a:solidFill>
                        </a:rPr>
                        <a:t>0.05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>
                          <a:solidFill>
                            <a:srgbClr val="D6D6D6"/>
                          </a:solidFill>
                        </a:rPr>
                        <a:t>0.12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>
                          <a:solidFill>
                            <a:srgbClr val="D6D6D6"/>
                          </a:solidFill>
                        </a:rPr>
                        <a:t>-0.07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>
                          <a:solidFill>
                            <a:srgbClr val="D6D6D6"/>
                          </a:solidFill>
                        </a:rPr>
                        <a:t>-0.09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0.02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0.01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>
                          <a:solidFill>
                            <a:srgbClr val="D6D6D6"/>
                          </a:solidFill>
                        </a:rPr>
                        <a:t>0.04</a:t>
                      </a: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2886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>
                          <a:solidFill>
                            <a:srgbClr val="D6D6D6"/>
                          </a:solidFill>
                        </a:rPr>
                        <a:t>0.59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>
                          <a:solidFill>
                            <a:srgbClr val="D6D6D6"/>
                          </a:solidFill>
                        </a:rPr>
                        <a:t>0.53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>
                          <a:solidFill>
                            <a:srgbClr val="D6D6D6"/>
                          </a:solidFill>
                        </a:rPr>
                        <a:t>0.07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>
                          <a:solidFill>
                            <a:srgbClr val="D6D6D6"/>
                          </a:solidFill>
                        </a:rPr>
                        <a:t>0.04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0.03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-0.07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>
                          <a:solidFill>
                            <a:srgbClr val="D6D6D6"/>
                          </a:solidFill>
                        </a:rPr>
                        <a:t>0.5</a:t>
                      </a: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2886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>
                          <a:solidFill>
                            <a:srgbClr val="D6D6D6"/>
                          </a:solidFill>
                        </a:rPr>
                        <a:t>0.17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>
                          <a:solidFill>
                            <a:srgbClr val="D6D6D6"/>
                          </a:solidFill>
                        </a:rPr>
                        <a:t>0.12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>
                          <a:solidFill>
                            <a:srgbClr val="D6D6D6"/>
                          </a:solidFill>
                        </a:rPr>
                        <a:t>0.04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>
                          <a:solidFill>
                            <a:srgbClr val="D6D6D6"/>
                          </a:solidFill>
                        </a:rPr>
                        <a:t>0.04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0.0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0.01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>
                          <a:solidFill>
                            <a:srgbClr val="D6D6D6"/>
                          </a:solidFill>
                        </a:rPr>
                        <a:t>0.17</a:t>
                      </a: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12886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>
                          <a:solidFill>
                            <a:srgbClr val="D6D6D6"/>
                          </a:solidFill>
                        </a:rPr>
                        <a:t>-0.07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>
                          <a:solidFill>
                            <a:srgbClr val="D6D6D6"/>
                          </a:solidFill>
                        </a:rPr>
                        <a:t>0.12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>
                          <a:solidFill>
                            <a:srgbClr val="D6D6D6"/>
                          </a:solidFill>
                        </a:rPr>
                        <a:t>-0.19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>
                          <a:solidFill>
                            <a:srgbClr val="D6D6D6"/>
                          </a:solidFill>
                        </a:rPr>
                        <a:t>-0.09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-0.1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0.01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>
                          <a:solidFill>
                            <a:srgbClr val="D6D6D6"/>
                          </a:solidFill>
                        </a:rPr>
                        <a:t>0.04</a:t>
                      </a: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12886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>
                          <a:solidFill>
                            <a:srgbClr val="D6D6D6"/>
                          </a:solidFill>
                        </a:rPr>
                        <a:t>0.34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>
                          <a:solidFill>
                            <a:srgbClr val="D6D6D6"/>
                          </a:solidFill>
                        </a:rPr>
                        <a:t>0.12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>
                          <a:solidFill>
                            <a:srgbClr val="D6D6D6"/>
                          </a:solidFill>
                        </a:rPr>
                        <a:t>0.22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>
                          <a:solidFill>
                            <a:srgbClr val="D6D6D6"/>
                          </a:solidFill>
                        </a:rPr>
                        <a:t>0.16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0.06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0.01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>
                          <a:solidFill>
                            <a:srgbClr val="D6D6D6"/>
                          </a:solidFill>
                        </a:rPr>
                        <a:t>0.29</a:t>
                      </a: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62" name="Current Target"/>
          <p:cNvSpPr txBox="1"/>
          <p:nvPr/>
        </p:nvSpPr>
        <p:spPr>
          <a:xfrm>
            <a:off x="6758423" y="1351218"/>
            <a:ext cx="807555" cy="4832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35719" tIns="35719" rIns="35719" bIns="35719" anchor="ctr">
            <a:spAutoFit/>
          </a:bodyPr>
          <a:lstStyle>
            <a:lvl1pPr>
              <a:defRPr sz="1900" b="1">
                <a:solidFill>
                  <a:srgbClr val="000000"/>
                </a:solidFill>
              </a:defRPr>
            </a:lvl1pPr>
          </a:lstStyle>
          <a:p>
            <a:r>
              <a:rPr sz="1336"/>
              <a:t>Current Target</a:t>
            </a:r>
          </a:p>
        </p:txBody>
      </p:sp>
      <p:sp>
        <p:nvSpPr>
          <p:cNvPr id="363" name="Current Predictions"/>
          <p:cNvSpPr txBox="1"/>
          <p:nvPr/>
        </p:nvSpPr>
        <p:spPr>
          <a:xfrm>
            <a:off x="7655624" y="1351218"/>
            <a:ext cx="1027175" cy="4832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35719" tIns="35719" rIns="35719" bIns="35719" anchor="ctr">
            <a:spAutoFit/>
          </a:bodyPr>
          <a:lstStyle>
            <a:lvl1pPr>
              <a:defRPr sz="1900" b="1">
                <a:solidFill>
                  <a:srgbClr val="000000"/>
                </a:solidFill>
              </a:defRPr>
            </a:lvl1pPr>
          </a:lstStyle>
          <a:p>
            <a:r>
              <a:rPr sz="1336"/>
              <a:t>Current Predictions</a:t>
            </a:r>
          </a:p>
        </p:txBody>
      </p:sp>
      <p:sp>
        <p:nvSpPr>
          <p:cNvPr id="364" name="Step 3"/>
          <p:cNvSpPr txBox="1"/>
          <p:nvPr/>
        </p:nvSpPr>
        <p:spPr>
          <a:xfrm>
            <a:off x="8866318" y="232845"/>
            <a:ext cx="499240" cy="2669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35719" tIns="35719" rIns="35719" bIns="35719" anchor="ctr">
            <a:spAutoFit/>
          </a:bodyPr>
          <a:lstStyle/>
          <a:p>
            <a:r>
              <a:rPr sz="1266"/>
              <a:t>Step 3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Example in a Table"/>
          <p:cNvSpPr txBox="1">
            <a:spLocks noGrp="1"/>
          </p:cNvSpPr>
          <p:nvPr>
            <p:ph type="title"/>
          </p:nvPr>
        </p:nvSpPr>
        <p:spPr>
          <a:xfrm>
            <a:off x="700635" y="750500"/>
            <a:ext cx="10691265" cy="1307592"/>
          </a:xfrm>
          <a:prstGeom prst="rect">
            <a:avLst/>
          </a:prstGeom>
        </p:spPr>
        <p:txBody>
          <a:bodyPr/>
          <a:lstStyle>
            <a:lvl1pPr defTabSz="1525858">
              <a:defRPr sz="5280" spc="-105"/>
            </a:lvl1pPr>
          </a:lstStyle>
          <a:p>
            <a:r>
              <a:rPr dirty="0"/>
              <a:t>Example in a Table</a:t>
            </a:r>
          </a:p>
        </p:txBody>
      </p:sp>
      <p:graphicFrame>
        <p:nvGraphicFramePr>
          <p:cNvPr id="367" name="Table 1"/>
          <p:cNvGraphicFramePr/>
          <p:nvPr/>
        </p:nvGraphicFramePr>
        <p:xfrm>
          <a:off x="2482500" y="1863499"/>
          <a:ext cx="7226996" cy="4277316"/>
        </p:xfrm>
        <a:graphic>
          <a:graphicData uri="http://schemas.openxmlformats.org/drawingml/2006/table">
            <a:tbl>
              <a:tblPr/>
              <a:tblGrid>
                <a:gridCol w="10324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324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324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3242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3242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3242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3242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712886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>
                          <a:solidFill>
                            <a:srgbClr val="D6D6D6"/>
                          </a:solidFill>
                        </a:rPr>
                        <a:t>Y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Yhat 1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>
                          <a:solidFill>
                            <a:srgbClr val="D6D6D6"/>
                          </a:solidFill>
                        </a:rPr>
                        <a:t>Resid-1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Yhat-2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>
                          <a:solidFill>
                            <a:srgbClr val="D6D6D6"/>
                          </a:solidFill>
                        </a:rPr>
                        <a:t>Resid-2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Yhat-3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2200" b="1"/>
                      </a:pPr>
                      <a:r>
                        <a:rPr sz="1500"/>
                        <a:t>Final</a:t>
                      </a:r>
                      <a:br>
                        <a:rPr sz="1500"/>
                      </a:br>
                      <a:r>
                        <a:rPr sz="1500"/>
                        <a:t>Prediction</a:t>
                      </a: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2886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>
                          <a:solidFill>
                            <a:srgbClr val="D6D6D6"/>
                          </a:solidFill>
                        </a:rPr>
                        <a:t>0.05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0.12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>
                          <a:solidFill>
                            <a:srgbClr val="D6D6D6"/>
                          </a:solidFill>
                        </a:rPr>
                        <a:t>-0.07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-0.09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>
                          <a:solidFill>
                            <a:srgbClr val="D6D6D6"/>
                          </a:solidFill>
                        </a:rPr>
                        <a:t>0.02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0.01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 b="1"/>
                        <a:t>0.04</a:t>
                      </a: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2886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>
                          <a:solidFill>
                            <a:srgbClr val="D6D6D6"/>
                          </a:solidFill>
                        </a:rPr>
                        <a:t>0.59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0.53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>
                          <a:solidFill>
                            <a:srgbClr val="D6D6D6"/>
                          </a:solidFill>
                        </a:rPr>
                        <a:t>0.07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0.04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>
                          <a:solidFill>
                            <a:srgbClr val="D6D6D6"/>
                          </a:solidFill>
                        </a:rPr>
                        <a:t>0.03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-0.07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 b="1"/>
                        <a:t>0.5</a:t>
                      </a: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2886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>
                          <a:solidFill>
                            <a:srgbClr val="D6D6D6"/>
                          </a:solidFill>
                        </a:rPr>
                        <a:t>0.17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0.12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>
                          <a:solidFill>
                            <a:srgbClr val="D6D6D6"/>
                          </a:solidFill>
                        </a:rPr>
                        <a:t>0.04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0.04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>
                          <a:solidFill>
                            <a:srgbClr val="D6D6D6"/>
                          </a:solidFill>
                        </a:rPr>
                        <a:t>0.0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0.01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 b="1"/>
                        <a:t>0.17</a:t>
                      </a: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12886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>
                          <a:solidFill>
                            <a:srgbClr val="D6D6D6"/>
                          </a:solidFill>
                        </a:rPr>
                        <a:t>-0.07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0.12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>
                          <a:solidFill>
                            <a:srgbClr val="D6D6D6"/>
                          </a:solidFill>
                        </a:rPr>
                        <a:t>-0.19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-0.09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>
                          <a:solidFill>
                            <a:srgbClr val="D6D6D6"/>
                          </a:solidFill>
                        </a:rPr>
                        <a:t>-0.1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0.01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 b="1"/>
                        <a:t>0.04</a:t>
                      </a: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12886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>
                          <a:solidFill>
                            <a:srgbClr val="D6D6D6"/>
                          </a:solidFill>
                        </a:rPr>
                        <a:t>0.34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0.12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>
                          <a:solidFill>
                            <a:srgbClr val="D6D6D6"/>
                          </a:solidFill>
                        </a:rPr>
                        <a:t>0.22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0.16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>
                          <a:solidFill>
                            <a:srgbClr val="D6D6D6"/>
                          </a:solidFill>
                        </a:rPr>
                        <a:t>0.06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/>
                        <a:t>0.01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 b="1"/>
                        <a:t>0.29</a:t>
                      </a: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69" name="Learning Rate…"/>
              <p:cNvSpPr txBox="1">
                <a:spLocks noGrp="1"/>
              </p:cNvSpPr>
              <p:nvPr>
                <p:ph type="body" idx="1"/>
              </p:nvPr>
            </p:nvSpPr>
            <p:spPr>
              <a:prstGeom prst="rect">
                <a:avLst/>
              </a:prstGeom>
            </p:spPr>
            <p:txBody>
              <a:bodyPr/>
              <a:lstStyle/>
              <a:p>
                <a:r>
                  <a:t>Learning Rate</a:t>
                </a:r>
              </a:p>
              <a:p>
                <a:pPr lvl="1"/>
                <a:r>
                  <a:t>The learning rate (</a:t>
                </a:r>
                <a14:m>
                  <m:oMath xmlns:m="http://schemas.openxmlformats.org/officeDocument/2006/math">
                    <m:r>
                      <a:rPr sz="2285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t>) is a shrinkage parameter that affects the learning by scaling the contribution of each model</a:t>
                </a:r>
              </a:p>
              <a:p>
                <a:pPr lvl="1"/>
                <a:r>
                  <a:t>A smaller learning rate makes smaller adjustments and requires more estimators </a:t>
                </a:r>
              </a:p>
              <a:p>
                <a:pPr lvl="1"/>
                <a:r>
                  <a:t>A higher learning rate allows the model to learn faster but can potentially rapidly converge to a suboptimal solution</a:t>
                </a:r>
              </a:p>
              <a:p>
                <a:pPr lvl="2"/>
                <a:r>
                  <a:t>Could potentially stop improving or get worse with additional learners</a:t>
                </a:r>
              </a:p>
            </p:txBody>
          </p:sp>
        </mc:Choice>
        <mc:Fallback xmlns="">
          <p:sp>
            <p:nvSpPr>
              <p:cNvPr id="369" name="Learning Rate…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prstGeom prst="rect">
                <a:avLst/>
              </a:prstGeom>
              <a:blipFill>
                <a:blip r:embed="rId2"/>
                <a:stretch>
                  <a:fillRect l="-1313" t="-15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0" name="Tuning Parameter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1525858">
              <a:defRPr sz="5280" spc="-105"/>
            </a:lvl1pPr>
          </a:lstStyle>
          <a:p>
            <a:r>
              <a:t>Tuning Parameters</a:t>
            </a:r>
          </a:p>
        </p:txBody>
      </p:sp>
    </p:spTree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Number of estimators…"/>
          <p:cNvSpPr txBox="1">
            <a:spLocks noGrp="1"/>
          </p:cNvSpPr>
          <p:nvPr>
            <p:ph type="body" idx="1"/>
          </p:nvPr>
        </p:nvSpPr>
        <p:spPr>
          <a:xfrm>
            <a:off x="700635" y="2221991"/>
            <a:ext cx="10691265" cy="3911389"/>
          </a:xfrm>
          <a:prstGeom prst="rect">
            <a:avLst/>
          </a:prstGeom>
        </p:spPr>
        <p:txBody>
          <a:bodyPr>
            <a:normAutofit fontScale="85000" lnSpcReduction="20000"/>
          </a:bodyPr>
          <a:lstStyle/>
          <a:p>
            <a:r>
              <a:rPr b="1" dirty="0"/>
              <a:t>Number of estimators</a:t>
            </a:r>
          </a:p>
          <a:p>
            <a:pPr lvl="1"/>
            <a:r>
              <a:rPr dirty="0"/>
              <a:t>Number of sequential learners added to the models</a:t>
            </a:r>
            <a:endParaRPr lang="en-US" dirty="0"/>
          </a:p>
          <a:p>
            <a:pPr lvl="1"/>
            <a:r>
              <a:rPr lang="en-US" dirty="0"/>
              <a:t>Too few estimators → underfitting (model has not reduced training loss sufficiently)</a:t>
            </a:r>
            <a:endParaRPr dirty="0"/>
          </a:p>
          <a:p>
            <a:pPr lvl="1"/>
            <a:r>
              <a:rPr lang="en-US" dirty="0"/>
              <a:t>Too many estimators → overfitting (model begins fitting noise in the training data)</a:t>
            </a:r>
          </a:p>
          <a:p>
            <a:pPr lvl="1"/>
            <a:r>
              <a:rPr lang="en-US" dirty="0"/>
              <a:t>Early stopping can help select an appropriate number</a:t>
            </a:r>
          </a:p>
          <a:p>
            <a:r>
              <a:rPr lang="en-US" b="1" dirty="0"/>
              <a:t>Learning Rate</a:t>
            </a:r>
          </a:p>
          <a:p>
            <a:pPr lvl="1"/>
            <a:r>
              <a:rPr lang="en-US" dirty="0"/>
              <a:t>Controls how much each new tree contributes to the overall model</a:t>
            </a:r>
          </a:p>
          <a:p>
            <a:pPr lvl="1"/>
            <a:r>
              <a:rPr lang="en-US" dirty="0"/>
              <a:t>Smaller learning rate → requires more trees, but typically improves generalization</a:t>
            </a:r>
          </a:p>
          <a:p>
            <a:pPr lvl="1"/>
            <a:r>
              <a:rPr lang="en-US" dirty="0"/>
              <a:t>Larger learning rate → requires fewer trees, but increases risk of overfitting or unstable updates</a:t>
            </a:r>
          </a:p>
          <a:p>
            <a:r>
              <a:rPr lang="en-US" b="1" dirty="0"/>
              <a:t>Trade-off</a:t>
            </a:r>
          </a:p>
          <a:p>
            <a:pPr lvl="1"/>
            <a:r>
              <a:rPr lang="en-US" dirty="0"/>
              <a:t>Lower learning rate + more trees → slower, more stable learning</a:t>
            </a:r>
          </a:p>
          <a:p>
            <a:pPr lvl="1"/>
            <a:r>
              <a:rPr lang="en-US" dirty="0"/>
              <a:t>Higher learning rate + fewer trees → faster, more aggressive learning</a:t>
            </a:r>
          </a:p>
          <a:p>
            <a:pPr lvl="1"/>
            <a:r>
              <a:rPr lang="en-US" dirty="0"/>
              <a:t>Effective model complexity depends on both parameters together</a:t>
            </a:r>
            <a:endParaRPr dirty="0"/>
          </a:p>
        </p:txBody>
      </p:sp>
      <p:sp>
        <p:nvSpPr>
          <p:cNvPr id="373" name="Tuning Parameter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1525858">
              <a:defRPr sz="5280" spc="-105"/>
            </a:lvl1pPr>
          </a:lstStyle>
          <a:p>
            <a:r>
              <a:rPr dirty="0"/>
              <a:t>Tuning Parameters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75" name="The concept of “residuals” is a little different in the classification setting…"/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1812569" y="1750159"/>
                <a:ext cx="8467395" cy="5372253"/>
              </a:xfrm>
              <a:prstGeom prst="rect">
                <a:avLst/>
              </a:prstGeom>
            </p:spPr>
            <p:txBody>
              <a:bodyPr/>
              <a:lstStyle/>
              <a:p>
                <a:r>
                  <a:rPr dirty="0"/>
                  <a:t>The concept of “residuals” is a little different in the classification setting</a:t>
                </a:r>
              </a:p>
              <a:p>
                <a:pPr lvl="1"/>
                <a:r>
                  <a:rPr dirty="0"/>
                  <a:t>The residual or pseudo residuals are the gradient of the loss function with respect to the predictions.</a:t>
                </a:r>
              </a:p>
              <a:p>
                <a:r>
                  <a:rPr dirty="0"/>
                  <a:t>For example</a:t>
                </a:r>
                <a:r>
                  <a:rPr lang="en-US" dirty="0"/>
                  <a:t>,</a:t>
                </a:r>
                <a:r>
                  <a:rPr dirty="0"/>
                  <a:t> in binary classification:</a:t>
                </a:r>
              </a:p>
              <a:p>
                <a:pPr lvl="1"/>
                <a:r>
                  <a:rPr dirty="0"/>
                  <a:t>The loss function is usually the logistic loss function, also known as log loss or binary cross-entropy loss:</a:t>
                </a:r>
                <a:br>
                  <a:rPr dirty="0"/>
                </a:br>
                <a:br>
                  <a:rPr dirty="0"/>
                </a:br>
                <a14:m>
                  <m:oMath xmlns:m="http://schemas.openxmlformats.org/officeDocument/2006/math">
                    <m:r>
                      <a:rPr sz="2285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a:rPr sz="2285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sz="2285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sz="2285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sz="2285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sz="2285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)=−</m:t>
                    </m:r>
                    <m:r>
                      <a:rPr sz="2285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sz="2285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log</m:t>
                    </m:r>
                    <m:r>
                      <a:rPr sz="2285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sz="2285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sz="2285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)−(</m:t>
                    </m:r>
                    <m:r>
                      <a:rPr sz="2285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sz="2285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sz="2285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sz="2285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sz="2285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log</m:t>
                    </m:r>
                    <m:r>
                      <a:rPr sz="2285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sz="2285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sz="2285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sz="2285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sz="2285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br>
                  <a:rPr dirty="0"/>
                </a:br>
                <a:br>
                  <a:rPr dirty="0"/>
                </a:br>
                <a:r>
                  <a:rPr dirty="0"/>
                  <a:t>* </a:t>
                </a:r>
                <a14:m>
                  <m:oMath xmlns:m="http://schemas.openxmlformats.org/officeDocument/2006/math">
                    <m:r>
                      <a:rPr sz="2285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dirty="0"/>
                  <a:t> is the actual label (0 or 1)</a:t>
                </a:r>
                <a:br>
                  <a:rPr dirty="0"/>
                </a:br>
                <a:r>
                  <a:rPr dirty="0"/>
                  <a:t>* </a:t>
                </a:r>
                <a14:m>
                  <m:oMath xmlns:m="http://schemas.openxmlformats.org/officeDocument/2006/math">
                    <m:r>
                      <a:rPr sz="2285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dirty="0"/>
                  <a:t> is the predicted probability of the instance being in class 1</a:t>
                </a:r>
              </a:p>
            </p:txBody>
          </p:sp>
        </mc:Choice>
        <mc:Fallback xmlns="">
          <p:sp>
            <p:nvSpPr>
              <p:cNvPr id="375" name="The concept of “residuals” is a little different in the classification setting…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1812569" y="1750159"/>
                <a:ext cx="8467395" cy="5372253"/>
              </a:xfrm>
              <a:prstGeom prst="rect">
                <a:avLst/>
              </a:prstGeom>
              <a:blipFill>
                <a:blip r:embed="rId2"/>
                <a:stretch>
                  <a:fillRect l="-648" t="-454" r="-4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6" name="Gradient Boosting for Classification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>
            <a:normAutofit fontScale="90000"/>
          </a:bodyPr>
          <a:lstStyle>
            <a:lvl1pPr defTabSz="1525858">
              <a:defRPr sz="5280" spc="-105"/>
            </a:lvl1pPr>
          </a:lstStyle>
          <a:p>
            <a:r>
              <a:t>Gradient Boosting for Classification</a:t>
            </a:r>
          </a:p>
        </p:txBody>
      </p:sp>
    </p:spTree>
  </p:cSld>
  <p:clrMapOvr>
    <a:masterClrMapping/>
  </p:clrMapOvr>
  <p:transition spd="med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78" name="The gradient of the loss function with respect to p:…"/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2049639" y="1724280"/>
                <a:ext cx="8467395" cy="5372253"/>
              </a:xfrm>
              <a:prstGeom prst="rect">
                <a:avLst/>
              </a:prstGeom>
            </p:spPr>
            <p:txBody>
              <a:bodyPr/>
              <a:lstStyle/>
              <a:p>
                <a:r>
                  <a:rPr dirty="0"/>
                  <a:t>The gradient of the loss function with respect to p:</a:t>
                </a:r>
                <a:br>
                  <a:rPr dirty="0"/>
                </a:br>
                <a:br>
                  <a:rPr dirty="0"/>
                </a:br>
                <a14:m>
                  <m:oMath xmlns:m="http://schemas.openxmlformats.org/officeDocument/2006/math">
                    <m:f>
                      <m:fPr>
                        <m:ctrlPr>
                          <a:rPr sz="2285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sz="2285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sz="2285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num>
                      <m:den>
                        <m:r>
                          <a:rPr sz="2285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sz="2285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den>
                    </m:f>
                    <m:r>
                      <a:rPr sz="2285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sz="2285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sz="2285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sz="2285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sz="2285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sz="2285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sz="2285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sz="2285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sz="2285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sz="2285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sz="2285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endParaRPr dirty="0"/>
              </a:p>
              <a:p>
                <a:r>
                  <a:rPr dirty="0"/>
                  <a:t>However, this is generally simplified by working with the log odds,</a:t>
                </a:r>
                <a:br>
                  <a:rPr dirty="0"/>
                </a:br>
                <a:br>
                  <a:rPr dirty="0"/>
                </a:br>
                <a14:m>
                  <m:oMath xmlns:m="http://schemas.openxmlformats.org/officeDocument/2006/math">
                    <m:r>
                      <a:rPr sz="2285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dirty="0"/>
                  <a:t>, where </a:t>
                </a:r>
                <a14:m>
                  <m:oMath xmlns:m="http://schemas.openxmlformats.org/officeDocument/2006/math">
                    <m:r>
                      <a:rPr sz="2285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sz="2285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sz="2285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sz="2285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sz="2285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sz="2285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sz="2285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sz="2285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sz="2285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sz="2285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sup>
                        </m:sSup>
                      </m:den>
                    </m:f>
                  </m:oMath>
                </a14:m>
                <a:endParaRPr dirty="0"/>
              </a:p>
              <a:p>
                <a:r>
                  <a:rPr dirty="0"/>
                  <a:t>The gradient with respect to the log odds turns out to be:</a:t>
                </a:r>
                <a:br>
                  <a:rPr dirty="0"/>
                </a:br>
                <a:br>
                  <a:rPr dirty="0"/>
                </a:br>
                <a14:m>
                  <m:oMath xmlns:m="http://schemas.openxmlformats.org/officeDocument/2006/math">
                    <m:f>
                      <m:fPr>
                        <m:ctrlPr>
                          <a:rPr sz="2285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sz="2285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sz="2285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num>
                      <m:den>
                        <m:r>
                          <a:rPr sz="2285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sz="2285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den>
                    </m:f>
                    <m:r>
                      <a:rPr sz="2285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sz="2285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sz="2285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sz="2285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endParaRPr dirty="0"/>
              </a:p>
            </p:txBody>
          </p:sp>
        </mc:Choice>
        <mc:Fallback xmlns="">
          <p:sp>
            <p:nvSpPr>
              <p:cNvPr id="378" name="The gradient of the loss function with respect to p:…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2049639" y="1724280"/>
                <a:ext cx="8467395" cy="5372253"/>
              </a:xfrm>
              <a:prstGeom prst="rect">
                <a:avLst/>
              </a:prstGeom>
              <a:blipFill>
                <a:blip r:embed="rId2"/>
                <a:stretch>
                  <a:fillRect l="-648" t="-56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9" name="Gradient Boosting for Classification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>
            <a:normAutofit fontScale="90000"/>
          </a:bodyPr>
          <a:lstStyle>
            <a:lvl1pPr defTabSz="1525858">
              <a:defRPr sz="5280" spc="-105"/>
            </a:lvl1pPr>
          </a:lstStyle>
          <a:p>
            <a:r>
              <a:rPr dirty="0"/>
              <a:t>Gradient Boosting for Classification</a:t>
            </a:r>
          </a:p>
        </p:txBody>
      </p:sp>
    </p:spTree>
  </p:cSld>
  <p:clrMapOvr>
    <a:masterClrMapping/>
  </p:clrMapOvr>
  <p:transition spd="med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radient boosting in software such as Scikit-Learn, can be fairly slow…"/>
          <p:cNvSpPr txBox="1">
            <a:spLocks noGrp="1"/>
          </p:cNvSpPr>
          <p:nvPr>
            <p:ph type="body" idx="1"/>
          </p:nvPr>
        </p:nvSpPr>
        <p:spPr>
          <a:xfrm>
            <a:off x="750367" y="1854679"/>
            <a:ext cx="10691265" cy="4848046"/>
          </a:xfrm>
          <a:prstGeom prst="rect">
            <a:avLst/>
          </a:prstGeom>
        </p:spPr>
        <p:txBody>
          <a:bodyPr numCol="2">
            <a:normAutofit lnSpcReduction="10000"/>
          </a:bodyPr>
          <a:lstStyle/>
          <a:p>
            <a:pPr>
              <a:lnSpc>
                <a:spcPct val="120000"/>
              </a:lnSpc>
            </a:pPr>
            <a:r>
              <a:rPr lang="en-US" b="1" dirty="0"/>
              <a:t>Scikit-Learn</a:t>
            </a:r>
            <a:endParaRPr lang="en-US" dirty="0"/>
          </a:p>
          <a:p>
            <a:pPr lvl="1">
              <a:lnSpc>
                <a:spcPct val="120000"/>
              </a:lnSpc>
            </a:pPr>
            <a:r>
              <a:rPr lang="en-US" dirty="0" err="1"/>
              <a:t>GradientBoostingClassifier</a:t>
            </a:r>
            <a:r>
              <a:rPr lang="en-US" dirty="0"/>
              <a:t> / </a:t>
            </a:r>
            <a:r>
              <a:rPr lang="en-US" dirty="0" err="1"/>
              <a:t>GradientBoostingRegressor</a:t>
            </a:r>
            <a:endParaRPr lang="en-US" dirty="0"/>
          </a:p>
          <a:p>
            <a:pPr lvl="1">
              <a:lnSpc>
                <a:spcPct val="120000"/>
              </a:lnSpc>
            </a:pPr>
            <a:r>
              <a:rPr lang="en-US" dirty="0"/>
              <a:t>Easy to use and integrates well with </a:t>
            </a:r>
            <a:r>
              <a:rPr lang="en-US" dirty="0" err="1"/>
              <a:t>sklearn</a:t>
            </a:r>
            <a:r>
              <a:rPr lang="en-US" dirty="0"/>
              <a:t> pipelines</a:t>
            </a:r>
          </a:p>
          <a:p>
            <a:pPr lvl="1">
              <a:lnSpc>
                <a:spcPct val="120000"/>
              </a:lnSpc>
            </a:pPr>
            <a:r>
              <a:rPr lang="en-US" dirty="0"/>
              <a:t>Can be slower on large datasets</a:t>
            </a:r>
          </a:p>
          <a:p>
            <a:pPr lvl="1">
              <a:lnSpc>
                <a:spcPct val="120000"/>
              </a:lnSpc>
            </a:pPr>
            <a:r>
              <a:rPr lang="en-US" dirty="0" err="1"/>
              <a:t>HistGradientBoosting</a:t>
            </a:r>
            <a:r>
              <a:rPr lang="en-US" dirty="0"/>
              <a:t> provides a faster, histogram-based implementation</a:t>
            </a:r>
          </a:p>
          <a:p>
            <a:pPr>
              <a:lnSpc>
                <a:spcPct val="120000"/>
              </a:lnSpc>
            </a:pPr>
            <a:r>
              <a:rPr lang="en-US" b="1" dirty="0" err="1"/>
              <a:t>XGBoost</a:t>
            </a:r>
            <a:r>
              <a:rPr lang="en-US" b="1" dirty="0"/>
              <a:t> (Extreme Gradient Boosting)</a:t>
            </a:r>
            <a:endParaRPr lang="en-US" dirty="0"/>
          </a:p>
          <a:p>
            <a:pPr lvl="1">
              <a:lnSpc>
                <a:spcPct val="120000"/>
              </a:lnSpc>
            </a:pPr>
            <a:r>
              <a:rPr lang="en-US" dirty="0"/>
              <a:t>Highly optimized and efficient</a:t>
            </a:r>
          </a:p>
          <a:p>
            <a:pPr lvl="1">
              <a:lnSpc>
                <a:spcPct val="120000"/>
              </a:lnSpc>
            </a:pPr>
            <a:r>
              <a:rPr lang="en-US" dirty="0"/>
              <a:t>Supports L1 and L2 regularization</a:t>
            </a:r>
          </a:p>
          <a:p>
            <a:pPr lvl="1">
              <a:lnSpc>
                <a:spcPct val="120000"/>
              </a:lnSpc>
            </a:pPr>
            <a:r>
              <a:rPr lang="en-US" dirty="0"/>
              <a:t>Handles missing values automatically</a:t>
            </a:r>
          </a:p>
          <a:p>
            <a:pPr lvl="1">
              <a:lnSpc>
                <a:spcPct val="120000"/>
              </a:lnSpc>
            </a:pPr>
            <a:r>
              <a:rPr lang="en-US" dirty="0"/>
              <a:t>Parallelized and widely used in industry</a:t>
            </a:r>
          </a:p>
          <a:p>
            <a:pPr>
              <a:lnSpc>
                <a:spcPct val="120000"/>
              </a:lnSpc>
            </a:pPr>
            <a:r>
              <a:rPr lang="en-US" b="1" dirty="0" err="1"/>
              <a:t>LightGBM</a:t>
            </a:r>
            <a:r>
              <a:rPr lang="en-US" b="1" dirty="0"/>
              <a:t> (Light Gradient Boosting Machine)</a:t>
            </a:r>
            <a:endParaRPr lang="en-US" dirty="0"/>
          </a:p>
          <a:p>
            <a:pPr lvl="1">
              <a:lnSpc>
                <a:spcPct val="120000"/>
              </a:lnSpc>
            </a:pPr>
            <a:r>
              <a:rPr lang="en-US" dirty="0"/>
              <a:t>Very fast for large datasets</a:t>
            </a:r>
          </a:p>
          <a:p>
            <a:pPr lvl="1">
              <a:lnSpc>
                <a:spcPct val="120000"/>
              </a:lnSpc>
            </a:pPr>
            <a:r>
              <a:rPr lang="en-US" dirty="0"/>
              <a:t>Histogram-based learning for efficiency</a:t>
            </a:r>
          </a:p>
          <a:p>
            <a:pPr lvl="1">
              <a:lnSpc>
                <a:spcPct val="120000"/>
              </a:lnSpc>
            </a:pPr>
            <a:r>
              <a:rPr lang="en-US" dirty="0"/>
              <a:t>Leaf-wise tree growth strategy</a:t>
            </a:r>
          </a:p>
          <a:p>
            <a:pPr lvl="1">
              <a:lnSpc>
                <a:spcPct val="120000"/>
              </a:lnSpc>
            </a:pPr>
            <a:r>
              <a:rPr lang="en-US" dirty="0"/>
              <a:t>Native handling of categorical features</a:t>
            </a:r>
          </a:p>
          <a:p>
            <a:pPr lvl="1">
              <a:lnSpc>
                <a:spcPct val="120000"/>
              </a:lnSpc>
            </a:pPr>
            <a:r>
              <a:rPr lang="en-US" dirty="0"/>
              <a:t>Memory efficient</a:t>
            </a:r>
          </a:p>
          <a:p>
            <a:pPr>
              <a:lnSpc>
                <a:spcPct val="120000"/>
              </a:lnSpc>
            </a:pPr>
            <a:r>
              <a:rPr lang="en-US" b="1" dirty="0" err="1"/>
              <a:t>CatBoost</a:t>
            </a:r>
            <a:endParaRPr lang="en-US" dirty="0"/>
          </a:p>
          <a:p>
            <a:pPr lvl="1">
              <a:lnSpc>
                <a:spcPct val="120000"/>
              </a:lnSpc>
            </a:pPr>
            <a:r>
              <a:rPr lang="en-US" dirty="0"/>
              <a:t>Strong performance with minimal tuning</a:t>
            </a:r>
          </a:p>
          <a:p>
            <a:pPr lvl="1">
              <a:lnSpc>
                <a:spcPct val="120000"/>
              </a:lnSpc>
            </a:pPr>
            <a:r>
              <a:rPr lang="en-US" dirty="0"/>
              <a:t>Excellent handling of categorical variables</a:t>
            </a:r>
          </a:p>
          <a:p>
            <a:pPr lvl="1">
              <a:lnSpc>
                <a:spcPct val="120000"/>
              </a:lnSpc>
            </a:pPr>
            <a:r>
              <a:rPr lang="en-US" dirty="0"/>
              <a:t>Reduces preprocessing requirements</a:t>
            </a:r>
          </a:p>
        </p:txBody>
      </p:sp>
      <p:sp>
        <p:nvSpPr>
          <p:cNvPr id="382" name="Implementations of Gradient Boosting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>
            <a:normAutofit/>
          </a:bodyPr>
          <a:lstStyle>
            <a:lvl1pPr defTabSz="1525858">
              <a:defRPr sz="5280" spc="-105"/>
            </a:lvl1pPr>
          </a:lstStyle>
          <a:p>
            <a:r>
              <a:rPr sz="4000" dirty="0"/>
              <a:t>Implementations of Gradient Boosting</a:t>
            </a:r>
          </a:p>
        </p:txBody>
      </p:sp>
    </p:spTree>
  </p:cSld>
  <p:clrMapOvr>
    <a:masterClrMapping/>
  </p:clrMapOvr>
  <p:transition spd="med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D5D02F2-ABD8-0E18-714A-89DA34CC74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b="1" dirty="0" err="1"/>
              <a:t>XGBoost</a:t>
            </a:r>
            <a:endParaRPr lang="en-US" dirty="0"/>
          </a:p>
          <a:p>
            <a:pPr lvl="1"/>
            <a:r>
              <a:rPr lang="en-US" dirty="0"/>
              <a:t>Using pip:</a:t>
            </a:r>
            <a:br>
              <a:rPr lang="en-US" dirty="0"/>
            </a:br>
            <a:r>
              <a:rPr lang="en-US" dirty="0"/>
              <a:t>pip install </a:t>
            </a:r>
            <a:r>
              <a:rPr lang="en-US" dirty="0" err="1"/>
              <a:t>xgboost</a:t>
            </a:r>
            <a:endParaRPr lang="en-US" dirty="0"/>
          </a:p>
          <a:p>
            <a:pPr lvl="1"/>
            <a:r>
              <a:rPr lang="en-US" dirty="0"/>
              <a:t>Using </a:t>
            </a:r>
            <a:r>
              <a:rPr lang="en-US" dirty="0" err="1"/>
              <a:t>conda</a:t>
            </a:r>
            <a:r>
              <a:rPr lang="en-US" dirty="0"/>
              <a:t>:</a:t>
            </a:r>
            <a:br>
              <a:rPr lang="en-US" dirty="0"/>
            </a:br>
            <a:r>
              <a:rPr lang="en-US" dirty="0" err="1"/>
              <a:t>conda</a:t>
            </a:r>
            <a:r>
              <a:rPr lang="en-US" dirty="0"/>
              <a:t> install -c </a:t>
            </a:r>
            <a:r>
              <a:rPr lang="en-US" dirty="0" err="1"/>
              <a:t>conda</a:t>
            </a:r>
            <a:r>
              <a:rPr lang="en-US" dirty="0"/>
              <a:t>-forge </a:t>
            </a:r>
            <a:r>
              <a:rPr lang="en-US" dirty="0" err="1"/>
              <a:t>py-xgboost</a:t>
            </a:r>
            <a:endParaRPr lang="en-US" dirty="0"/>
          </a:p>
          <a:p>
            <a:r>
              <a:rPr lang="en-US" b="1" dirty="0" err="1"/>
              <a:t>LightGBM</a:t>
            </a:r>
            <a:endParaRPr lang="en-US" dirty="0"/>
          </a:p>
          <a:p>
            <a:pPr lvl="1"/>
            <a:r>
              <a:rPr lang="en-US" dirty="0"/>
              <a:t>Using pip:</a:t>
            </a:r>
            <a:br>
              <a:rPr lang="en-US" dirty="0"/>
            </a:br>
            <a:r>
              <a:rPr lang="en-US" dirty="0"/>
              <a:t>pip install </a:t>
            </a:r>
            <a:r>
              <a:rPr lang="en-US" dirty="0" err="1"/>
              <a:t>lightgbm</a:t>
            </a:r>
            <a:endParaRPr lang="en-US" dirty="0"/>
          </a:p>
          <a:p>
            <a:pPr lvl="1"/>
            <a:r>
              <a:rPr lang="en-US" dirty="0"/>
              <a:t>Using </a:t>
            </a:r>
            <a:r>
              <a:rPr lang="en-US" dirty="0" err="1"/>
              <a:t>conda</a:t>
            </a:r>
            <a:r>
              <a:rPr lang="en-US" dirty="0"/>
              <a:t>:</a:t>
            </a:r>
            <a:br>
              <a:rPr lang="en-US" dirty="0"/>
            </a:br>
            <a:r>
              <a:rPr lang="en-US" dirty="0" err="1"/>
              <a:t>conda</a:t>
            </a:r>
            <a:r>
              <a:rPr lang="en-US" dirty="0"/>
              <a:t> install -c </a:t>
            </a:r>
            <a:r>
              <a:rPr lang="en-US" dirty="0" err="1"/>
              <a:t>conda</a:t>
            </a:r>
            <a:r>
              <a:rPr lang="en-US" dirty="0"/>
              <a:t>-forge </a:t>
            </a:r>
            <a:r>
              <a:rPr lang="en-US" dirty="0" err="1"/>
              <a:t>lightgbm</a:t>
            </a:r>
            <a:endParaRPr lang="en-US" dirty="0"/>
          </a:p>
          <a:p>
            <a:r>
              <a:rPr lang="en-US" b="1" dirty="0" err="1"/>
              <a:t>CatBoost</a:t>
            </a:r>
            <a:endParaRPr lang="en-US" dirty="0"/>
          </a:p>
          <a:p>
            <a:pPr lvl="1"/>
            <a:r>
              <a:rPr lang="en-US" dirty="0"/>
              <a:t>Using pip:</a:t>
            </a:r>
            <a:br>
              <a:rPr lang="en-US" dirty="0"/>
            </a:br>
            <a:r>
              <a:rPr lang="en-US" dirty="0"/>
              <a:t>pip install </a:t>
            </a:r>
            <a:r>
              <a:rPr lang="en-US" dirty="0" err="1"/>
              <a:t>catboost</a:t>
            </a:r>
            <a:endParaRPr lang="en-US" dirty="0"/>
          </a:p>
          <a:p>
            <a:pPr lvl="1"/>
            <a:r>
              <a:rPr lang="en-US" dirty="0"/>
              <a:t>Using </a:t>
            </a:r>
            <a:r>
              <a:rPr lang="en-US" dirty="0" err="1"/>
              <a:t>conda</a:t>
            </a:r>
            <a:r>
              <a:rPr lang="en-US" dirty="0"/>
              <a:t>:</a:t>
            </a:r>
            <a:br>
              <a:rPr lang="en-US" dirty="0"/>
            </a:br>
            <a:r>
              <a:rPr lang="en-US" dirty="0" err="1"/>
              <a:t>conda</a:t>
            </a:r>
            <a:r>
              <a:rPr lang="en-US" dirty="0"/>
              <a:t> install -c </a:t>
            </a:r>
            <a:r>
              <a:rPr lang="en-US" dirty="0" err="1"/>
              <a:t>conda</a:t>
            </a:r>
            <a:r>
              <a:rPr lang="en-US" dirty="0"/>
              <a:t>-forge </a:t>
            </a:r>
            <a:r>
              <a:rPr lang="en-US" dirty="0" err="1"/>
              <a:t>catboost</a:t>
            </a:r>
            <a:endParaRPr lang="en-US" dirty="0"/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79837FE-05D1-9558-D264-B77E3B9CCB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Installing boosting libraries</a:t>
            </a:r>
          </a:p>
        </p:txBody>
      </p:sp>
    </p:spTree>
    <p:extLst>
      <p:ext uri="{BB962C8B-B14F-4D97-AF65-F5344CB8AC3E}">
        <p14:creationId xmlns:p14="http://schemas.microsoft.com/office/powerpoint/2010/main" val="1948030534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ChronicleVTI">
  <a:themeElements>
    <a:clrScheme name="Chronicle">
      <a:dk1>
        <a:srgbClr val="000000"/>
      </a:dk1>
      <a:lt1>
        <a:srgbClr val="FFFFFF"/>
      </a:lt1>
      <a:dk2>
        <a:srgbClr val="1C1C32"/>
      </a:dk2>
      <a:lt2>
        <a:srgbClr val="F8F4F1"/>
      </a:lt2>
      <a:accent1>
        <a:srgbClr val="734B67"/>
      </a:accent1>
      <a:accent2>
        <a:srgbClr val="959EBB"/>
      </a:accent2>
      <a:accent3>
        <a:srgbClr val="596781"/>
      </a:accent3>
      <a:accent4>
        <a:srgbClr val="7F6E8C"/>
      </a:accent4>
      <a:accent5>
        <a:srgbClr val="DB9A8F"/>
      </a:accent5>
      <a:accent6>
        <a:srgbClr val="C29AB1"/>
      </a:accent6>
      <a:hlink>
        <a:srgbClr val="778BA2"/>
      </a:hlink>
      <a:folHlink>
        <a:srgbClr val="A27C99"/>
      </a:folHlink>
    </a:clrScheme>
    <a:fontScheme name="Univers Calisto">
      <a:majorFont>
        <a:latin typeface="Univers Condensed"/>
        <a:ea typeface=""/>
        <a:cs typeface=""/>
      </a:majorFont>
      <a:minorFont>
        <a:latin typeface="Calisto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 w="12700" cap="flat" cmpd="sng" algn="ctr">
          <a:noFill/>
          <a:prstDash val="solid"/>
          <a:miter lim="800000"/>
        </a:ln>
        <a:effectLst/>
        <a:extLst>
          <a:ext uri="{91240B29-F687-4F45-9708-019B960494DF}">
            <a14:hiddenLine xmlns:a14="http://schemas.microsoft.com/office/drawing/2010/main" w="12700" cap="flat" cmpd="sng" algn="ctr">
              <a:solidFill>
                <a:schemeClr val="accent1">
                  <a:shade val="50000"/>
                </a:schemeClr>
              </a:solidFill>
              <a:prstDash val="solid"/>
              <a:miter lim="800000"/>
            </a14:hiddenLine>
          </a:ext>
        </a:extLst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ChronicleVTI" id="{508E4D90-5116-4BF0-876B-3F422DD1F65F}" vid="{AA21DC3D-92A8-43A4-8358-ED428371CD5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Chronicle">
    <a:dk1>
      <a:srgbClr val="000000"/>
    </a:dk1>
    <a:lt1>
      <a:srgbClr val="FFFFFF"/>
    </a:lt1>
    <a:dk2>
      <a:srgbClr val="1C1C32"/>
    </a:dk2>
    <a:lt2>
      <a:srgbClr val="F8F4F1"/>
    </a:lt2>
    <a:accent1>
      <a:srgbClr val="734B67"/>
    </a:accent1>
    <a:accent2>
      <a:srgbClr val="959EBB"/>
    </a:accent2>
    <a:accent3>
      <a:srgbClr val="596781"/>
    </a:accent3>
    <a:accent4>
      <a:srgbClr val="7F6E8C"/>
    </a:accent4>
    <a:accent5>
      <a:srgbClr val="DB9A8F"/>
    </a:accent5>
    <a:accent6>
      <a:srgbClr val="C29AB1"/>
    </a:accent6>
    <a:hlink>
      <a:srgbClr val="778BA2"/>
    </a:hlink>
    <a:folHlink>
      <a:srgbClr val="A27C99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692</TotalTime>
  <Words>1425</Words>
  <Application>Microsoft Office PowerPoint</Application>
  <PresentationFormat>Widescreen</PresentationFormat>
  <Paragraphs>377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1" baseType="lpstr">
      <vt:lpstr>Aptos</vt:lpstr>
      <vt:lpstr>Arial</vt:lpstr>
      <vt:lpstr>Calisto MT</vt:lpstr>
      <vt:lpstr>Cambria Math</vt:lpstr>
      <vt:lpstr>Helvetica Neue Medium</vt:lpstr>
      <vt:lpstr>Univers Condensed</vt:lpstr>
      <vt:lpstr>ChronicleVTI</vt:lpstr>
      <vt:lpstr>Boosting</vt:lpstr>
      <vt:lpstr>Boosting</vt:lpstr>
      <vt:lpstr>Common Boosting Algorithms</vt:lpstr>
      <vt:lpstr>AdaBoost </vt:lpstr>
      <vt:lpstr>AdaBoost</vt:lpstr>
      <vt:lpstr>AdaBoost</vt:lpstr>
      <vt:lpstr>AdaBoost</vt:lpstr>
      <vt:lpstr>AdaBoost</vt:lpstr>
      <vt:lpstr>AdaBoost</vt:lpstr>
      <vt:lpstr>Gradient Boosting</vt:lpstr>
      <vt:lpstr>Gradient Boosting</vt:lpstr>
      <vt:lpstr>Gradient Boosting</vt:lpstr>
      <vt:lpstr>Example (with λ=1 for simplicity)</vt:lpstr>
      <vt:lpstr>Example in a Table</vt:lpstr>
      <vt:lpstr>Example in a Table</vt:lpstr>
      <vt:lpstr>Example in a Table</vt:lpstr>
      <vt:lpstr>Example in a Table</vt:lpstr>
      <vt:lpstr>Example in a Table</vt:lpstr>
      <vt:lpstr>Tuning Parameters</vt:lpstr>
      <vt:lpstr>Tuning Parameters</vt:lpstr>
      <vt:lpstr>Gradient Boosting for Classification</vt:lpstr>
      <vt:lpstr>Gradient Boosting for Classification</vt:lpstr>
      <vt:lpstr>Implementations of Gradient Boosting</vt:lpstr>
      <vt:lpstr>Installing boosting libraries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Jake Rhodes</dc:creator>
  <cp:lastModifiedBy>Jake Rhodes</cp:lastModifiedBy>
  <cp:revision>29</cp:revision>
  <dcterms:created xsi:type="dcterms:W3CDTF">2025-10-28T15:32:43Z</dcterms:created>
  <dcterms:modified xsi:type="dcterms:W3CDTF">2026-03-03T17:43:11Z</dcterms:modified>
</cp:coreProperties>
</file>