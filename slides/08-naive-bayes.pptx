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23"/>
  </p:notes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74" d="100"/>
          <a:sy n="74" d="100"/>
        </p:scale>
        <p:origin x="3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320152-7289-42ED-97D3-BBB411F9F8C0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F0E3D6-3C77-45F1-B7E2-5B66F3D24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3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143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72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029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1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209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947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03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02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665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65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883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54844" y="1017985"/>
            <a:ext cx="10882313" cy="473273"/>
          </a:xfrm>
          <a:prstGeom prst="rect">
            <a:avLst/>
          </a:prstGeom>
        </p:spPr>
        <p:txBody>
          <a:bodyPr/>
          <a:lstStyle>
            <a:lvl1pPr marL="0" indent="0" defTabSz="178587">
              <a:spcBef>
                <a:spcPts val="0"/>
              </a:spcBef>
              <a:buSzTx/>
              <a:buNone/>
              <a:defRPr sz="225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43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3888038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654844" y="2196703"/>
            <a:ext cx="10882313" cy="2321719"/>
          </a:xfrm>
          <a:prstGeom prst="rect">
            <a:avLst/>
          </a:prstGeom>
        </p:spPr>
        <p:txBody>
          <a:bodyPr anchor="ctr"/>
          <a:lstStyle>
            <a:lvl1pPr defTabSz="250022">
              <a:defRPr sz="5906" spc="-59"/>
            </a:lvl1pPr>
          </a:lstStyle>
          <a:p>
            <a:r>
              <a:t>Section Title</a:t>
            </a:r>
          </a:p>
        </p:txBody>
      </p:sp>
      <p:sp>
        <p:nvSpPr>
          <p:cNvPr id="92" name="01"/>
          <p:cNvSpPr txBox="1">
            <a:spLocks noGrp="1"/>
          </p:cNvSpPr>
          <p:nvPr>
            <p:ph type="sldNum" sz="quarter" idx="2"/>
          </p:nvPr>
        </p:nvSpPr>
        <p:spPr>
          <a:xfrm>
            <a:off x="11727656" y="6152554"/>
            <a:ext cx="274321" cy="222082"/>
          </a:xfrm>
          <a:prstGeom prst="rect">
            <a:avLst/>
          </a:prstGeom>
        </p:spPr>
        <p:txBody>
          <a:bodyPr wrap="none"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358278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7454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  <p:sldLayoutId id="2147483687" r:id="rId12"/>
    <p:sldLayoutId id="2147483688" r:id="rId13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67E6E8-A071-67AD-C28B-F2265C9B8D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21" b="1321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12349FF-7742-42ED-ADF3-238B5DDD1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07" y="4237318"/>
            <a:ext cx="12188952" cy="2620682"/>
          </a:xfrm>
          <a:prstGeom prst="rect">
            <a:avLst/>
          </a:prstGeom>
          <a:gradFill>
            <a:gsLst>
              <a:gs pos="42000">
                <a:srgbClr val="000000">
                  <a:alpha val="14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1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F3EC0C-B664-18E2-FAA6-07592A24EF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5158" y="5528235"/>
            <a:ext cx="10696574" cy="770964"/>
          </a:xfrm>
        </p:spPr>
        <p:txBody>
          <a:bodyPr anchor="b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Classification – Naïve Bayes</a:t>
            </a:r>
          </a:p>
        </p:txBody>
      </p:sp>
    </p:spTree>
    <p:extLst>
      <p:ext uri="{BB962C8B-B14F-4D97-AF65-F5344CB8AC3E}">
        <p14:creationId xmlns:p14="http://schemas.microsoft.com/office/powerpoint/2010/main" val="12842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Bayes Classifi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Bayes Classifier</a:t>
            </a:r>
          </a:p>
        </p:txBody>
      </p:sp>
      <p:sp>
        <p:nvSpPr>
          <p:cNvPr id="186" name="In statistical classification, the Bayes Classifier minimizes the probability of misclassification…"/>
          <p:cNvSpPr txBox="1">
            <a:spLocks noGrp="1"/>
          </p:cNvSpPr>
          <p:nvPr>
            <p:ph type="body" idx="1"/>
          </p:nvPr>
        </p:nvSpPr>
        <p:spPr>
          <a:xfrm>
            <a:off x="2015133" y="2135152"/>
            <a:ext cx="8161734" cy="4232673"/>
          </a:xfrm>
          <a:prstGeom prst="rect">
            <a:avLst/>
          </a:prstGeom>
        </p:spPr>
        <p:txBody>
          <a:bodyPr/>
          <a:lstStyle/>
          <a:p>
            <a:r>
              <a:rPr dirty="0"/>
              <a:t>In statistical classification, the </a:t>
            </a:r>
            <a:r>
              <a:rPr b="1" dirty="0">
                <a:latin typeface="Graphik"/>
                <a:ea typeface="Graphik"/>
                <a:cs typeface="Graphik"/>
                <a:sym typeface="Graphik"/>
              </a:rPr>
              <a:t>Bayes Classifier</a:t>
            </a:r>
            <a:r>
              <a:rPr dirty="0"/>
              <a:t> minimizes the probability of misclassification</a:t>
            </a:r>
          </a:p>
          <a:p>
            <a:r>
              <a:rPr dirty="0"/>
              <a:t>It is possible to show that the test error rate is</a:t>
            </a:r>
            <a:r>
              <a:rPr b="1" dirty="0">
                <a:latin typeface="Graphik"/>
                <a:ea typeface="Graphik"/>
                <a:cs typeface="Graphik"/>
                <a:sym typeface="Graphik"/>
              </a:rPr>
              <a:t> minimized</a:t>
            </a:r>
            <a:r>
              <a:rPr dirty="0"/>
              <a:t> (on average) by a classifier that </a:t>
            </a:r>
            <a:r>
              <a:rPr i="1" dirty="0">
                <a:solidFill>
                  <a:srgbClr val="009193"/>
                </a:solidFill>
                <a:latin typeface="Graphik"/>
                <a:ea typeface="Graphik"/>
                <a:cs typeface="Graphik"/>
                <a:sym typeface="Graphik"/>
              </a:rPr>
              <a:t>assigns each observation to the most likely class given its predictor values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Bayes Classifi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Bayes Classifier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0" name="In statistical classification, the Bayes Classifier minimizes the probability of misclassification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015133" y="2135152"/>
                <a:ext cx="8161734" cy="4232673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rPr dirty="0"/>
                  <a:t>In statistical classification, the </a:t>
                </a:r>
                <a:r>
                  <a:rPr b="1" dirty="0">
                    <a:latin typeface="Graphik"/>
                    <a:ea typeface="Graphik"/>
                    <a:cs typeface="Graphik"/>
                    <a:sym typeface="Graphik"/>
                  </a:rPr>
                  <a:t>Bayes Classifier</a:t>
                </a:r>
                <a:r>
                  <a:rPr dirty="0"/>
                  <a:t> minimizes the probability of misclassification</a:t>
                </a:r>
              </a:p>
              <a:p>
                <a:r>
                  <a:rPr dirty="0"/>
                  <a:t>It is possible to show that the test error rate is</a:t>
                </a:r>
                <a:r>
                  <a:rPr b="1" dirty="0">
                    <a:latin typeface="Graphik"/>
                    <a:ea typeface="Graphik"/>
                    <a:cs typeface="Graphik"/>
                    <a:sym typeface="Graphik"/>
                  </a:rPr>
                  <a:t> minimized</a:t>
                </a:r>
                <a:r>
                  <a:rPr dirty="0"/>
                  <a:t> (on average) by a classifier that </a:t>
                </a:r>
                <a:r>
                  <a:rPr i="1" dirty="0">
                    <a:solidFill>
                      <a:srgbClr val="009193"/>
                    </a:solidFill>
                    <a:latin typeface="Graphik"/>
                    <a:ea typeface="Graphik"/>
                    <a:cs typeface="Graphik"/>
                    <a:sym typeface="Graphik"/>
                  </a:rPr>
                  <a:t>assigns each observation to the most likely class given its predictor values</a:t>
                </a:r>
              </a:p>
              <a:p>
                <a:pPr lvl="2"/>
                <a:r>
                  <a:rPr dirty="0"/>
                  <a:t>Assign </a:t>
                </a:r>
                <a:r>
                  <a:rPr i="1" dirty="0">
                    <a:latin typeface="Times New Roman"/>
                    <a:ea typeface="Times New Roman"/>
                    <a:cs typeface="Times New Roman"/>
                    <a:sym typeface="Times New Roman"/>
                  </a:rPr>
                  <a:t>Y</a:t>
                </a:r>
                <a:r>
                  <a:rPr dirty="0"/>
                  <a:t> to the class </a:t>
                </a:r>
                <a:r>
                  <a:rPr i="1" dirty="0">
                    <a:latin typeface="Times New Roman"/>
                    <a:ea typeface="Times New Roman"/>
                    <a:cs typeface="Times New Roman"/>
                    <a:sym typeface="Times New Roman"/>
                  </a:rPr>
                  <a:t>j</a:t>
                </a:r>
                <a:r>
                  <a:rPr dirty="0"/>
                  <a:t> for which the conditional probability that </a:t>
                </a:r>
                <a:r>
                  <a:rPr i="1" dirty="0">
                    <a:solidFill>
                      <a:srgbClr val="FF7E7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Y=j</a:t>
                </a:r>
                <a:r>
                  <a:rPr dirty="0">
                    <a:solidFill>
                      <a:srgbClr val="FF7E79"/>
                    </a:solidFill>
                  </a:rPr>
                  <a:t> given the values of all the predictors </a:t>
                </a:r>
                <a:r>
                  <a:rPr dirty="0"/>
                  <a:t>is the highest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sz="2391" i="1" smtClean="0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limUpp>
                          <m:limUpp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lim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̂</m:t>
                            </m:r>
                          </m:lim>
                        </m:limUpp>
                      </m:e>
                      <m:sub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nor/>
                          </m:r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argmax</m:t>
                        </m:r>
                      </m:e>
                      <m:lim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∈{</m:t>
                        </m:r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lim>
                    </m:limLow>
                    <m:r>
                      <a:rPr lang="en-US" sz="2391" b="0" i="1" smtClean="0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sz="2391" i="1" smtClean="0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sz="2391" i="1" smtClean="0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dirty="0"/>
                  <a:t> </a:t>
                </a:r>
                <a:endParaRPr dirty="0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190" name="In statistical classification, the Bayes Classifier minimizes the probability of misclassification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015133" y="2135152"/>
                <a:ext cx="8161734" cy="4232673"/>
              </a:xfrm>
              <a:prstGeom prst="rect">
                <a:avLst/>
              </a:prstGeom>
              <a:blipFill>
                <a:blip r:embed="rId2"/>
                <a:stretch>
                  <a:fillRect l="-673" t="-576" r="-1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1" name="Where   is the vector of predictor values for a new instance"/>
              <p:cNvSpPr txBox="1"/>
              <p:nvPr/>
            </p:nvSpPr>
            <p:spPr>
              <a:xfrm>
                <a:off x="2984157" y="5630469"/>
                <a:ext cx="3814540" cy="626262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35719" tIns="35719" rIns="35719" bIns="35719" anchor="ctr">
                <a:spAutoFit/>
              </a:bodyPr>
              <a:lstStyle/>
              <a:p>
                <a:r>
                  <a:rPr sz="1266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1266" dirty="0"/>
                  <a:t> is the vector of predictor values for a new instance</a:t>
                </a:r>
                <a:endParaRPr sz="1266" dirty="0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191" name="Where   is the vector of predictor values for a new instanc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4157" y="5630469"/>
                <a:ext cx="3814540" cy="626262"/>
              </a:xfrm>
              <a:prstGeom prst="rect">
                <a:avLst/>
              </a:prstGeom>
              <a:blipFill>
                <a:blip r:embed="rId3"/>
                <a:stretch>
                  <a:fillRect l="-1760" b="-9804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Bayes Classifi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Bayes Classifier</a:t>
            </a:r>
          </a:p>
        </p:txBody>
      </p:sp>
      <p:sp>
        <p:nvSpPr>
          <p:cNvPr id="195" name="For Example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>
                <a:latin typeface="Graphik"/>
                <a:ea typeface="Graphik"/>
                <a:cs typeface="Graphik"/>
                <a:sym typeface="Graphik"/>
              </a:defRPr>
            </a:pPr>
            <a:r>
              <a:rPr dirty="0">
                <a:solidFill>
                  <a:srgbClr val="009193"/>
                </a:solidFill>
              </a:rPr>
              <a:t>Example:</a:t>
            </a:r>
            <a:endParaRPr i="1" dirty="0">
              <a:solidFill>
                <a:srgbClr val="009193"/>
              </a:solidFill>
            </a:endParaRPr>
          </a:p>
          <a:p>
            <a:r>
              <a:rPr dirty="0"/>
              <a:t>In a two-class problem (classes 0 and 1):</a:t>
            </a:r>
          </a:p>
          <a:p>
            <a:pPr lvl="1"/>
            <a:r>
              <a:rPr dirty="0"/>
              <a:t>Assign</a:t>
            </a:r>
            <a:r>
              <a:rPr lang="en-US" dirty="0"/>
              <a:t>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Where   is the vector of predictor values for a new instance"/>
              <p:cNvSpPr txBox="1"/>
              <p:nvPr/>
            </p:nvSpPr>
            <p:spPr>
              <a:xfrm>
                <a:off x="4137952" y="5226527"/>
                <a:ext cx="3060784" cy="626262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35719" tIns="35719" rIns="35719" bIns="35719" anchor="ctr">
                <a:spAutoFit/>
              </a:bodyPr>
              <a:lstStyle/>
              <a:p>
                <a:r>
                  <a:rPr sz="1266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1266"/>
                  <a:t> is the vector of predictor values for a new instance</a:t>
                </a:r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196" name="Where   is the vector of predictor values for a new instanc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7952" y="5226527"/>
                <a:ext cx="3060784" cy="626262"/>
              </a:xfrm>
              <a:prstGeom prst="rect">
                <a:avLst/>
              </a:prstGeom>
              <a:blipFill>
                <a:blip r:embed="rId2"/>
                <a:stretch>
                  <a:fillRect l="-1992" r="-2390" b="-9709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0114EDC6-ED79-115E-0714-A8EA5E535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0817" y="4540956"/>
            <a:ext cx="5764100" cy="4882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3851AB-6D01-AA0E-B368-9C4A0A3BA1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8080" y="3859471"/>
            <a:ext cx="5721493" cy="48463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(From ISLR)"/>
          <p:cNvSpPr txBox="1">
            <a:spLocks noGrp="1"/>
          </p:cNvSpPr>
          <p:nvPr>
            <p:ph type="body" idx="21"/>
          </p:nvPr>
        </p:nvSpPr>
        <p:spPr>
          <a:xfrm>
            <a:off x="605110" y="1568196"/>
            <a:ext cx="10882313" cy="473273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rPr dirty="0"/>
              <a:t>(From ISLR)</a:t>
            </a:r>
          </a:p>
        </p:txBody>
      </p:sp>
      <p:sp>
        <p:nvSpPr>
          <p:cNvPr id="199" name="Illustration of Optimal Classifi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Illustration of Optimal Classifier</a:t>
            </a:r>
          </a:p>
        </p:txBody>
      </p:sp>
      <p:pic>
        <p:nvPicPr>
          <p:cNvPr id="200" name="unknown.png" descr="unkn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744" y="1879700"/>
            <a:ext cx="8862512" cy="4115747"/>
          </a:xfrm>
          <a:prstGeom prst="rect">
            <a:avLst/>
          </a:prstGeom>
          <a:ln w="3175">
            <a:miter lim="400000"/>
          </a:ln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One small problem…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One small problem…</a:t>
            </a:r>
          </a:p>
        </p:txBody>
      </p:sp>
      <p:sp>
        <p:nvSpPr>
          <p:cNvPr id="204" name="It is impossible to know the probability of Y given X, so computing the Bayes classifier is impossible for real problem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It is impossible to know the probability of Y given X, so computing the Bayes classifier is impossible for real problems</a:t>
            </a:r>
          </a:p>
          <a:p>
            <a:r>
              <a:rPr dirty="0"/>
              <a:t>Many approaches attempt to </a:t>
            </a:r>
            <a:r>
              <a:rPr b="1" dirty="0">
                <a:latin typeface="Graphik"/>
                <a:ea typeface="Graphik"/>
                <a:cs typeface="Graphik"/>
                <a:sym typeface="Graphik"/>
              </a:rPr>
              <a:t>estimate the conditional distribution of Y given X </a:t>
            </a:r>
            <a:r>
              <a:rPr dirty="0"/>
              <a:t>and then classify a given observation to the class with the highest estimated probability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" grpId="0" build="p" bldLvl="5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KNN agai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KNN again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We’ve already seen how the KNN Classifier estimates this probability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r>
                  <a:t>We’ve already seen how the KNN Classifier estimates this probability</a:t>
                </a:r>
              </a:p>
              <a:p>
                <a14:m>
                  <m:oMath xmlns:m="http://schemas.openxmlformats.org/officeDocument/2006/math"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limLow>
                      <m:limLow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</m:e>
                      <m:lim>
                        <m:sSub>
                          <m:sSub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𝒩</m:t>
                            </m:r>
                          </m:e>
                          <m:sub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lim>
                    </m:limLow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ℐ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208" name="We’ve already seen how the KNN Classifier estimates this probability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513" t="-8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Naive Bay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Naive Bayes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Naive Bayes Classifi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Naive Bayes Classifier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Naive Bayes is a simple classifier that tries to estimate the conditional probability of Y=j given the values of the Xs: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pPr>
                  <a:buClr>
                    <a:srgbClr val="009193"/>
                  </a:buClr>
                  <a:buChar char="‣"/>
                  <a:defRPr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t>Naive Bayes is a simple classifier that tries to estimate the conditional probability of </a:t>
                </a:r>
                <a:r>
                  <a:rPr i="1">
                    <a:latin typeface="Times New Roman"/>
                    <a:ea typeface="Times New Roman"/>
                    <a:cs typeface="Times New Roman"/>
                    <a:sym typeface="Times New Roman"/>
                  </a:rPr>
                  <a:t>Y=j</a:t>
                </a:r>
                <a:r>
                  <a:t> given the values of the </a:t>
                </a:r>
                <a:r>
                  <a:rPr i="1">
                    <a:latin typeface="Times New Roman"/>
                    <a:ea typeface="Times New Roman"/>
                    <a:cs typeface="Times New Roman"/>
                    <a:sym typeface="Times New Roman"/>
                  </a:rPr>
                  <a:t>Xs: </a:t>
                </a:r>
                <a:br>
                  <a:rPr i="1">
                    <a:latin typeface="Times New Roman"/>
                    <a:ea typeface="Times New Roman"/>
                    <a:cs typeface="Times New Roman"/>
                    <a:sym typeface="Times New Roman"/>
                  </a:rPr>
                </a:br>
                <a:br>
                  <a:rPr i="1">
                    <a:latin typeface="Times New Roman"/>
                    <a:ea typeface="Times New Roman"/>
                    <a:cs typeface="Times New Roman"/>
                    <a:sym typeface="Times New Roman"/>
                  </a:rPr>
                </a:br>
                <a14:m>
                  <m:oMath xmlns:m="http://schemas.openxmlformats.org/officeDocument/2006/math">
                    <m:r>
                      <a:rPr sz="196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196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196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sz="196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196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sz="196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sz="196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sz="196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196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196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i="1">
                    <a:latin typeface="Times New Roman"/>
                    <a:ea typeface="Times New Roman"/>
                    <a:cs typeface="Times New Roman"/>
                    <a:sym typeface="Times New Roman"/>
                  </a:rPr>
                </a:br>
                <a:endParaRPr i="1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>
                  <a:buClr>
                    <a:srgbClr val="009193"/>
                  </a:buClr>
                  <a:buChar char="‣"/>
                  <a:defRPr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t>It is called "Naive" because it makes several “naive” simplifying assumptions in order to compute this conditional probability </a:t>
                </a:r>
              </a:p>
            </p:txBody>
          </p:sp>
        </mc:Choice>
        <mc:Fallback xmlns="">
          <p:sp>
            <p:nvSpPr>
              <p:cNvPr id="214" name="Naive Bayes is a simple classifier that tries to estimate the conditional probability of Y=j given the values of the Xs: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798" t="-1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Bayes Ru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Bayes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equation.pdf"/>
              <p:cNvSpPr txBox="1"/>
              <p:nvPr/>
            </p:nvSpPr>
            <p:spPr>
              <a:xfrm>
                <a:off x="2087063" y="1966321"/>
                <a:ext cx="2569037" cy="38946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53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253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53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sz="253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53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sz="253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253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sz="253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53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53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sz="2531"/>
              </a:p>
            </p:txBody>
          </p:sp>
        </mc:Choice>
        <mc:Fallback xmlns="">
          <p:sp>
            <p:nvSpPr>
              <p:cNvPr id="218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7063" y="1966321"/>
                <a:ext cx="2569037" cy="38946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Bayes Ru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Bayes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equation.pdf"/>
              <p:cNvSpPr txBox="1"/>
              <p:nvPr/>
            </p:nvSpPr>
            <p:spPr>
              <a:xfrm>
                <a:off x="2426390" y="3009196"/>
                <a:ext cx="6905224" cy="484345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squar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828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1828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1828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sz="1828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1828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sz="1828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1828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sz="1828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=)=</m:t>
                      </m:r>
                      <m:f>
                        <m:fPr>
                          <m:ctrlPr>
                            <a:rPr sz="1828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828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sz="1828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1828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sz="1828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sz="1828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sz="1828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sz="1828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sz="1828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sz="1828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sz="1828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sz="1828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sz="1828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1828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sz="1828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sz="1828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sz="1828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sz="1828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sz="1828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1828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sz="1828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sz="1828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sz="1828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sz="1828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r>
                        <a:rPr sz="1828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1828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1828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sz="1828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1828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1828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1828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sz="1828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1828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sz="1828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1828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1828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1828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sz="1828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1828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sz="1828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1828" dirty="0"/>
              </a:p>
            </p:txBody>
          </p:sp>
        </mc:Choice>
        <mc:Fallback xmlns="">
          <p:sp>
            <p:nvSpPr>
              <p:cNvPr id="222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6390" y="3009196"/>
                <a:ext cx="6905224" cy="484345"/>
              </a:xfrm>
              <a:prstGeom prst="rect">
                <a:avLst/>
              </a:prstGeom>
              <a:blipFill>
                <a:blip r:embed="rId2"/>
                <a:stretch>
                  <a:fillRect b="-20253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6" name="Group"/>
          <p:cNvGrpSpPr/>
          <p:nvPr/>
        </p:nvGrpSpPr>
        <p:grpSpPr>
          <a:xfrm>
            <a:off x="6721467" y="2201415"/>
            <a:ext cx="1197591" cy="951381"/>
            <a:chOff x="936048" y="106345"/>
            <a:chExt cx="1703238" cy="1637220"/>
          </a:xfrm>
        </p:grpSpPr>
        <p:pic>
          <p:nvPicPr>
            <p:cNvPr id="223" name="Line Line" descr="Line Lin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 rot="6448840">
              <a:off x="587172" y="993313"/>
              <a:ext cx="1099128" cy="401376"/>
            </a:xfrm>
            <a:prstGeom prst="rect">
              <a:avLst/>
            </a:prstGeom>
            <a:effectLst/>
          </p:spPr>
        </p:pic>
        <p:sp>
          <p:nvSpPr>
            <p:cNvPr id="225" name="Proportional to"/>
            <p:cNvSpPr txBox="1"/>
            <p:nvPr/>
          </p:nvSpPr>
          <p:spPr>
            <a:xfrm>
              <a:off x="1057085" y="106345"/>
              <a:ext cx="1582201" cy="379638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>
              <a:lvl1pPr>
                <a:defRPr>
                  <a:solidFill>
                    <a:srgbClr val="D8BB76"/>
                  </a:solidFill>
                  <a:latin typeface="Noteworthy Light"/>
                  <a:ea typeface="Noteworthy Light"/>
                  <a:cs typeface="Noteworthy Light"/>
                  <a:sym typeface="Noteworthy Light"/>
                </a:defRPr>
              </a:lvl1pPr>
            </a:lstStyle>
            <a:p>
              <a:r>
                <a:rPr sz="1266" dirty="0"/>
                <a:t>Proportional to </a:t>
              </a:r>
            </a:p>
          </p:txBody>
        </p:sp>
      </p:grpSp>
      <p:sp>
        <p:nvSpPr>
          <p:cNvPr id="227" name="Likelihood"/>
          <p:cNvSpPr txBox="1"/>
          <p:nvPr/>
        </p:nvSpPr>
        <p:spPr>
          <a:xfrm>
            <a:off x="4692611" y="2658978"/>
            <a:ext cx="822341" cy="22060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1800">
                <a:solidFill>
                  <a:srgbClr val="FF7E79"/>
                </a:solidFill>
              </a:defRPr>
            </a:lvl1pPr>
          </a:lstStyle>
          <a:p>
            <a:r>
              <a:rPr sz="1266"/>
              <a:t>Likelihood</a:t>
            </a:r>
          </a:p>
        </p:txBody>
      </p:sp>
      <p:sp>
        <p:nvSpPr>
          <p:cNvPr id="228" name="Prior"/>
          <p:cNvSpPr txBox="1"/>
          <p:nvPr/>
        </p:nvSpPr>
        <p:spPr>
          <a:xfrm>
            <a:off x="5911061" y="2658978"/>
            <a:ext cx="419988" cy="22060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1800">
                <a:solidFill>
                  <a:srgbClr val="005493"/>
                </a:solidFill>
              </a:defRPr>
            </a:lvl1pPr>
          </a:lstStyle>
          <a:p>
            <a:r>
              <a:rPr sz="1266"/>
              <a:t>Prior</a:t>
            </a:r>
          </a:p>
        </p:txBody>
      </p:sp>
      <p:sp>
        <p:nvSpPr>
          <p:cNvPr id="229" name="Normalizing constant"/>
          <p:cNvSpPr txBox="1"/>
          <p:nvPr/>
        </p:nvSpPr>
        <p:spPr>
          <a:xfrm>
            <a:off x="4692573" y="3567269"/>
            <a:ext cx="1574855" cy="22060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1800">
                <a:solidFill>
                  <a:srgbClr val="009051"/>
                </a:solidFill>
              </a:defRPr>
            </a:lvl1pPr>
          </a:lstStyle>
          <a:p>
            <a:r>
              <a:rPr sz="1266" dirty="0"/>
              <a:t>Normalizing constant</a:t>
            </a:r>
          </a:p>
        </p:txBody>
      </p:sp>
      <p:sp>
        <p:nvSpPr>
          <p:cNvPr id="230" name="Likelihood"/>
          <p:cNvSpPr txBox="1"/>
          <p:nvPr/>
        </p:nvSpPr>
        <p:spPr>
          <a:xfrm>
            <a:off x="7291150" y="2837572"/>
            <a:ext cx="822341" cy="22060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1800">
                <a:solidFill>
                  <a:srgbClr val="FF7E79"/>
                </a:solidFill>
              </a:defRPr>
            </a:lvl1pPr>
          </a:lstStyle>
          <a:p>
            <a:r>
              <a:rPr sz="1266"/>
              <a:t>Likelihood</a:t>
            </a:r>
          </a:p>
        </p:txBody>
      </p:sp>
      <p:sp>
        <p:nvSpPr>
          <p:cNvPr id="231" name="Prior"/>
          <p:cNvSpPr txBox="1"/>
          <p:nvPr/>
        </p:nvSpPr>
        <p:spPr>
          <a:xfrm>
            <a:off x="8509601" y="2837572"/>
            <a:ext cx="419988" cy="22060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1800">
                <a:solidFill>
                  <a:srgbClr val="005493"/>
                </a:solidFill>
              </a:defRPr>
            </a:lvl1pPr>
          </a:lstStyle>
          <a:p>
            <a:r>
              <a:rPr sz="1266"/>
              <a:t>Prior</a:t>
            </a:r>
          </a:p>
        </p:txBody>
      </p:sp>
      <p:pic>
        <p:nvPicPr>
          <p:cNvPr id="232" name="Line Line" descr="Line Line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 rot="15344336">
            <a:off x="6829088" y="3631288"/>
            <a:ext cx="758383" cy="233239"/>
          </a:xfrm>
          <a:prstGeom prst="rect">
            <a:avLst/>
          </a:prstGeom>
        </p:spPr>
      </p:pic>
      <p:sp>
        <p:nvSpPr>
          <p:cNvPr id="234" name="Joint pdf of X given Y=j"/>
          <p:cNvSpPr txBox="1"/>
          <p:nvPr/>
        </p:nvSpPr>
        <p:spPr>
          <a:xfrm>
            <a:off x="6779297" y="4221811"/>
            <a:ext cx="1555042" cy="22060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/>
          <a:p>
            <a:pPr>
              <a:defRPr>
                <a:solidFill>
                  <a:srgbClr val="7A81FF"/>
                </a:solidFill>
                <a:latin typeface="Noteworthy Light"/>
                <a:ea typeface="Noteworthy Light"/>
                <a:cs typeface="Noteworthy Light"/>
                <a:sym typeface="Noteworthy Light"/>
              </a:defRPr>
            </a:pPr>
            <a:r>
              <a:rPr sz="1266" dirty="0">
                <a:latin typeface="Noteworthy Bold"/>
                <a:ea typeface="Noteworthy Bold"/>
                <a:cs typeface="Noteworthy Bold"/>
                <a:sym typeface="Noteworthy Bold"/>
              </a:rPr>
              <a:t>Joint</a:t>
            </a:r>
            <a:r>
              <a:rPr sz="1266" dirty="0"/>
              <a:t> pdf of X given Y=j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" grpId="0" animBg="1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Bayes Ru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Bayes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8" name="equation.pdf"/>
              <p:cNvSpPr txBox="1"/>
              <p:nvPr/>
            </p:nvSpPr>
            <p:spPr>
              <a:xfrm>
                <a:off x="1988836" y="1794380"/>
                <a:ext cx="5526449" cy="357021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)∝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320"/>
              </a:p>
            </p:txBody>
          </p:sp>
        </mc:Choice>
        <mc:Fallback xmlns="">
          <p:sp>
            <p:nvSpPr>
              <p:cNvPr id="238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8836" y="1794380"/>
                <a:ext cx="5526449" cy="357021"/>
              </a:xfrm>
              <a:prstGeom prst="rect">
                <a:avLst/>
              </a:prstGeom>
              <a:blipFill>
                <a:blip r:embed="rId2"/>
                <a:stretch>
                  <a:fillRect l="-662" r="-1323" b="-35593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9" name="Likelihood"/>
          <p:cNvSpPr txBox="1"/>
          <p:nvPr/>
        </p:nvSpPr>
        <p:spPr>
          <a:xfrm>
            <a:off x="4889064" y="1509459"/>
            <a:ext cx="822341" cy="26693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800">
                <a:solidFill>
                  <a:srgbClr val="FF7E79"/>
                </a:solidFill>
              </a:defRPr>
            </a:lvl1pPr>
          </a:lstStyle>
          <a:p>
            <a:r>
              <a:rPr sz="1266"/>
              <a:t>Likelihood</a:t>
            </a:r>
          </a:p>
        </p:txBody>
      </p:sp>
      <p:sp>
        <p:nvSpPr>
          <p:cNvPr id="240" name="Prior"/>
          <p:cNvSpPr txBox="1"/>
          <p:nvPr/>
        </p:nvSpPr>
        <p:spPr>
          <a:xfrm>
            <a:off x="6509351" y="1509459"/>
            <a:ext cx="419988" cy="26693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800">
                <a:solidFill>
                  <a:srgbClr val="005493"/>
                </a:solidFill>
              </a:defRPr>
            </a:lvl1pPr>
          </a:lstStyle>
          <a:p>
            <a:r>
              <a:rPr sz="1266"/>
              <a:t>Prior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Naive Bayes Simplifying Assumptions"/>
          <p:cNvSpPr txBox="1">
            <a:spLocks noGrp="1"/>
          </p:cNvSpPr>
          <p:nvPr>
            <p:ph type="title"/>
          </p:nvPr>
        </p:nvSpPr>
        <p:spPr>
          <a:xfrm>
            <a:off x="700635" y="707365"/>
            <a:ext cx="10691265" cy="1307592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223520">
              <a:defRPr sz="5280" spc="-52"/>
            </a:lvl1pPr>
          </a:lstStyle>
          <a:p>
            <a:r>
              <a:rPr dirty="0"/>
              <a:t>Naive Bayes Simplifying Assumptions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3" name="Simplifying assumption #1:…"/>
              <p:cNvSpPr txBox="1"/>
              <p:nvPr/>
            </p:nvSpPr>
            <p:spPr>
              <a:xfrm>
                <a:off x="1745183" y="3645554"/>
                <a:ext cx="8295663" cy="1791004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35719" tIns="35719" rIns="35719" bIns="35719" anchor="ctr">
                <a:spAutoFit/>
              </a:bodyPr>
              <a:lstStyle/>
              <a:p>
                <a:pPr>
                  <a:defRPr>
                    <a:solidFill>
                      <a:srgbClr val="FF7E79"/>
                    </a:solidFill>
                  </a:defRPr>
                </a:pPr>
                <a:r>
                  <a:rPr sz="2200" dirty="0"/>
                  <a:t>Simplifying assumption #1:</a:t>
                </a:r>
              </a:p>
              <a:p>
                <a:pPr>
                  <a:defRPr>
                    <a:solidFill>
                      <a:srgbClr val="FF7E79"/>
                    </a:solidFill>
                  </a:defRPr>
                </a:pPr>
                <a:endParaRPr sz="2200" dirty="0"/>
              </a:p>
              <a:p>
                <a:pPr marL="223234" indent="-223234">
                  <a:buSzPct val="100000"/>
                  <a:buChar char="•"/>
                  <a:defRPr>
                    <a:solidFill>
                      <a:srgbClr val="FF7E79"/>
                    </a:solidFill>
                  </a:defRPr>
                </a:pPr>
                <a:r>
                  <a:rPr sz="2200" dirty="0"/>
                  <a:t>In order to compute the likelihood, we assume </a:t>
                </a:r>
                <a:r>
                  <a:rPr sz="2200" b="1" dirty="0"/>
                  <a:t>independence</a:t>
                </a:r>
                <a:r>
                  <a:rPr sz="2200" dirty="0"/>
                  <a:t> between predictors</a:t>
                </a:r>
              </a:p>
              <a:p>
                <a:pPr marL="223234" indent="-223234">
                  <a:buSzPct val="100000"/>
                  <a:buChar char="•"/>
                  <a:defRPr>
                    <a:solidFill>
                      <a:srgbClr val="FF7E79"/>
                    </a:solidFill>
                  </a:defRPr>
                </a:pPr>
                <a:r>
                  <a:rPr sz="2200" dirty="0"/>
                  <a:t>That is, we assume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2200" i="1">
                            <a:solidFill>
                              <a:srgbClr val="FF7D7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200" i="1">
                            <a:solidFill>
                              <a:srgbClr val="FF7D78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sz="2200" i="1">
                            <a:solidFill>
                              <a:srgbClr val="FF7D7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2200" i="1">
                        <a:solidFill>
                          <a:srgbClr val="FF7D78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2200" i="1">
                            <a:solidFill>
                              <a:srgbClr val="FF7D7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200" i="1">
                            <a:solidFill>
                              <a:srgbClr val="FF7D78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sz="2200" i="1">
                            <a:solidFill>
                              <a:srgbClr val="FF7D7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sz="2200" i="1">
                        <a:solidFill>
                          <a:srgbClr val="FF7D78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sz="2200" i="1">
                            <a:solidFill>
                              <a:srgbClr val="FF7D7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200" i="1">
                            <a:solidFill>
                              <a:srgbClr val="FF7D78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sz="2200" i="1">
                            <a:solidFill>
                              <a:srgbClr val="FF7D78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sz="2200" dirty="0"/>
                  <a:t> are mutually independent </a:t>
                </a:r>
              </a:p>
            </p:txBody>
          </p:sp>
        </mc:Choice>
        <mc:Fallback xmlns="">
          <p:sp>
            <p:nvSpPr>
              <p:cNvPr id="243" name="Simplifying assumption #1: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5183" y="3645554"/>
                <a:ext cx="8295663" cy="1791004"/>
              </a:xfrm>
              <a:prstGeom prst="rect">
                <a:avLst/>
              </a:prstGeom>
              <a:blipFill>
                <a:blip r:embed="rId2"/>
                <a:stretch>
                  <a:fillRect l="-1616" t="-2381" b="-5442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4" name="Rectangle Rectangle" descr="Rectangle Rectangl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34" y="2847803"/>
            <a:ext cx="1997715" cy="4351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6" name="equation.pdf"/>
              <p:cNvSpPr txBox="1"/>
              <p:nvPr/>
            </p:nvSpPr>
            <p:spPr>
              <a:xfrm>
                <a:off x="1988836" y="2855426"/>
                <a:ext cx="5526449" cy="357021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)∝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320" dirty="0"/>
              </a:p>
            </p:txBody>
          </p:sp>
        </mc:Choice>
        <mc:Fallback xmlns="">
          <p:sp>
            <p:nvSpPr>
              <p:cNvPr id="246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8836" y="2855426"/>
                <a:ext cx="5526449" cy="357021"/>
              </a:xfrm>
              <a:prstGeom prst="rect">
                <a:avLst/>
              </a:prstGeom>
              <a:blipFill>
                <a:blip r:embed="rId4"/>
                <a:stretch>
                  <a:fillRect l="-662" r="-1323" b="-35593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7" name="Likelihood"/>
          <p:cNvSpPr txBox="1"/>
          <p:nvPr/>
        </p:nvSpPr>
        <p:spPr>
          <a:xfrm>
            <a:off x="4889064" y="2570505"/>
            <a:ext cx="822341" cy="26693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800">
                <a:solidFill>
                  <a:srgbClr val="FF7E79"/>
                </a:solidFill>
              </a:defRPr>
            </a:lvl1pPr>
          </a:lstStyle>
          <a:p>
            <a:r>
              <a:rPr sz="1266"/>
              <a:t>Likelihood</a:t>
            </a:r>
          </a:p>
        </p:txBody>
      </p:sp>
      <p:sp>
        <p:nvSpPr>
          <p:cNvPr id="248" name="Prior"/>
          <p:cNvSpPr txBox="1"/>
          <p:nvPr/>
        </p:nvSpPr>
        <p:spPr>
          <a:xfrm>
            <a:off x="6509351" y="2570505"/>
            <a:ext cx="419988" cy="26693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800">
                <a:solidFill>
                  <a:srgbClr val="005493"/>
                </a:solidFill>
              </a:defRPr>
            </a:lvl1pPr>
          </a:lstStyle>
          <a:p>
            <a:r>
              <a:rPr sz="1266"/>
              <a:t>Prior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Naive Bayes Simplifying Assumptions"/>
          <p:cNvSpPr txBox="1">
            <a:spLocks noGrp="1"/>
          </p:cNvSpPr>
          <p:nvPr>
            <p:ph type="title"/>
          </p:nvPr>
        </p:nvSpPr>
        <p:spPr>
          <a:xfrm>
            <a:off x="700635" y="793644"/>
            <a:ext cx="10691265" cy="1307592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223520">
              <a:defRPr sz="5280" spc="-52"/>
            </a:lvl1pPr>
          </a:lstStyle>
          <a:p>
            <a:r>
              <a:rPr dirty="0"/>
              <a:t>Naive Bayes Simplifying Assumptions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0" name="Simplifying assumption #2 (usually):…"/>
              <p:cNvSpPr txBox="1"/>
              <p:nvPr/>
            </p:nvSpPr>
            <p:spPr>
              <a:xfrm>
                <a:off x="1948169" y="3254032"/>
                <a:ext cx="8295663" cy="1901675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35719" tIns="35719" rIns="35719" bIns="35719" anchor="ctr">
                <a:spAutoFit/>
              </a:bodyPr>
              <a:lstStyle/>
              <a:p>
                <a:pPr>
                  <a:defRPr>
                    <a:solidFill>
                      <a:srgbClr val="005493"/>
                    </a:solidFill>
                  </a:defRPr>
                </a:pPr>
                <a:r>
                  <a:rPr sz="2000" dirty="0"/>
                  <a:t>Simplifying assumption #2 (usually):</a:t>
                </a:r>
              </a:p>
              <a:p>
                <a:pPr>
                  <a:defRPr>
                    <a:solidFill>
                      <a:srgbClr val="005493"/>
                    </a:solidFill>
                  </a:defRPr>
                </a:pPr>
                <a:endParaRPr sz="2000" dirty="0"/>
              </a:p>
              <a:p>
                <a:pPr marL="223234" indent="-223234">
                  <a:buSzPct val="100000"/>
                  <a:buChar char="•"/>
                  <a:defRPr>
                    <a:solidFill>
                      <a:srgbClr val="005493"/>
                    </a:solidFill>
                  </a:defRPr>
                </a:pPr>
                <a:r>
                  <a:rPr sz="2000" dirty="0"/>
                  <a:t>Prior distribution is computed using the data</a:t>
                </a:r>
                <a:endParaRPr lang="en-US" sz="2000" dirty="0"/>
              </a:p>
              <a:p>
                <a:pPr marL="223234" indent="-223234">
                  <a:buSzPct val="100000"/>
                  <a:buChar char="•"/>
                  <a:defRPr>
                    <a:solidFill>
                      <a:srgbClr val="005493"/>
                    </a:solidFill>
                  </a:defRPr>
                </a:pPr>
                <a:endParaRPr sz="2000" dirty="0"/>
              </a:p>
              <a:p>
                <a:pPr marL="223234" indent="-223234">
                  <a:buSzPct val="100000"/>
                  <a:buChar char="•"/>
                  <a:defRPr>
                    <a:solidFill>
                      <a:srgbClr val="005493"/>
                    </a:solidFill>
                  </a:defRPr>
                </a:pPr>
                <a:r>
                  <a:rPr sz="2000" dirty="0"/>
                  <a:t>That is, </a:t>
                </a:r>
                <a14:m>
                  <m:oMath xmlns:m="http://schemas.openxmlformats.org/officeDocument/2006/math">
                    <m:r>
                      <a:rPr sz="2391" i="1">
                        <a:solidFill>
                          <a:srgbClr val="005392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2391" i="1">
                        <a:solidFill>
                          <a:srgbClr val="00539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391" i="1">
                        <a:solidFill>
                          <a:srgbClr val="005392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sz="2391" i="1">
                        <a:solidFill>
                          <a:srgbClr val="00539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2391" i="1">
                        <a:solidFill>
                          <a:srgbClr val="005392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sz="2391" i="1">
                        <a:solidFill>
                          <a:srgbClr val="005392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sz="2391" i="1">
                            <a:solidFill>
                              <a:srgbClr val="00539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391" i="1">
                            <a:solidFill>
                              <a:srgbClr val="005392"/>
                            </a:solidFill>
                            <a:latin typeface="Cambria Math" panose="02040503050406030204" pitchFamily="18" charset="0"/>
                          </a:rPr>
                          <m:t>#</m:t>
                        </m:r>
                        <m:r>
                          <m:rPr>
                            <m:nor/>
                          </m:rPr>
                          <a:rPr sz="2391" i="1">
                            <a:solidFill>
                              <a:srgbClr val="005392"/>
                            </a:solidFill>
                            <a:latin typeface="Cambria Math" panose="02040503050406030204" pitchFamily="18" charset="0"/>
                          </a:rPr>
                          <m:t>instances</m:t>
                        </m:r>
                        <m:r>
                          <m:rPr>
                            <m:nor/>
                          </m:rPr>
                          <a:rPr sz="2391" i="1">
                            <a:solidFill>
                              <a:srgbClr val="00539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sz="2391" i="1">
                            <a:solidFill>
                              <a:srgbClr val="005392"/>
                            </a:solidFill>
                            <a:latin typeface="Cambria Math" panose="02040503050406030204" pitchFamily="18" charset="0"/>
                          </a:rPr>
                          <m:t>of</m:t>
                        </m:r>
                        <m:r>
                          <m:rPr>
                            <m:nor/>
                          </m:rPr>
                          <a:rPr sz="2391" i="1">
                            <a:solidFill>
                              <a:srgbClr val="00539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sz="2391" i="1">
                            <a:solidFill>
                              <a:srgbClr val="005392"/>
                            </a:solidFill>
                            <a:latin typeface="Cambria Math" panose="02040503050406030204" pitchFamily="18" charset="0"/>
                          </a:rPr>
                          <m:t>class</m:t>
                        </m:r>
                        <m:r>
                          <a:rPr sz="2391" i="1">
                            <a:solidFill>
                              <a:srgbClr val="005392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nor/>
                          </m:rPr>
                          <a:rPr sz="2391" i="1">
                            <a:solidFill>
                              <a:srgbClr val="005392"/>
                            </a:solidFill>
                            <a:latin typeface="Cambria Math" panose="02040503050406030204" pitchFamily="18" charset="0"/>
                          </a:rPr>
                          <m:t>in</m:t>
                        </m:r>
                        <m:r>
                          <m:rPr>
                            <m:nor/>
                          </m:rPr>
                          <a:rPr sz="2391" i="1">
                            <a:solidFill>
                              <a:srgbClr val="00539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sz="2391" i="1">
                            <a:solidFill>
                              <a:srgbClr val="005392"/>
                            </a:solidFill>
                            <a:latin typeface="Cambria Math" panose="02040503050406030204" pitchFamily="18" charset="0"/>
                          </a:rPr>
                          <m:t>data</m:t>
                        </m:r>
                      </m:num>
                      <m:den>
                        <m:r>
                          <m:rPr>
                            <m:nor/>
                          </m:rPr>
                          <a:rPr sz="2391" i="1">
                            <a:solidFill>
                              <a:srgbClr val="005392"/>
                            </a:solidFill>
                            <a:latin typeface="Cambria Math" panose="02040503050406030204" pitchFamily="18" charset="0"/>
                          </a:rPr>
                          <m:t>total</m:t>
                        </m:r>
                        <m:r>
                          <m:rPr>
                            <m:nor/>
                          </m:rPr>
                          <a:rPr sz="2391" i="1">
                            <a:solidFill>
                              <a:srgbClr val="00539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sz="2391" i="1">
                            <a:solidFill>
                              <a:srgbClr val="005392"/>
                            </a:solidFill>
                            <a:latin typeface="Cambria Math" panose="02040503050406030204" pitchFamily="18" charset="0"/>
                          </a:rPr>
                          <m:t>instances</m:t>
                        </m:r>
                        <m:r>
                          <m:rPr>
                            <m:nor/>
                          </m:rPr>
                          <a:rPr sz="2391" i="1">
                            <a:solidFill>
                              <a:srgbClr val="00539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sz="2391" i="1">
                            <a:solidFill>
                              <a:srgbClr val="005392"/>
                            </a:solidFill>
                            <a:latin typeface="Cambria Math" panose="02040503050406030204" pitchFamily="18" charset="0"/>
                          </a:rPr>
                          <m:t>in</m:t>
                        </m:r>
                        <m:r>
                          <m:rPr>
                            <m:nor/>
                          </m:rPr>
                          <a:rPr sz="2391" i="1">
                            <a:solidFill>
                              <a:srgbClr val="00539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sz="2391" i="1">
                            <a:solidFill>
                              <a:srgbClr val="005392"/>
                            </a:solidFill>
                            <a:latin typeface="Cambria Math" panose="02040503050406030204" pitchFamily="18" charset="0"/>
                          </a:rPr>
                          <m:t>data</m:t>
                        </m:r>
                      </m:den>
                    </m:f>
                  </m:oMath>
                </a14:m>
                <a:endParaRPr sz="1266" dirty="0"/>
              </a:p>
            </p:txBody>
          </p:sp>
        </mc:Choice>
        <mc:Fallback xmlns="">
          <p:sp>
            <p:nvSpPr>
              <p:cNvPr id="260" name="Simplifying assumption #2 (usually):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8169" y="3254032"/>
                <a:ext cx="8295663" cy="1901675"/>
              </a:xfrm>
              <a:prstGeom prst="rect">
                <a:avLst/>
              </a:prstGeom>
              <a:blipFill>
                <a:blip r:embed="rId2"/>
                <a:stretch>
                  <a:fillRect l="-1471" t="-1923" b="-641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1" name="Rectangle Rectangle" descr="Rectangle Rectangl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280623" y="2925441"/>
            <a:ext cx="1190697" cy="4351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3" name="equation.pdf"/>
              <p:cNvSpPr txBox="1"/>
              <p:nvPr/>
            </p:nvSpPr>
            <p:spPr>
              <a:xfrm>
                <a:off x="1988836" y="2941692"/>
                <a:ext cx="5526449" cy="357021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)∝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320"/>
              </a:p>
            </p:txBody>
          </p:sp>
        </mc:Choice>
        <mc:Fallback xmlns="">
          <p:sp>
            <p:nvSpPr>
              <p:cNvPr id="263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8836" y="2941692"/>
                <a:ext cx="5526449" cy="357021"/>
              </a:xfrm>
              <a:prstGeom prst="rect">
                <a:avLst/>
              </a:prstGeom>
              <a:blipFill>
                <a:blip r:embed="rId4"/>
                <a:stretch>
                  <a:fillRect l="-662" r="-1323" b="-3793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4" name="Likelihood"/>
          <p:cNvSpPr txBox="1"/>
          <p:nvPr/>
        </p:nvSpPr>
        <p:spPr>
          <a:xfrm>
            <a:off x="4889064" y="2656771"/>
            <a:ext cx="822341" cy="26693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800">
                <a:solidFill>
                  <a:srgbClr val="FF7E79"/>
                </a:solidFill>
              </a:defRPr>
            </a:lvl1pPr>
          </a:lstStyle>
          <a:p>
            <a:r>
              <a:rPr sz="1266" dirty="0"/>
              <a:t>Likelihood</a:t>
            </a:r>
          </a:p>
        </p:txBody>
      </p:sp>
      <p:sp>
        <p:nvSpPr>
          <p:cNvPr id="265" name="Prior"/>
          <p:cNvSpPr txBox="1"/>
          <p:nvPr/>
        </p:nvSpPr>
        <p:spPr>
          <a:xfrm>
            <a:off x="6509351" y="2656771"/>
            <a:ext cx="419988" cy="26693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800">
                <a:solidFill>
                  <a:srgbClr val="005493"/>
                </a:solidFill>
              </a:defRPr>
            </a:lvl1pPr>
          </a:lstStyle>
          <a:p>
            <a:r>
              <a:rPr sz="1266"/>
              <a:t>Prior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Naive Bayes Simplifying Assumptions"/>
          <p:cNvSpPr txBox="1">
            <a:spLocks noGrp="1"/>
          </p:cNvSpPr>
          <p:nvPr>
            <p:ph type="title"/>
          </p:nvPr>
        </p:nvSpPr>
        <p:spPr>
          <a:xfrm>
            <a:off x="700635" y="776379"/>
            <a:ext cx="10691265" cy="1307592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223520">
              <a:defRPr sz="5280" spc="-52"/>
            </a:lvl1pPr>
          </a:lstStyle>
          <a:p>
            <a:r>
              <a:rPr dirty="0"/>
              <a:t>Naive Bayes Simplifying Assumptions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8" name="Simplifying assumption #3 (actually, this is always required in modeling data):…"/>
              <p:cNvSpPr txBox="1"/>
              <p:nvPr/>
            </p:nvSpPr>
            <p:spPr>
              <a:xfrm>
                <a:off x="1652793" y="2878412"/>
                <a:ext cx="8871434" cy="3173241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wrap="square" lIns="35719" tIns="35719" rIns="35719" bIns="35719" anchor="ctr">
                <a:spAutoFit/>
              </a:bodyPr>
              <a:lstStyle/>
              <a:p>
                <a:pPr>
                  <a:lnSpc>
                    <a:spcPct val="90000"/>
                  </a:lnSpc>
                  <a:defRPr>
                    <a:solidFill>
                      <a:srgbClr val="942193"/>
                    </a:solidFill>
                  </a:defRPr>
                </a:pPr>
                <a:r>
                  <a:rPr sz="2000" dirty="0"/>
                  <a:t>Simplifying assumption #3:</a:t>
                </a:r>
                <a:br>
                  <a:rPr sz="2000" dirty="0"/>
                </a:br>
                <a:endParaRPr sz="2000" dirty="0"/>
              </a:p>
              <a:p>
                <a:pPr marL="223234" indent="-223234">
                  <a:lnSpc>
                    <a:spcPct val="90000"/>
                  </a:lnSpc>
                  <a:buSzPct val="100000"/>
                  <a:buChar char="•"/>
                  <a:defRPr>
                    <a:solidFill>
                      <a:srgbClr val="942193"/>
                    </a:solidFill>
                  </a:defRPr>
                </a:pPr>
                <a:r>
                  <a:rPr sz="2000" dirty="0"/>
                  <a:t>We know the distribution of the </a:t>
                </a:r>
                <a14:m>
                  <m:oMath xmlns:m="http://schemas.openxmlformats.org/officeDocument/2006/math">
                    <m:r>
                      <a:rPr sz="2000" i="1">
                        <a:solidFill>
                          <a:srgbClr val="942092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000" dirty="0"/>
                  <a:t>s, that is</a:t>
                </a:r>
                <a:r>
                  <a:rPr lang="en-US" sz="2000" dirty="0"/>
                  <a:t>,</a:t>
                </a:r>
                <a:r>
                  <a:rPr sz="2000" dirty="0"/>
                  <a:t> the distribution of </a:t>
                </a:r>
                <a:br>
                  <a:rPr sz="1266" dirty="0"/>
                </a:br>
                <a14:m>
                  <m:oMath xmlns:m="http://schemas.openxmlformats.org/officeDocument/2006/math">
                    <m:r>
                      <a:rPr sz="2391" i="1">
                        <a:solidFill>
                          <a:srgbClr val="942092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2391" i="1">
                        <a:solidFill>
                          <a:srgbClr val="94209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391" i="1">
                        <a:solidFill>
                          <a:srgbClr val="942092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sz="2391" i="1">
                        <a:solidFill>
                          <a:srgbClr val="94209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2391" i="1">
                        <a:solidFill>
                          <a:srgbClr val="942092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391" i="1">
                        <a:solidFill>
                          <a:srgbClr val="942092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sz="2391" i="1">
                        <a:solidFill>
                          <a:srgbClr val="942092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sz="2391" i="1">
                        <a:solidFill>
                          <a:srgbClr val="94209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2391" i="1">
                        <a:solidFill>
                          <a:srgbClr val="942092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sz="2391" i="1">
                        <a:solidFill>
                          <a:srgbClr val="94209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1266" dirty="0"/>
              </a:p>
              <a:p>
                <a:pPr marL="223234" indent="-223234">
                  <a:lnSpc>
                    <a:spcPct val="90000"/>
                  </a:lnSpc>
                  <a:buSzPct val="100000"/>
                  <a:buChar char="•"/>
                  <a:defRPr>
                    <a:solidFill>
                      <a:srgbClr val="942193"/>
                    </a:solidFill>
                  </a:defRPr>
                </a:pPr>
                <a:r>
                  <a:rPr sz="2000" dirty="0"/>
                  <a:t>And it is the same for every feature </a:t>
                </a:r>
              </a:p>
              <a:p>
                <a:pPr marL="223234" indent="-223234">
                  <a:lnSpc>
                    <a:spcPct val="90000"/>
                  </a:lnSpc>
                  <a:buSzPct val="100000"/>
                  <a:buChar char="•"/>
                  <a:defRPr>
                    <a:solidFill>
                      <a:srgbClr val="942193"/>
                    </a:solidFill>
                  </a:defRPr>
                </a:pPr>
                <a:r>
                  <a:rPr sz="2000" dirty="0"/>
                  <a:t>Popular choices in Scikit Learn </a:t>
                </a:r>
              </a:p>
              <a:p>
                <a:pPr marL="671488" lvl="2" indent="-225019">
                  <a:lnSpc>
                    <a:spcPct val="90000"/>
                  </a:lnSpc>
                  <a:buSzPct val="100000"/>
                  <a:buChar char="•"/>
                  <a:defRPr>
                    <a:solidFill>
                      <a:srgbClr val="942193"/>
                    </a:solidFill>
                  </a:defRPr>
                </a:pPr>
                <a:r>
                  <a:rPr sz="2000" dirty="0"/>
                  <a:t>Normal distribution  (</a:t>
                </a:r>
                <a:r>
                  <a:rPr sz="2000" dirty="0" err="1">
                    <a:latin typeface="Courier New"/>
                    <a:ea typeface="Courier New"/>
                    <a:cs typeface="Courier New"/>
                    <a:sym typeface="Courier New"/>
                  </a:rPr>
                  <a:t>GaussianNB</a:t>
                </a:r>
                <a:r>
                  <a:rPr sz="2000" dirty="0"/>
                  <a:t>)</a:t>
                </a:r>
              </a:p>
              <a:p>
                <a:pPr marL="671488" lvl="2" indent="-225019">
                  <a:lnSpc>
                    <a:spcPct val="90000"/>
                  </a:lnSpc>
                  <a:buSzPct val="100000"/>
                  <a:buChar char="•"/>
                  <a:defRPr>
                    <a:solidFill>
                      <a:srgbClr val="942193"/>
                    </a:solidFill>
                  </a:defRPr>
                </a:pPr>
                <a:r>
                  <a:rPr sz="2000" dirty="0"/>
                  <a:t>Multinomial distribution (</a:t>
                </a:r>
                <a:r>
                  <a:rPr sz="2000" dirty="0" err="1">
                    <a:latin typeface="Courier New"/>
                    <a:ea typeface="Courier New"/>
                    <a:cs typeface="Courier New"/>
                    <a:sym typeface="Courier New"/>
                  </a:rPr>
                  <a:t>MultinomialNB</a:t>
                </a:r>
                <a:r>
                  <a:rPr sz="2000" dirty="0"/>
                  <a:t>)</a:t>
                </a:r>
              </a:p>
              <a:p>
                <a:pPr marL="671488" lvl="2" indent="-225019">
                  <a:lnSpc>
                    <a:spcPct val="90000"/>
                  </a:lnSpc>
                  <a:buSzPct val="100000"/>
                  <a:buChar char="•"/>
                  <a:defRPr>
                    <a:solidFill>
                      <a:srgbClr val="942193"/>
                    </a:solidFill>
                  </a:defRPr>
                </a:pPr>
                <a:r>
                  <a:rPr sz="2000" dirty="0"/>
                  <a:t>Bernoulli distribution (</a:t>
                </a:r>
                <a:r>
                  <a:rPr sz="2000" dirty="0" err="1">
                    <a:latin typeface="Courier New"/>
                    <a:ea typeface="Courier New"/>
                    <a:cs typeface="Courier New"/>
                    <a:sym typeface="Courier New"/>
                  </a:rPr>
                  <a:t>BernoulliNB</a:t>
                </a:r>
                <a:r>
                  <a:rPr sz="2000" dirty="0"/>
                  <a:t>)</a:t>
                </a:r>
              </a:p>
              <a:p>
                <a:pPr marL="671488" lvl="2" indent="-225019">
                  <a:lnSpc>
                    <a:spcPct val="90000"/>
                  </a:lnSpc>
                  <a:buSzPct val="100000"/>
                  <a:buChar char="•"/>
                  <a:defRPr i="1">
                    <a:solidFill>
                      <a:srgbClr val="942193"/>
                    </a:solidFill>
                    <a:latin typeface="Graphik"/>
                    <a:ea typeface="Graphik"/>
                    <a:cs typeface="Graphik"/>
                    <a:sym typeface="Graphik"/>
                  </a:defRPr>
                </a:pPr>
                <a:r>
                  <a:rPr sz="2000" dirty="0"/>
                  <a:t>IMPORTANT - Remember that these distributions refer to the pdf/</a:t>
                </a:r>
                <a:r>
                  <a:rPr sz="2000" dirty="0" err="1"/>
                  <a:t>pmf</a:t>
                </a:r>
                <a:r>
                  <a:rPr sz="2000" dirty="0"/>
                  <a:t> of the FEATURES</a:t>
                </a:r>
              </a:p>
            </p:txBody>
          </p:sp>
        </mc:Choice>
        <mc:Fallback>
          <p:sp>
            <p:nvSpPr>
              <p:cNvPr id="268" name="Simplifying assumption #3 (actually, this is always required in modeling data):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2793" y="2878412"/>
                <a:ext cx="8871434" cy="3173241"/>
              </a:xfrm>
              <a:prstGeom prst="rect">
                <a:avLst/>
              </a:prstGeom>
              <a:blipFill>
                <a:blip r:embed="rId2"/>
                <a:stretch>
                  <a:fillRect l="-1375" t="-1727" b="-3263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9" name="Rectangle Rectangle" descr="Rectangle Rectangl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624582" y="2404218"/>
            <a:ext cx="2010136" cy="4351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71" name="equation.pdf"/>
              <p:cNvSpPr txBox="1"/>
              <p:nvPr/>
            </p:nvSpPr>
            <p:spPr>
              <a:xfrm>
                <a:off x="2292445" y="2411840"/>
                <a:ext cx="5526449" cy="357021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)∝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320" dirty="0"/>
              </a:p>
            </p:txBody>
          </p:sp>
        </mc:Choice>
        <mc:Fallback xmlns="">
          <p:sp>
            <p:nvSpPr>
              <p:cNvPr id="271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445" y="2411840"/>
                <a:ext cx="5526449" cy="357021"/>
              </a:xfrm>
              <a:prstGeom prst="rect">
                <a:avLst/>
              </a:prstGeom>
              <a:blipFill>
                <a:blip r:embed="rId4"/>
                <a:stretch>
                  <a:fillRect l="-662" r="-1323" b="-3793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2" name="Likelihood"/>
          <p:cNvSpPr txBox="1"/>
          <p:nvPr/>
        </p:nvSpPr>
        <p:spPr>
          <a:xfrm>
            <a:off x="5192673" y="2126918"/>
            <a:ext cx="822341" cy="26693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800">
                <a:solidFill>
                  <a:srgbClr val="FF7E79"/>
                </a:solidFill>
              </a:defRPr>
            </a:lvl1pPr>
          </a:lstStyle>
          <a:p>
            <a:r>
              <a:rPr sz="1266"/>
              <a:t>Likelihood</a:t>
            </a:r>
          </a:p>
        </p:txBody>
      </p:sp>
      <p:sp>
        <p:nvSpPr>
          <p:cNvPr id="273" name="Prior"/>
          <p:cNvSpPr txBox="1"/>
          <p:nvPr/>
        </p:nvSpPr>
        <p:spPr>
          <a:xfrm>
            <a:off x="6812960" y="2126918"/>
            <a:ext cx="419988" cy="26693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800">
                <a:solidFill>
                  <a:srgbClr val="005493"/>
                </a:solidFill>
              </a:defRPr>
            </a:lvl1pPr>
          </a:lstStyle>
          <a:p>
            <a:r>
              <a:rPr sz="1266"/>
              <a:t>Prior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Naive Bayes Simplifying Assumpt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223520">
              <a:defRPr sz="5280" spc="-52"/>
            </a:lvl1pPr>
          </a:lstStyle>
          <a:p>
            <a:r>
              <a:t>Naive Bayes Simplifying Assumptions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7" name="equation.pdf"/>
              <p:cNvSpPr txBox="1"/>
              <p:nvPr/>
            </p:nvSpPr>
            <p:spPr>
              <a:xfrm>
                <a:off x="1997462" y="2510367"/>
                <a:ext cx="6051080" cy="67698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)∝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limUpp>
                        <m:limUppPr>
                          <m:ctrlPr>
                            <a:rPr sz="232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sz="232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sz="232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∏</m:t>
                              </m:r>
                            </m:e>
                            <m:lim>
                              <m:r>
                                <a:rPr sz="232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sz="232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sz="232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lim>
                          </m:limLow>
                        </m:e>
                        <m:lim>
                          <m:r>
                            <a:rPr sz="232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lim>
                      </m:limUpp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232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32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sz="232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sz="232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32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32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sz="23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320"/>
              </a:p>
            </p:txBody>
          </p:sp>
        </mc:Choice>
        <mc:Fallback xmlns="">
          <p:sp>
            <p:nvSpPr>
              <p:cNvPr id="277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7462" y="2510367"/>
                <a:ext cx="6051080" cy="6769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Estimated with frequencies from the training data"/>
          <p:cNvSpPr txBox="1"/>
          <p:nvPr/>
        </p:nvSpPr>
        <p:spPr>
          <a:xfrm>
            <a:off x="1659963" y="3801144"/>
            <a:ext cx="3292876" cy="68768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>
                <a:solidFill>
                  <a:srgbClr val="005493"/>
                </a:solidFill>
              </a:defRPr>
            </a:lvl1pPr>
          </a:lstStyle>
          <a:p>
            <a:r>
              <a:rPr sz="2000" dirty="0"/>
              <a:t>Estimated with frequencies from the training data</a:t>
            </a:r>
          </a:p>
        </p:txBody>
      </p:sp>
      <p:sp>
        <p:nvSpPr>
          <p:cNvPr id="279" name="Assume to be Normal when Xs are numerical…"/>
          <p:cNvSpPr txBox="1"/>
          <p:nvPr/>
        </p:nvSpPr>
        <p:spPr>
          <a:xfrm>
            <a:off x="7214229" y="3531840"/>
            <a:ext cx="3292876" cy="122629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>
              <a:defRPr>
                <a:solidFill>
                  <a:srgbClr val="942193"/>
                </a:solidFill>
              </a:defRPr>
            </a:pPr>
            <a:r>
              <a:rPr sz="1500" dirty="0"/>
              <a:t>Assume to be Normal when </a:t>
            </a:r>
            <a:r>
              <a:rPr sz="1500" dirty="0" err="1"/>
              <a:t>Xs</a:t>
            </a:r>
            <a:r>
              <a:rPr sz="1500" dirty="0"/>
              <a:t> are numerical</a:t>
            </a:r>
            <a:endParaRPr lang="en-US" sz="1500" dirty="0"/>
          </a:p>
          <a:p>
            <a:pPr>
              <a:defRPr>
                <a:solidFill>
                  <a:srgbClr val="942193"/>
                </a:solidFill>
              </a:defRPr>
            </a:pPr>
            <a:endParaRPr sz="1500" dirty="0"/>
          </a:p>
          <a:p>
            <a:pPr>
              <a:defRPr>
                <a:solidFill>
                  <a:srgbClr val="942193"/>
                </a:solidFill>
              </a:defRPr>
            </a:pPr>
            <a:r>
              <a:rPr sz="1500" dirty="0"/>
              <a:t>Assumed to be Multinomial or Bernoulli otherwise</a:t>
            </a:r>
          </a:p>
        </p:txBody>
      </p:sp>
      <p:sp>
        <p:nvSpPr>
          <p:cNvPr id="280" name="Main naive assumptions, Xs are all independent so joint distribution is the product of the marginals"/>
          <p:cNvSpPr txBox="1"/>
          <p:nvPr/>
        </p:nvSpPr>
        <p:spPr>
          <a:xfrm>
            <a:off x="3945963" y="5227141"/>
            <a:ext cx="3292876" cy="76463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>
                <a:solidFill>
                  <a:srgbClr val="FF7E79"/>
                </a:solidFill>
              </a:defRPr>
            </a:lvl1pPr>
          </a:lstStyle>
          <a:p>
            <a:r>
              <a:rPr sz="1500" dirty="0"/>
              <a:t>Main naive assumptions</a:t>
            </a:r>
            <a:r>
              <a:rPr lang="en-US" sz="1500" dirty="0"/>
              <a:t>:</a:t>
            </a:r>
            <a:r>
              <a:rPr sz="1500" dirty="0"/>
              <a:t> </a:t>
            </a:r>
            <a:r>
              <a:rPr sz="1500" dirty="0" err="1"/>
              <a:t>Xs</a:t>
            </a:r>
            <a:r>
              <a:rPr sz="1500" dirty="0"/>
              <a:t> are all independent</a:t>
            </a:r>
            <a:r>
              <a:rPr lang="en-US" sz="1500" dirty="0"/>
              <a:t>,</a:t>
            </a:r>
            <a:r>
              <a:rPr sz="1500" dirty="0"/>
              <a:t> so </a:t>
            </a:r>
            <a:r>
              <a:rPr lang="en-US" sz="1500" dirty="0"/>
              <a:t>the </a:t>
            </a:r>
            <a:r>
              <a:rPr sz="1500" dirty="0"/>
              <a:t>joint distribution is the product of the marginals</a:t>
            </a:r>
          </a:p>
        </p:txBody>
      </p:sp>
      <p:pic>
        <p:nvPicPr>
          <p:cNvPr id="281" name="Line Line" descr="Line Lin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387649" y="3061607"/>
            <a:ext cx="1033772" cy="101029"/>
          </a:xfrm>
          <a:prstGeom prst="rect">
            <a:avLst/>
          </a:prstGeom>
        </p:spPr>
      </p:pic>
      <p:pic>
        <p:nvPicPr>
          <p:cNvPr id="283" name="Line Line" descr="Line Line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5386065" y="3279562"/>
            <a:ext cx="561933" cy="101029"/>
          </a:xfrm>
          <a:prstGeom prst="rect">
            <a:avLst/>
          </a:prstGeom>
        </p:spPr>
      </p:pic>
      <p:pic>
        <p:nvPicPr>
          <p:cNvPr id="285" name="Line Line" descr="Line Line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5993182" y="3061607"/>
            <a:ext cx="1986704" cy="101029"/>
          </a:xfrm>
          <a:prstGeom prst="rect">
            <a:avLst/>
          </a:prstGeom>
        </p:spPr>
      </p:pic>
      <p:pic>
        <p:nvPicPr>
          <p:cNvPr id="287" name="Line Line" descr="Line Line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 rot="8100000">
            <a:off x="3784600" y="3418271"/>
            <a:ext cx="886790" cy="234094"/>
          </a:xfrm>
          <a:prstGeom prst="rect">
            <a:avLst/>
          </a:prstGeom>
        </p:spPr>
      </p:pic>
      <p:pic>
        <p:nvPicPr>
          <p:cNvPr id="289" name="Line Line" descr="Line Line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 rot="5628620">
            <a:off x="4948407" y="4065869"/>
            <a:ext cx="1485327" cy="234094"/>
          </a:xfrm>
          <a:prstGeom prst="rect">
            <a:avLst/>
          </a:prstGeom>
        </p:spPr>
      </p:pic>
      <p:pic>
        <p:nvPicPr>
          <p:cNvPr id="291" name="Line Line" descr="Line Line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 rot="1622941">
            <a:off x="6216642" y="3326753"/>
            <a:ext cx="943414" cy="234094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Naive Bayes Classifi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Naive Bayes Classifier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140D29-E78D-FF73-6D1F-C7FF7DCD9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772" y="2383707"/>
            <a:ext cx="8091959" cy="115414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Illustration of Bayes vs Naive Bay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defTabSz="243839">
              <a:defRPr sz="5760" spc="-57"/>
            </a:lvl1pPr>
          </a:lstStyle>
          <a:p>
            <a:r>
              <a:rPr dirty="0"/>
              <a:t>Bayes vs Naive Bayes</a:t>
            </a:r>
          </a:p>
        </p:txBody>
      </p:sp>
      <p:pic>
        <p:nvPicPr>
          <p:cNvPr id="300" name="unknown.png" descr="unkn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480" y="2612045"/>
            <a:ext cx="8885039" cy="4126209"/>
          </a:xfrm>
          <a:prstGeom prst="rect">
            <a:avLst/>
          </a:prstGeom>
          <a:ln w="3175">
            <a:miter lim="400000"/>
          </a:ln>
        </p:spPr>
      </p:pic>
      <p:sp>
        <p:nvSpPr>
          <p:cNvPr id="2" name="(From ISLR)">
            <a:extLst>
              <a:ext uri="{FF2B5EF4-FFF2-40B4-BE49-F238E27FC236}">
                <a16:creationId xmlns:a16="http://schemas.microsoft.com/office/drawing/2014/main" id="{237A3484-78E0-B802-2168-794B53499A46}"/>
              </a:ext>
            </a:extLst>
          </p:cNvPr>
          <p:cNvSpPr txBox="1">
            <a:spLocks/>
          </p:cNvSpPr>
          <p:nvPr/>
        </p:nvSpPr>
        <p:spPr>
          <a:xfrm>
            <a:off x="807244" y="1943271"/>
            <a:ext cx="10882313" cy="473273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vert="horz" lIns="91440" tIns="45720" rIns="91440" bIns="45720" rtlCol="0">
            <a:normAutofit/>
          </a:bodyPr>
          <a:lstStyle>
            <a:lvl1pPr marL="0" indent="0" algn="l" defTabSz="178587" rtl="0" eaLnBrk="1" latinLnBrk="0" hangingPunct="1">
              <a:lnSpc>
                <a:spcPct val="11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25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Produkt Extralight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(From ISLR)</a:t>
            </a:r>
            <a:endParaRPr lang="en-US" dirty="0"/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When to use NB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When to use NB</a:t>
            </a:r>
          </a:p>
        </p:txBody>
      </p:sp>
      <p:sp>
        <p:nvSpPr>
          <p:cNvPr id="304" name="Because NB classifiers make such stringent assumptions, they are often not as good as more complicated models…"/>
          <p:cNvSpPr txBox="1">
            <a:spLocks noGrp="1"/>
          </p:cNvSpPr>
          <p:nvPr>
            <p:ph type="body" idx="1"/>
          </p:nvPr>
        </p:nvSpPr>
        <p:spPr>
          <a:xfrm>
            <a:off x="728595" y="1862763"/>
            <a:ext cx="10691265" cy="3739896"/>
          </a:xfrm>
          <a:prstGeom prst="rect">
            <a:avLst/>
          </a:prstGeom>
        </p:spPr>
        <p:txBody>
          <a:bodyPr/>
          <a:lstStyle/>
          <a:p>
            <a:r>
              <a:rPr dirty="0"/>
              <a:t>Because NB classifiers make such stringent assumptions, they are often not as good as more complicated models</a:t>
            </a:r>
          </a:p>
          <a:p>
            <a:pPr>
              <a:defRPr i="1">
                <a:latin typeface="Graphik"/>
                <a:ea typeface="Graphik"/>
                <a:cs typeface="Graphik"/>
                <a:sym typeface="Graphik"/>
              </a:defRPr>
            </a:pPr>
            <a:r>
              <a:rPr dirty="0"/>
              <a:t>NB classifiers are a good choice for an initial baseline classification</a:t>
            </a:r>
          </a:p>
          <a:p>
            <a:r>
              <a:rPr dirty="0"/>
              <a:t>Some advantages of NB classifiers:</a:t>
            </a:r>
          </a:p>
          <a:p>
            <a:pPr lvl="1"/>
            <a:r>
              <a:rPr dirty="0"/>
              <a:t>They are very fast for both training and prediction</a:t>
            </a:r>
          </a:p>
          <a:p>
            <a:pPr lvl="1"/>
            <a:r>
              <a:rPr dirty="0"/>
              <a:t>They are easily interpretable</a:t>
            </a:r>
          </a:p>
          <a:p>
            <a:pPr lvl="1"/>
            <a:r>
              <a:rPr dirty="0"/>
              <a:t>There are few (if any) tunable parameters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When to use NB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When to use NB</a:t>
            </a:r>
          </a:p>
        </p:txBody>
      </p:sp>
      <p:sp>
        <p:nvSpPr>
          <p:cNvPr id="308" name="NB classifiers tend to work in the following situations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NB classifiers tend to work in the following situations:</a:t>
            </a:r>
          </a:p>
          <a:p>
            <a:pPr lvl="1"/>
            <a:r>
              <a:rPr dirty="0"/>
              <a:t>The naive assumptions actually match the data (rare)</a:t>
            </a:r>
          </a:p>
          <a:p>
            <a:pPr lvl="1"/>
            <a:r>
              <a:rPr dirty="0"/>
              <a:t>For well-separated categories, when model complexity is less important</a:t>
            </a:r>
          </a:p>
          <a:p>
            <a:pPr lvl="1"/>
            <a:r>
              <a:rPr dirty="0"/>
              <a:t>For very high-dimensional data, when model complexity is less important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Common Scikit-Learn NB command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223520">
              <a:defRPr sz="5280" spc="-52"/>
            </a:lvl1pPr>
          </a:lstStyle>
          <a:p>
            <a:r>
              <a:rPr dirty="0"/>
              <a:t>Common Scikit-Learn NB commands</a:t>
            </a:r>
          </a:p>
        </p:txBody>
      </p:sp>
      <p:sp>
        <p:nvSpPr>
          <p:cNvPr id="312" name="Module: sklearn.naive_bayes…"/>
          <p:cNvSpPr txBox="1"/>
          <p:nvPr/>
        </p:nvSpPr>
        <p:spPr>
          <a:xfrm>
            <a:off x="1284514" y="1978053"/>
            <a:ext cx="9110285" cy="407323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/>
          <a:p>
            <a:pPr>
              <a:defRPr sz="2700">
                <a:solidFill>
                  <a:srgbClr val="000000"/>
                </a:solidFill>
              </a:defRPr>
            </a:pPr>
            <a:r>
              <a:rPr sz="2000" dirty="0"/>
              <a:t>Module:</a:t>
            </a:r>
            <a:r>
              <a:rPr sz="2000" b="1" dirty="0">
                <a:latin typeface="Graphik"/>
                <a:ea typeface="Graphik"/>
                <a:cs typeface="Graphik"/>
                <a:sym typeface="Graphik"/>
              </a:rPr>
              <a:t> </a:t>
            </a:r>
            <a:r>
              <a:rPr sz="2000" b="1" dirty="0" err="1">
                <a:latin typeface="Courier New"/>
                <a:ea typeface="Courier New"/>
                <a:cs typeface="Courier New"/>
                <a:sym typeface="Courier New"/>
              </a:rPr>
              <a:t>sklearn.naive_bayes</a:t>
            </a:r>
            <a:endParaRPr lang="en-US" sz="2000"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defRPr sz="2700">
                <a:solidFill>
                  <a:srgbClr val="000000"/>
                </a:solidFill>
              </a:defRPr>
            </a:pPr>
            <a:endParaRPr sz="2000"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defRPr sz="2700">
                <a:solidFill>
                  <a:srgbClr val="000000"/>
                </a:solidFill>
              </a:defRPr>
            </a:pPr>
            <a:r>
              <a:rPr sz="2000" dirty="0"/>
              <a:t>Estimators: </a:t>
            </a:r>
            <a:r>
              <a:rPr sz="2000" b="1" dirty="0" err="1">
                <a:latin typeface="Courier New"/>
                <a:ea typeface="Courier New"/>
                <a:cs typeface="Courier New"/>
                <a:sym typeface="Courier New"/>
              </a:rPr>
              <a:t>GaussianNB</a:t>
            </a:r>
            <a:r>
              <a:rPr sz="2000" b="1" dirty="0">
                <a:latin typeface="Graphik"/>
                <a:ea typeface="Graphik"/>
                <a:cs typeface="Graphik"/>
                <a:sym typeface="Graphik"/>
              </a:rPr>
              <a:t>,  </a:t>
            </a:r>
            <a:r>
              <a:rPr sz="2000" b="1" dirty="0" err="1">
                <a:latin typeface="Courier New"/>
                <a:ea typeface="Courier New"/>
                <a:cs typeface="Courier New"/>
                <a:sym typeface="Courier New"/>
              </a:rPr>
              <a:t>MultinomialNB</a:t>
            </a:r>
            <a:r>
              <a:rPr sz="2000" b="1" dirty="0">
                <a:latin typeface="Graphik"/>
                <a:ea typeface="Graphik"/>
                <a:cs typeface="Graphik"/>
                <a:sym typeface="Graphik"/>
              </a:rPr>
              <a:t>,  </a:t>
            </a:r>
            <a:r>
              <a:rPr sz="2000" b="1" dirty="0" err="1">
                <a:latin typeface="Courier New"/>
                <a:ea typeface="Courier New"/>
                <a:cs typeface="Courier New"/>
                <a:sym typeface="Courier New"/>
              </a:rPr>
              <a:t>BernoulliNB</a:t>
            </a:r>
            <a:br>
              <a:rPr sz="2000" b="1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sz="2000" dirty="0"/>
              <a:t>(use the model that corresponds to the </a:t>
            </a:r>
            <a:r>
              <a:rPr sz="2000" b="1" i="1" dirty="0">
                <a:latin typeface="Graphik"/>
                <a:ea typeface="Graphik"/>
                <a:cs typeface="Graphik"/>
                <a:sym typeface="Graphik"/>
              </a:rPr>
              <a:t>features</a:t>
            </a:r>
            <a:r>
              <a:rPr sz="2000" dirty="0"/>
              <a:t>)</a:t>
            </a:r>
            <a:endParaRPr lang="en-US" sz="2000" dirty="0"/>
          </a:p>
          <a:p>
            <a:pPr>
              <a:defRPr sz="2700">
                <a:solidFill>
                  <a:srgbClr val="000000"/>
                </a:solidFill>
              </a:defRPr>
            </a:pPr>
            <a:endParaRPr sz="2000" dirty="0"/>
          </a:p>
          <a:p>
            <a:pPr>
              <a:defRPr sz="2700">
                <a:solidFill>
                  <a:srgbClr val="000000"/>
                </a:solidFill>
              </a:defRPr>
            </a:pPr>
            <a:r>
              <a:rPr sz="2000" dirty="0"/>
              <a:t>Fitting:  call</a:t>
            </a:r>
            <a:r>
              <a:rPr sz="20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sz="2000" b="1" dirty="0">
                <a:latin typeface="Courier New"/>
                <a:ea typeface="Courier New"/>
                <a:cs typeface="Courier New"/>
                <a:sym typeface="Courier New"/>
              </a:rPr>
              <a:t>.fit(</a:t>
            </a:r>
            <a:r>
              <a:rPr sz="2000" b="1" dirty="0" err="1">
                <a:latin typeface="Courier New"/>
                <a:ea typeface="Courier New"/>
                <a:cs typeface="Courier New"/>
                <a:sym typeface="Courier New"/>
              </a:rPr>
              <a:t>Xtrain,ytrain</a:t>
            </a:r>
            <a:r>
              <a:rPr sz="2000" b="1" dirty="0"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sz="2000" dirty="0"/>
              <a:t> method off the estimator</a:t>
            </a:r>
            <a:endParaRPr lang="en-US" sz="2000" dirty="0"/>
          </a:p>
          <a:p>
            <a:pPr>
              <a:defRPr sz="2700">
                <a:solidFill>
                  <a:srgbClr val="000000"/>
                </a:solidFill>
              </a:defRPr>
            </a:pPr>
            <a:endParaRPr sz="2000" dirty="0"/>
          </a:p>
          <a:p>
            <a:pPr>
              <a:defRPr sz="2700">
                <a:solidFill>
                  <a:srgbClr val="000000"/>
                </a:solidFill>
              </a:defRPr>
            </a:pPr>
            <a:r>
              <a:rPr sz="2000" dirty="0"/>
              <a:t>Prediction:  Two possible methods (true for most classification estimators)</a:t>
            </a:r>
          </a:p>
          <a:p>
            <a:pPr marL="448254" lvl="1" indent="-225020">
              <a:buSzPct val="100000"/>
              <a:buChar char="‣"/>
              <a:defRPr sz="2700" i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2000" dirty="0"/>
              <a:t># predicted class - 1d array</a:t>
            </a:r>
            <a:br>
              <a:rPr sz="2000" dirty="0"/>
            </a:br>
            <a:r>
              <a:rPr sz="2000" b="1" dirty="0"/>
              <a:t>.predict(</a:t>
            </a:r>
            <a:r>
              <a:rPr sz="2000" b="1" dirty="0" err="1"/>
              <a:t>Xtest</a:t>
            </a:r>
            <a:r>
              <a:rPr sz="2000" b="1" dirty="0"/>
              <a:t>)</a:t>
            </a:r>
          </a:p>
          <a:p>
            <a:pPr marL="448254" lvl="1" indent="-225020">
              <a:buSzPct val="100000"/>
              <a:buChar char="‣"/>
              <a:defRPr sz="2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2000" i="1" dirty="0"/>
              <a:t># predicted P(Y=</a:t>
            </a:r>
            <a:r>
              <a:rPr sz="2000" i="1" dirty="0" err="1"/>
              <a:t>j|X</a:t>
            </a:r>
            <a:r>
              <a:rPr sz="2000" i="1" dirty="0"/>
              <a:t>) - 2d array (rows=n, columns=#classes)</a:t>
            </a:r>
            <a:br>
              <a:rPr sz="2000" i="1" dirty="0"/>
            </a:br>
            <a:r>
              <a:rPr sz="2000" b="1" dirty="0"/>
              <a:t>.</a:t>
            </a:r>
            <a:r>
              <a:rPr sz="2000" b="1" dirty="0" err="1"/>
              <a:t>predict_proba</a:t>
            </a:r>
            <a:r>
              <a:rPr sz="2000" b="1" dirty="0"/>
              <a:t>(</a:t>
            </a:r>
            <a:r>
              <a:rPr sz="2000" b="1" dirty="0" err="1"/>
              <a:t>Xtest</a:t>
            </a:r>
            <a:r>
              <a:rPr sz="2000" b="1" dirty="0"/>
              <a:t>)</a:t>
            </a:r>
            <a:r>
              <a:rPr sz="2000" dirty="0"/>
              <a:t> 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931</Words>
  <Application>Microsoft Office PowerPoint</Application>
  <PresentationFormat>Widescreen</PresentationFormat>
  <Paragraphs>104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Aptos</vt:lpstr>
      <vt:lpstr>Arial</vt:lpstr>
      <vt:lpstr>Calisto MT</vt:lpstr>
      <vt:lpstr>Cambria Math</vt:lpstr>
      <vt:lpstr>Courier New</vt:lpstr>
      <vt:lpstr>Graphik</vt:lpstr>
      <vt:lpstr>Noteworthy Bold</vt:lpstr>
      <vt:lpstr>Times New Roman</vt:lpstr>
      <vt:lpstr>Univers Condensed</vt:lpstr>
      <vt:lpstr>ChronicleVTI</vt:lpstr>
      <vt:lpstr>Classification – Naïve Bayes</vt:lpstr>
      <vt:lpstr>Bayes Classifier</vt:lpstr>
      <vt:lpstr>Bayes Classifier</vt:lpstr>
      <vt:lpstr>Bayes Classifier</vt:lpstr>
      <vt:lpstr>Illustration of Optimal Classifier</vt:lpstr>
      <vt:lpstr>One small problem…</vt:lpstr>
      <vt:lpstr>KNN again</vt:lpstr>
      <vt:lpstr>Naive Bayes</vt:lpstr>
      <vt:lpstr>Naive Bayes Classifier</vt:lpstr>
      <vt:lpstr>Bayes Rule</vt:lpstr>
      <vt:lpstr>Bayes Rule</vt:lpstr>
      <vt:lpstr>Bayes Rule</vt:lpstr>
      <vt:lpstr>Naive Bayes Simplifying Assumptions</vt:lpstr>
      <vt:lpstr>Naive Bayes Simplifying Assumptions</vt:lpstr>
      <vt:lpstr>Naive Bayes Simplifying Assumptions</vt:lpstr>
      <vt:lpstr>Naive Bayes Simplifying Assumptions</vt:lpstr>
      <vt:lpstr>Naive Bayes Classifier</vt:lpstr>
      <vt:lpstr>Bayes vs Naive Bayes</vt:lpstr>
      <vt:lpstr>When to use NB</vt:lpstr>
      <vt:lpstr>When to use NB</vt:lpstr>
      <vt:lpstr>Common Scikit-Learn NB commands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Jake Rhodes</dc:creator>
  <cp:lastModifiedBy>Jake Rhodes</cp:lastModifiedBy>
  <cp:revision>24</cp:revision>
  <dcterms:created xsi:type="dcterms:W3CDTF">2025-10-28T15:32:43Z</dcterms:created>
  <dcterms:modified xsi:type="dcterms:W3CDTF">2026-02-03T12:53:02Z</dcterms:modified>
</cp:coreProperties>
</file>