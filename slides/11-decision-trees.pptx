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31"/>
  </p:notesMasterIdLst>
  <p:sldIdLst>
    <p:sldId id="256" r:id="rId2"/>
    <p:sldId id="258" r:id="rId3"/>
    <p:sldId id="260" r:id="rId4"/>
    <p:sldId id="262" r:id="rId5"/>
    <p:sldId id="261" r:id="rId6"/>
    <p:sldId id="263" r:id="rId7"/>
    <p:sldId id="279" r:id="rId8"/>
    <p:sldId id="264" r:id="rId9"/>
    <p:sldId id="265" r:id="rId10"/>
    <p:sldId id="266" r:id="rId11"/>
    <p:sldId id="267" r:id="rId12"/>
    <p:sldId id="280" r:id="rId13"/>
    <p:sldId id="268" r:id="rId14"/>
    <p:sldId id="269" r:id="rId15"/>
    <p:sldId id="259" r:id="rId16"/>
    <p:sldId id="270" r:id="rId17"/>
    <p:sldId id="271" r:id="rId18"/>
    <p:sldId id="272" r:id="rId19"/>
    <p:sldId id="281" r:id="rId20"/>
    <p:sldId id="273" r:id="rId21"/>
    <p:sldId id="274" r:id="rId22"/>
    <p:sldId id="275" r:id="rId23"/>
    <p:sldId id="285" r:id="rId24"/>
    <p:sldId id="276" r:id="rId25"/>
    <p:sldId id="282" r:id="rId26"/>
    <p:sldId id="283" r:id="rId27"/>
    <p:sldId id="284" r:id="rId28"/>
    <p:sldId id="277" r:id="rId29"/>
    <p:sldId id="27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74" d="100"/>
          <a:sy n="74" d="100"/>
        </p:scale>
        <p:origin x="3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2/26/2026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2/26/2026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2/26/2026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2/26/2026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2/26/2026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2/26/2026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2/26/2026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2/26/2026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2/26/2026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2/26/2026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2/26/2026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4" name="Slide Title"/>
          <p:cNvSpPr txBox="1">
            <a:spLocks noGrp="1"/>
          </p:cNvSpPr>
          <p:nvPr>
            <p:ph type="title" hasCustomPrompt="1"/>
          </p:nvPr>
        </p:nvSpPr>
        <p:spPr>
          <a:prstGeom prst="rect">
            <a:avLst/>
          </a:prstGeom>
        </p:spPr>
        <p:txBody>
          <a:bodyPr/>
          <a:lstStyle/>
          <a:p>
            <a:r>
              <a:t>Slide Title</a:t>
            </a:r>
          </a:p>
        </p:txBody>
      </p:sp>
      <p:sp>
        <p:nvSpPr>
          <p:cNvPr id="45" name="01"/>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1480292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2/26/2026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 id="2147483687" r:id="rId12"/>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hyperlink" Target="https://homl.info/19"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2BE5BCB-70E2-9CD5-EAC2-1BB32270D1C8}"/>
              </a:ext>
            </a:extLst>
          </p:cNvPr>
          <p:cNvPicPr>
            <a:picLocks noChangeAspect="1"/>
          </p:cNvPicPr>
          <p:nvPr/>
        </p:nvPicPr>
        <p:blipFill>
          <a:blip r:embed="rId2"/>
          <a:srcRect t="6074" b="9656"/>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6BB6B482-ACCA-4938-8AEA-49D525C17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6905" y="46904"/>
            <a:ext cx="6865150" cy="6771342"/>
          </a:xfrm>
          <a:prstGeom prst="rect">
            <a:avLst/>
          </a:prstGeom>
          <a:gradFill>
            <a:gsLst>
              <a:gs pos="42000">
                <a:srgbClr val="000000">
                  <a:alpha val="18000"/>
                </a:srgbClr>
              </a:gs>
              <a:gs pos="0">
                <a:srgbClr val="000000">
                  <a:alpha val="0"/>
                </a:srgbClr>
              </a:gs>
              <a:gs pos="100000">
                <a:srgbClr val="000000">
                  <a:alpha val="3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704088" y="871759"/>
            <a:ext cx="5067300" cy="3497042"/>
          </a:xfrm>
        </p:spPr>
        <p:txBody>
          <a:bodyPr anchor="t">
            <a:normAutofit/>
          </a:bodyPr>
          <a:lstStyle/>
          <a:p>
            <a:r>
              <a:rPr lang="en-US" dirty="0">
                <a:solidFill>
                  <a:srgbClr val="FFFFFF"/>
                </a:solidFill>
              </a:rPr>
              <a:t>Decision Trees</a:t>
            </a:r>
          </a:p>
        </p:txBody>
      </p:sp>
      <p:cxnSp>
        <p:nvCxnSpPr>
          <p:cNvPr id="20" name="Straight Connector 1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rgbClr val="FFFFFF"/>
            </a:solidFill>
          </a:ln>
          <a:effectLst>
            <a:outerShdw blurRad="50800" dist="38100" dir="2700000" algn="tl" rotWithShape="0">
              <a:prstClr val="black">
                <a:alpha val="13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 name="imagename.png" descr="imagename.png"/>
          <p:cNvPicPr>
            <a:picLocks noChangeAspect="1"/>
          </p:cNvPicPr>
          <p:nvPr/>
        </p:nvPicPr>
        <p:blipFill>
          <a:blip r:embed="rId2"/>
          <a:stretch>
            <a:fillRect/>
          </a:stretch>
        </p:blipFill>
        <p:spPr>
          <a:xfrm>
            <a:off x="1088661" y="1203329"/>
            <a:ext cx="4985576" cy="4985577"/>
          </a:xfrm>
          <a:prstGeom prst="rect">
            <a:avLst/>
          </a:prstGeom>
          <a:ln w="12700">
            <a:miter lim="400000"/>
          </a:ln>
        </p:spPr>
      </p:pic>
      <p:sp>
        <p:nvSpPr>
          <p:cNvPr id="158" name="Example Decision Tree"/>
          <p:cNvSpPr txBox="1">
            <a:spLocks noGrp="1"/>
          </p:cNvSpPr>
          <p:nvPr>
            <p:ph type="title"/>
          </p:nvPr>
        </p:nvSpPr>
        <p:spPr>
          <a:prstGeom prst="rect">
            <a:avLst/>
          </a:prstGeom>
        </p:spPr>
        <p:txBody>
          <a:bodyPr>
            <a:normAutofit/>
          </a:bodyPr>
          <a:lstStyle>
            <a:lvl1pPr defTabSz="1525858">
              <a:defRPr sz="5280" spc="-105"/>
            </a:lvl1pPr>
          </a:lstStyle>
          <a:p>
            <a:r>
              <a:rPr sz="4000" dirty="0"/>
              <a:t>Example Decision Tree</a:t>
            </a:r>
          </a:p>
        </p:txBody>
      </p:sp>
      <p:pic>
        <p:nvPicPr>
          <p:cNvPr id="160" name="iris_scatter.png" descr="iris_scatter.png"/>
          <p:cNvPicPr>
            <a:picLocks noChangeAspect="1"/>
          </p:cNvPicPr>
          <p:nvPr/>
        </p:nvPicPr>
        <p:blipFill>
          <a:blip r:embed="rId3"/>
          <a:stretch>
            <a:fillRect/>
          </a:stretch>
        </p:blipFill>
        <p:spPr>
          <a:xfrm>
            <a:off x="5580868" y="1560662"/>
            <a:ext cx="5492166" cy="4119125"/>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74B5D38-A37B-E215-BAA5-71E3F23B9AFD}"/>
              </a:ext>
            </a:extLst>
          </p:cNvPr>
          <p:cNvPicPr>
            <a:picLocks noChangeAspect="1"/>
          </p:cNvPicPr>
          <p:nvPr/>
        </p:nvPicPr>
        <p:blipFill>
          <a:blip r:embed="rId2"/>
          <a:srcRect t="6923" r="2" b="34534"/>
          <a:stretch>
            <a:fillRect/>
          </a:stretch>
        </p:blipFill>
        <p:spPr>
          <a:xfrm>
            <a:off x="800100" y="723900"/>
            <a:ext cx="10591800" cy="541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685655-6538-55B7-7B76-3BE31AC4007C}"/>
              </a:ext>
            </a:extLst>
          </p:cNvPr>
          <p:cNvPicPr>
            <a:picLocks noChangeAspect="1"/>
          </p:cNvPicPr>
          <p:nvPr/>
        </p:nvPicPr>
        <p:blipFill>
          <a:blip r:embed="rId2"/>
          <a:stretch>
            <a:fillRect/>
          </a:stretch>
        </p:blipFill>
        <p:spPr>
          <a:xfrm>
            <a:off x="2286043" y="2907030"/>
            <a:ext cx="7619914" cy="5079943"/>
          </a:xfrm>
          <a:prstGeom prst="rect">
            <a:avLst/>
          </a:prstGeom>
        </p:spPr>
      </p:pic>
      <p:sp>
        <p:nvSpPr>
          <p:cNvPr id="188" name="Classification and Regression Tree (CART) algorithm:…"/>
          <p:cNvSpPr txBox="1">
            <a:spLocks noGrp="1"/>
          </p:cNvSpPr>
          <p:nvPr>
            <p:ph type="body" sz="half" idx="1"/>
          </p:nvPr>
        </p:nvSpPr>
        <p:spPr>
          <a:xfrm>
            <a:off x="2015133" y="1620766"/>
            <a:ext cx="8161734" cy="2342203"/>
          </a:xfrm>
          <a:prstGeom prst="rect">
            <a:avLst/>
          </a:prstGeom>
        </p:spPr>
        <p:txBody>
          <a:bodyPr>
            <a:normAutofit/>
          </a:bodyPr>
          <a:lstStyle/>
          <a:p>
            <a:pPr marL="262523" indent="-262523" defTabSz="1194743">
              <a:spcBef>
                <a:spcPts val="2180"/>
              </a:spcBef>
              <a:defRPr sz="2940"/>
            </a:pPr>
            <a:r>
              <a:rPr lang="en-US" dirty="0"/>
              <a:t>Binary decision search algorithm.</a:t>
            </a:r>
          </a:p>
          <a:p>
            <a:pPr marL="262523" indent="-262523" defTabSz="1194743">
              <a:spcBef>
                <a:spcPts val="2180"/>
              </a:spcBef>
              <a:defRPr sz="2940"/>
            </a:pPr>
            <a:r>
              <a:rPr lang="en-US" dirty="0"/>
              <a:t>Partition (split) data to optimize some objective.</a:t>
            </a:r>
          </a:p>
          <a:p>
            <a:pPr marL="262523" indent="-262523" defTabSz="1194743">
              <a:spcBef>
                <a:spcPts val="2180"/>
              </a:spcBef>
              <a:defRPr sz="2940"/>
            </a:pPr>
            <a:r>
              <a:rPr lang="en-US" dirty="0"/>
              <a:t>What might that objective be?</a:t>
            </a:r>
            <a:endParaRPr dirty="0"/>
          </a:p>
        </p:txBody>
      </p:sp>
      <p:sp>
        <p:nvSpPr>
          <p:cNvPr id="189" name="Growing the Tree (Fitting)"/>
          <p:cNvSpPr txBox="1">
            <a:spLocks noGrp="1"/>
          </p:cNvSpPr>
          <p:nvPr>
            <p:ph type="title"/>
          </p:nvPr>
        </p:nvSpPr>
        <p:spPr>
          <a:xfrm>
            <a:off x="700636" y="914400"/>
            <a:ext cx="10668980" cy="560717"/>
          </a:xfrm>
          <a:prstGeom prst="rect">
            <a:avLst/>
          </a:prstGeom>
        </p:spPr>
        <p:txBody>
          <a:bodyPr>
            <a:noAutofit/>
          </a:bodyPr>
          <a:lstStyle>
            <a:lvl1pPr defTabSz="1525858">
              <a:defRPr sz="5280" spc="-105"/>
            </a:lvl1pPr>
          </a:lstStyle>
          <a:p>
            <a:r>
              <a:rPr lang="en-US" sz="4000" dirty="0"/>
              <a:t>How To fit?</a:t>
            </a:r>
            <a:endParaRPr sz="4000"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CART is one of the most popular decision tree algorithms…"/>
          <p:cNvSpPr txBox="1">
            <a:spLocks noGrp="1"/>
          </p:cNvSpPr>
          <p:nvPr>
            <p:ph type="body" idx="1"/>
          </p:nvPr>
        </p:nvSpPr>
        <p:spPr>
          <a:prstGeom prst="rect">
            <a:avLst/>
          </a:prstGeom>
        </p:spPr>
        <p:txBody>
          <a:bodyPr/>
          <a:lstStyle/>
          <a:p>
            <a:r>
              <a:rPr dirty="0"/>
              <a:t>CART is one of the most popular decision tree algorithms</a:t>
            </a:r>
          </a:p>
          <a:p>
            <a:pPr lvl="1"/>
            <a:r>
              <a:rPr dirty="0"/>
              <a:t>Binary splitting - trees are constructed by splitting the data into two subsets using the feature and threshold that results in the “best” split </a:t>
            </a:r>
          </a:p>
          <a:p>
            <a:pPr lvl="1"/>
            <a:r>
              <a:rPr dirty="0"/>
              <a:t>Best split - the best split is the split that produces the most homogeneous groups</a:t>
            </a:r>
          </a:p>
          <a:p>
            <a:pPr lvl="1"/>
            <a:r>
              <a:rPr dirty="0"/>
              <a:t>Recursive splitting - the process of splitting is applied recursively to each derived subset</a:t>
            </a:r>
          </a:p>
          <a:p>
            <a:pPr lvl="1"/>
            <a:r>
              <a:rPr dirty="0"/>
              <a:t>Pruning - trees are pruned to obtain a smaller tree to help prevent overfitting </a:t>
            </a:r>
          </a:p>
        </p:txBody>
      </p:sp>
      <p:sp>
        <p:nvSpPr>
          <p:cNvPr id="186" name="Decision Tree Algorithms"/>
          <p:cNvSpPr txBox="1">
            <a:spLocks noGrp="1"/>
          </p:cNvSpPr>
          <p:nvPr>
            <p:ph type="title"/>
          </p:nvPr>
        </p:nvSpPr>
        <p:spPr>
          <a:prstGeom prst="rect">
            <a:avLst/>
          </a:prstGeom>
        </p:spPr>
        <p:txBody>
          <a:bodyPr>
            <a:normAutofit/>
          </a:bodyPr>
          <a:lstStyle>
            <a:lvl1pPr defTabSz="1525858">
              <a:defRPr sz="5280" spc="-105"/>
            </a:lvl1pPr>
          </a:lstStyle>
          <a:p>
            <a:r>
              <a:rPr sz="4000" dirty="0"/>
              <a:t>Decision Tree Algorithms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6" name="First define   as the proportion of instances in the   node that are from class…"/>
              <p:cNvSpPr txBox="1">
                <a:spLocks noGrp="1"/>
              </p:cNvSpPr>
              <p:nvPr>
                <p:ph type="body" idx="1"/>
              </p:nvPr>
            </p:nvSpPr>
            <p:spPr>
              <a:prstGeom prst="rect">
                <a:avLst/>
              </a:prstGeom>
            </p:spPr>
            <p:txBody>
              <a:bodyPr/>
              <a:lstStyle/>
              <a:p>
                <a:r>
                  <a:rPr lang="en-US" dirty="0"/>
                  <a:t>Define </a:t>
                </a:r>
                <a14:m>
                  <m:oMath xmlns:m="http://schemas.openxmlformats.org/officeDocument/2006/math">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oMath>
                </a14:m>
                <a:r>
                  <a:rPr lang="ar-AE" dirty="0"/>
                  <a:t> </a:t>
                </a:r>
                <a:r>
                  <a:rPr lang="en-US" dirty="0"/>
                  <a:t>as the proportion of instances in the </a:t>
                </a:r>
                <a14:m>
                  <m:oMath xmlns:m="http://schemas.openxmlformats.org/officeDocument/2006/math">
                    <m:sSup>
                      <m:sSupPr>
                        <m:ctrlPr>
                          <a:rPr lang="ar-AE" sz="2285" i="1">
                            <a:solidFill>
                              <a:srgbClr val="000000"/>
                            </a:solidFill>
                            <a:latin typeface="Cambria Math" panose="02040503050406030204" pitchFamily="18" charset="0"/>
                          </a:rPr>
                        </m:ctrlPr>
                      </m:sSupPr>
                      <m:e>
                        <m:r>
                          <a:rPr lang="ar-AE" sz="2285" i="1">
                            <a:solidFill>
                              <a:srgbClr val="000000"/>
                            </a:solidFill>
                            <a:latin typeface="Cambria Math" panose="02040503050406030204" pitchFamily="18" charset="0"/>
                          </a:rPr>
                          <m:t>𝑖</m:t>
                        </m:r>
                      </m:e>
                      <m:sup>
                        <m:r>
                          <a:rPr lang="ar-AE" sz="2285" i="1">
                            <a:solidFill>
                              <a:srgbClr val="000000"/>
                            </a:solidFill>
                            <a:latin typeface="Cambria Math" panose="02040503050406030204" pitchFamily="18" charset="0"/>
                          </a:rPr>
                          <m:t>𝑡</m:t>
                        </m:r>
                        <m:r>
                          <a:rPr lang="ar-AE" sz="2285" i="1">
                            <a:solidFill>
                              <a:srgbClr val="000000"/>
                            </a:solidFill>
                            <a:latin typeface="Cambria Math" panose="02040503050406030204" pitchFamily="18" charset="0"/>
                          </a:rPr>
                          <m:t>h</m:t>
                        </m:r>
                      </m:sup>
                    </m:sSup>
                  </m:oMath>
                </a14:m>
                <a:r>
                  <a:rPr lang="ar-AE" dirty="0"/>
                  <a:t> </a:t>
                </a:r>
                <a:r>
                  <a:rPr lang="en-US" dirty="0"/>
                  <a:t>node that are from class </a:t>
                </a:r>
                <a14:m>
                  <m:oMath xmlns:m="http://schemas.openxmlformats.org/officeDocument/2006/math">
                    <m:r>
                      <a:rPr lang="en-US" sz="2285" i="1">
                        <a:solidFill>
                          <a:srgbClr val="000000"/>
                        </a:solidFill>
                        <a:latin typeface="Cambria Math" panose="02040503050406030204" pitchFamily="18" charset="0"/>
                      </a:rPr>
                      <m:t>𝑘</m:t>
                    </m:r>
                  </m:oMath>
                </a14:m>
                <a:endParaRPr lang="en-US" dirty="0"/>
              </a:p>
              <a:p>
                <a:r>
                  <a:rPr lang="en-US" dirty="0"/>
                  <a:t>Gini index </a:t>
                </a:r>
                <a:br>
                  <a:rPr lang="en-US" dirty="0"/>
                </a:br>
                <a:br>
                  <a:rPr lang="en-US" dirty="0"/>
                </a:br>
                <a14:m>
                  <m:oMath xmlns:m="http://schemas.openxmlformats.org/officeDocument/2006/math">
                    <m:r>
                      <a:rPr lang="en-US" sz="2285" b="0" i="0" smtClean="0">
                        <a:solidFill>
                          <a:srgbClr val="000000"/>
                        </a:solidFill>
                        <a:latin typeface="Cambria Math" panose="02040503050406030204" pitchFamily="18" charset="0"/>
                      </a:rPr>
                      <m:t>                                                        </m:t>
                    </m:r>
                    <m:r>
                      <a:rPr lang="en-US" sz="2285" b="0" i="1" smtClean="0">
                        <a:solidFill>
                          <a:srgbClr val="000000"/>
                        </a:solidFill>
                        <a:latin typeface="Cambria Math" panose="02040503050406030204" pitchFamily="18" charset="0"/>
                      </a:rPr>
                      <m:t> </m:t>
                    </m:r>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𝐺</m:t>
                        </m:r>
                      </m:e>
                      <m:sub>
                        <m:r>
                          <a:rPr lang="ar-AE" sz="2285" i="1">
                            <a:solidFill>
                              <a:srgbClr val="000000"/>
                            </a:solidFill>
                            <a:latin typeface="Cambria Math" panose="02040503050406030204" pitchFamily="18" charset="0"/>
                          </a:rPr>
                          <m:t>𝑖</m:t>
                        </m:r>
                      </m:sub>
                    </m:sSub>
                    <m:r>
                      <a:rPr lang="ar-AE" sz="2285" i="1">
                        <a:solidFill>
                          <a:srgbClr val="000000"/>
                        </a:solidFill>
                        <a:latin typeface="Cambria Math" panose="02040503050406030204" pitchFamily="18" charset="0"/>
                      </a:rPr>
                      <m:t>=</m:t>
                    </m:r>
                    <m:r>
                      <a:rPr lang="ar-AE" sz="2285" i="1">
                        <a:solidFill>
                          <a:srgbClr val="000000"/>
                        </a:solidFill>
                        <a:latin typeface="Cambria Math" panose="02040503050406030204" pitchFamily="18" charset="0"/>
                      </a:rPr>
                      <m:t>1</m:t>
                    </m:r>
                    <m:r>
                      <a:rPr lang="ar-AE" sz="2285" i="1">
                        <a:solidFill>
                          <a:srgbClr val="000000"/>
                        </a:solidFill>
                        <a:latin typeface="Cambria Math" panose="02040503050406030204" pitchFamily="18" charset="0"/>
                      </a:rPr>
                      <m:t>−</m:t>
                    </m:r>
                    <m:limUpp>
                      <m:limUppPr>
                        <m:ctrlPr>
                          <a:rPr lang="ar-AE" sz="2285" i="1">
                            <a:solidFill>
                              <a:srgbClr val="000000"/>
                            </a:solidFill>
                            <a:latin typeface="Cambria Math" panose="02040503050406030204" pitchFamily="18" charset="0"/>
                          </a:rPr>
                        </m:ctrlPr>
                      </m:limUppPr>
                      <m:e>
                        <m:limLow>
                          <m:limLowPr>
                            <m:ctrlPr>
                              <a:rPr lang="ar-AE" sz="2285" i="1">
                                <a:solidFill>
                                  <a:srgbClr val="000000"/>
                                </a:solidFill>
                                <a:latin typeface="Cambria Math" panose="02040503050406030204" pitchFamily="18" charset="0"/>
                              </a:rPr>
                            </m:ctrlPr>
                          </m:limLowPr>
                          <m:e>
                            <m:r>
                              <a:rPr lang="ar-AE" sz="2285" i="1">
                                <a:solidFill>
                                  <a:srgbClr val="000000"/>
                                </a:solidFill>
                                <a:latin typeface="Cambria Math" panose="02040503050406030204" pitchFamily="18" charset="0"/>
                              </a:rPr>
                              <m:t>∑</m:t>
                            </m:r>
                          </m:e>
                          <m:lim>
                            <m:r>
                              <a:rPr lang="ar-AE" sz="2285" i="1">
                                <a:solidFill>
                                  <a:srgbClr val="000000"/>
                                </a:solidFill>
                                <a:latin typeface="Cambria Math" panose="02040503050406030204" pitchFamily="18" charset="0"/>
                              </a:rPr>
                              <m:t>𝑘</m:t>
                            </m:r>
                            <m:r>
                              <a:rPr lang="ar-AE" sz="2285" i="1">
                                <a:solidFill>
                                  <a:srgbClr val="000000"/>
                                </a:solidFill>
                                <a:latin typeface="Cambria Math" panose="02040503050406030204" pitchFamily="18" charset="0"/>
                              </a:rPr>
                              <m:t>=</m:t>
                            </m:r>
                            <m:r>
                              <a:rPr lang="ar-AE" sz="2285" i="1">
                                <a:solidFill>
                                  <a:srgbClr val="000000"/>
                                </a:solidFill>
                                <a:latin typeface="Cambria Math" panose="02040503050406030204" pitchFamily="18" charset="0"/>
                              </a:rPr>
                              <m:t>1</m:t>
                            </m:r>
                          </m:lim>
                        </m:limLow>
                      </m:e>
                      <m:lim>
                        <m:r>
                          <a:rPr lang="ar-AE" sz="2285" i="1">
                            <a:solidFill>
                              <a:srgbClr val="000000"/>
                            </a:solidFill>
                            <a:latin typeface="Cambria Math" panose="02040503050406030204" pitchFamily="18" charset="0"/>
                          </a:rPr>
                          <m:t>𝐾</m:t>
                        </m:r>
                      </m:lim>
                    </m:limUpp>
                    <m:sSubSup>
                      <m:sSubSupPr>
                        <m:ctrlPr>
                          <a:rPr lang="ar-AE" sz="2285" i="1">
                            <a:solidFill>
                              <a:srgbClr val="000000"/>
                            </a:solidFill>
                            <a:latin typeface="Cambria Math" panose="02040503050406030204" pitchFamily="18" charset="0"/>
                          </a:rPr>
                        </m:ctrlPr>
                      </m:sSubSup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up>
                        <m:r>
                          <a:rPr lang="ar-AE" sz="2285" i="1">
                            <a:solidFill>
                              <a:srgbClr val="000000"/>
                            </a:solidFill>
                            <a:latin typeface="Cambria Math" panose="02040503050406030204" pitchFamily="18" charset="0"/>
                          </a:rPr>
                          <m:t>2</m:t>
                        </m:r>
                      </m:sup>
                    </m:sSubSup>
                    <m:r>
                      <a:rPr lang="ar-AE" sz="2285" i="1">
                        <a:solidFill>
                          <a:srgbClr val="000000"/>
                        </a:solidFill>
                        <a:latin typeface="Cambria Math" panose="02040503050406030204" pitchFamily="18" charset="0"/>
                      </a:rPr>
                      <m:t>=</m:t>
                    </m:r>
                    <m:limUpp>
                      <m:limUppPr>
                        <m:ctrlPr>
                          <a:rPr lang="ar-AE" sz="2285" i="1">
                            <a:solidFill>
                              <a:srgbClr val="000000"/>
                            </a:solidFill>
                            <a:latin typeface="Cambria Math" panose="02040503050406030204" pitchFamily="18" charset="0"/>
                          </a:rPr>
                        </m:ctrlPr>
                      </m:limUppPr>
                      <m:e>
                        <m:limLow>
                          <m:limLowPr>
                            <m:ctrlPr>
                              <a:rPr lang="ar-AE" sz="2285" i="1">
                                <a:solidFill>
                                  <a:srgbClr val="000000"/>
                                </a:solidFill>
                                <a:latin typeface="Cambria Math" panose="02040503050406030204" pitchFamily="18" charset="0"/>
                              </a:rPr>
                            </m:ctrlPr>
                          </m:limLowPr>
                          <m:e>
                            <m:r>
                              <a:rPr lang="ar-AE" sz="2285" i="1">
                                <a:solidFill>
                                  <a:srgbClr val="000000"/>
                                </a:solidFill>
                                <a:latin typeface="Cambria Math" panose="02040503050406030204" pitchFamily="18" charset="0"/>
                              </a:rPr>
                              <m:t>∑</m:t>
                            </m:r>
                          </m:e>
                          <m:lim>
                            <m:r>
                              <a:rPr lang="ar-AE" sz="2285" i="1">
                                <a:solidFill>
                                  <a:srgbClr val="000000"/>
                                </a:solidFill>
                                <a:latin typeface="Cambria Math" panose="02040503050406030204" pitchFamily="18" charset="0"/>
                              </a:rPr>
                              <m:t>𝑘</m:t>
                            </m:r>
                            <m:r>
                              <a:rPr lang="ar-AE" sz="2285" i="1">
                                <a:solidFill>
                                  <a:srgbClr val="000000"/>
                                </a:solidFill>
                                <a:latin typeface="Cambria Math" panose="02040503050406030204" pitchFamily="18" charset="0"/>
                              </a:rPr>
                              <m:t>=</m:t>
                            </m:r>
                            <m:r>
                              <a:rPr lang="ar-AE" sz="2285" i="1">
                                <a:solidFill>
                                  <a:srgbClr val="000000"/>
                                </a:solidFill>
                                <a:latin typeface="Cambria Math" panose="02040503050406030204" pitchFamily="18" charset="0"/>
                              </a:rPr>
                              <m:t>1</m:t>
                            </m:r>
                          </m:lim>
                        </m:limLow>
                      </m:e>
                      <m:lim>
                        <m:r>
                          <a:rPr lang="ar-AE" sz="2285" i="1">
                            <a:solidFill>
                              <a:srgbClr val="000000"/>
                            </a:solidFill>
                            <a:latin typeface="Cambria Math" panose="02040503050406030204" pitchFamily="18" charset="0"/>
                          </a:rPr>
                          <m:t>𝐾</m:t>
                        </m:r>
                      </m:lim>
                    </m:limUpp>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r>
                      <a:rPr lang="ar-AE" sz="2285" i="1">
                        <a:solidFill>
                          <a:srgbClr val="000000"/>
                        </a:solidFill>
                        <a:latin typeface="Cambria Math" panose="02040503050406030204" pitchFamily="18" charset="0"/>
                      </a:rPr>
                      <m:t>(</m:t>
                    </m:r>
                    <m:r>
                      <a:rPr lang="ar-AE" sz="2285" i="1">
                        <a:solidFill>
                          <a:srgbClr val="000000"/>
                        </a:solidFill>
                        <a:latin typeface="Cambria Math" panose="02040503050406030204" pitchFamily="18" charset="0"/>
                      </a:rPr>
                      <m:t>1</m:t>
                    </m:r>
                    <m:r>
                      <a:rPr lang="ar-AE" sz="2285" i="1">
                        <a:solidFill>
                          <a:srgbClr val="000000"/>
                        </a:solidFill>
                        <a:latin typeface="Cambria Math" panose="02040503050406030204" pitchFamily="18" charset="0"/>
                      </a:rPr>
                      <m:t>−</m:t>
                    </m:r>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r>
                      <a:rPr lang="ar-AE" sz="2285" i="1">
                        <a:solidFill>
                          <a:srgbClr val="000000"/>
                        </a:solidFill>
                        <a:latin typeface="Cambria Math" panose="02040503050406030204" pitchFamily="18" charset="0"/>
                      </a:rPr>
                      <m:t>)</m:t>
                    </m:r>
                  </m:oMath>
                </a14:m>
                <a:r>
                  <a:rPr lang="ar-AE" dirty="0"/>
                  <a:t>    </a:t>
                </a:r>
              </a:p>
              <a:p>
                <a:r>
                  <a:rPr lang="en-US" dirty="0"/>
                  <a:t>Cross Entropy </a:t>
                </a:r>
                <a:br>
                  <a:rPr lang="en-US" dirty="0"/>
                </a:br>
                <a14:m>
                  <m:oMath xmlns:m="http://schemas.openxmlformats.org/officeDocument/2006/math">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𝐻</m:t>
                        </m:r>
                      </m:e>
                      <m:sub>
                        <m:r>
                          <a:rPr lang="ar-AE" sz="2285" i="1">
                            <a:solidFill>
                              <a:srgbClr val="000000"/>
                            </a:solidFill>
                            <a:latin typeface="Cambria Math" panose="02040503050406030204" pitchFamily="18" charset="0"/>
                          </a:rPr>
                          <m:t>𝑖</m:t>
                        </m:r>
                      </m:sub>
                    </m:sSub>
                    <m:r>
                      <a:rPr lang="ar-AE" sz="2285" i="1">
                        <a:solidFill>
                          <a:srgbClr val="000000"/>
                        </a:solidFill>
                        <a:latin typeface="Cambria Math" panose="02040503050406030204" pitchFamily="18" charset="0"/>
                      </a:rPr>
                      <m:t>=−</m:t>
                    </m:r>
                    <m:limUpp>
                      <m:limUppPr>
                        <m:ctrlPr>
                          <a:rPr lang="ar-AE" sz="2285" i="1">
                            <a:solidFill>
                              <a:srgbClr val="000000"/>
                            </a:solidFill>
                            <a:latin typeface="Cambria Math" panose="02040503050406030204" pitchFamily="18" charset="0"/>
                          </a:rPr>
                        </m:ctrlPr>
                      </m:limUppPr>
                      <m:e>
                        <m:limLow>
                          <m:limLowPr>
                            <m:ctrlPr>
                              <a:rPr lang="ar-AE" sz="2285" i="1">
                                <a:solidFill>
                                  <a:srgbClr val="000000"/>
                                </a:solidFill>
                                <a:latin typeface="Cambria Math" panose="02040503050406030204" pitchFamily="18" charset="0"/>
                              </a:rPr>
                            </m:ctrlPr>
                          </m:limLowPr>
                          <m:e>
                            <m:r>
                              <a:rPr lang="ar-AE" sz="2285" i="1">
                                <a:solidFill>
                                  <a:srgbClr val="000000"/>
                                </a:solidFill>
                                <a:latin typeface="Cambria Math" panose="02040503050406030204" pitchFamily="18" charset="0"/>
                              </a:rPr>
                              <m:t>∑</m:t>
                            </m:r>
                          </m:e>
                          <m:lim>
                            <m:r>
                              <a:rPr lang="ar-AE" sz="2285" i="1">
                                <a:solidFill>
                                  <a:srgbClr val="000000"/>
                                </a:solidFill>
                                <a:latin typeface="Cambria Math" panose="02040503050406030204" pitchFamily="18" charset="0"/>
                              </a:rPr>
                              <m:t>𝑘</m:t>
                            </m:r>
                            <m:r>
                              <a:rPr lang="ar-AE" sz="2285" i="1">
                                <a:solidFill>
                                  <a:srgbClr val="000000"/>
                                </a:solidFill>
                                <a:latin typeface="Cambria Math" panose="02040503050406030204" pitchFamily="18" charset="0"/>
                              </a:rPr>
                              <m:t>=</m:t>
                            </m:r>
                            <m:r>
                              <a:rPr lang="ar-AE" sz="2285" i="1">
                                <a:solidFill>
                                  <a:srgbClr val="000000"/>
                                </a:solidFill>
                                <a:latin typeface="Cambria Math" panose="02040503050406030204" pitchFamily="18" charset="0"/>
                              </a:rPr>
                              <m:t>1</m:t>
                            </m:r>
                          </m:lim>
                        </m:limLow>
                      </m:e>
                      <m:lim>
                        <m:r>
                          <a:rPr lang="ar-AE" sz="2285" i="1">
                            <a:solidFill>
                              <a:srgbClr val="000000"/>
                            </a:solidFill>
                            <a:latin typeface="Cambria Math" panose="02040503050406030204" pitchFamily="18" charset="0"/>
                          </a:rPr>
                          <m:t>𝐾</m:t>
                        </m:r>
                      </m:lim>
                    </m:limUpp>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sSub>
                      <m:sSubPr>
                        <m:ctrlPr>
                          <a:rPr lang="ar-AE" sz="2285" i="1">
                            <a:solidFill>
                              <a:srgbClr val="000000"/>
                            </a:solidFill>
                            <a:latin typeface="Cambria Math" panose="02040503050406030204" pitchFamily="18" charset="0"/>
                          </a:rPr>
                        </m:ctrlPr>
                      </m:sSubPr>
                      <m:e>
                        <m:r>
                          <m:rPr>
                            <m:sty m:val="p"/>
                          </m:rPr>
                          <a:rPr lang="en-US" sz="2285" i="1">
                            <a:solidFill>
                              <a:srgbClr val="000000"/>
                            </a:solidFill>
                            <a:latin typeface="Cambria Math" panose="02040503050406030204" pitchFamily="18" charset="0"/>
                          </a:rPr>
                          <m:t>log</m:t>
                        </m:r>
                      </m:e>
                      <m:sub>
                        <m:r>
                          <a:rPr lang="ar-AE" sz="2285" i="1">
                            <a:solidFill>
                              <a:srgbClr val="000000"/>
                            </a:solidFill>
                            <a:latin typeface="Cambria Math" panose="02040503050406030204" pitchFamily="18" charset="0"/>
                          </a:rPr>
                          <m:t>2</m:t>
                        </m:r>
                      </m:sub>
                    </m:sSub>
                    <m:r>
                      <a:rPr lang="ar-AE" sz="2285" i="1">
                        <a:solidFill>
                          <a:srgbClr val="000000"/>
                        </a:solidFill>
                        <a:latin typeface="Cambria Math" panose="02040503050406030204" pitchFamily="18" charset="0"/>
                      </a:rPr>
                      <m:t>(</m:t>
                    </m:r>
                    <m:sSub>
                      <m:sSubPr>
                        <m:ctrlPr>
                          <a:rPr lang="ar-AE" sz="2285" i="1">
                            <a:solidFill>
                              <a:srgbClr val="000000"/>
                            </a:solidFill>
                            <a:latin typeface="Cambria Math" panose="02040503050406030204" pitchFamily="18" charset="0"/>
                          </a:rPr>
                        </m:ctrlPr>
                      </m:sSubPr>
                      <m:e>
                        <m:r>
                          <a:rPr lang="ar-AE" sz="2285" i="1">
                            <a:solidFill>
                              <a:srgbClr val="000000"/>
                            </a:solidFill>
                            <a:latin typeface="Cambria Math" panose="02040503050406030204" pitchFamily="18" charset="0"/>
                          </a:rPr>
                          <m:t>𝑝</m:t>
                        </m:r>
                      </m:e>
                      <m:sub>
                        <m:r>
                          <a:rPr lang="ar-AE" sz="2285" i="1">
                            <a:solidFill>
                              <a:srgbClr val="000000"/>
                            </a:solidFill>
                            <a:latin typeface="Cambria Math" panose="02040503050406030204" pitchFamily="18" charset="0"/>
                          </a:rPr>
                          <m:t>𝑖𝑘</m:t>
                        </m:r>
                      </m:sub>
                    </m:sSub>
                    <m:r>
                      <a:rPr lang="ar-AE" sz="2285" i="1">
                        <a:solidFill>
                          <a:srgbClr val="000000"/>
                        </a:solidFill>
                        <a:latin typeface="Cambria Math" panose="02040503050406030204" pitchFamily="18" charset="0"/>
                      </a:rPr>
                      <m:t>)</m:t>
                    </m:r>
                  </m:oMath>
                </a14:m>
                <a:endParaRPr dirty="0"/>
              </a:p>
            </p:txBody>
          </p:sp>
        </mc:Choice>
        <mc:Fallback xmlns="">
          <p:sp>
            <p:nvSpPr>
              <p:cNvPr id="196" name="First define   as the proportion of instances in the   node that are from class…"/>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513"/>
                </a:stretch>
              </a:blipFill>
            </p:spPr>
            <p:txBody>
              <a:bodyPr/>
              <a:lstStyle/>
              <a:p>
                <a:r>
                  <a:rPr lang="en-US">
                    <a:noFill/>
                  </a:rPr>
                  <a:t> </a:t>
                </a:r>
              </a:p>
            </p:txBody>
          </p:sp>
        </mc:Fallback>
      </mc:AlternateContent>
      <p:sp>
        <p:nvSpPr>
          <p:cNvPr id="197" name="Node Impurity Measures (Classification)"/>
          <p:cNvSpPr txBox="1">
            <a:spLocks noGrp="1"/>
          </p:cNvSpPr>
          <p:nvPr>
            <p:ph type="title"/>
          </p:nvPr>
        </p:nvSpPr>
        <p:spPr>
          <a:prstGeom prst="rect">
            <a:avLst/>
          </a:prstGeom>
        </p:spPr>
        <p:txBody>
          <a:bodyPr>
            <a:normAutofit/>
          </a:bodyPr>
          <a:lstStyle>
            <a:lvl1pPr defTabSz="1473840">
              <a:defRPr sz="5100" spc="-102"/>
            </a:lvl1pPr>
          </a:lstStyle>
          <a:p>
            <a:r>
              <a:rPr sz="4000" dirty="0"/>
              <a:t>Node Impurity Measures (Classification)</a:t>
            </a:r>
          </a:p>
        </p:txBody>
      </p:sp>
      <mc:AlternateContent xmlns:mc="http://schemas.openxmlformats.org/markup-compatibility/2006" xmlns:a14="http://schemas.microsoft.com/office/drawing/2010/main">
        <mc:Choice Requires="a14">
          <p:sp>
            <p:nvSpPr>
              <p:cNvPr id="198" name="equation.pdf"/>
              <p:cNvSpPr txBox="1"/>
              <p:nvPr/>
            </p:nvSpPr>
            <p:spPr>
              <a:xfrm>
                <a:off x="5449348" y="5513123"/>
                <a:ext cx="646652" cy="194797"/>
              </a:xfrm>
              <a:prstGeom prst="rect">
                <a:avLst/>
              </a:prstGeom>
              <a:ln w="12700">
                <a:miter lim="400000"/>
              </a:ln>
            </p:spPr>
            <p:txBody>
              <a:bodyPr wrap="none" lIns="0" tIns="0" rIns="0" bIns="0">
                <a:spAutoFit/>
              </a:bodyPr>
              <a:lstStyle/>
              <a:p>
                <a:pPr defTabSz="642915" latinLnBrk="1">
                  <a:defRPr sz="1800">
                    <a:solidFill>
                      <a:srgbClr val="000000"/>
                    </a:solidFill>
                  </a:defRPr>
                </a:pPr>
                <a14:m>
                  <m:oMathPara xmlns:m="http://schemas.openxmlformats.org/officeDocument/2006/math">
                    <m:oMathParaPr>
                      <m:jc m:val="centerGroup"/>
                    </m:oMathParaPr>
                    <m:oMath xmlns:m="http://schemas.openxmlformats.org/officeDocument/2006/math">
                      <m:r>
                        <m:rPr>
                          <m:nor/>
                        </m:rPr>
                        <a:rPr sz="1266" i="1">
                          <a:solidFill>
                            <a:srgbClr val="000000"/>
                          </a:solidFill>
                          <a:latin typeface="Cambria Math" panose="02040503050406030204" pitchFamily="18" charset="0"/>
                        </a:rPr>
                        <m:t>if</m:t>
                      </m:r>
                      <m:sSub>
                        <m:sSubPr>
                          <m:ctrlPr>
                            <a:rPr sz="1266" i="1">
                              <a:solidFill>
                                <a:srgbClr val="000000"/>
                              </a:solidFill>
                              <a:latin typeface="Cambria Math" panose="02040503050406030204" pitchFamily="18" charset="0"/>
                            </a:rPr>
                          </m:ctrlPr>
                        </m:sSubPr>
                        <m:e>
                          <m:r>
                            <a:rPr sz="1266" i="1">
                              <a:solidFill>
                                <a:srgbClr val="000000"/>
                              </a:solidFill>
                              <a:latin typeface="Cambria Math" panose="02040503050406030204" pitchFamily="18" charset="0"/>
                            </a:rPr>
                            <m:t>𝑝</m:t>
                          </m:r>
                        </m:e>
                        <m:sub>
                          <m:r>
                            <a:rPr sz="1266" i="1">
                              <a:solidFill>
                                <a:srgbClr val="000000"/>
                              </a:solidFill>
                              <a:latin typeface="Cambria Math" panose="02040503050406030204" pitchFamily="18" charset="0"/>
                            </a:rPr>
                            <m:t>𝑖𝑘</m:t>
                          </m:r>
                        </m:sub>
                      </m:sSub>
                      <m:r>
                        <a:rPr sz="1266" i="1">
                          <a:solidFill>
                            <a:srgbClr val="000000"/>
                          </a:solidFill>
                          <a:latin typeface="Cambria Math" panose="02040503050406030204" pitchFamily="18" charset="0"/>
                        </a:rPr>
                        <m:t>≠</m:t>
                      </m:r>
                      <m:r>
                        <a:rPr sz="1266" i="1">
                          <a:solidFill>
                            <a:srgbClr val="000000"/>
                          </a:solidFill>
                          <a:latin typeface="Cambria Math" panose="02040503050406030204" pitchFamily="18" charset="0"/>
                        </a:rPr>
                        <m:t>0</m:t>
                      </m:r>
                    </m:oMath>
                  </m:oMathPara>
                </a14:m>
                <a:endParaRPr sz="1266" dirty="0"/>
              </a:p>
            </p:txBody>
          </p:sp>
        </mc:Choice>
        <mc:Fallback xmlns="">
          <p:sp>
            <p:nvSpPr>
              <p:cNvPr id="198" name="equation.pdf"/>
              <p:cNvSpPr txBox="1">
                <a:spLocks noRot="1" noChangeAspect="1" noMove="1" noResize="1" noEditPoints="1" noAdjustHandles="1" noChangeArrowheads="1" noChangeShapeType="1" noTextEdit="1"/>
              </p:cNvSpPr>
              <p:nvPr/>
            </p:nvSpPr>
            <p:spPr>
              <a:xfrm>
                <a:off x="5449348" y="5513123"/>
                <a:ext cx="646652" cy="194797"/>
              </a:xfrm>
              <a:prstGeom prst="rect">
                <a:avLst/>
              </a:prstGeom>
              <a:blipFill>
                <a:blip r:embed="rId3"/>
                <a:stretch>
                  <a:fillRect l="-5660" r="-4717" b="-21875"/>
                </a:stretch>
              </a:blipFill>
              <a:ln w="12700">
                <a:miter lim="400000"/>
              </a:ln>
            </p:spPr>
            <p:txBody>
              <a:bodyPr/>
              <a:lstStyle/>
              <a:p>
                <a:r>
                  <a:rPr lang="en-US">
                    <a:noFill/>
                  </a:rPr>
                  <a:t> </a:t>
                </a:r>
              </a:p>
            </p:txBody>
          </p:sp>
        </mc:Fallback>
      </mc:AlternateContent>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D8B25-F1A6-F8CD-5A61-B396D0FD3A6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8" name="Classification and Regression Tree (CART) algorithm:…">
                <a:extLst>
                  <a:ext uri="{FF2B5EF4-FFF2-40B4-BE49-F238E27FC236}">
                    <a16:creationId xmlns:a16="http://schemas.microsoft.com/office/drawing/2014/main" id="{4F1BC16E-7450-66B7-F555-3424743973B6}"/>
                  </a:ext>
                </a:extLst>
              </p:cNvPr>
              <p:cNvSpPr txBox="1">
                <a:spLocks noGrp="1"/>
              </p:cNvSpPr>
              <p:nvPr>
                <p:ph type="body" sz="half" idx="1"/>
              </p:nvPr>
            </p:nvSpPr>
            <p:spPr>
              <a:xfrm>
                <a:off x="2015133" y="1620766"/>
                <a:ext cx="8161734" cy="2342203"/>
              </a:xfrm>
              <a:prstGeom prst="rect">
                <a:avLst/>
              </a:prstGeom>
            </p:spPr>
            <p:txBody>
              <a:bodyPr>
                <a:normAutofit fontScale="77500" lnSpcReduction="20000"/>
              </a:bodyPr>
              <a:lstStyle/>
              <a:p>
                <a:pPr marL="262523" indent="-262523" defTabSz="1194743">
                  <a:spcBef>
                    <a:spcPts val="2180"/>
                  </a:spcBef>
                  <a:defRPr sz="2940"/>
                </a:pPr>
                <a:r>
                  <a:rPr dirty="0"/>
                  <a:t>Classification and Regression Tree (CART) algorithm:</a:t>
                </a:r>
              </a:p>
              <a:p>
                <a:pPr marL="700063" lvl="1" indent="-262523" defTabSz="1194743">
                  <a:spcBef>
                    <a:spcPts val="2180"/>
                  </a:spcBef>
                  <a:defRPr sz="2940"/>
                </a:pPr>
                <a:r>
                  <a:rPr dirty="0"/>
                  <a:t>Split the training data into two subsets using a single feature, </a:t>
                </a:r>
                <a14:m>
                  <m:oMath xmlns:m="http://schemas.openxmlformats.org/officeDocument/2006/math">
                    <m:r>
                      <a:rPr sz="2250" i="1">
                        <a:solidFill>
                          <a:srgbClr val="000000"/>
                        </a:solidFill>
                        <a:latin typeface="Cambria Math" panose="02040503050406030204" pitchFamily="18" charset="0"/>
                      </a:rPr>
                      <m:t>𝑘</m:t>
                    </m:r>
                  </m:oMath>
                </a14:m>
                <a:r>
                  <a:rPr dirty="0"/>
                  <a:t>, and a threshold , </a:t>
                </a:r>
                <a14:m>
                  <m:oMath xmlns:m="http://schemas.openxmlformats.org/officeDocument/2006/math">
                    <m:sSub>
                      <m:sSubPr>
                        <m:ctrlPr>
                          <a:rPr sz="2250" i="1">
                            <a:solidFill>
                              <a:srgbClr val="000000"/>
                            </a:solidFill>
                            <a:latin typeface="Cambria Math" panose="02040503050406030204" pitchFamily="18" charset="0"/>
                          </a:rPr>
                        </m:ctrlPr>
                      </m:sSubPr>
                      <m:e>
                        <m:r>
                          <a:rPr sz="2250" i="1">
                            <a:solidFill>
                              <a:srgbClr val="000000"/>
                            </a:solidFill>
                            <a:latin typeface="Cambria Math" panose="02040503050406030204" pitchFamily="18" charset="0"/>
                          </a:rPr>
                          <m:t>𝑡</m:t>
                        </m:r>
                      </m:e>
                      <m:sub>
                        <m:r>
                          <a:rPr sz="2250" i="1">
                            <a:solidFill>
                              <a:srgbClr val="000000"/>
                            </a:solidFill>
                            <a:latin typeface="Cambria Math" panose="02040503050406030204" pitchFamily="18" charset="0"/>
                          </a:rPr>
                          <m:t>𝑘</m:t>
                        </m:r>
                      </m:sub>
                    </m:sSub>
                  </m:oMath>
                </a14:m>
                <a:endParaRPr dirty="0"/>
              </a:p>
              <a:p>
                <a:pPr marL="700063" lvl="1" indent="-262523" defTabSz="1194743">
                  <a:spcBef>
                    <a:spcPts val="2180"/>
                  </a:spcBef>
                  <a:defRPr sz="2940"/>
                </a:pPr>
                <a:r>
                  <a:rPr dirty="0"/>
                  <a:t>Search for the (features, threshold) or (</a:t>
                </a:r>
                <a14:m>
                  <m:oMath xmlns:m="http://schemas.openxmlformats.org/officeDocument/2006/math">
                    <m:r>
                      <a:rPr sz="2250" i="1">
                        <a:solidFill>
                          <a:srgbClr val="000000"/>
                        </a:solidFill>
                        <a:latin typeface="Cambria Math" panose="02040503050406030204" pitchFamily="18" charset="0"/>
                      </a:rPr>
                      <m:t>𝑘</m:t>
                    </m:r>
                    <m:r>
                      <a:rPr sz="2250" i="1">
                        <a:solidFill>
                          <a:srgbClr val="000000"/>
                        </a:solidFill>
                        <a:latin typeface="Cambria Math" panose="02040503050406030204" pitchFamily="18" charset="0"/>
                      </a:rPr>
                      <m:t>,</m:t>
                    </m:r>
                    <m:sSub>
                      <m:sSubPr>
                        <m:ctrlPr>
                          <a:rPr sz="2250" i="1">
                            <a:solidFill>
                              <a:srgbClr val="000000"/>
                            </a:solidFill>
                            <a:latin typeface="Cambria Math" panose="02040503050406030204" pitchFamily="18" charset="0"/>
                          </a:rPr>
                        </m:ctrlPr>
                      </m:sSubPr>
                      <m:e>
                        <m:r>
                          <a:rPr sz="2250" i="1">
                            <a:solidFill>
                              <a:srgbClr val="000000"/>
                            </a:solidFill>
                            <a:latin typeface="Cambria Math" panose="02040503050406030204" pitchFamily="18" charset="0"/>
                          </a:rPr>
                          <m:t>𝑡</m:t>
                        </m:r>
                      </m:e>
                      <m:sub>
                        <m:r>
                          <a:rPr sz="2250" i="1">
                            <a:solidFill>
                              <a:srgbClr val="000000"/>
                            </a:solidFill>
                            <a:latin typeface="Cambria Math" panose="02040503050406030204" pitchFamily="18" charset="0"/>
                          </a:rPr>
                          <m:t>𝑘</m:t>
                        </m:r>
                      </m:sub>
                    </m:sSub>
                  </m:oMath>
                </a14:m>
                <a:r>
                  <a:rPr dirty="0"/>
                  <a:t>) pair that minimizes the cost function:</a:t>
                </a:r>
                <a:endParaRPr sz="2109" dirty="0"/>
              </a:p>
            </p:txBody>
          </p:sp>
        </mc:Choice>
        <mc:Fallback xmlns="">
          <p:sp>
            <p:nvSpPr>
              <p:cNvPr id="188" name="Classification and Regression Tree (CART) algorithm:…">
                <a:extLst>
                  <a:ext uri="{FF2B5EF4-FFF2-40B4-BE49-F238E27FC236}">
                    <a16:creationId xmlns:a16="http://schemas.microsoft.com/office/drawing/2014/main" id="{4F1BC16E-7450-66B7-F555-3424743973B6}"/>
                  </a:ext>
                </a:extLst>
              </p:cNvPr>
              <p:cNvSpPr txBox="1">
                <a:spLocks noGrp="1" noRot="1" noChangeAspect="1" noMove="1" noResize="1" noEditPoints="1" noAdjustHandles="1" noChangeArrowheads="1" noChangeShapeType="1" noTextEdit="1"/>
              </p:cNvSpPr>
              <p:nvPr>
                <p:ph type="body" sz="half" idx="1"/>
              </p:nvPr>
            </p:nvSpPr>
            <p:spPr>
              <a:xfrm>
                <a:off x="2015133" y="1620766"/>
                <a:ext cx="8161734" cy="2342203"/>
              </a:xfrm>
              <a:prstGeom prst="rect">
                <a:avLst/>
              </a:prstGeom>
              <a:blipFill>
                <a:blip r:embed="rId2"/>
                <a:stretch>
                  <a:fillRect l="-897" t="-3646" b="-1042"/>
                </a:stretch>
              </a:blipFill>
            </p:spPr>
            <p:txBody>
              <a:bodyPr/>
              <a:lstStyle/>
              <a:p>
                <a:r>
                  <a:rPr lang="en-US">
                    <a:noFill/>
                  </a:rPr>
                  <a:t> </a:t>
                </a:r>
              </a:p>
            </p:txBody>
          </p:sp>
        </mc:Fallback>
      </mc:AlternateContent>
      <p:sp>
        <p:nvSpPr>
          <p:cNvPr id="189" name="Growing the Tree (Fitting)">
            <a:extLst>
              <a:ext uri="{FF2B5EF4-FFF2-40B4-BE49-F238E27FC236}">
                <a16:creationId xmlns:a16="http://schemas.microsoft.com/office/drawing/2014/main" id="{C9015085-275F-8816-9953-D4620AADA80E}"/>
              </a:ext>
            </a:extLst>
          </p:cNvPr>
          <p:cNvSpPr txBox="1">
            <a:spLocks noGrp="1"/>
          </p:cNvSpPr>
          <p:nvPr>
            <p:ph type="title"/>
          </p:nvPr>
        </p:nvSpPr>
        <p:spPr>
          <a:prstGeom prst="rect">
            <a:avLst/>
          </a:prstGeom>
        </p:spPr>
        <p:txBody>
          <a:bodyPr>
            <a:normAutofit/>
          </a:bodyPr>
          <a:lstStyle>
            <a:lvl1pPr defTabSz="1525858">
              <a:defRPr sz="5280" spc="-105"/>
            </a:lvl1pPr>
          </a:lstStyle>
          <a:p>
            <a:r>
              <a:rPr sz="4000" dirty="0"/>
              <a:t>Growing the Tree (Fitting)</a:t>
            </a:r>
          </a:p>
        </p:txBody>
      </p:sp>
      <mc:AlternateContent xmlns:mc="http://schemas.openxmlformats.org/markup-compatibility/2006" xmlns:a14="http://schemas.microsoft.com/office/drawing/2010/main">
        <mc:Choice Requires="a14">
          <p:sp>
            <p:nvSpPr>
              <p:cNvPr id="190" name="equation.pdf">
                <a:extLst>
                  <a:ext uri="{FF2B5EF4-FFF2-40B4-BE49-F238E27FC236}">
                    <a16:creationId xmlns:a16="http://schemas.microsoft.com/office/drawing/2014/main" id="{9EB39F86-74E2-91E3-5F1C-B77351A41898}"/>
                  </a:ext>
                </a:extLst>
              </p:cNvPr>
              <p:cNvSpPr txBox="1"/>
              <p:nvPr/>
            </p:nvSpPr>
            <p:spPr>
              <a:xfrm>
                <a:off x="4683530" y="4491578"/>
                <a:ext cx="2776401" cy="528158"/>
              </a:xfrm>
              <a:prstGeom prst="rect">
                <a:avLst/>
              </a:prstGeom>
              <a:ln w="12700">
                <a:miter lim="400000"/>
              </a:ln>
            </p:spPr>
            <p:txBody>
              <a:bodyPr wrap="none" lIns="0" tIns="0" rIns="0" bIns="0">
                <a:spAutoFit/>
              </a:bodyPr>
              <a:lstStyle/>
              <a:p>
                <a:pPr defTabSz="642915" latinLnBrk="1">
                  <a:defRPr sz="1800">
                    <a:solidFill>
                      <a:srgbClr val="000000"/>
                    </a:solidFill>
                  </a:defRPr>
                </a:pPr>
                <a14:m>
                  <m:oMathPara xmlns:m="http://schemas.openxmlformats.org/officeDocument/2006/math">
                    <m:oMathParaPr>
                      <m:jc m:val="centerGroup"/>
                    </m:oMathParaPr>
                    <m:oMath xmlns:m="http://schemas.openxmlformats.org/officeDocument/2006/math">
                      <m:f>
                        <m:fPr>
                          <m:ctrlPr>
                            <a:rPr sz="1969" i="1">
                              <a:solidFill>
                                <a:srgbClr val="005392"/>
                              </a:solidFill>
                              <a:latin typeface="Cambria Math" panose="02040503050406030204" pitchFamily="18" charset="0"/>
                            </a:rPr>
                          </m:ctrlPr>
                        </m:fPr>
                        <m:num>
                          <m:sSub>
                            <m:sSubPr>
                              <m:ctrlPr>
                                <a:rPr sz="1969" i="1">
                                  <a:solidFill>
                                    <a:srgbClr val="005392"/>
                                  </a:solidFill>
                                  <a:latin typeface="Cambria Math" panose="02040503050406030204" pitchFamily="18" charset="0"/>
                                </a:rPr>
                              </m:ctrlPr>
                            </m:sSubPr>
                            <m:e>
                              <m:r>
                                <a:rPr sz="1969" i="1">
                                  <a:solidFill>
                                    <a:srgbClr val="005392"/>
                                  </a:solidFill>
                                  <a:latin typeface="Cambria Math" panose="02040503050406030204" pitchFamily="18" charset="0"/>
                                </a:rPr>
                                <m:t>𝑛</m:t>
                              </m:r>
                            </m:e>
                            <m:sub>
                              <m:r>
                                <a:rPr sz="1969" i="1">
                                  <a:solidFill>
                                    <a:srgbClr val="005392"/>
                                  </a:solidFill>
                                  <a:latin typeface="Cambria Math" panose="02040503050406030204" pitchFamily="18" charset="0"/>
                                </a:rPr>
                                <m:t>𝑙𝑒𝑓𝑡</m:t>
                              </m:r>
                            </m:sub>
                          </m:sSub>
                        </m:num>
                        <m:den>
                          <m:r>
                            <a:rPr sz="1969" i="1">
                              <a:solidFill>
                                <a:srgbClr val="005392"/>
                              </a:solidFill>
                              <a:latin typeface="Cambria Math" panose="02040503050406030204" pitchFamily="18" charset="0"/>
                            </a:rPr>
                            <m:t>𝑛</m:t>
                          </m:r>
                        </m:den>
                      </m:f>
                      <m:sSub>
                        <m:sSubPr>
                          <m:ctrlPr>
                            <a:rPr sz="1969" i="1">
                              <a:solidFill>
                                <a:srgbClr val="005392"/>
                              </a:solidFill>
                              <a:latin typeface="Cambria Math" panose="02040503050406030204" pitchFamily="18" charset="0"/>
                            </a:rPr>
                          </m:ctrlPr>
                        </m:sSubPr>
                        <m:e>
                          <m:r>
                            <a:rPr sz="1969" i="1">
                              <a:solidFill>
                                <a:srgbClr val="005392"/>
                              </a:solidFill>
                              <a:latin typeface="Cambria Math" panose="02040503050406030204" pitchFamily="18" charset="0"/>
                            </a:rPr>
                            <m:t>𝐺</m:t>
                          </m:r>
                        </m:e>
                        <m:sub>
                          <m:r>
                            <a:rPr sz="1969" i="1">
                              <a:solidFill>
                                <a:srgbClr val="005392"/>
                              </a:solidFill>
                              <a:latin typeface="Cambria Math" panose="02040503050406030204" pitchFamily="18" charset="0"/>
                            </a:rPr>
                            <m:t>𝑙𝑒𝑓𝑡</m:t>
                          </m:r>
                        </m:sub>
                      </m:sSub>
                      <m:r>
                        <a:rPr sz="1969" i="1">
                          <a:solidFill>
                            <a:srgbClr val="005392"/>
                          </a:solidFill>
                          <a:latin typeface="Cambria Math" panose="02040503050406030204" pitchFamily="18" charset="0"/>
                        </a:rPr>
                        <m:t>+</m:t>
                      </m:r>
                      <m:f>
                        <m:fPr>
                          <m:ctrlPr>
                            <a:rPr sz="1969" i="1">
                              <a:solidFill>
                                <a:srgbClr val="005392"/>
                              </a:solidFill>
                              <a:latin typeface="Cambria Math" panose="02040503050406030204" pitchFamily="18" charset="0"/>
                            </a:rPr>
                          </m:ctrlPr>
                        </m:fPr>
                        <m:num>
                          <m:sSub>
                            <m:sSubPr>
                              <m:ctrlPr>
                                <a:rPr sz="1969" i="1">
                                  <a:solidFill>
                                    <a:srgbClr val="005392"/>
                                  </a:solidFill>
                                  <a:latin typeface="Cambria Math" panose="02040503050406030204" pitchFamily="18" charset="0"/>
                                </a:rPr>
                              </m:ctrlPr>
                            </m:sSubPr>
                            <m:e>
                              <m:r>
                                <a:rPr sz="1969" i="1">
                                  <a:solidFill>
                                    <a:srgbClr val="005392"/>
                                  </a:solidFill>
                                  <a:latin typeface="Cambria Math" panose="02040503050406030204" pitchFamily="18" charset="0"/>
                                </a:rPr>
                                <m:t>𝑛</m:t>
                              </m:r>
                            </m:e>
                            <m:sub>
                              <m:r>
                                <a:rPr sz="1969" i="1">
                                  <a:solidFill>
                                    <a:srgbClr val="005392"/>
                                  </a:solidFill>
                                  <a:latin typeface="Cambria Math" panose="02040503050406030204" pitchFamily="18" charset="0"/>
                                </a:rPr>
                                <m:t>𝑟𝑖𝑔</m:t>
                              </m:r>
                              <m:r>
                                <a:rPr sz="1969" i="1">
                                  <a:solidFill>
                                    <a:srgbClr val="005392"/>
                                  </a:solidFill>
                                  <a:latin typeface="Cambria Math" panose="02040503050406030204" pitchFamily="18" charset="0"/>
                                </a:rPr>
                                <m:t>h</m:t>
                              </m:r>
                              <m:r>
                                <a:rPr sz="1969" i="1">
                                  <a:solidFill>
                                    <a:srgbClr val="005392"/>
                                  </a:solidFill>
                                  <a:latin typeface="Cambria Math" panose="02040503050406030204" pitchFamily="18" charset="0"/>
                                </a:rPr>
                                <m:t>𝑡</m:t>
                              </m:r>
                            </m:sub>
                          </m:sSub>
                        </m:num>
                        <m:den>
                          <m:r>
                            <a:rPr sz="1969" i="1">
                              <a:solidFill>
                                <a:srgbClr val="005392"/>
                              </a:solidFill>
                              <a:latin typeface="Cambria Math" panose="02040503050406030204" pitchFamily="18" charset="0"/>
                            </a:rPr>
                            <m:t>𝑛</m:t>
                          </m:r>
                        </m:den>
                      </m:f>
                      <m:sSub>
                        <m:sSubPr>
                          <m:ctrlPr>
                            <a:rPr sz="1969" i="1">
                              <a:solidFill>
                                <a:srgbClr val="005392"/>
                              </a:solidFill>
                              <a:latin typeface="Cambria Math" panose="02040503050406030204" pitchFamily="18" charset="0"/>
                            </a:rPr>
                          </m:ctrlPr>
                        </m:sSubPr>
                        <m:e>
                          <m:r>
                            <a:rPr sz="1969" i="1">
                              <a:solidFill>
                                <a:srgbClr val="005392"/>
                              </a:solidFill>
                              <a:latin typeface="Cambria Math" panose="02040503050406030204" pitchFamily="18" charset="0"/>
                            </a:rPr>
                            <m:t>𝐺</m:t>
                          </m:r>
                        </m:e>
                        <m:sub>
                          <m:r>
                            <a:rPr sz="1969" i="1">
                              <a:solidFill>
                                <a:srgbClr val="005392"/>
                              </a:solidFill>
                              <a:latin typeface="Cambria Math" panose="02040503050406030204" pitchFamily="18" charset="0"/>
                            </a:rPr>
                            <m:t>𝑟𝑖𝑔</m:t>
                          </m:r>
                          <m:r>
                            <a:rPr sz="1969" i="1">
                              <a:solidFill>
                                <a:srgbClr val="005392"/>
                              </a:solidFill>
                              <a:latin typeface="Cambria Math" panose="02040503050406030204" pitchFamily="18" charset="0"/>
                            </a:rPr>
                            <m:t>h</m:t>
                          </m:r>
                          <m:r>
                            <a:rPr sz="1969" i="1">
                              <a:solidFill>
                                <a:srgbClr val="005392"/>
                              </a:solidFill>
                              <a:latin typeface="Cambria Math" panose="02040503050406030204" pitchFamily="18" charset="0"/>
                            </a:rPr>
                            <m:t>𝑡</m:t>
                          </m:r>
                        </m:sub>
                      </m:sSub>
                    </m:oMath>
                  </m:oMathPara>
                </a14:m>
                <a:endParaRPr sz="1969" dirty="0">
                  <a:solidFill>
                    <a:srgbClr val="005493"/>
                  </a:solidFill>
                </a:endParaRPr>
              </a:p>
            </p:txBody>
          </p:sp>
        </mc:Choice>
        <mc:Fallback xmlns="">
          <p:sp>
            <p:nvSpPr>
              <p:cNvPr id="190" name="equation.pdf">
                <a:extLst>
                  <a:ext uri="{FF2B5EF4-FFF2-40B4-BE49-F238E27FC236}">
                    <a16:creationId xmlns:a16="http://schemas.microsoft.com/office/drawing/2014/main" id="{9EB39F86-74E2-91E3-5F1C-B77351A41898}"/>
                  </a:ext>
                </a:extLst>
              </p:cNvPr>
              <p:cNvSpPr txBox="1">
                <a:spLocks noRot="1" noChangeAspect="1" noMove="1" noResize="1" noEditPoints="1" noAdjustHandles="1" noChangeArrowheads="1" noChangeShapeType="1" noTextEdit="1"/>
              </p:cNvSpPr>
              <p:nvPr/>
            </p:nvSpPr>
            <p:spPr>
              <a:xfrm>
                <a:off x="4683530" y="4491578"/>
                <a:ext cx="2776401" cy="528158"/>
              </a:xfrm>
              <a:prstGeom prst="rect">
                <a:avLst/>
              </a:prstGeom>
              <a:blipFill>
                <a:blip r:embed="rId3"/>
                <a:stretch>
                  <a:fillRect/>
                </a:stretch>
              </a:blipFill>
              <a:ln w="12700">
                <a:miter lim="400000"/>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equation.pdf">
                <a:extLst>
                  <a:ext uri="{FF2B5EF4-FFF2-40B4-BE49-F238E27FC236}">
                    <a16:creationId xmlns:a16="http://schemas.microsoft.com/office/drawing/2014/main" id="{F24E6E9C-6B81-2509-C609-299568AB28E6}"/>
                  </a:ext>
                </a:extLst>
              </p:cNvPr>
              <p:cNvSpPr txBox="1"/>
              <p:nvPr/>
            </p:nvSpPr>
            <p:spPr>
              <a:xfrm>
                <a:off x="4661065" y="5537655"/>
                <a:ext cx="3466334" cy="528158"/>
              </a:xfrm>
              <a:prstGeom prst="rect">
                <a:avLst/>
              </a:prstGeom>
              <a:ln w="12700">
                <a:miter lim="400000"/>
              </a:ln>
            </p:spPr>
            <p:txBody>
              <a:bodyPr wrap="none" lIns="0" tIns="0" rIns="0" bIns="0">
                <a:spAutoFit/>
              </a:bodyPr>
              <a:lstStyle/>
              <a:p>
                <a:pPr defTabSz="642915" latinLnBrk="1">
                  <a:defRPr sz="1800">
                    <a:solidFill>
                      <a:srgbClr val="000000"/>
                    </a:solidFill>
                  </a:defRPr>
                </a:pPr>
                <a14:m>
                  <m:oMathPara xmlns:m="http://schemas.openxmlformats.org/officeDocument/2006/math">
                    <m:oMathParaPr>
                      <m:jc m:val="centerGroup"/>
                    </m:oMathParaPr>
                    <m:oMath xmlns:m="http://schemas.openxmlformats.org/officeDocument/2006/math">
                      <m:f>
                        <m:fPr>
                          <m:ctrlPr>
                            <a:rPr sz="1969" i="1">
                              <a:solidFill>
                                <a:srgbClr val="4E8F00"/>
                              </a:solidFill>
                              <a:latin typeface="Cambria Math" panose="02040503050406030204" pitchFamily="18" charset="0"/>
                            </a:rPr>
                          </m:ctrlPr>
                        </m:fPr>
                        <m:num>
                          <m:sSub>
                            <m:sSubPr>
                              <m:ctrlPr>
                                <a:rPr sz="1969" i="1">
                                  <a:solidFill>
                                    <a:srgbClr val="4E8F00"/>
                                  </a:solidFill>
                                  <a:latin typeface="Cambria Math" panose="02040503050406030204" pitchFamily="18" charset="0"/>
                                </a:rPr>
                              </m:ctrlPr>
                            </m:sSubPr>
                            <m:e>
                              <m:r>
                                <a:rPr sz="1969" i="1">
                                  <a:solidFill>
                                    <a:srgbClr val="4E8F00"/>
                                  </a:solidFill>
                                  <a:latin typeface="Cambria Math" panose="02040503050406030204" pitchFamily="18" charset="0"/>
                                </a:rPr>
                                <m:t>𝑛</m:t>
                              </m:r>
                            </m:e>
                            <m:sub>
                              <m:r>
                                <a:rPr sz="1969" i="1">
                                  <a:solidFill>
                                    <a:srgbClr val="4E8F00"/>
                                  </a:solidFill>
                                  <a:latin typeface="Cambria Math" panose="02040503050406030204" pitchFamily="18" charset="0"/>
                                </a:rPr>
                                <m:t>𝑙𝑒𝑓𝑡</m:t>
                              </m:r>
                            </m:sub>
                          </m:sSub>
                        </m:num>
                        <m:den>
                          <m:r>
                            <a:rPr sz="1969" i="1">
                              <a:solidFill>
                                <a:srgbClr val="4E8F00"/>
                              </a:solidFill>
                              <a:latin typeface="Cambria Math" panose="02040503050406030204" pitchFamily="18" charset="0"/>
                            </a:rPr>
                            <m:t>𝑛</m:t>
                          </m:r>
                        </m:den>
                      </m:f>
                      <m:r>
                        <a:rPr sz="1969" i="1">
                          <a:solidFill>
                            <a:srgbClr val="4E8F00"/>
                          </a:solidFill>
                          <a:latin typeface="Cambria Math" panose="02040503050406030204" pitchFamily="18" charset="0"/>
                        </a:rPr>
                        <m:t>𝑀𝑆</m:t>
                      </m:r>
                      <m:sSub>
                        <m:sSubPr>
                          <m:ctrlPr>
                            <a:rPr sz="1969" i="1">
                              <a:solidFill>
                                <a:srgbClr val="4E8F00"/>
                              </a:solidFill>
                              <a:latin typeface="Cambria Math" panose="02040503050406030204" pitchFamily="18" charset="0"/>
                            </a:rPr>
                          </m:ctrlPr>
                        </m:sSubPr>
                        <m:e>
                          <m:r>
                            <a:rPr sz="1969" i="1">
                              <a:solidFill>
                                <a:srgbClr val="4E8F00"/>
                              </a:solidFill>
                              <a:latin typeface="Cambria Math" panose="02040503050406030204" pitchFamily="18" charset="0"/>
                            </a:rPr>
                            <m:t>𝐸</m:t>
                          </m:r>
                        </m:e>
                        <m:sub>
                          <m:r>
                            <a:rPr sz="1969" i="1">
                              <a:solidFill>
                                <a:srgbClr val="4E8F00"/>
                              </a:solidFill>
                              <a:latin typeface="Cambria Math" panose="02040503050406030204" pitchFamily="18" charset="0"/>
                            </a:rPr>
                            <m:t>𝑙𝑒𝑓𝑡</m:t>
                          </m:r>
                        </m:sub>
                      </m:sSub>
                      <m:r>
                        <a:rPr sz="1969" i="1">
                          <a:solidFill>
                            <a:srgbClr val="4E8F00"/>
                          </a:solidFill>
                          <a:latin typeface="Cambria Math" panose="02040503050406030204" pitchFamily="18" charset="0"/>
                        </a:rPr>
                        <m:t>+</m:t>
                      </m:r>
                      <m:f>
                        <m:fPr>
                          <m:ctrlPr>
                            <a:rPr sz="1969" i="1">
                              <a:solidFill>
                                <a:srgbClr val="4E8F00"/>
                              </a:solidFill>
                              <a:latin typeface="Cambria Math" panose="02040503050406030204" pitchFamily="18" charset="0"/>
                            </a:rPr>
                          </m:ctrlPr>
                        </m:fPr>
                        <m:num>
                          <m:sSub>
                            <m:sSubPr>
                              <m:ctrlPr>
                                <a:rPr sz="1969" i="1">
                                  <a:solidFill>
                                    <a:srgbClr val="4E8F00"/>
                                  </a:solidFill>
                                  <a:latin typeface="Cambria Math" panose="02040503050406030204" pitchFamily="18" charset="0"/>
                                </a:rPr>
                              </m:ctrlPr>
                            </m:sSubPr>
                            <m:e>
                              <m:r>
                                <a:rPr sz="1969" i="1">
                                  <a:solidFill>
                                    <a:srgbClr val="4E8F00"/>
                                  </a:solidFill>
                                  <a:latin typeface="Cambria Math" panose="02040503050406030204" pitchFamily="18" charset="0"/>
                                </a:rPr>
                                <m:t>𝑛</m:t>
                              </m:r>
                            </m:e>
                            <m:sub>
                              <m:r>
                                <a:rPr sz="1969" i="1">
                                  <a:solidFill>
                                    <a:srgbClr val="4E8F00"/>
                                  </a:solidFill>
                                  <a:latin typeface="Cambria Math" panose="02040503050406030204" pitchFamily="18" charset="0"/>
                                </a:rPr>
                                <m:t>𝑟𝑖𝑔</m:t>
                              </m:r>
                              <m:r>
                                <a:rPr sz="1969" i="1">
                                  <a:solidFill>
                                    <a:srgbClr val="4E8F00"/>
                                  </a:solidFill>
                                  <a:latin typeface="Cambria Math" panose="02040503050406030204" pitchFamily="18" charset="0"/>
                                </a:rPr>
                                <m:t>h</m:t>
                              </m:r>
                              <m:r>
                                <a:rPr sz="1969" i="1">
                                  <a:solidFill>
                                    <a:srgbClr val="4E8F00"/>
                                  </a:solidFill>
                                  <a:latin typeface="Cambria Math" panose="02040503050406030204" pitchFamily="18" charset="0"/>
                                </a:rPr>
                                <m:t>𝑡</m:t>
                              </m:r>
                            </m:sub>
                          </m:sSub>
                        </m:num>
                        <m:den>
                          <m:r>
                            <a:rPr sz="1969" i="1">
                              <a:solidFill>
                                <a:srgbClr val="4E8F00"/>
                              </a:solidFill>
                              <a:latin typeface="Cambria Math" panose="02040503050406030204" pitchFamily="18" charset="0"/>
                            </a:rPr>
                            <m:t>𝑛</m:t>
                          </m:r>
                        </m:den>
                      </m:f>
                      <m:r>
                        <a:rPr sz="1969" i="1">
                          <a:solidFill>
                            <a:srgbClr val="4E8F00"/>
                          </a:solidFill>
                          <a:latin typeface="Cambria Math" panose="02040503050406030204" pitchFamily="18" charset="0"/>
                        </a:rPr>
                        <m:t>𝑀𝑆</m:t>
                      </m:r>
                      <m:sSub>
                        <m:sSubPr>
                          <m:ctrlPr>
                            <a:rPr sz="1969" i="1">
                              <a:solidFill>
                                <a:srgbClr val="4E8F00"/>
                              </a:solidFill>
                              <a:latin typeface="Cambria Math" panose="02040503050406030204" pitchFamily="18" charset="0"/>
                            </a:rPr>
                          </m:ctrlPr>
                        </m:sSubPr>
                        <m:e>
                          <m:r>
                            <a:rPr sz="1969" i="1">
                              <a:solidFill>
                                <a:srgbClr val="4E8F00"/>
                              </a:solidFill>
                              <a:latin typeface="Cambria Math" panose="02040503050406030204" pitchFamily="18" charset="0"/>
                            </a:rPr>
                            <m:t>𝐸</m:t>
                          </m:r>
                        </m:e>
                        <m:sub>
                          <m:r>
                            <a:rPr sz="1969" i="1">
                              <a:solidFill>
                                <a:srgbClr val="4E8F00"/>
                              </a:solidFill>
                              <a:latin typeface="Cambria Math" panose="02040503050406030204" pitchFamily="18" charset="0"/>
                            </a:rPr>
                            <m:t>𝑟𝑖𝑔</m:t>
                          </m:r>
                          <m:r>
                            <a:rPr sz="1969" i="1">
                              <a:solidFill>
                                <a:srgbClr val="4E8F00"/>
                              </a:solidFill>
                              <a:latin typeface="Cambria Math" panose="02040503050406030204" pitchFamily="18" charset="0"/>
                            </a:rPr>
                            <m:t>h</m:t>
                          </m:r>
                          <m:r>
                            <a:rPr sz="1969" i="1">
                              <a:solidFill>
                                <a:srgbClr val="4E8F00"/>
                              </a:solidFill>
                              <a:latin typeface="Cambria Math" panose="02040503050406030204" pitchFamily="18" charset="0"/>
                            </a:rPr>
                            <m:t>𝑡</m:t>
                          </m:r>
                        </m:sub>
                      </m:sSub>
                    </m:oMath>
                  </m:oMathPara>
                </a14:m>
                <a:endParaRPr sz="1969">
                  <a:solidFill>
                    <a:srgbClr val="4F8F00"/>
                  </a:solidFill>
                </a:endParaRPr>
              </a:p>
            </p:txBody>
          </p:sp>
        </mc:Choice>
        <mc:Fallback xmlns="">
          <p:sp>
            <p:nvSpPr>
              <p:cNvPr id="191" name="equation.pdf">
                <a:extLst>
                  <a:ext uri="{FF2B5EF4-FFF2-40B4-BE49-F238E27FC236}">
                    <a16:creationId xmlns:a16="http://schemas.microsoft.com/office/drawing/2014/main" id="{F24E6E9C-6B81-2509-C609-299568AB28E6}"/>
                  </a:ext>
                </a:extLst>
              </p:cNvPr>
              <p:cNvSpPr txBox="1">
                <a:spLocks noRot="1" noChangeAspect="1" noMove="1" noResize="1" noEditPoints="1" noAdjustHandles="1" noChangeArrowheads="1" noChangeShapeType="1" noTextEdit="1"/>
              </p:cNvSpPr>
              <p:nvPr/>
            </p:nvSpPr>
            <p:spPr>
              <a:xfrm>
                <a:off x="4661065" y="5537655"/>
                <a:ext cx="3466334" cy="528158"/>
              </a:xfrm>
              <a:prstGeom prst="rect">
                <a:avLst/>
              </a:prstGeom>
              <a:blipFill>
                <a:blip r:embed="rId4"/>
                <a:stretch>
                  <a:fillRect/>
                </a:stretch>
              </a:blipFill>
              <a:ln w="12700">
                <a:miter lim="400000"/>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2" name="Where   is a measure of node impurity">
                <a:extLst>
                  <a:ext uri="{FF2B5EF4-FFF2-40B4-BE49-F238E27FC236}">
                    <a16:creationId xmlns:a16="http://schemas.microsoft.com/office/drawing/2014/main" id="{928C1EFB-2E09-CA89-58B7-47E12E3D060A}"/>
                  </a:ext>
                </a:extLst>
              </p:cNvPr>
              <p:cNvSpPr txBox="1"/>
              <p:nvPr/>
            </p:nvSpPr>
            <p:spPr>
              <a:xfrm>
                <a:off x="7633369" y="4503225"/>
                <a:ext cx="2394804" cy="494174"/>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35719" tIns="35719" rIns="35719" bIns="35719" anchor="ctr">
                <a:spAutoFit/>
              </a:bodyPr>
              <a:lstStyle/>
              <a:p>
                <a:pPr>
                  <a:defRPr sz="1900">
                    <a:solidFill>
                      <a:srgbClr val="005493"/>
                    </a:solidFill>
                  </a:defRPr>
                </a:pPr>
                <a:r>
                  <a:rPr sz="1336" dirty="0"/>
                  <a:t>Where </a:t>
                </a:r>
                <a14:m>
                  <m:oMath xmlns:m="http://schemas.openxmlformats.org/officeDocument/2006/math">
                    <m:r>
                      <a:rPr sz="1441" i="1">
                        <a:solidFill>
                          <a:srgbClr val="005392"/>
                        </a:solidFill>
                        <a:latin typeface="Cambria Math" panose="02040503050406030204" pitchFamily="18" charset="0"/>
                      </a:rPr>
                      <m:t>𝐺</m:t>
                    </m:r>
                  </m:oMath>
                </a14:m>
                <a:r>
                  <a:rPr sz="1336" dirty="0"/>
                  <a:t> is a measure of node impurity</a:t>
                </a:r>
              </a:p>
            </p:txBody>
          </p:sp>
        </mc:Choice>
        <mc:Fallback xmlns="">
          <p:sp>
            <p:nvSpPr>
              <p:cNvPr id="192" name="Where   is a measure of node impurity">
                <a:extLst>
                  <a:ext uri="{FF2B5EF4-FFF2-40B4-BE49-F238E27FC236}">
                    <a16:creationId xmlns:a16="http://schemas.microsoft.com/office/drawing/2014/main" id="{928C1EFB-2E09-CA89-58B7-47E12E3D060A}"/>
                  </a:ext>
                </a:extLst>
              </p:cNvPr>
              <p:cNvSpPr txBox="1">
                <a:spLocks noRot="1" noChangeAspect="1" noMove="1" noResize="1" noEditPoints="1" noAdjustHandles="1" noChangeArrowheads="1" noChangeShapeType="1" noTextEdit="1"/>
              </p:cNvSpPr>
              <p:nvPr/>
            </p:nvSpPr>
            <p:spPr>
              <a:xfrm>
                <a:off x="7633369" y="4503225"/>
                <a:ext cx="2394804" cy="494174"/>
              </a:xfrm>
              <a:prstGeom prst="rect">
                <a:avLst/>
              </a:prstGeom>
              <a:blipFill>
                <a:blip r:embed="rId5"/>
                <a:stretch>
                  <a:fillRect l="-2799" t="-2469" b="-12346"/>
                </a:stretch>
              </a:blipFill>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val="1"/>
                </a:ext>
              </a:extLst>
            </p:spPr>
            <p:txBody>
              <a:bodyPr/>
              <a:lstStyle/>
              <a:p>
                <a:r>
                  <a:rPr lang="en-US">
                    <a:noFill/>
                  </a:rPr>
                  <a:t> </a:t>
                </a:r>
              </a:p>
            </p:txBody>
          </p:sp>
        </mc:Fallback>
      </mc:AlternateContent>
      <p:sp>
        <p:nvSpPr>
          <p:cNvPr id="193" name="CLASSIFICATION">
            <a:extLst>
              <a:ext uri="{FF2B5EF4-FFF2-40B4-BE49-F238E27FC236}">
                <a16:creationId xmlns:a16="http://schemas.microsoft.com/office/drawing/2014/main" id="{1EB09047-28F8-7B1D-CEB9-060561B534B9}"/>
              </a:ext>
            </a:extLst>
          </p:cNvPr>
          <p:cNvSpPr txBox="1"/>
          <p:nvPr/>
        </p:nvSpPr>
        <p:spPr>
          <a:xfrm>
            <a:off x="2586522" y="4507057"/>
            <a:ext cx="1708033" cy="2994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defRPr sz="2100">
                <a:solidFill>
                  <a:srgbClr val="005493"/>
                </a:solidFill>
              </a:defRPr>
            </a:lvl1pPr>
          </a:lstStyle>
          <a:p>
            <a:r>
              <a:rPr sz="1477"/>
              <a:t>CLASSIFICATION</a:t>
            </a:r>
          </a:p>
        </p:txBody>
      </p:sp>
      <p:sp>
        <p:nvSpPr>
          <p:cNvPr id="194" name="REGRESSION">
            <a:extLst>
              <a:ext uri="{FF2B5EF4-FFF2-40B4-BE49-F238E27FC236}">
                <a16:creationId xmlns:a16="http://schemas.microsoft.com/office/drawing/2014/main" id="{D345F89B-CF84-EF78-3A6D-D9B85455A3D0}"/>
              </a:ext>
            </a:extLst>
          </p:cNvPr>
          <p:cNvSpPr txBox="1"/>
          <p:nvPr/>
        </p:nvSpPr>
        <p:spPr>
          <a:xfrm>
            <a:off x="2752386" y="5648089"/>
            <a:ext cx="1335302" cy="2994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lvl1pPr>
              <a:defRPr sz="2100">
                <a:solidFill>
                  <a:srgbClr val="4F8F00"/>
                </a:solidFill>
              </a:defRPr>
            </a:lvl1pPr>
          </a:lstStyle>
          <a:p>
            <a:r>
              <a:rPr sz="1477"/>
              <a:t>REGRESSION</a:t>
            </a:r>
          </a:p>
        </p:txBody>
      </p:sp>
    </p:spTree>
    <p:extLst>
      <p:ext uri="{BB962C8B-B14F-4D97-AF65-F5344CB8AC3E}">
        <p14:creationId xmlns:p14="http://schemas.microsoft.com/office/powerpoint/2010/main" val="85743770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 name="iris_tree_no_impurity.png" descr="iris_tree_no_impurity.png"/>
          <p:cNvPicPr>
            <a:picLocks noChangeAspect="1"/>
          </p:cNvPicPr>
          <p:nvPr/>
        </p:nvPicPr>
        <p:blipFill>
          <a:blip r:embed="rId2"/>
          <a:stretch>
            <a:fillRect/>
          </a:stretch>
        </p:blipFill>
        <p:spPr>
          <a:xfrm>
            <a:off x="7075064" y="651961"/>
            <a:ext cx="5554079" cy="5554078"/>
          </a:xfrm>
          <a:prstGeom prst="rect">
            <a:avLst/>
          </a:prstGeom>
          <a:ln w="12700">
            <a:miter lim="400000"/>
          </a:ln>
        </p:spPr>
      </p:pic>
      <mc:AlternateContent xmlns:mc="http://schemas.openxmlformats.org/markup-compatibility/2006" xmlns:a14="http://schemas.microsoft.com/office/drawing/2010/main">
        <mc:Choice Requires="a14">
          <p:sp>
            <p:nvSpPr>
              <p:cNvPr id="201" name="Gini index :…"/>
              <p:cNvSpPr txBox="1">
                <a:spLocks noGrp="1"/>
              </p:cNvSpPr>
              <p:nvPr>
                <p:ph type="body" idx="1"/>
              </p:nvPr>
            </p:nvSpPr>
            <p:spPr>
              <a:xfrm>
                <a:off x="755679" y="1750021"/>
                <a:ext cx="8161734" cy="5372253"/>
              </a:xfrm>
              <a:prstGeom prst="rect">
                <a:avLst/>
              </a:prstGeom>
            </p:spPr>
            <p:txBody>
              <a:bodyPr/>
              <a:lstStyle/>
              <a:p>
                <a:r>
                  <a:rPr dirty="0"/>
                  <a:t>Gini index :  </a:t>
                </a: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𝐺</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limUpp>
                      <m:limUppPr>
                        <m:ctrlPr>
                          <a:rPr sz="2285" i="1">
                            <a:solidFill>
                              <a:srgbClr val="000000"/>
                            </a:solidFill>
                            <a:latin typeface="Cambria Math" panose="02040503050406030204" pitchFamily="18" charset="0"/>
                          </a:rPr>
                        </m:ctrlPr>
                      </m:limUppPr>
                      <m:e>
                        <m:limLow>
                          <m:limLowPr>
                            <m:ctrlPr>
                              <a:rPr sz="2285" i="1">
                                <a:solidFill>
                                  <a:srgbClr val="000000"/>
                                </a:solidFill>
                                <a:latin typeface="Cambria Math" panose="02040503050406030204" pitchFamily="18" charset="0"/>
                              </a:rPr>
                            </m:ctrlPr>
                          </m:limLowPr>
                          <m:e>
                            <m:r>
                              <a:rPr sz="2285" i="1">
                                <a:solidFill>
                                  <a:srgbClr val="000000"/>
                                </a:solidFill>
                                <a:latin typeface="Cambria Math" panose="02040503050406030204" pitchFamily="18" charset="0"/>
                              </a:rPr>
                              <m:t>∑</m:t>
                            </m:r>
                          </m:e>
                          <m:lim>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lim>
                        </m:limLow>
                      </m:e>
                      <m:lim>
                        <m:r>
                          <a:rPr sz="2285" i="1">
                            <a:solidFill>
                              <a:srgbClr val="000000"/>
                            </a:solidFill>
                            <a:latin typeface="Cambria Math" panose="02040503050406030204" pitchFamily="18" charset="0"/>
                          </a:rPr>
                          <m:t>𝐾</m:t>
                        </m:r>
                      </m:lim>
                    </m:limUpp>
                    <m:sSubSup>
                      <m:sSubSupPr>
                        <m:ctrlPr>
                          <a:rPr sz="2285" i="1">
                            <a:solidFill>
                              <a:srgbClr val="000000"/>
                            </a:solidFill>
                            <a:latin typeface="Cambria Math" panose="02040503050406030204" pitchFamily="18" charset="0"/>
                          </a:rPr>
                        </m:ctrlPr>
                      </m:sSubSup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𝑖𝑘</m:t>
                        </m:r>
                      </m:sub>
                      <m:sup>
                        <m:r>
                          <a:rPr sz="2285" i="1">
                            <a:solidFill>
                              <a:srgbClr val="000000"/>
                            </a:solidFill>
                            <a:latin typeface="Cambria Math" panose="02040503050406030204" pitchFamily="18" charset="0"/>
                          </a:rPr>
                          <m:t>2</m:t>
                        </m:r>
                      </m:sup>
                    </m:sSubSup>
                  </m:oMath>
                </a14:m>
                <a:r>
                  <a:rPr dirty="0"/>
                  <a:t>    </a:t>
                </a:r>
              </a:p>
              <a:p>
                <a:r>
                  <a:rPr dirty="0"/>
                  <a:t>For the “green” node</a:t>
                </a:r>
                <a:br>
                  <a:rPr dirty="0"/>
                </a:b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1</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49</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3</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oMath>
                </a14:m>
                <a:br>
                  <a:rPr dirty="0"/>
                </a:br>
                <a:br>
                  <a:rPr dirty="0"/>
                </a:b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𝐺</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d>
                      <m:dPr>
                        <m:ctrlPr>
                          <a:rPr sz="2285" i="1">
                            <a:solidFill>
                              <a:srgbClr val="000000"/>
                            </a:solidFill>
                            <a:latin typeface="Cambria Math" panose="02040503050406030204" pitchFamily="18" charset="0"/>
                          </a:rPr>
                        </m:ctrlPr>
                      </m:dPr>
                      <m:e>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49</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e>
                    </m:d>
                  </m:oMath>
                </a14:m>
                <a:br>
                  <a:rPr dirty="0"/>
                </a:br>
                <a14:m>
                  <m:oMath xmlns:m="http://schemas.openxmlformats.org/officeDocument/2006/math">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168</m:t>
                    </m:r>
                  </m:oMath>
                </a14:m>
                <a:endParaRPr dirty="0"/>
              </a:p>
              <a:p>
                <a:r>
                  <a:rPr dirty="0"/>
                  <a:t>For the “purple” node</a:t>
                </a:r>
                <a:br>
                  <a:rPr dirty="0"/>
                </a:b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1</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3</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oMath>
                </a14:m>
                <a:br>
                  <a:rPr dirty="0"/>
                </a:br>
                <a:br>
                  <a:rPr dirty="0"/>
                </a:b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𝐺</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d>
                      <m:dPr>
                        <m:ctrlPr>
                          <a:rPr sz="2285" i="1">
                            <a:solidFill>
                              <a:srgbClr val="000000"/>
                            </a:solidFill>
                            <a:latin typeface="Cambria Math" panose="02040503050406030204" pitchFamily="18" charset="0"/>
                          </a:rPr>
                        </m:ctrlPr>
                      </m:dPr>
                      <m:e>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sSup>
                          <m:sSupPr>
                            <m:ctrlPr>
                              <a:rPr sz="2285" i="1">
                                <a:solidFill>
                                  <a:srgbClr val="000000"/>
                                </a:solidFill>
                                <a:latin typeface="Cambria Math" panose="02040503050406030204" pitchFamily="18" charset="0"/>
                              </a:rPr>
                            </m:ctrlPr>
                          </m:sSupPr>
                          <m:e>
                            <m:r>
                              <a:rPr sz="2285" i="1">
                                <a:solidFill>
                                  <a:srgbClr val="000000"/>
                                </a:solidFill>
                                <a:latin typeface="Cambria Math" panose="02040503050406030204" pitchFamily="18" charset="0"/>
                              </a:rPr>
                              <m:t>)</m:t>
                            </m:r>
                          </m:e>
                          <m:sup>
                            <m:r>
                              <a:rPr sz="2285" i="1">
                                <a:solidFill>
                                  <a:srgbClr val="000000"/>
                                </a:solidFill>
                                <a:latin typeface="Cambria Math" panose="02040503050406030204" pitchFamily="18" charset="0"/>
                              </a:rPr>
                              <m:t>2</m:t>
                            </m:r>
                          </m:sup>
                        </m:sSup>
                      </m:e>
                    </m:d>
                  </m:oMath>
                </a14:m>
                <a:br>
                  <a:rPr dirty="0"/>
                </a:br>
                <a14:m>
                  <m:oMath xmlns:m="http://schemas.openxmlformats.org/officeDocument/2006/math">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043</m:t>
                    </m:r>
                  </m:oMath>
                </a14:m>
                <a:br>
                  <a:rPr dirty="0"/>
                </a:br>
                <a:endParaRPr dirty="0"/>
              </a:p>
            </p:txBody>
          </p:sp>
        </mc:Choice>
        <mc:Fallback xmlns="">
          <p:sp>
            <p:nvSpPr>
              <p:cNvPr id="201" name="Gini index :…"/>
              <p:cNvSpPr txBox="1">
                <a:spLocks noGrp="1" noRot="1" noChangeAspect="1" noMove="1" noResize="1" noEditPoints="1" noAdjustHandles="1" noChangeArrowheads="1" noChangeShapeType="1" noTextEdit="1"/>
              </p:cNvSpPr>
              <p:nvPr>
                <p:ph type="body" idx="1"/>
              </p:nvPr>
            </p:nvSpPr>
            <p:spPr>
              <a:xfrm>
                <a:off x="755679" y="1750021"/>
                <a:ext cx="8161734" cy="5372253"/>
              </a:xfrm>
              <a:prstGeom prst="rect">
                <a:avLst/>
              </a:prstGeom>
              <a:blipFill>
                <a:blip r:embed="rId3"/>
                <a:stretch>
                  <a:fillRect l="-672"/>
                </a:stretch>
              </a:blipFill>
            </p:spPr>
            <p:txBody>
              <a:bodyPr/>
              <a:lstStyle/>
              <a:p>
                <a:r>
                  <a:rPr lang="en-US">
                    <a:noFill/>
                  </a:rPr>
                  <a:t> </a:t>
                </a:r>
              </a:p>
            </p:txBody>
          </p:sp>
        </mc:Fallback>
      </mc:AlternateContent>
      <p:sp>
        <p:nvSpPr>
          <p:cNvPr id="202" name="Node Impurity Measures (Classification)"/>
          <p:cNvSpPr txBox="1">
            <a:spLocks noGrp="1"/>
          </p:cNvSpPr>
          <p:nvPr>
            <p:ph type="title"/>
          </p:nvPr>
        </p:nvSpPr>
        <p:spPr>
          <a:prstGeom prst="rect">
            <a:avLst/>
          </a:prstGeom>
        </p:spPr>
        <p:txBody>
          <a:bodyPr>
            <a:normAutofit/>
          </a:bodyPr>
          <a:lstStyle>
            <a:lvl1pPr defTabSz="1473840">
              <a:defRPr sz="5100" spc="-102"/>
            </a:lvl1pPr>
          </a:lstStyle>
          <a:p>
            <a:r>
              <a:rPr sz="4000" dirty="0"/>
              <a:t>Node Impurity Measures (Classification)</a:t>
            </a:r>
          </a:p>
        </p:txBody>
      </p:sp>
      <p:sp>
        <p:nvSpPr>
          <p:cNvPr id="203" name="Line"/>
          <p:cNvSpPr/>
          <p:nvPr/>
        </p:nvSpPr>
        <p:spPr>
          <a:xfrm>
            <a:off x="3665698" y="4468219"/>
            <a:ext cx="4814068" cy="303247"/>
          </a:xfrm>
          <a:prstGeom prst="line">
            <a:avLst/>
          </a:prstGeom>
          <a:ln w="25400">
            <a:solidFill>
              <a:srgbClr val="919191"/>
            </a:solidFill>
            <a:prstDash val="sysDot"/>
            <a:miter lim="400000"/>
            <a:tailEnd type="triangle"/>
          </a:ln>
        </p:spPr>
        <p:txBody>
          <a:bodyPr lIns="35719" tIns="35719" rIns="35719" bIns="35719" anchor="ctr"/>
          <a:lstStyle/>
          <a:p>
            <a:endParaRPr sz="1266"/>
          </a:p>
        </p:txBody>
      </p:sp>
      <p:sp>
        <p:nvSpPr>
          <p:cNvPr id="204" name="Line"/>
          <p:cNvSpPr/>
          <p:nvPr/>
        </p:nvSpPr>
        <p:spPr>
          <a:xfrm flipV="1">
            <a:off x="3510423" y="5356706"/>
            <a:ext cx="7393366" cy="1307593"/>
          </a:xfrm>
          <a:prstGeom prst="line">
            <a:avLst/>
          </a:prstGeom>
          <a:ln w="25400">
            <a:solidFill>
              <a:srgbClr val="919191"/>
            </a:solidFill>
            <a:prstDash val="sysDot"/>
            <a:miter lim="400000"/>
            <a:tailEnd type="triangle"/>
          </a:ln>
        </p:spPr>
        <p:txBody>
          <a:bodyPr lIns="35719" tIns="35719" rIns="35719" bIns="35719" anchor="ctr"/>
          <a:lstStyle/>
          <a:p>
            <a:endParaRPr sz="1266"/>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iris_tree_no_impurity.png" descr="iris_tree_no_impurity.png"/>
          <p:cNvPicPr>
            <a:picLocks noChangeAspect="1"/>
          </p:cNvPicPr>
          <p:nvPr/>
        </p:nvPicPr>
        <p:blipFill>
          <a:blip r:embed="rId2"/>
          <a:stretch>
            <a:fillRect/>
          </a:stretch>
        </p:blipFill>
        <p:spPr>
          <a:xfrm>
            <a:off x="7178810" y="1351653"/>
            <a:ext cx="5299314" cy="5299313"/>
          </a:xfrm>
          <a:prstGeom prst="rect">
            <a:avLst/>
          </a:prstGeom>
          <a:ln w="12700">
            <a:miter lim="400000"/>
          </a:ln>
        </p:spPr>
      </p:pic>
      <mc:AlternateContent xmlns:mc="http://schemas.openxmlformats.org/markup-compatibility/2006" xmlns:a14="http://schemas.microsoft.com/office/drawing/2010/main">
        <mc:Choice Requires="a14">
          <p:sp>
            <p:nvSpPr>
              <p:cNvPr id="207" name="Entropy :…"/>
              <p:cNvSpPr txBox="1">
                <a:spLocks noGrp="1"/>
              </p:cNvSpPr>
              <p:nvPr>
                <p:ph type="body" idx="1"/>
              </p:nvPr>
            </p:nvSpPr>
            <p:spPr>
              <a:xfrm>
                <a:off x="591775" y="1949882"/>
                <a:ext cx="8161734" cy="5372253"/>
              </a:xfrm>
              <a:prstGeom prst="rect">
                <a:avLst/>
              </a:prstGeom>
            </p:spPr>
            <p:txBody>
              <a:bodyPr/>
              <a:lstStyle/>
              <a:p>
                <a:r>
                  <a:rPr dirty="0"/>
                  <a:t>Entropy :  </a:t>
                </a: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𝐻</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limUpp>
                      <m:limUppPr>
                        <m:ctrlPr>
                          <a:rPr sz="2285" i="1">
                            <a:solidFill>
                              <a:srgbClr val="000000"/>
                            </a:solidFill>
                            <a:latin typeface="Cambria Math" panose="02040503050406030204" pitchFamily="18" charset="0"/>
                          </a:rPr>
                        </m:ctrlPr>
                      </m:limUppPr>
                      <m:e>
                        <m:limLow>
                          <m:limLowPr>
                            <m:ctrlPr>
                              <a:rPr sz="2285" i="1">
                                <a:solidFill>
                                  <a:srgbClr val="000000"/>
                                </a:solidFill>
                                <a:latin typeface="Cambria Math" panose="02040503050406030204" pitchFamily="18" charset="0"/>
                              </a:rPr>
                            </m:ctrlPr>
                          </m:limLowPr>
                          <m:e>
                            <m:r>
                              <a:rPr sz="2285" i="1">
                                <a:solidFill>
                                  <a:srgbClr val="000000"/>
                                </a:solidFill>
                                <a:latin typeface="Cambria Math" panose="02040503050406030204" pitchFamily="18" charset="0"/>
                              </a:rPr>
                              <m:t>∑</m:t>
                            </m:r>
                          </m:e>
                          <m:lim>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lim>
                        </m:limLow>
                      </m:e>
                      <m:lim>
                        <m:r>
                          <a:rPr sz="2285" i="1">
                            <a:solidFill>
                              <a:srgbClr val="000000"/>
                            </a:solidFill>
                            <a:latin typeface="Cambria Math" panose="02040503050406030204" pitchFamily="18" charset="0"/>
                          </a:rPr>
                          <m:t>𝐾</m:t>
                        </m:r>
                      </m:lim>
                    </m:limUpp>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𝑖𝑘</m:t>
                        </m:r>
                      </m:sub>
                    </m:sSub>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𝑖𝑘</m:t>
                        </m:r>
                      </m:sub>
                    </m:sSub>
                    <m:r>
                      <a:rPr sz="2285" i="1">
                        <a:solidFill>
                          <a:srgbClr val="000000"/>
                        </a:solidFill>
                        <a:latin typeface="Cambria Math" panose="02040503050406030204" pitchFamily="18" charset="0"/>
                      </a:rPr>
                      <m:t>)</m:t>
                    </m:r>
                  </m:oMath>
                </a14:m>
                <a:r>
                  <a:rPr dirty="0"/>
                  <a:t>   </a:t>
                </a:r>
              </a:p>
              <a:p>
                <a:r>
                  <a:rPr dirty="0"/>
                  <a:t>For the “green” node</a:t>
                </a:r>
                <a:br>
                  <a:rPr dirty="0"/>
                </a:b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1</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49</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3</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oMath>
                </a14:m>
                <a:br>
                  <a:rPr dirty="0"/>
                </a:br>
                <a:br>
                  <a:rPr dirty="0"/>
                </a:b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𝐻</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d>
                      <m:dPr>
                        <m:ctrlPr>
                          <a:rPr sz="2285" i="1">
                            <a:solidFill>
                              <a:srgbClr val="000000"/>
                            </a:solidFill>
                            <a:latin typeface="Cambria Math" panose="02040503050406030204" pitchFamily="18" charset="0"/>
                          </a:rPr>
                        </m:ctrlPr>
                      </m:dPr>
                      <m:e>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49</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49</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54</m:t>
                        </m:r>
                        <m:r>
                          <a:rPr sz="2285" i="1">
                            <a:solidFill>
                              <a:srgbClr val="000000"/>
                            </a:solidFill>
                            <a:latin typeface="Cambria Math" panose="02040503050406030204" pitchFamily="18" charset="0"/>
                          </a:rPr>
                          <m:t>)</m:t>
                        </m:r>
                      </m:e>
                    </m:d>
                  </m:oMath>
                </a14:m>
                <a:br>
                  <a:rPr dirty="0"/>
                </a:br>
                <a14:m>
                  <m:oMath xmlns:m="http://schemas.openxmlformats.org/officeDocument/2006/math">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445</m:t>
                    </m:r>
                  </m:oMath>
                </a14:m>
                <a:endParaRPr dirty="0"/>
              </a:p>
              <a:p>
                <a:r>
                  <a:rPr dirty="0"/>
                  <a:t>For the “purple” node</a:t>
                </a:r>
                <a:br>
                  <a:rPr dirty="0"/>
                </a:b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1</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r>
                      <m:rPr>
                        <m:nor/>
                      </m:rPr>
                      <a:rPr sz="2285" i="1">
                        <a:solidFill>
                          <a:srgbClr val="000000"/>
                        </a:solidFill>
                        <a:latin typeface="Cambria Math" panose="02040503050406030204" pitchFamily="18" charset="0"/>
                      </a:rPr>
                      <m:t> </m:t>
                    </m:r>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𝑝</m:t>
                        </m:r>
                      </m:e>
                      <m:sub>
                        <m:r>
                          <a:rPr sz="2285" i="1">
                            <a:solidFill>
                              <a:srgbClr val="000000"/>
                            </a:solidFill>
                            <a:latin typeface="Cambria Math" panose="02040503050406030204" pitchFamily="18" charset="0"/>
                          </a:rPr>
                          <m:t>𝑖</m:t>
                        </m:r>
                        <m:r>
                          <a:rPr sz="2285" i="1">
                            <a:solidFill>
                              <a:srgbClr val="000000"/>
                            </a:solidFill>
                            <a:latin typeface="Cambria Math" panose="02040503050406030204" pitchFamily="18" charset="0"/>
                          </a:rPr>
                          <m:t>3</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oMath>
                </a14:m>
                <a:br>
                  <a:rPr dirty="0"/>
                </a:br>
                <a:br>
                  <a:rPr dirty="0"/>
                </a:br>
                <a14:m>
                  <m:oMath xmlns:m="http://schemas.openxmlformats.org/officeDocument/2006/math">
                    <m:sSub>
                      <m:sSubPr>
                        <m:ctrlPr>
                          <a:rPr sz="2285" i="1">
                            <a:solidFill>
                              <a:srgbClr val="000000"/>
                            </a:solidFill>
                            <a:latin typeface="Cambria Math" panose="02040503050406030204" pitchFamily="18" charset="0"/>
                          </a:rPr>
                        </m:ctrlPr>
                      </m:sSubPr>
                      <m:e>
                        <m:r>
                          <a:rPr sz="2285" i="1">
                            <a:solidFill>
                              <a:srgbClr val="000000"/>
                            </a:solidFill>
                            <a:latin typeface="Cambria Math" panose="02040503050406030204" pitchFamily="18" charset="0"/>
                          </a:rPr>
                          <m:t>𝐻</m:t>
                        </m:r>
                      </m:e>
                      <m:sub>
                        <m:r>
                          <a:rPr sz="2285" i="1">
                            <a:solidFill>
                              <a:srgbClr val="000000"/>
                            </a:solidFill>
                            <a:latin typeface="Cambria Math" panose="02040503050406030204" pitchFamily="18" charset="0"/>
                          </a:rPr>
                          <m:t>𝑖</m:t>
                        </m:r>
                      </m:sub>
                    </m:sSub>
                    <m:r>
                      <a:rPr sz="2285" i="1">
                        <a:solidFill>
                          <a:srgbClr val="000000"/>
                        </a:solidFill>
                        <a:latin typeface="Cambria Math" panose="02040503050406030204" pitchFamily="18" charset="0"/>
                      </a:rPr>
                      <m:t>=−</m:t>
                    </m:r>
                    <m:d>
                      <m:dPr>
                        <m:ctrlPr>
                          <a:rPr sz="2285" i="1">
                            <a:solidFill>
                              <a:srgbClr val="000000"/>
                            </a:solidFill>
                            <a:latin typeface="Cambria Math" panose="02040503050406030204" pitchFamily="18" charset="0"/>
                          </a:rPr>
                        </m:ctrlPr>
                      </m:dPr>
                      <m:e>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45</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46</m:t>
                        </m:r>
                        <m:r>
                          <a:rPr sz="2285" i="1">
                            <a:solidFill>
                              <a:srgbClr val="000000"/>
                            </a:solidFill>
                            <a:latin typeface="Cambria Math" panose="02040503050406030204" pitchFamily="18" charset="0"/>
                          </a:rPr>
                          <m:t>)</m:t>
                        </m:r>
                      </m:e>
                    </m:d>
                  </m:oMath>
                </a14:m>
                <a:br>
                  <a:rPr dirty="0"/>
                </a:br>
                <a14:m>
                  <m:oMath xmlns:m="http://schemas.openxmlformats.org/officeDocument/2006/math">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151</m:t>
                    </m:r>
                  </m:oMath>
                </a14:m>
                <a:br>
                  <a:rPr dirty="0"/>
                </a:br>
                <a:endParaRPr dirty="0"/>
              </a:p>
            </p:txBody>
          </p:sp>
        </mc:Choice>
        <mc:Fallback xmlns="">
          <p:sp>
            <p:nvSpPr>
              <p:cNvPr id="207" name="Entropy :…"/>
              <p:cNvSpPr txBox="1">
                <a:spLocks noGrp="1" noRot="1" noChangeAspect="1" noMove="1" noResize="1" noEditPoints="1" noAdjustHandles="1" noChangeArrowheads="1" noChangeShapeType="1" noTextEdit="1"/>
              </p:cNvSpPr>
              <p:nvPr>
                <p:ph type="body" idx="1"/>
              </p:nvPr>
            </p:nvSpPr>
            <p:spPr>
              <a:xfrm>
                <a:off x="591775" y="1949882"/>
                <a:ext cx="8161734" cy="5372253"/>
              </a:xfrm>
              <a:prstGeom prst="rect">
                <a:avLst/>
              </a:prstGeom>
              <a:blipFill>
                <a:blip r:embed="rId3"/>
                <a:stretch>
                  <a:fillRect l="-672"/>
                </a:stretch>
              </a:blipFill>
            </p:spPr>
            <p:txBody>
              <a:bodyPr/>
              <a:lstStyle/>
              <a:p>
                <a:r>
                  <a:rPr lang="en-US">
                    <a:noFill/>
                  </a:rPr>
                  <a:t> </a:t>
                </a:r>
              </a:p>
            </p:txBody>
          </p:sp>
        </mc:Fallback>
      </mc:AlternateContent>
      <p:sp>
        <p:nvSpPr>
          <p:cNvPr id="208" name="Node Impurity Measures (Classification)"/>
          <p:cNvSpPr txBox="1">
            <a:spLocks noGrp="1"/>
          </p:cNvSpPr>
          <p:nvPr>
            <p:ph type="title"/>
          </p:nvPr>
        </p:nvSpPr>
        <p:spPr>
          <a:prstGeom prst="rect">
            <a:avLst/>
          </a:prstGeom>
        </p:spPr>
        <p:txBody>
          <a:bodyPr>
            <a:normAutofit/>
          </a:bodyPr>
          <a:lstStyle>
            <a:lvl1pPr defTabSz="1473840">
              <a:defRPr sz="5100" spc="-102"/>
            </a:lvl1pPr>
          </a:lstStyle>
          <a:p>
            <a:r>
              <a:rPr sz="4000" dirty="0"/>
              <a:t>Node Impurity Measures (Classification)</a:t>
            </a:r>
          </a:p>
        </p:txBody>
      </p:sp>
      <p:sp>
        <p:nvSpPr>
          <p:cNvPr id="209" name="Line"/>
          <p:cNvSpPr/>
          <p:nvPr/>
        </p:nvSpPr>
        <p:spPr>
          <a:xfrm>
            <a:off x="2846718" y="4528868"/>
            <a:ext cx="5581290" cy="836762"/>
          </a:xfrm>
          <a:prstGeom prst="line">
            <a:avLst/>
          </a:prstGeom>
          <a:ln w="25400">
            <a:solidFill>
              <a:srgbClr val="919191"/>
            </a:solidFill>
            <a:prstDash val="sysDot"/>
            <a:miter lim="400000"/>
            <a:tailEnd type="triangle"/>
          </a:ln>
        </p:spPr>
        <p:txBody>
          <a:bodyPr lIns="35719" tIns="35719" rIns="35719" bIns="35719" anchor="ctr"/>
          <a:lstStyle/>
          <a:p>
            <a:endParaRPr sz="1266"/>
          </a:p>
        </p:txBody>
      </p:sp>
      <p:sp>
        <p:nvSpPr>
          <p:cNvPr id="210" name="Line"/>
          <p:cNvSpPr/>
          <p:nvPr/>
        </p:nvSpPr>
        <p:spPr>
          <a:xfrm flipV="1">
            <a:off x="2695033" y="5963859"/>
            <a:ext cx="8161734" cy="588876"/>
          </a:xfrm>
          <a:prstGeom prst="line">
            <a:avLst/>
          </a:prstGeom>
          <a:ln w="25400">
            <a:solidFill>
              <a:srgbClr val="919191"/>
            </a:solidFill>
            <a:prstDash val="sysDot"/>
            <a:miter lim="400000"/>
            <a:tailEnd type="triangle"/>
          </a:ln>
        </p:spPr>
        <p:txBody>
          <a:bodyPr lIns="35719" tIns="35719" rIns="35719" bIns="35719" anchor="ctr"/>
          <a:lstStyle/>
          <a:p>
            <a:endParaRPr sz="1266"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2" name="Ranges between 0 and   (where   is the number of classes)  (for binary classification, when  , max value is 0.5)…"/>
              <p:cNvSpPr txBox="1">
                <a:spLocks noGrp="1"/>
              </p:cNvSpPr>
              <p:nvPr>
                <p:ph type="body" idx="1"/>
              </p:nvPr>
            </p:nvSpPr>
            <p:spPr>
              <a:prstGeom prst="rect">
                <a:avLst/>
              </a:prstGeom>
            </p:spPr>
            <p:txBody>
              <a:bodyPr/>
              <a:lstStyle/>
              <a:p>
                <a:r>
                  <a:rPr dirty="0"/>
                  <a:t>Ranges between 0 and </a:t>
                </a:r>
                <a14:m>
                  <m:oMath xmlns:m="http://schemas.openxmlformats.org/officeDocument/2006/math">
                    <m:r>
                      <a:rPr sz="2285" i="1">
                        <a:solidFill>
                          <a:srgbClr val="000000"/>
                        </a:solidFill>
                        <a:latin typeface="Cambria Math" panose="02040503050406030204" pitchFamily="18" charset="0"/>
                      </a:rPr>
                      <m:t>1</m:t>
                    </m:r>
                    <m:r>
                      <a:rPr sz="2285" i="1">
                        <a:solidFill>
                          <a:srgbClr val="000000"/>
                        </a:solidFill>
                        <a:latin typeface="Cambria Math" panose="02040503050406030204" pitchFamily="18" charset="0"/>
                      </a:rPr>
                      <m:t>−</m:t>
                    </m:r>
                    <m:f>
                      <m:fPr>
                        <m:ctrlPr>
                          <a:rPr sz="2285" i="1">
                            <a:solidFill>
                              <a:srgbClr val="000000"/>
                            </a:solidFill>
                            <a:latin typeface="Cambria Math" panose="02040503050406030204" pitchFamily="18" charset="0"/>
                          </a:rPr>
                        </m:ctrlPr>
                      </m:fPr>
                      <m:num>
                        <m:r>
                          <a:rPr sz="2285" i="1">
                            <a:solidFill>
                              <a:srgbClr val="000000"/>
                            </a:solidFill>
                            <a:latin typeface="Cambria Math" panose="02040503050406030204" pitchFamily="18" charset="0"/>
                          </a:rPr>
                          <m:t>1</m:t>
                        </m:r>
                      </m:num>
                      <m:den>
                        <m:r>
                          <a:rPr sz="2285" i="1">
                            <a:solidFill>
                              <a:srgbClr val="000000"/>
                            </a:solidFill>
                            <a:latin typeface="Cambria Math" panose="02040503050406030204" pitchFamily="18" charset="0"/>
                          </a:rPr>
                          <m:t>𝑘</m:t>
                        </m:r>
                      </m:den>
                    </m:f>
                  </m:oMath>
                </a14:m>
                <a:r>
                  <a:rPr dirty="0"/>
                  <a:t> (where </a:t>
                </a:r>
                <a14:m>
                  <m:oMath xmlns:m="http://schemas.openxmlformats.org/officeDocument/2006/math">
                    <m:r>
                      <a:rPr sz="2285" i="1">
                        <a:solidFill>
                          <a:srgbClr val="000000"/>
                        </a:solidFill>
                        <a:latin typeface="Cambria Math" panose="02040503050406030204" pitchFamily="18" charset="0"/>
                      </a:rPr>
                      <m:t>𝑘</m:t>
                    </m:r>
                  </m:oMath>
                </a14:m>
                <a:r>
                  <a:rPr dirty="0"/>
                  <a:t> is the number of classes)</a:t>
                </a:r>
                <a:br>
                  <a:rPr dirty="0"/>
                </a:br>
                <a:br>
                  <a:rPr dirty="0"/>
                </a:br>
                <a:r>
                  <a:rPr dirty="0"/>
                  <a:t>(for binary classification, when </a:t>
                </a:r>
                <a14:m>
                  <m:oMath xmlns:m="http://schemas.openxmlformats.org/officeDocument/2006/math">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2</m:t>
                    </m:r>
                  </m:oMath>
                </a14:m>
                <a:r>
                  <a:rPr dirty="0"/>
                  <a:t>, max value is 0.5)</a:t>
                </a:r>
              </a:p>
              <a:p>
                <a:r>
                  <a:rPr dirty="0"/>
                  <a:t>Gini index is 0 when all elements belong to the same class, indicating perfect purity</a:t>
                </a:r>
                <a:endParaRPr lang="en-US" dirty="0"/>
              </a:p>
              <a:p>
                <a:r>
                  <a:rPr lang="en-US" dirty="0"/>
                  <a:t>Penalizes mixed nodes; favors splits that isolate dominant classes.</a:t>
                </a:r>
                <a:endParaRPr dirty="0"/>
              </a:p>
              <a:p>
                <a:r>
                  <a:rPr dirty="0"/>
                  <a:t>It’s maximum value is reached when the classes are distributed as equally possible</a:t>
                </a:r>
                <a:br>
                  <a:rPr dirty="0"/>
                </a:br>
                <a:br>
                  <a:rPr dirty="0"/>
                </a:br>
                <a:r>
                  <a:rPr dirty="0"/>
                  <a:t>(for binary classification </a:t>
                </a:r>
                <a14:m>
                  <m:oMath xmlns:m="http://schemas.openxmlformats.org/officeDocument/2006/math">
                    <m:r>
                      <a:rPr sz="2285" i="1">
                        <a:solidFill>
                          <a:srgbClr val="000000"/>
                        </a:solidFill>
                        <a:latin typeface="Cambria Math" panose="02040503050406030204" pitchFamily="18" charset="0"/>
                      </a:rPr>
                      <m:t>𝐺</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0</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5</m:t>
                    </m:r>
                  </m:oMath>
                </a14:m>
                <a:r>
                  <a:rPr dirty="0"/>
                  <a:t> indicates a perfect 50-50 split)</a:t>
                </a:r>
              </a:p>
            </p:txBody>
          </p:sp>
        </mc:Choice>
        <mc:Fallback xmlns="">
          <p:sp>
            <p:nvSpPr>
              <p:cNvPr id="212" name="Ranges between 0 and   (where   is the number of classes)  (for binary classification, when  , max value is 0.5)…"/>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513"/>
                </a:stretch>
              </a:blipFill>
            </p:spPr>
            <p:txBody>
              <a:bodyPr/>
              <a:lstStyle/>
              <a:p>
                <a:r>
                  <a:rPr lang="en-US">
                    <a:noFill/>
                  </a:rPr>
                  <a:t> </a:t>
                </a:r>
              </a:p>
            </p:txBody>
          </p:sp>
        </mc:Fallback>
      </mc:AlternateContent>
      <p:sp>
        <p:nvSpPr>
          <p:cNvPr id="213" name="Gini Index"/>
          <p:cNvSpPr txBox="1">
            <a:spLocks noGrp="1"/>
          </p:cNvSpPr>
          <p:nvPr>
            <p:ph type="title"/>
          </p:nvPr>
        </p:nvSpPr>
        <p:spPr>
          <a:prstGeom prst="rect">
            <a:avLst/>
          </a:prstGeom>
        </p:spPr>
        <p:txBody>
          <a:bodyPr/>
          <a:lstStyle>
            <a:lvl1pPr defTabSz="1525858">
              <a:defRPr sz="5280" spc="-105"/>
            </a:lvl1pPr>
          </a:lstStyle>
          <a:p>
            <a:r>
              <a:t>Gini Index</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5" name="Ranges between 0 and   (where   is the number of classes)  (for binary classification, when  , max value is 1)…"/>
              <p:cNvSpPr txBox="1">
                <a:spLocks noGrp="1"/>
              </p:cNvSpPr>
              <p:nvPr>
                <p:ph type="body" idx="1"/>
              </p:nvPr>
            </p:nvSpPr>
            <p:spPr>
              <a:prstGeom prst="rect">
                <a:avLst/>
              </a:prstGeom>
            </p:spPr>
            <p:txBody>
              <a:bodyPr/>
              <a:lstStyle/>
              <a:p>
                <a:r>
                  <a:t>Ranges between 0 and </a:t>
                </a:r>
                <a14:m>
                  <m:oMath xmlns:m="http://schemas.openxmlformats.org/officeDocument/2006/math">
                    <m:sSub>
                      <m:sSubPr>
                        <m:ctrlPr>
                          <a:rPr sz="2285" i="1">
                            <a:solidFill>
                              <a:srgbClr val="000000"/>
                            </a:solidFill>
                            <a:latin typeface="Cambria Math" panose="02040503050406030204" pitchFamily="18" charset="0"/>
                          </a:rPr>
                        </m:ctrlPr>
                      </m:sSubPr>
                      <m:e>
                        <m:r>
                          <m:rPr>
                            <m:sty m:val="p"/>
                          </m:rPr>
                          <a:rPr sz="2285" i="1">
                            <a:solidFill>
                              <a:srgbClr val="000000"/>
                            </a:solidFill>
                            <a:latin typeface="Cambria Math" panose="02040503050406030204" pitchFamily="18" charset="0"/>
                          </a:rPr>
                          <m:t>log</m:t>
                        </m:r>
                      </m:e>
                      <m:sub>
                        <m:r>
                          <a:rPr sz="2285" i="1">
                            <a:solidFill>
                              <a:srgbClr val="000000"/>
                            </a:solidFill>
                            <a:latin typeface="Cambria Math" panose="02040503050406030204" pitchFamily="18" charset="0"/>
                          </a:rPr>
                          <m:t>2</m:t>
                        </m:r>
                      </m:sub>
                    </m:sSub>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m:t>
                    </m:r>
                  </m:oMath>
                </a14:m>
                <a:r>
                  <a:t> </a:t>
                </a:r>
                <a:r>
                  <a:rPr sz="2039"/>
                  <a:t>(where </a:t>
                </a:r>
                <a14:m>
                  <m:oMath xmlns:m="http://schemas.openxmlformats.org/officeDocument/2006/math">
                    <m:r>
                      <a:rPr sz="2215" i="1">
                        <a:solidFill>
                          <a:srgbClr val="000000"/>
                        </a:solidFill>
                        <a:latin typeface="Cambria Math" panose="02040503050406030204" pitchFamily="18" charset="0"/>
                      </a:rPr>
                      <m:t>𝑘</m:t>
                    </m:r>
                  </m:oMath>
                </a14:m>
                <a:r>
                  <a:rPr sz="2039"/>
                  <a:t> is the number of classes)</a:t>
                </a:r>
                <a:br>
                  <a:rPr sz="2039"/>
                </a:br>
                <a:br/>
                <a:r>
                  <a:t>(for binary classification, when </a:t>
                </a:r>
                <a14:m>
                  <m:oMath xmlns:m="http://schemas.openxmlformats.org/officeDocument/2006/math">
                    <m:r>
                      <a:rPr sz="2285" i="1">
                        <a:solidFill>
                          <a:srgbClr val="000000"/>
                        </a:solidFill>
                        <a:latin typeface="Cambria Math" panose="02040503050406030204" pitchFamily="18" charset="0"/>
                      </a:rPr>
                      <m:t>𝑘</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2</m:t>
                    </m:r>
                  </m:oMath>
                </a14:m>
                <a:r>
                  <a:t>, max value is 1)</a:t>
                </a:r>
              </a:p>
              <a:p>
                <a:r>
                  <a:t>Entropy is 0 when all elements belong to the same class, indicating perfect purity or “no disorder”</a:t>
                </a:r>
              </a:p>
              <a:p>
                <a:r>
                  <a:t>It’s maximum value is reached when the classes are distributed as equally possible</a:t>
                </a:r>
                <a:br/>
                <a:br/>
                <a:r>
                  <a:t>(for binary classification </a:t>
                </a:r>
                <a14:m>
                  <m:oMath xmlns:m="http://schemas.openxmlformats.org/officeDocument/2006/math">
                    <m:r>
                      <a:rPr sz="2285" i="1">
                        <a:solidFill>
                          <a:srgbClr val="000000"/>
                        </a:solidFill>
                        <a:latin typeface="Cambria Math" panose="02040503050406030204" pitchFamily="18" charset="0"/>
                      </a:rPr>
                      <m:t>𝐻</m:t>
                    </m:r>
                    <m:r>
                      <a:rPr sz="2285" i="1">
                        <a:solidFill>
                          <a:srgbClr val="000000"/>
                        </a:solidFill>
                        <a:latin typeface="Cambria Math" panose="02040503050406030204" pitchFamily="18" charset="0"/>
                      </a:rPr>
                      <m:t>=</m:t>
                    </m:r>
                    <m:r>
                      <a:rPr sz="2285" i="1">
                        <a:solidFill>
                          <a:srgbClr val="000000"/>
                        </a:solidFill>
                        <a:latin typeface="Cambria Math" panose="02040503050406030204" pitchFamily="18" charset="0"/>
                      </a:rPr>
                      <m:t>1</m:t>
                    </m:r>
                  </m:oMath>
                </a14:m>
                <a:r>
                  <a:t> indicates a perfect 50-50 split)</a:t>
                </a:r>
              </a:p>
            </p:txBody>
          </p:sp>
        </mc:Choice>
        <mc:Fallback xmlns="">
          <p:sp>
            <p:nvSpPr>
              <p:cNvPr id="215" name="Ranges between 0 and   (where   is the number of classes)  (for binary classification, when  , max value is 1)…"/>
              <p:cNvSpPr txBox="1">
                <a:spLocks noGrp="1" noRot="1" noChangeAspect="1" noMove="1" noResize="1" noEditPoints="1" noAdjustHandles="1" noChangeArrowheads="1" noChangeShapeType="1" noTextEdit="1"/>
              </p:cNvSpPr>
              <p:nvPr>
                <p:ph type="body" idx="1"/>
              </p:nvPr>
            </p:nvSpPr>
            <p:spPr>
              <a:prstGeom prst="rect">
                <a:avLst/>
              </a:prstGeom>
              <a:blipFill>
                <a:blip r:embed="rId2"/>
                <a:stretch>
                  <a:fillRect l="-513"/>
                </a:stretch>
              </a:blipFill>
            </p:spPr>
            <p:txBody>
              <a:bodyPr/>
              <a:lstStyle/>
              <a:p>
                <a:r>
                  <a:rPr lang="en-US">
                    <a:noFill/>
                  </a:rPr>
                  <a:t> </a:t>
                </a:r>
              </a:p>
            </p:txBody>
          </p:sp>
        </mc:Fallback>
      </mc:AlternateContent>
      <p:sp>
        <p:nvSpPr>
          <p:cNvPr id="216" name="Entropy"/>
          <p:cNvSpPr txBox="1">
            <a:spLocks noGrp="1"/>
          </p:cNvSpPr>
          <p:nvPr>
            <p:ph type="title"/>
          </p:nvPr>
        </p:nvSpPr>
        <p:spPr>
          <a:prstGeom prst="rect">
            <a:avLst/>
          </a:prstGeom>
        </p:spPr>
        <p:txBody>
          <a:bodyPr/>
          <a:lstStyle>
            <a:lvl1pPr defTabSz="1525858">
              <a:defRPr sz="5280" spc="-105"/>
            </a:lvl1pPr>
          </a:lstStyle>
          <a:p>
            <a:r>
              <a:t>Entropy</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74DDA1-1402-C70D-7B62-93411F3C06AC}"/>
              </a:ext>
            </a:extLst>
          </p:cNvPr>
          <p:cNvSpPr>
            <a:spLocks noGrp="1"/>
          </p:cNvSpPr>
          <p:nvPr>
            <p:ph type="body" idx="1"/>
          </p:nvPr>
        </p:nvSpPr>
        <p:spPr>
          <a:xfrm>
            <a:off x="700635" y="1721660"/>
            <a:ext cx="10691265" cy="3739896"/>
          </a:xfrm>
        </p:spPr>
        <p:txBody>
          <a:bodyPr/>
          <a:lstStyle/>
          <a:p>
            <a:r>
              <a:rPr lang="en-US" dirty="0"/>
              <a:t>Entropy is used to calculate the </a:t>
            </a:r>
            <a:r>
              <a:rPr lang="en-US" b="1" dirty="0"/>
              <a:t>information gained</a:t>
            </a:r>
            <a:r>
              <a:rPr lang="en-US" dirty="0"/>
              <a:t> from the split</a:t>
            </a:r>
          </a:p>
          <a:p>
            <a:r>
              <a:rPr lang="en-US" dirty="0"/>
              <a:t>Information gain:</a:t>
            </a:r>
          </a:p>
          <a:p>
            <a:pPr lvl="1"/>
            <a:r>
              <a:rPr lang="en-US" dirty="0"/>
              <a:t>Entropy(parent) – Entropy(split)</a:t>
            </a:r>
          </a:p>
        </p:txBody>
      </p:sp>
      <p:sp>
        <p:nvSpPr>
          <p:cNvPr id="3" name="Title 2">
            <a:extLst>
              <a:ext uri="{FF2B5EF4-FFF2-40B4-BE49-F238E27FC236}">
                <a16:creationId xmlns:a16="http://schemas.microsoft.com/office/drawing/2014/main" id="{4894A510-B564-1D03-B851-CC9DB582EDF6}"/>
              </a:ext>
            </a:extLst>
          </p:cNvPr>
          <p:cNvSpPr>
            <a:spLocks noGrp="1"/>
          </p:cNvSpPr>
          <p:nvPr>
            <p:ph type="title"/>
          </p:nvPr>
        </p:nvSpPr>
        <p:spPr>
          <a:xfrm>
            <a:off x="700635" y="914400"/>
            <a:ext cx="10691265" cy="807260"/>
          </a:xfrm>
        </p:spPr>
        <p:txBody>
          <a:bodyPr/>
          <a:lstStyle/>
          <a:p>
            <a:r>
              <a:rPr lang="en-US" dirty="0"/>
              <a:t>Information Gain</a:t>
            </a:r>
          </a:p>
        </p:txBody>
      </p:sp>
      <p:pic>
        <p:nvPicPr>
          <p:cNvPr id="5" name="Picture 4">
            <a:extLst>
              <a:ext uri="{FF2B5EF4-FFF2-40B4-BE49-F238E27FC236}">
                <a16:creationId xmlns:a16="http://schemas.microsoft.com/office/drawing/2014/main" id="{4A748198-0FF0-C6E2-CABE-6EF32B7385A3}"/>
              </a:ext>
            </a:extLst>
          </p:cNvPr>
          <p:cNvPicPr>
            <a:picLocks noChangeAspect="1"/>
          </p:cNvPicPr>
          <p:nvPr/>
        </p:nvPicPr>
        <p:blipFill>
          <a:blip r:embed="rId2"/>
          <a:stretch>
            <a:fillRect/>
          </a:stretch>
        </p:blipFill>
        <p:spPr>
          <a:xfrm>
            <a:off x="2935322" y="3235202"/>
            <a:ext cx="4957848" cy="2801613"/>
          </a:xfrm>
          <a:prstGeom prst="rect">
            <a:avLst/>
          </a:prstGeom>
        </p:spPr>
      </p:pic>
    </p:spTree>
    <p:extLst>
      <p:ext uri="{BB962C8B-B14F-4D97-AF65-F5344CB8AC3E}">
        <p14:creationId xmlns:p14="http://schemas.microsoft.com/office/powerpoint/2010/main" val="222180758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he default in Scikit-Learn is Gini because it is faster to compute…"/>
          <p:cNvSpPr txBox="1">
            <a:spLocks noGrp="1"/>
          </p:cNvSpPr>
          <p:nvPr>
            <p:ph type="body" idx="1"/>
          </p:nvPr>
        </p:nvSpPr>
        <p:spPr>
          <a:prstGeom prst="rect">
            <a:avLst/>
          </a:prstGeom>
        </p:spPr>
        <p:txBody>
          <a:bodyPr/>
          <a:lstStyle/>
          <a:p>
            <a:r>
              <a:t>The default in Scikit-Learn is Gini because it is faster to compute</a:t>
            </a:r>
          </a:p>
          <a:p>
            <a:r>
              <a:t>For decision tree construction, most of the time they lead to similar trees</a:t>
            </a:r>
          </a:p>
          <a:p>
            <a:r>
              <a:t>If they differ:</a:t>
            </a:r>
          </a:p>
          <a:p>
            <a:pPr lvl="1"/>
            <a:r>
              <a:t>Entropy tends to produce more balanced trees</a:t>
            </a:r>
          </a:p>
          <a:p>
            <a:pPr lvl="1"/>
            <a:r>
              <a:t>Gini Impurity tends to isolate the most frequent class onto its own branch</a:t>
            </a:r>
          </a:p>
          <a:p>
            <a:pPr lvl="1"/>
            <a:r>
              <a:t>(See </a:t>
            </a:r>
            <a:r>
              <a:rPr u="sng">
                <a:hlinkClick r:id="rId2"/>
              </a:rPr>
              <a:t>https://homl.info/19</a:t>
            </a:r>
            <a:r>
              <a:t> for more details)</a:t>
            </a:r>
          </a:p>
        </p:txBody>
      </p:sp>
      <p:sp>
        <p:nvSpPr>
          <p:cNvPr id="219" name="Gini Impurity vs Entropy"/>
          <p:cNvSpPr txBox="1">
            <a:spLocks noGrp="1"/>
          </p:cNvSpPr>
          <p:nvPr>
            <p:ph type="title"/>
          </p:nvPr>
        </p:nvSpPr>
        <p:spPr>
          <a:prstGeom prst="rect">
            <a:avLst/>
          </a:prstGeom>
        </p:spPr>
        <p:txBody>
          <a:bodyPr/>
          <a:lstStyle>
            <a:lvl1pPr defTabSz="1525858">
              <a:defRPr sz="5280" spc="-105"/>
            </a:lvl1pPr>
          </a:lstStyle>
          <a:p>
            <a:r>
              <a:t>Gini Impurity vs Entropy</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Binary…"/>
          <p:cNvSpPr txBox="1">
            <a:spLocks noGrp="1"/>
          </p:cNvSpPr>
          <p:nvPr>
            <p:ph type="body" idx="1"/>
          </p:nvPr>
        </p:nvSpPr>
        <p:spPr>
          <a:xfrm>
            <a:off x="2015133" y="1802920"/>
            <a:ext cx="7499803" cy="4554747"/>
          </a:xfrm>
          <a:prstGeom prst="rect">
            <a:avLst/>
          </a:prstGeom>
        </p:spPr>
        <p:txBody>
          <a:bodyPr>
            <a:normAutofit/>
          </a:bodyPr>
          <a:lstStyle/>
          <a:p>
            <a:pPr marL="262523" indent="-262523" defTabSz="1194743">
              <a:spcBef>
                <a:spcPts val="0"/>
              </a:spcBef>
              <a:spcAft>
                <a:spcPts val="200"/>
              </a:spcAft>
              <a:defRPr sz="2940"/>
            </a:pPr>
            <a:r>
              <a:rPr b="1" dirty="0"/>
              <a:t>Binary</a:t>
            </a:r>
          </a:p>
          <a:p>
            <a:pPr marL="700063" lvl="1" indent="-262523" defTabSz="1194743">
              <a:spcBef>
                <a:spcPts val="0"/>
              </a:spcBef>
              <a:spcAft>
                <a:spcPts val="200"/>
              </a:spcAft>
              <a:defRPr sz="2940"/>
            </a:pPr>
            <a:r>
              <a:rPr sz="2500" dirty="0"/>
              <a:t>Nodes can only split into two groups</a:t>
            </a:r>
          </a:p>
          <a:p>
            <a:pPr marL="262523" indent="-262523" defTabSz="1194743">
              <a:spcBef>
                <a:spcPts val="0"/>
              </a:spcBef>
              <a:spcAft>
                <a:spcPts val="200"/>
              </a:spcAft>
              <a:defRPr sz="2940"/>
            </a:pPr>
            <a:r>
              <a:rPr b="1" dirty="0"/>
              <a:t>Top down</a:t>
            </a:r>
          </a:p>
          <a:p>
            <a:pPr marL="700063" lvl="1" indent="-262523" defTabSz="1194743">
              <a:spcBef>
                <a:spcPts val="0"/>
              </a:spcBef>
              <a:spcAft>
                <a:spcPts val="200"/>
              </a:spcAft>
              <a:defRPr sz="2940"/>
            </a:pPr>
            <a:r>
              <a:rPr sz="2500" dirty="0"/>
              <a:t>Start at the top of the tree</a:t>
            </a:r>
          </a:p>
          <a:p>
            <a:pPr marL="262523" indent="-262523" defTabSz="1194743">
              <a:spcBef>
                <a:spcPts val="0"/>
              </a:spcBef>
              <a:spcAft>
                <a:spcPts val="200"/>
              </a:spcAft>
              <a:defRPr sz="2940"/>
            </a:pPr>
            <a:r>
              <a:rPr b="1" dirty="0"/>
              <a:t>Efficient Split Finding</a:t>
            </a:r>
          </a:p>
          <a:p>
            <a:pPr marL="700063" lvl="1" indent="-262523" defTabSz="1194743">
              <a:spcBef>
                <a:spcPts val="0"/>
              </a:spcBef>
              <a:spcAft>
                <a:spcPts val="200"/>
              </a:spcAft>
              <a:defRPr sz="2940"/>
            </a:pPr>
            <a:r>
              <a:rPr sz="2500" dirty="0"/>
              <a:t>Consider only </a:t>
            </a:r>
            <a:r>
              <a:rPr lang="en-US" sz="2500" dirty="0"/>
              <a:t>the </a:t>
            </a:r>
            <a:r>
              <a:rPr sz="2500" dirty="0"/>
              <a:t>midpoint between consecutive unique values</a:t>
            </a:r>
          </a:p>
          <a:p>
            <a:pPr marL="262523" indent="-262523" defTabSz="1194743">
              <a:spcBef>
                <a:spcPts val="0"/>
              </a:spcBef>
              <a:spcAft>
                <a:spcPts val="200"/>
              </a:spcAft>
              <a:defRPr sz="2940"/>
            </a:pPr>
            <a:r>
              <a:rPr b="1" dirty="0"/>
              <a:t>Greedy</a:t>
            </a:r>
          </a:p>
          <a:p>
            <a:pPr marL="700063" lvl="1" indent="-262523" defTabSz="1194743">
              <a:spcBef>
                <a:spcPts val="0"/>
              </a:spcBef>
              <a:spcAft>
                <a:spcPts val="200"/>
              </a:spcAft>
              <a:defRPr sz="2940"/>
            </a:pPr>
            <a:r>
              <a:rPr sz="2500" dirty="0"/>
              <a:t>Finds the optimal split at the current level</a:t>
            </a:r>
          </a:p>
        </p:txBody>
      </p:sp>
      <p:sp>
        <p:nvSpPr>
          <p:cNvPr id="222" name="The CART Algorithm"/>
          <p:cNvSpPr txBox="1">
            <a:spLocks noGrp="1"/>
          </p:cNvSpPr>
          <p:nvPr>
            <p:ph type="title"/>
          </p:nvPr>
        </p:nvSpPr>
        <p:spPr>
          <a:prstGeom prst="rect">
            <a:avLst/>
          </a:prstGeom>
        </p:spPr>
        <p:txBody>
          <a:bodyPr/>
          <a:lstStyle>
            <a:lvl1pPr defTabSz="1525858">
              <a:defRPr sz="5280" spc="-105"/>
            </a:lvl1pPr>
          </a:lstStyle>
          <a:p>
            <a:r>
              <a:rPr dirty="0"/>
              <a:t>The CART Algorithm</a:t>
            </a:r>
          </a:p>
        </p:txBody>
      </p:sp>
      <p:sp>
        <p:nvSpPr>
          <p:cNvPr id="223" name="There are other tree algorithms that are can produce nodes with more than two children"/>
          <p:cNvSpPr txBox="1"/>
          <p:nvPr/>
        </p:nvSpPr>
        <p:spPr>
          <a:xfrm>
            <a:off x="7601424" y="1595859"/>
            <a:ext cx="3984831" cy="6261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5719" tIns="35719" rIns="35719" bIns="35719" anchor="ctr">
            <a:spAutoFit/>
          </a:bodyPr>
          <a:lstStyle>
            <a:lvl1pPr>
              <a:defRPr sz="2100" i="1"/>
            </a:lvl1pPr>
          </a:lstStyle>
          <a:p>
            <a:r>
              <a:rPr sz="1800" dirty="0"/>
              <a:t>There are other tree algorithms that can produce nodes with more than two children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 name="iris_tree.png" descr="iris_tree.png"/>
          <p:cNvPicPr>
            <a:picLocks noChangeAspect="1"/>
          </p:cNvPicPr>
          <p:nvPr/>
        </p:nvPicPr>
        <p:blipFill>
          <a:blip r:embed="rId2"/>
          <a:stretch>
            <a:fillRect/>
          </a:stretch>
        </p:blipFill>
        <p:spPr>
          <a:xfrm>
            <a:off x="2821671" y="969386"/>
            <a:ext cx="5438485" cy="5438486"/>
          </a:xfrm>
          <a:prstGeom prst="rect">
            <a:avLst/>
          </a:prstGeom>
          <a:ln w="12700">
            <a:miter lim="400000"/>
          </a:ln>
        </p:spPr>
      </p:pic>
      <p:sp>
        <p:nvSpPr>
          <p:cNvPr id="163" name="Trees can grow very large if left unconstrained"/>
          <p:cNvSpPr txBox="1"/>
          <p:nvPr/>
        </p:nvSpPr>
        <p:spPr>
          <a:xfrm>
            <a:off x="1684289" y="835077"/>
            <a:ext cx="8823423" cy="5915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defRPr sz="4800">
                <a:solidFill>
                  <a:srgbClr val="000000"/>
                </a:solidFill>
                <a:latin typeface="+mn-lt"/>
                <a:ea typeface="+mn-ea"/>
                <a:cs typeface="+mn-cs"/>
                <a:sym typeface="Avenir Next Demi Bold"/>
              </a:defRPr>
            </a:lvl1pPr>
          </a:lstStyle>
          <a:p>
            <a:r>
              <a:rPr sz="3375" dirty="0"/>
              <a:t>Trees can grow very large if left unconstrained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Recall that regularization means constraining the model to prevent overfitting…"/>
          <p:cNvSpPr txBox="1">
            <a:spLocks noGrp="1"/>
          </p:cNvSpPr>
          <p:nvPr>
            <p:ph type="body" idx="1"/>
          </p:nvPr>
        </p:nvSpPr>
        <p:spPr>
          <a:prstGeom prst="rect">
            <a:avLst/>
          </a:prstGeom>
        </p:spPr>
        <p:txBody>
          <a:bodyPr>
            <a:normAutofit/>
          </a:bodyPr>
          <a:lstStyle/>
          <a:p>
            <a:r>
              <a:rPr sz="2200" dirty="0"/>
              <a:t>Recall that regularization means constraining the model to prevent overfitting</a:t>
            </a:r>
          </a:p>
          <a:p>
            <a:r>
              <a:rPr sz="2200" dirty="0"/>
              <a:t>Decision Trees can be regularized by</a:t>
            </a:r>
          </a:p>
          <a:p>
            <a:pPr lvl="1"/>
            <a:r>
              <a:rPr sz="2200" dirty="0"/>
              <a:t>Constraining growth (pre-pruning)</a:t>
            </a:r>
          </a:p>
          <a:p>
            <a:pPr lvl="1"/>
            <a:r>
              <a:rPr sz="2200" dirty="0"/>
              <a:t>Post-pruning the unconstrained tree (cost complexity pruning)</a:t>
            </a:r>
          </a:p>
        </p:txBody>
      </p:sp>
      <p:sp>
        <p:nvSpPr>
          <p:cNvPr id="226" name="Regularization"/>
          <p:cNvSpPr txBox="1">
            <a:spLocks noGrp="1"/>
          </p:cNvSpPr>
          <p:nvPr>
            <p:ph type="title"/>
          </p:nvPr>
        </p:nvSpPr>
        <p:spPr>
          <a:prstGeom prst="rect">
            <a:avLst/>
          </a:prstGeom>
        </p:spPr>
        <p:txBody>
          <a:bodyPr/>
          <a:lstStyle>
            <a:lvl1pPr defTabSz="1525858">
              <a:defRPr sz="5280" spc="-105"/>
            </a:lvl1pPr>
          </a:lstStyle>
          <a:p>
            <a:r>
              <a:t>Regularization</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top tree growth before it perfectly classifies the training data…"/>
          <p:cNvSpPr txBox="1">
            <a:spLocks noGrp="1"/>
          </p:cNvSpPr>
          <p:nvPr>
            <p:ph type="body" idx="1"/>
          </p:nvPr>
        </p:nvSpPr>
        <p:spPr>
          <a:prstGeom prst="rect">
            <a:avLst/>
          </a:prstGeom>
        </p:spPr>
        <p:txBody>
          <a:bodyPr/>
          <a:lstStyle/>
          <a:p>
            <a:r>
              <a:t>Stop tree growth before it perfectly classifies the training data</a:t>
            </a:r>
          </a:p>
          <a:p>
            <a:pPr lvl="1"/>
            <a:r>
              <a:rPr b="1">
                <a:latin typeface="Courier"/>
                <a:ea typeface="Courier"/>
                <a:cs typeface="Courier"/>
                <a:sym typeface="Courier"/>
              </a:rPr>
              <a:t>max_depth</a:t>
            </a:r>
            <a:r>
              <a:t>: maximum depth of tree</a:t>
            </a:r>
          </a:p>
          <a:p>
            <a:pPr lvl="1"/>
            <a:r>
              <a:rPr b="1">
                <a:latin typeface="Courier"/>
                <a:ea typeface="Courier"/>
                <a:cs typeface="Courier"/>
                <a:sym typeface="Courier"/>
              </a:rPr>
              <a:t>min_samples_split</a:t>
            </a:r>
            <a:r>
              <a:t>: minimum number of samples required to split an internal node. </a:t>
            </a:r>
          </a:p>
          <a:p>
            <a:pPr lvl="1"/>
            <a:r>
              <a:rPr b="1">
                <a:latin typeface="Courier"/>
                <a:ea typeface="Courier"/>
                <a:cs typeface="Courier"/>
                <a:sym typeface="Courier"/>
              </a:rPr>
              <a:t>min_samples_leaf</a:t>
            </a:r>
            <a:r>
              <a:t>: minimum number of sample required to be at a leaf node</a:t>
            </a:r>
          </a:p>
          <a:p>
            <a:pPr lvl="1"/>
            <a:r>
              <a:rPr b="1">
                <a:latin typeface="Courier"/>
                <a:ea typeface="Courier"/>
                <a:cs typeface="Courier"/>
                <a:sym typeface="Courier"/>
              </a:rPr>
              <a:t>max_leaf_nodes</a:t>
            </a:r>
            <a:r>
              <a:t>: maximum number of leaf nodes</a:t>
            </a:r>
          </a:p>
          <a:p>
            <a:pPr lvl="1"/>
            <a:r>
              <a:rPr b="1">
                <a:latin typeface="Courier"/>
                <a:ea typeface="Courier"/>
                <a:cs typeface="Courier"/>
                <a:sym typeface="Courier"/>
              </a:rPr>
              <a:t>min_impurity_decrease</a:t>
            </a:r>
            <a:r>
              <a:t>: a node will be split if the split induces a decrease of impurity greater than or equal to this value</a:t>
            </a:r>
          </a:p>
        </p:txBody>
      </p:sp>
      <p:sp>
        <p:nvSpPr>
          <p:cNvPr id="229" name="Pre-pruning regularization"/>
          <p:cNvSpPr txBox="1">
            <a:spLocks noGrp="1"/>
          </p:cNvSpPr>
          <p:nvPr>
            <p:ph type="title"/>
          </p:nvPr>
        </p:nvSpPr>
        <p:spPr>
          <a:prstGeom prst="rect">
            <a:avLst/>
          </a:prstGeom>
        </p:spPr>
        <p:txBody>
          <a:bodyPr/>
          <a:lstStyle>
            <a:lvl1pPr defTabSz="1525858">
              <a:defRPr sz="5280" spc="-105"/>
            </a:lvl1pPr>
          </a:lstStyle>
          <a:p>
            <a:r>
              <a:t>Pre-pruning regularization</a:t>
            </a:r>
          </a:p>
        </p:txBody>
      </p:sp>
      <p:sp>
        <p:nvSpPr>
          <p:cNvPr id="230" name="reduce “max” parameters and/or increase “min” parameters if tree is overfitting"/>
          <p:cNvSpPr txBox="1"/>
          <p:nvPr/>
        </p:nvSpPr>
        <p:spPr>
          <a:xfrm>
            <a:off x="1893139" y="6450946"/>
            <a:ext cx="8037842" cy="3534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9" tIns="35719" rIns="35719" bIns="35719" anchor="ctr">
            <a:spAutoFit/>
          </a:bodyPr>
          <a:lstStyle/>
          <a:p>
            <a:pPr>
              <a:defRPr sz="2600">
                <a:solidFill>
                  <a:srgbClr val="005493"/>
                </a:solidFill>
              </a:defRPr>
            </a:pPr>
            <a:r>
              <a:rPr sz="1828"/>
              <a:t>reduce “</a:t>
            </a:r>
            <a:r>
              <a:rPr sz="1828">
                <a:latin typeface="Courier"/>
                <a:ea typeface="Courier"/>
                <a:cs typeface="Courier"/>
                <a:sym typeface="Courier"/>
              </a:rPr>
              <a:t>max</a:t>
            </a:r>
            <a:r>
              <a:rPr sz="1828"/>
              <a:t>” parameters and/or increase “</a:t>
            </a:r>
            <a:r>
              <a:rPr sz="1828">
                <a:latin typeface="Courier"/>
                <a:ea typeface="Courier"/>
                <a:cs typeface="Courier"/>
                <a:sym typeface="Courier"/>
              </a:rPr>
              <a:t>min</a:t>
            </a:r>
            <a:r>
              <a:rPr sz="1828"/>
              <a:t>” parameters if tree is overfitting</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2" name="Cost complexity pruning (CCP)…"/>
              <p:cNvSpPr txBox="1">
                <a:spLocks noGrp="1"/>
              </p:cNvSpPr>
              <p:nvPr>
                <p:ph type="body" idx="1"/>
              </p:nvPr>
            </p:nvSpPr>
            <p:spPr>
              <a:xfrm>
                <a:off x="1344361" y="1740724"/>
                <a:ext cx="8696786" cy="3797433"/>
              </a:xfrm>
              <a:prstGeom prst="rect">
                <a:avLst/>
              </a:prstGeom>
            </p:spPr>
            <p:txBody>
              <a:bodyPr>
                <a:noAutofit/>
              </a:bodyPr>
              <a:lstStyle/>
              <a:p>
                <a:pPr marL="265202" indent="-265202" defTabSz="1206934">
                  <a:spcBef>
                    <a:spcPts val="500"/>
                  </a:spcBef>
                  <a:defRPr sz="2970"/>
                </a:pPr>
                <a:r>
                  <a:rPr lang="en-US" sz="1700" dirty="0"/>
                  <a:t>Cost complexity pruning (CCP)</a:t>
                </a:r>
              </a:p>
              <a:p>
                <a:pPr marL="707205" lvl="1" indent="-265202" defTabSz="1206934">
                  <a:defRPr sz="2970"/>
                </a:pPr>
                <a:r>
                  <a:rPr lang="en-US" sz="1700" dirty="0"/>
                  <a:t>Remove nodes that do not significantly reduce impurity</a:t>
                </a:r>
              </a:p>
              <a:p>
                <a:pPr marL="707205" lvl="1" indent="-265202" defTabSz="1206934">
                  <a:defRPr sz="2970"/>
                </a:pPr>
                <a:r>
                  <a:rPr lang="en-US" sz="1700" dirty="0"/>
                  <a:t>Prune nodes from bottom up if it results in a net improvement in the cost-complexity measure </a:t>
                </a:r>
                <a:br>
                  <a:rPr lang="en-US" sz="1700" dirty="0"/>
                </a:br>
                <a14:m>
                  <m:oMath xmlns:m="http://schemas.openxmlformats.org/officeDocument/2006/math">
                    <m:sSub>
                      <m:sSubPr>
                        <m:ctrlPr>
                          <a:rPr lang="ar-AE" sz="1700" i="1">
                            <a:solidFill>
                              <a:srgbClr val="000000"/>
                            </a:solidFill>
                            <a:latin typeface="Cambria Math" panose="02040503050406030204" pitchFamily="18" charset="0"/>
                          </a:rPr>
                        </m:ctrlPr>
                      </m:sSubPr>
                      <m:e>
                        <m:r>
                          <a:rPr lang="ar-AE" sz="1700" i="1">
                            <a:solidFill>
                              <a:srgbClr val="000000"/>
                            </a:solidFill>
                            <a:latin typeface="Cambria Math" panose="02040503050406030204" pitchFamily="18" charset="0"/>
                          </a:rPr>
                          <m:t>𝑅</m:t>
                        </m:r>
                      </m:e>
                      <m:sub>
                        <m:r>
                          <a:rPr lang="ar-AE" sz="1700" i="1">
                            <a:solidFill>
                              <a:srgbClr val="000000"/>
                            </a:solidFill>
                            <a:latin typeface="Cambria Math" panose="02040503050406030204" pitchFamily="18" charset="0"/>
                          </a:rPr>
                          <m:t>𝛼</m:t>
                        </m:r>
                      </m:sub>
                    </m:sSub>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𝑇</m:t>
                    </m:r>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𝑅</m:t>
                    </m:r>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𝑇</m:t>
                    </m:r>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𝛼</m:t>
                    </m:r>
                    <m:r>
                      <a:rPr lang="ar-AE" sz="1700" i="1">
                        <a:solidFill>
                          <a:srgbClr val="000000"/>
                        </a:solidFill>
                        <a:latin typeface="Cambria Math" panose="02040503050406030204" pitchFamily="18" charset="0"/>
                      </a:rPr>
                      <m:t>|</m:t>
                    </m:r>
                    <m:limUpp>
                      <m:limUppPr>
                        <m:ctrlPr>
                          <a:rPr lang="ar-AE" sz="1700" i="1">
                            <a:solidFill>
                              <a:srgbClr val="000000"/>
                            </a:solidFill>
                            <a:latin typeface="Cambria Math" panose="02040503050406030204" pitchFamily="18" charset="0"/>
                          </a:rPr>
                        </m:ctrlPr>
                      </m:limUppPr>
                      <m:e>
                        <m:r>
                          <a:rPr lang="ar-AE" sz="1700" i="1">
                            <a:solidFill>
                              <a:srgbClr val="000000"/>
                            </a:solidFill>
                            <a:latin typeface="Cambria Math" panose="02040503050406030204" pitchFamily="18" charset="0"/>
                          </a:rPr>
                          <m:t>𝑇</m:t>
                        </m:r>
                      </m:e>
                      <m:lim>
                        <m:r>
                          <a:rPr lang="ar-AE" sz="1700" i="1">
                            <a:solidFill>
                              <a:srgbClr val="000000"/>
                            </a:solidFill>
                            <a:latin typeface="Cambria Math" panose="02040503050406030204" pitchFamily="18" charset="0"/>
                          </a:rPr>
                          <m:t>˜</m:t>
                        </m:r>
                      </m:lim>
                    </m:limUpp>
                    <m:r>
                      <a:rPr lang="ar-AE" sz="1700" i="1">
                        <a:solidFill>
                          <a:srgbClr val="000000"/>
                        </a:solidFill>
                        <a:latin typeface="Cambria Math" panose="02040503050406030204" pitchFamily="18" charset="0"/>
                      </a:rPr>
                      <m:t>|</m:t>
                    </m:r>
                  </m:oMath>
                </a14:m>
                <a:r>
                  <a:rPr lang="ar-AE" sz="1700" dirty="0"/>
                  <a:t> </a:t>
                </a:r>
                <a:r>
                  <a:rPr lang="en-US" sz="1700" dirty="0"/>
                  <a:t>where </a:t>
                </a:r>
                <a:br>
                  <a:rPr lang="en-US" sz="1700" dirty="0"/>
                </a:br>
                <a:r>
                  <a:rPr lang="en-US" sz="1700" dirty="0"/>
                  <a:t>-</a:t>
                </a:r>
                <a14:m>
                  <m:oMath xmlns:m="http://schemas.openxmlformats.org/officeDocument/2006/math">
                    <m:r>
                      <a:rPr lang="en-US" sz="1700" i="1">
                        <a:solidFill>
                          <a:srgbClr val="000000"/>
                        </a:solidFill>
                        <a:latin typeface="Cambria Math" panose="02040503050406030204" pitchFamily="18" charset="0"/>
                      </a:rPr>
                      <m:t>|</m:t>
                    </m:r>
                    <m:limUpp>
                      <m:limUppPr>
                        <m:ctrlPr>
                          <a:rPr lang="ar-AE" sz="1700" i="1">
                            <a:solidFill>
                              <a:srgbClr val="000000"/>
                            </a:solidFill>
                            <a:latin typeface="Cambria Math" panose="02040503050406030204" pitchFamily="18" charset="0"/>
                          </a:rPr>
                        </m:ctrlPr>
                      </m:limUppPr>
                      <m:e>
                        <m:r>
                          <a:rPr lang="ar-AE" sz="1700" i="1">
                            <a:solidFill>
                              <a:srgbClr val="000000"/>
                            </a:solidFill>
                            <a:latin typeface="Cambria Math" panose="02040503050406030204" pitchFamily="18" charset="0"/>
                          </a:rPr>
                          <m:t>𝑇</m:t>
                        </m:r>
                      </m:e>
                      <m:lim>
                        <m:r>
                          <a:rPr lang="ar-AE" sz="1700" i="1">
                            <a:solidFill>
                              <a:srgbClr val="000000"/>
                            </a:solidFill>
                            <a:latin typeface="Cambria Math" panose="02040503050406030204" pitchFamily="18" charset="0"/>
                          </a:rPr>
                          <m:t>˜</m:t>
                        </m:r>
                      </m:lim>
                    </m:limUpp>
                    <m:r>
                      <a:rPr lang="ar-AE" sz="1700" i="1">
                        <a:solidFill>
                          <a:srgbClr val="000000"/>
                        </a:solidFill>
                        <a:latin typeface="Cambria Math" panose="02040503050406030204" pitchFamily="18" charset="0"/>
                      </a:rPr>
                      <m:t>|</m:t>
                    </m:r>
                  </m:oMath>
                </a14:m>
                <a:r>
                  <a:rPr lang="ar-AE" sz="1700" dirty="0"/>
                  <a:t> </a:t>
                </a:r>
                <a:r>
                  <a:rPr lang="en-US" sz="1700" dirty="0"/>
                  <a:t>is the number of terminal nodes and  </a:t>
                </a:r>
                <a:br>
                  <a:rPr lang="en-US" sz="1700" dirty="0"/>
                </a:br>
                <a:r>
                  <a:rPr lang="en-US" sz="1700" dirty="0"/>
                  <a:t>- </a:t>
                </a:r>
                <a14:m>
                  <m:oMath xmlns:m="http://schemas.openxmlformats.org/officeDocument/2006/math">
                    <m:r>
                      <a:rPr lang="en-US" sz="1700" i="1">
                        <a:solidFill>
                          <a:srgbClr val="000000"/>
                        </a:solidFill>
                        <a:latin typeface="Cambria Math" panose="02040503050406030204" pitchFamily="18" charset="0"/>
                      </a:rPr>
                      <m:t>𝑅</m:t>
                    </m:r>
                    <m:r>
                      <a:rPr lang="en-US" sz="1700" i="1">
                        <a:solidFill>
                          <a:srgbClr val="000000"/>
                        </a:solidFill>
                        <a:latin typeface="Cambria Math" panose="02040503050406030204" pitchFamily="18" charset="0"/>
                      </a:rPr>
                      <m:t>(</m:t>
                    </m:r>
                    <m:r>
                      <a:rPr lang="en-US" sz="1700" i="1">
                        <a:solidFill>
                          <a:srgbClr val="000000"/>
                        </a:solidFill>
                        <a:latin typeface="Cambria Math" panose="02040503050406030204" pitchFamily="18" charset="0"/>
                      </a:rPr>
                      <m:t>𝑇</m:t>
                    </m:r>
                    <m:r>
                      <a:rPr lang="en-US" sz="1700" i="1">
                        <a:solidFill>
                          <a:srgbClr val="000000"/>
                        </a:solidFill>
                        <a:latin typeface="Cambria Math" panose="02040503050406030204" pitchFamily="18" charset="0"/>
                      </a:rPr>
                      <m:t>)</m:t>
                    </m:r>
                  </m:oMath>
                </a14:m>
                <a:r>
                  <a:rPr lang="en-US" sz="1700" dirty="0"/>
                  <a:t> is the total impurity (Gini, Entropy, MSE)</a:t>
                </a:r>
                <a:br>
                  <a:rPr lang="en-US" sz="1700" dirty="0"/>
                </a:br>
                <a:r>
                  <a:rPr lang="en-US" sz="1700" dirty="0"/>
                  <a:t>- </a:t>
                </a:r>
                <a14:m>
                  <m:oMath xmlns:m="http://schemas.openxmlformats.org/officeDocument/2006/math">
                    <m:r>
                      <a:rPr lang="en-US" sz="1700" i="1" smtClean="0">
                        <a:solidFill>
                          <a:srgbClr val="000000"/>
                        </a:solidFill>
                        <a:latin typeface="Cambria Math" panose="02040503050406030204" pitchFamily="18" charset="0"/>
                      </a:rPr>
                      <m:t>𝛼</m:t>
                    </m:r>
                    <m:r>
                      <a:rPr lang="en-US" sz="1700" b="0" i="1" smtClean="0">
                        <a:solidFill>
                          <a:srgbClr val="000000"/>
                        </a:solidFill>
                        <a:latin typeface="Cambria Math" panose="02040503050406030204" pitchFamily="18" charset="0"/>
                      </a:rPr>
                      <m:t>≥</m:t>
                    </m:r>
                    <m:r>
                      <a:rPr lang="en-US" sz="1700" b="0" i="1" smtClean="0">
                        <a:solidFill>
                          <a:srgbClr val="000000"/>
                        </a:solidFill>
                        <a:latin typeface="Cambria Math" panose="02040503050406030204" pitchFamily="18" charset="0"/>
                      </a:rPr>
                      <m:t>0</m:t>
                    </m:r>
                  </m:oMath>
                </a14:m>
                <a:r>
                  <a:rPr lang="en-US" sz="1700" dirty="0"/>
                  <a:t> is the regularization parameter controlling the trade-off</a:t>
                </a:r>
              </a:p>
              <a:p>
                <a:pPr marL="707205" lvl="1" indent="-265202" defTabSz="1206934">
                  <a:defRPr sz="2970"/>
                </a:pPr>
                <a:r>
                  <a:rPr lang="en-US" sz="1700" dirty="0"/>
                  <a:t>CCP finds the subtree that minimizes </a:t>
                </a:r>
                <a14:m>
                  <m:oMath xmlns:m="http://schemas.openxmlformats.org/officeDocument/2006/math">
                    <m:sSub>
                      <m:sSubPr>
                        <m:ctrlPr>
                          <a:rPr lang="ar-AE" sz="1700" i="1">
                            <a:solidFill>
                              <a:srgbClr val="000000"/>
                            </a:solidFill>
                            <a:latin typeface="Cambria Math" panose="02040503050406030204" pitchFamily="18" charset="0"/>
                          </a:rPr>
                        </m:ctrlPr>
                      </m:sSubPr>
                      <m:e>
                        <m:r>
                          <a:rPr lang="ar-AE" sz="1700" i="1">
                            <a:solidFill>
                              <a:srgbClr val="000000"/>
                            </a:solidFill>
                            <a:latin typeface="Cambria Math" panose="02040503050406030204" pitchFamily="18" charset="0"/>
                          </a:rPr>
                          <m:t>𝑅</m:t>
                        </m:r>
                      </m:e>
                      <m:sub>
                        <m:r>
                          <a:rPr lang="ar-AE" sz="1700" i="1">
                            <a:solidFill>
                              <a:srgbClr val="000000"/>
                            </a:solidFill>
                            <a:latin typeface="Cambria Math" panose="02040503050406030204" pitchFamily="18" charset="0"/>
                          </a:rPr>
                          <m:t>𝛼</m:t>
                        </m:r>
                      </m:sub>
                    </m:sSub>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𝑇</m:t>
                    </m:r>
                    <m:r>
                      <a:rPr lang="ar-AE" sz="1700" i="1">
                        <a:solidFill>
                          <a:srgbClr val="000000"/>
                        </a:solidFill>
                        <a:latin typeface="Cambria Math" panose="02040503050406030204" pitchFamily="18" charset="0"/>
                      </a:rPr>
                      <m:t>)</m:t>
                    </m:r>
                  </m:oMath>
                </a14:m>
                <a:endParaRPr lang="ar-AE" sz="1700" dirty="0"/>
              </a:p>
              <a:p>
                <a:pPr marL="265202" indent="-265202" defTabSz="1206934">
                  <a:spcBef>
                    <a:spcPts val="500"/>
                  </a:spcBef>
                  <a:defRPr sz="2970"/>
                </a:pPr>
                <a:r>
                  <a:rPr lang="en-US" sz="1700" b="1" dirty="0" err="1">
                    <a:latin typeface="Courier"/>
                    <a:ea typeface="Courier"/>
                    <a:cs typeface="Courier"/>
                    <a:sym typeface="Courier"/>
                  </a:rPr>
                  <a:t>ccp_alpha</a:t>
                </a:r>
                <a:r>
                  <a:rPr lang="en-US" sz="1700" dirty="0"/>
                  <a:t>: subtree with largest </a:t>
                </a:r>
                <a14:m>
                  <m:oMath xmlns:m="http://schemas.openxmlformats.org/officeDocument/2006/math">
                    <m:sSub>
                      <m:sSubPr>
                        <m:ctrlPr>
                          <a:rPr lang="ar-AE" sz="1700" i="1">
                            <a:solidFill>
                              <a:srgbClr val="000000"/>
                            </a:solidFill>
                            <a:latin typeface="Cambria Math" panose="02040503050406030204" pitchFamily="18" charset="0"/>
                          </a:rPr>
                        </m:ctrlPr>
                      </m:sSubPr>
                      <m:e>
                        <m:r>
                          <a:rPr lang="ar-AE" sz="1700" i="1">
                            <a:solidFill>
                              <a:srgbClr val="000000"/>
                            </a:solidFill>
                            <a:latin typeface="Cambria Math" panose="02040503050406030204" pitchFamily="18" charset="0"/>
                          </a:rPr>
                          <m:t>𝑅</m:t>
                        </m:r>
                      </m:e>
                      <m:sub>
                        <m:r>
                          <a:rPr lang="ar-AE" sz="1700" i="1">
                            <a:solidFill>
                              <a:srgbClr val="000000"/>
                            </a:solidFill>
                            <a:latin typeface="Cambria Math" panose="02040503050406030204" pitchFamily="18" charset="0"/>
                          </a:rPr>
                          <m:t>𝛼</m:t>
                        </m:r>
                      </m:sub>
                    </m:sSub>
                    <m:r>
                      <a:rPr lang="ar-AE" sz="1700" i="1">
                        <a:solidFill>
                          <a:srgbClr val="000000"/>
                        </a:solidFill>
                        <a:latin typeface="Cambria Math" panose="02040503050406030204" pitchFamily="18" charset="0"/>
                      </a:rPr>
                      <m:t>(</m:t>
                    </m:r>
                    <m:r>
                      <a:rPr lang="ar-AE" sz="1700" i="1">
                        <a:solidFill>
                          <a:srgbClr val="000000"/>
                        </a:solidFill>
                        <a:latin typeface="Cambria Math" panose="02040503050406030204" pitchFamily="18" charset="0"/>
                      </a:rPr>
                      <m:t>𝑇</m:t>
                    </m:r>
                    <m:r>
                      <a:rPr lang="ar-AE" sz="1700" i="1">
                        <a:solidFill>
                          <a:srgbClr val="000000"/>
                        </a:solidFill>
                        <a:latin typeface="Cambria Math" panose="02040503050406030204" pitchFamily="18" charset="0"/>
                      </a:rPr>
                      <m:t>)</m:t>
                    </m:r>
                  </m:oMath>
                </a14:m>
                <a:r>
                  <a:rPr lang="ar-AE" sz="1700" dirty="0"/>
                  <a:t> </a:t>
                </a:r>
                <a:r>
                  <a:rPr lang="en-US" sz="1700" dirty="0"/>
                  <a:t>that is smaller than </a:t>
                </a:r>
                <a:r>
                  <a:rPr lang="en-US" sz="1700" dirty="0" err="1">
                    <a:latin typeface="Courier"/>
                    <a:ea typeface="Courier"/>
                    <a:cs typeface="Courier"/>
                    <a:sym typeface="Courier"/>
                  </a:rPr>
                  <a:t>ccp_alpha</a:t>
                </a:r>
                <a:r>
                  <a:rPr lang="en-US" sz="1700" dirty="0"/>
                  <a:t> will be chosen</a:t>
                </a:r>
                <a:endParaRPr sz="1700" dirty="0"/>
              </a:p>
            </p:txBody>
          </p:sp>
        </mc:Choice>
        <mc:Fallback xmlns="">
          <p:sp>
            <p:nvSpPr>
              <p:cNvPr id="232" name="Cost complexity pruning (CCP)…"/>
              <p:cNvSpPr txBox="1">
                <a:spLocks noGrp="1" noRot="1" noChangeAspect="1" noMove="1" noResize="1" noEditPoints="1" noAdjustHandles="1" noChangeArrowheads="1" noChangeShapeType="1" noTextEdit="1"/>
              </p:cNvSpPr>
              <p:nvPr>
                <p:ph type="body" idx="1"/>
              </p:nvPr>
            </p:nvSpPr>
            <p:spPr>
              <a:xfrm>
                <a:off x="1344361" y="1740724"/>
                <a:ext cx="8696786" cy="3797433"/>
              </a:xfrm>
              <a:prstGeom prst="rect">
                <a:avLst/>
              </a:prstGeom>
              <a:blipFill>
                <a:blip r:embed="rId2"/>
                <a:stretch>
                  <a:fillRect l="-351" t="-482" r="-281"/>
                </a:stretch>
              </a:blipFill>
            </p:spPr>
            <p:txBody>
              <a:bodyPr/>
              <a:lstStyle/>
              <a:p>
                <a:r>
                  <a:rPr lang="en-US">
                    <a:noFill/>
                  </a:rPr>
                  <a:t> </a:t>
                </a:r>
              </a:p>
            </p:txBody>
          </p:sp>
        </mc:Fallback>
      </mc:AlternateContent>
      <p:sp>
        <p:nvSpPr>
          <p:cNvPr id="233" name="Post-pruning regularization"/>
          <p:cNvSpPr txBox="1">
            <a:spLocks noGrp="1"/>
          </p:cNvSpPr>
          <p:nvPr>
            <p:ph type="title"/>
          </p:nvPr>
        </p:nvSpPr>
        <p:spPr>
          <a:prstGeom prst="rect">
            <a:avLst/>
          </a:prstGeom>
        </p:spPr>
        <p:txBody>
          <a:bodyPr>
            <a:normAutofit/>
          </a:bodyPr>
          <a:lstStyle>
            <a:lvl1pPr defTabSz="1525858">
              <a:defRPr sz="5280" spc="-105"/>
            </a:lvl1pPr>
          </a:lstStyle>
          <a:p>
            <a:r>
              <a:rPr sz="4000" dirty="0"/>
              <a:t>Post-pruning regularization</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8F365617-5D08-5F6E-219A-E185BACE9ADF}"/>
                  </a:ext>
                </a:extLst>
              </p:cNvPr>
              <p:cNvSpPr>
                <a:spLocks noGrp="1"/>
              </p:cNvSpPr>
              <p:nvPr>
                <p:ph type="body" idx="1"/>
              </p:nvPr>
            </p:nvSpPr>
            <p:spPr/>
            <p:txBody>
              <a:bodyPr/>
              <a:lstStyle/>
              <a:p>
                <a:pPr marL="0" indent="0">
                  <a:buNone/>
                </a:pPr>
                <a:r>
                  <a:rPr lang="en-US" dirty="0"/>
                  <a:t>Minimize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𝑅</m:t>
                        </m:r>
                      </m:e>
                      <m:sub>
                        <m:r>
                          <a:rPr lang="el-GR" i="1" dirty="0">
                            <a:latin typeface="Cambria Math" panose="02040503050406030204" pitchFamily="18" charset="0"/>
                          </a:rPr>
                          <m:t>𝛼</m:t>
                        </m:r>
                      </m:sub>
                    </m:sSub>
                    <m:r>
                      <a:rPr lang="el-GR"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𝑅</m:t>
                    </m:r>
                    <m:r>
                      <a:rPr lang="en-US" i="1" dirty="0">
                        <a:latin typeface="Cambria Math" panose="02040503050406030204" pitchFamily="18" charset="0"/>
                      </a:rPr>
                      <m:t>(</m:t>
                    </m:r>
                    <m:r>
                      <a:rPr lang="en-US" i="1" dirty="0">
                        <a:latin typeface="Cambria Math" panose="02040503050406030204" pitchFamily="18" charset="0"/>
                      </a:rPr>
                      <m:t>𝑇</m:t>
                    </m:r>
                    <m:r>
                      <a:rPr lang="en-US" i="1" dirty="0">
                        <a:latin typeface="Cambria Math" panose="02040503050406030204" pitchFamily="18" charset="0"/>
                      </a:rPr>
                      <m:t>)+</m:t>
                    </m:r>
                    <m:r>
                      <a:rPr lang="el-GR" i="1" dirty="0" smtClean="0">
                        <a:latin typeface="Cambria Math" panose="02040503050406030204" pitchFamily="18" charset="0"/>
                      </a:rPr>
                      <m:t>𝛼</m:t>
                    </m:r>
                    <m:r>
                      <a:rPr lang="en-US" b="0" i="1" dirty="0" smtClean="0">
                        <a:latin typeface="Cambria Math" panose="02040503050406030204" pitchFamily="18" charset="0"/>
                      </a:rPr>
                      <m:t>|</m:t>
                    </m:r>
                    <m:r>
                      <a:rPr lang="en-US" i="1" dirty="0" smtClean="0">
                        <a:latin typeface="Cambria Math" panose="02040503050406030204" pitchFamily="18" charset="0"/>
                      </a:rPr>
                      <m:t>𝑇</m:t>
                    </m:r>
                    <m:r>
                      <a:rPr lang="en-US" b="0" i="1" dirty="0" smtClean="0">
                        <a:latin typeface="Cambria Math" panose="02040503050406030204" pitchFamily="18" charset="0"/>
                      </a:rPr>
                      <m:t>|</m:t>
                    </m:r>
                  </m:oMath>
                </a14:m>
                <a:endParaRPr lang="en-US" dirty="0"/>
              </a:p>
              <a:p>
                <a:r>
                  <a:rPr lang="en-US" dirty="0"/>
                  <a:t>Why does increasing </a:t>
                </a:r>
                <a14:m>
                  <m:oMath xmlns:m="http://schemas.openxmlformats.org/officeDocument/2006/math">
                    <m:r>
                      <a:rPr lang="en-US" i="1" dirty="0" smtClean="0">
                        <a:latin typeface="Cambria Math" panose="02040503050406030204" pitchFamily="18" charset="0"/>
                      </a:rPr>
                      <m:t>𝛼</m:t>
                    </m:r>
                  </m:oMath>
                </a14:m>
                <a:r>
                  <a:rPr lang="en-US" dirty="0"/>
                  <a:t> make trees smaller?</a:t>
                </a:r>
              </a:p>
              <a:p>
                <a14:m>
                  <m:oMath xmlns:m="http://schemas.openxmlformats.org/officeDocument/2006/math">
                    <m:r>
                      <a:rPr lang="en-US" i="1" dirty="0" smtClean="0">
                        <a:latin typeface="Cambria Math" panose="02040503050406030204" pitchFamily="18" charset="0"/>
                      </a:rPr>
                      <m:t>𝛼</m:t>
                    </m:r>
                  </m:oMath>
                </a14:m>
                <a:r>
                  <a:rPr lang="en-US" dirty="0"/>
                  <a:t> multiplies the number of leaves.</a:t>
                </a:r>
              </a:p>
              <a:p>
                <a:r>
                  <a:rPr lang="en-US" dirty="0"/>
                  <a:t>Larger </a:t>
                </a:r>
                <a14:m>
                  <m:oMath xmlns:m="http://schemas.openxmlformats.org/officeDocument/2006/math">
                    <m:r>
                      <a:rPr lang="en-US" i="1" dirty="0" smtClean="0">
                        <a:latin typeface="Cambria Math" panose="02040503050406030204" pitchFamily="18" charset="0"/>
                      </a:rPr>
                      <m:t>𝛼</m:t>
                    </m:r>
                  </m:oMath>
                </a14:m>
                <a:r>
                  <a:rPr lang="en-US" dirty="0"/>
                  <a:t> → larger penalty for each additional leaf.</a:t>
                </a:r>
              </a:p>
              <a:p>
                <a:r>
                  <a:rPr lang="en-US" dirty="0"/>
                  <a:t>A split must reduce impurity </a:t>
                </a:r>
                <a:r>
                  <a:rPr lang="en-US" b="1" dirty="0"/>
                  <a:t>enough</a:t>
                </a:r>
                <a:r>
                  <a:rPr lang="en-US" dirty="0"/>
                  <a:t> to justify its complexity cost.</a:t>
                </a:r>
              </a:p>
              <a:p>
                <a:r>
                  <a:rPr lang="en-US" dirty="0"/>
                  <a:t>If impurity reduction is small, the penalty dominates → subtree is pruned.</a:t>
                </a:r>
              </a:p>
            </p:txBody>
          </p:sp>
        </mc:Choice>
        <mc:Fallback xmlns="">
          <p:sp>
            <p:nvSpPr>
              <p:cNvPr id="2" name="Text Placeholder 1">
                <a:extLst>
                  <a:ext uri="{FF2B5EF4-FFF2-40B4-BE49-F238E27FC236}">
                    <a16:creationId xmlns:a16="http://schemas.microsoft.com/office/drawing/2014/main" id="{8F365617-5D08-5F6E-219A-E185BACE9ADF}"/>
                  </a:ext>
                </a:extLst>
              </p:cNvPr>
              <p:cNvSpPr>
                <a:spLocks noGrp="1" noRot="1" noChangeAspect="1" noMove="1" noResize="1" noEditPoints="1" noAdjustHandles="1" noChangeArrowheads="1" noChangeShapeType="1" noTextEdit="1"/>
              </p:cNvSpPr>
              <p:nvPr>
                <p:ph type="body" idx="1"/>
              </p:nvPr>
            </p:nvSpPr>
            <p:spPr>
              <a:blipFill>
                <a:blip r:embed="rId2"/>
                <a:stretch>
                  <a:fillRect l="-627" t="-81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5EBEF55-AF71-9399-431C-11E49D187F17}"/>
              </a:ext>
            </a:extLst>
          </p:cNvPr>
          <p:cNvSpPr>
            <a:spLocks noGrp="1"/>
          </p:cNvSpPr>
          <p:nvPr>
            <p:ph type="title"/>
          </p:nvPr>
        </p:nvSpPr>
        <p:spPr/>
        <p:txBody>
          <a:bodyPr/>
          <a:lstStyle/>
          <a:p>
            <a:r>
              <a:rPr lang="en-US" dirty="0"/>
              <a:t>Cost-Complexity Pruning (CCP): Intuition</a:t>
            </a:r>
          </a:p>
        </p:txBody>
      </p:sp>
    </p:spTree>
    <p:extLst>
      <p:ext uri="{BB962C8B-B14F-4D97-AF65-F5344CB8AC3E}">
        <p14:creationId xmlns:p14="http://schemas.microsoft.com/office/powerpoint/2010/main" val="134194273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Choice depends on:…"/>
          <p:cNvSpPr txBox="1">
            <a:spLocks noGrp="1"/>
          </p:cNvSpPr>
          <p:nvPr>
            <p:ph type="body" idx="1"/>
          </p:nvPr>
        </p:nvSpPr>
        <p:spPr>
          <a:prstGeom prst="rect">
            <a:avLst/>
          </a:prstGeom>
        </p:spPr>
        <p:txBody>
          <a:bodyPr>
            <a:normAutofit/>
          </a:bodyPr>
          <a:lstStyle/>
          <a:p>
            <a:r>
              <a:rPr dirty="0"/>
              <a:t>Choice depends on:</a:t>
            </a:r>
          </a:p>
          <a:p>
            <a:pPr lvl="1"/>
            <a:r>
              <a:rPr sz="2000" dirty="0"/>
              <a:t>Specific dataset and overfitting behavior observed</a:t>
            </a:r>
          </a:p>
          <a:p>
            <a:pPr lvl="1"/>
            <a:r>
              <a:rPr sz="2000" dirty="0"/>
              <a:t>Domain knowledge </a:t>
            </a:r>
          </a:p>
          <a:p>
            <a:pPr lvl="1"/>
            <a:r>
              <a:rPr sz="2000" dirty="0"/>
              <a:t>Model performance on a validation set</a:t>
            </a:r>
          </a:p>
          <a:p>
            <a:pPr lvl="1"/>
            <a:r>
              <a:rPr sz="2000" dirty="0"/>
              <a:t>Personal preference</a:t>
            </a:r>
          </a:p>
        </p:txBody>
      </p:sp>
      <p:sp>
        <p:nvSpPr>
          <p:cNvPr id="236" name="Pre- versus Post-Pruning"/>
          <p:cNvSpPr txBox="1">
            <a:spLocks noGrp="1"/>
          </p:cNvSpPr>
          <p:nvPr>
            <p:ph type="title"/>
          </p:nvPr>
        </p:nvSpPr>
        <p:spPr>
          <a:prstGeom prst="rect">
            <a:avLst/>
          </a:prstGeom>
        </p:spPr>
        <p:txBody>
          <a:bodyPr/>
          <a:lstStyle>
            <a:lvl1pPr defTabSz="1525858">
              <a:defRPr sz="5280" spc="-105"/>
            </a:lvl1pPr>
          </a:lstStyle>
          <a:p>
            <a:r>
              <a:t>Pre- versus Post-Pruning</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We can predict the target of a new instance by following the tree from top to bottom…"/>
          <p:cNvSpPr txBox="1">
            <a:spLocks noGrp="1"/>
          </p:cNvSpPr>
          <p:nvPr>
            <p:ph type="body" idx="1"/>
          </p:nvPr>
        </p:nvSpPr>
        <p:spPr>
          <a:prstGeom prst="rect">
            <a:avLst/>
          </a:prstGeom>
        </p:spPr>
        <p:txBody>
          <a:bodyPr/>
          <a:lstStyle/>
          <a:p>
            <a:r>
              <a:t>We can predict the target of a new instance by following the tree from top to bottom</a:t>
            </a:r>
          </a:p>
          <a:p>
            <a:r>
              <a:t>At the terminal (leaf) nodes predict using:</a:t>
            </a:r>
          </a:p>
          <a:p>
            <a:pPr lvl="1"/>
            <a:r>
              <a:t>Classification: The majority class in the node</a:t>
            </a:r>
          </a:p>
          <a:p>
            <a:pPr lvl="1"/>
            <a:r>
              <a:t>Regression: The mean target value of the training values in the node</a:t>
            </a:r>
          </a:p>
        </p:txBody>
      </p:sp>
      <p:sp>
        <p:nvSpPr>
          <p:cNvPr id="239" name="Making Predictions"/>
          <p:cNvSpPr txBox="1">
            <a:spLocks noGrp="1"/>
          </p:cNvSpPr>
          <p:nvPr>
            <p:ph type="title"/>
          </p:nvPr>
        </p:nvSpPr>
        <p:spPr>
          <a:prstGeom prst="rect">
            <a:avLst/>
          </a:prstGeom>
        </p:spPr>
        <p:txBody>
          <a:bodyPr/>
          <a:lstStyle>
            <a:lvl1pPr defTabSz="1525858">
              <a:defRPr sz="5280" spc="-105"/>
            </a:lvl1pPr>
          </a:lstStyle>
          <a:p>
            <a:r>
              <a:t>Making Predictions</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 name="iris_tree_no_impurity.png" descr="iris_tree_no_impurity.png"/>
          <p:cNvPicPr>
            <a:picLocks noChangeAspect="1"/>
          </p:cNvPicPr>
          <p:nvPr/>
        </p:nvPicPr>
        <p:blipFill>
          <a:blip r:embed="rId2"/>
          <a:stretch>
            <a:fillRect/>
          </a:stretch>
        </p:blipFill>
        <p:spPr>
          <a:xfrm>
            <a:off x="3736916" y="2922111"/>
            <a:ext cx="4136944" cy="4136944"/>
          </a:xfrm>
          <a:prstGeom prst="rect">
            <a:avLst/>
          </a:prstGeom>
          <a:ln w="12700">
            <a:miter lim="400000"/>
          </a:ln>
        </p:spPr>
      </p:pic>
      <p:sp>
        <p:nvSpPr>
          <p:cNvPr id="242" name="We can predict the target of a new instance by following the tree from top to bottom…"/>
          <p:cNvSpPr txBox="1">
            <a:spLocks noGrp="1"/>
          </p:cNvSpPr>
          <p:nvPr>
            <p:ph type="body" idx="1"/>
          </p:nvPr>
        </p:nvSpPr>
        <p:spPr>
          <a:prstGeom prst="rect">
            <a:avLst/>
          </a:prstGeom>
        </p:spPr>
        <p:txBody>
          <a:bodyPr/>
          <a:lstStyle/>
          <a:p>
            <a:r>
              <a:t>We can predict the target of a new instance by following the tree from top to bottom</a:t>
            </a:r>
          </a:p>
          <a:p>
            <a:r>
              <a:t>At the terminal (leaf) nodes predict using:</a:t>
            </a:r>
          </a:p>
          <a:p>
            <a:pPr lvl="1"/>
            <a:r>
              <a:t>Classification: The majority class in the node</a:t>
            </a:r>
          </a:p>
        </p:txBody>
      </p:sp>
      <p:sp>
        <p:nvSpPr>
          <p:cNvPr id="243" name="Making Predictions (Classification)"/>
          <p:cNvSpPr txBox="1">
            <a:spLocks noGrp="1"/>
          </p:cNvSpPr>
          <p:nvPr>
            <p:ph type="title"/>
          </p:nvPr>
        </p:nvSpPr>
        <p:spPr>
          <a:prstGeom prst="rect">
            <a:avLst/>
          </a:prstGeom>
        </p:spPr>
        <p:txBody>
          <a:bodyPr>
            <a:normAutofit fontScale="90000"/>
          </a:bodyPr>
          <a:lstStyle>
            <a:lvl1pPr defTabSz="1525858">
              <a:defRPr sz="5280" spc="-105"/>
            </a:lvl1pPr>
          </a:lstStyle>
          <a:p>
            <a:r>
              <a:t>Making Predictions (Classification) </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0F1ACF-64A6-2479-D8A3-0CE05F03B5C3}"/>
              </a:ext>
            </a:extLst>
          </p:cNvPr>
          <p:cNvSpPr>
            <a:spLocks noGrp="1"/>
          </p:cNvSpPr>
          <p:nvPr>
            <p:ph type="body" idx="1"/>
          </p:nvPr>
        </p:nvSpPr>
        <p:spPr/>
        <p:txBody>
          <a:bodyPr/>
          <a:lstStyle/>
          <a:p>
            <a:endParaRPr lang="en-US"/>
          </a:p>
        </p:txBody>
      </p:sp>
      <p:sp>
        <p:nvSpPr>
          <p:cNvPr id="3" name="Title 2">
            <a:extLst>
              <a:ext uri="{FF2B5EF4-FFF2-40B4-BE49-F238E27FC236}">
                <a16:creationId xmlns:a16="http://schemas.microsoft.com/office/drawing/2014/main" id="{CE81DCDA-CF0E-C2B7-B124-5E3D071089D4}"/>
              </a:ext>
            </a:extLst>
          </p:cNvPr>
          <p:cNvSpPr>
            <a:spLocks noGrp="1"/>
          </p:cNvSpPr>
          <p:nvPr>
            <p:ph type="title"/>
          </p:nvPr>
        </p:nvSpPr>
        <p:spPr/>
        <p:txBody>
          <a:bodyPr/>
          <a:lstStyle/>
          <a:p>
            <a:r>
              <a:rPr lang="en-US" dirty="0"/>
              <a:t>Classification Boundary Example</a:t>
            </a:r>
          </a:p>
        </p:txBody>
      </p:sp>
      <p:pic>
        <p:nvPicPr>
          <p:cNvPr id="5" name="Picture 4">
            <a:extLst>
              <a:ext uri="{FF2B5EF4-FFF2-40B4-BE49-F238E27FC236}">
                <a16:creationId xmlns:a16="http://schemas.microsoft.com/office/drawing/2014/main" id="{83920926-247B-0038-156C-C3EDE7D6CEAC}"/>
              </a:ext>
            </a:extLst>
          </p:cNvPr>
          <p:cNvPicPr>
            <a:picLocks noChangeAspect="1"/>
          </p:cNvPicPr>
          <p:nvPr/>
        </p:nvPicPr>
        <p:blipFill>
          <a:blip r:embed="rId2"/>
          <a:stretch>
            <a:fillRect/>
          </a:stretch>
        </p:blipFill>
        <p:spPr>
          <a:xfrm>
            <a:off x="0" y="1905196"/>
            <a:ext cx="12192000" cy="4829577"/>
          </a:xfrm>
          <a:prstGeom prst="rect">
            <a:avLst/>
          </a:prstGeom>
        </p:spPr>
      </p:pic>
      <p:sp>
        <p:nvSpPr>
          <p:cNvPr id="6" name="TextBox 5">
            <a:extLst>
              <a:ext uri="{FF2B5EF4-FFF2-40B4-BE49-F238E27FC236}">
                <a16:creationId xmlns:a16="http://schemas.microsoft.com/office/drawing/2014/main" id="{AA8BB574-62D3-D6CF-D0EA-DFC54FE43908}"/>
              </a:ext>
            </a:extLst>
          </p:cNvPr>
          <p:cNvSpPr txBox="1"/>
          <p:nvPr/>
        </p:nvSpPr>
        <p:spPr>
          <a:xfrm>
            <a:off x="809492" y="6365441"/>
            <a:ext cx="1152880" cy="369332"/>
          </a:xfrm>
          <a:prstGeom prst="rect">
            <a:avLst/>
          </a:prstGeom>
          <a:noFill/>
        </p:spPr>
        <p:txBody>
          <a:bodyPr wrap="none" rtlCol="0">
            <a:spAutoFit/>
          </a:bodyPr>
          <a:lstStyle/>
          <a:p>
            <a:r>
              <a:rPr lang="en-US" dirty="0"/>
              <a:t>HOML R</a:t>
            </a:r>
          </a:p>
        </p:txBody>
      </p:sp>
    </p:spTree>
    <p:extLst>
      <p:ext uri="{BB962C8B-B14F-4D97-AF65-F5344CB8AC3E}">
        <p14:creationId xmlns:p14="http://schemas.microsoft.com/office/powerpoint/2010/main" val="10800887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 name="db_tree.png" descr="db_tree.png"/>
          <p:cNvPicPr>
            <a:picLocks noChangeAspect="1"/>
          </p:cNvPicPr>
          <p:nvPr/>
        </p:nvPicPr>
        <p:blipFill>
          <a:blip r:embed="rId2"/>
          <a:stretch>
            <a:fillRect/>
          </a:stretch>
        </p:blipFill>
        <p:spPr>
          <a:xfrm>
            <a:off x="2784825" y="449756"/>
            <a:ext cx="6622350" cy="6622350"/>
          </a:xfrm>
          <a:prstGeom prst="rect">
            <a:avLst/>
          </a:prstGeom>
          <a:ln w="12700">
            <a:miter lim="400000"/>
          </a:ln>
        </p:spPr>
      </p:pic>
      <p:sp>
        <p:nvSpPr>
          <p:cNvPr id="246" name="Making Predictions (Regression)"/>
          <p:cNvSpPr txBox="1">
            <a:spLocks noGrp="1"/>
          </p:cNvSpPr>
          <p:nvPr>
            <p:ph type="title"/>
          </p:nvPr>
        </p:nvSpPr>
        <p:spPr>
          <a:prstGeom prst="rect">
            <a:avLst/>
          </a:prstGeom>
        </p:spPr>
        <p:txBody>
          <a:bodyPr/>
          <a:lstStyle>
            <a:lvl1pPr defTabSz="1525858">
              <a:defRPr sz="5280" spc="-105"/>
            </a:lvl1pPr>
          </a:lstStyle>
          <a:p>
            <a:r>
              <a:t>Making Predictions (Regression)</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D0DBCC-9AB8-A501-592C-560CDB06CB9A}"/>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10154746-626B-5318-9F2C-FDD270DC76C5}"/>
              </a:ext>
            </a:extLst>
          </p:cNvPr>
          <p:cNvSpPr>
            <a:spLocks noGrp="1"/>
          </p:cNvSpPr>
          <p:nvPr>
            <p:ph type="title"/>
          </p:nvPr>
        </p:nvSpPr>
        <p:spPr/>
        <p:txBody>
          <a:bodyPr/>
          <a:lstStyle/>
          <a:p>
            <a:r>
              <a:rPr lang="en-US" dirty="0"/>
              <a:t>Example: Regression Decisions</a:t>
            </a:r>
          </a:p>
        </p:txBody>
      </p:sp>
      <p:pic>
        <p:nvPicPr>
          <p:cNvPr id="5" name="Picture 4">
            <a:extLst>
              <a:ext uri="{FF2B5EF4-FFF2-40B4-BE49-F238E27FC236}">
                <a16:creationId xmlns:a16="http://schemas.microsoft.com/office/drawing/2014/main" id="{51A0453D-14E3-A540-928D-825D03B929C1}"/>
              </a:ext>
            </a:extLst>
          </p:cNvPr>
          <p:cNvPicPr>
            <a:picLocks noChangeAspect="1"/>
          </p:cNvPicPr>
          <p:nvPr/>
        </p:nvPicPr>
        <p:blipFill>
          <a:blip r:embed="rId2"/>
          <a:stretch>
            <a:fillRect/>
          </a:stretch>
        </p:blipFill>
        <p:spPr>
          <a:xfrm>
            <a:off x="881742" y="1921775"/>
            <a:ext cx="9938657" cy="3870136"/>
          </a:xfrm>
          <a:prstGeom prst="rect">
            <a:avLst/>
          </a:prstGeom>
        </p:spPr>
      </p:pic>
      <p:sp>
        <p:nvSpPr>
          <p:cNvPr id="6" name="TextBox 5">
            <a:extLst>
              <a:ext uri="{FF2B5EF4-FFF2-40B4-BE49-F238E27FC236}">
                <a16:creationId xmlns:a16="http://schemas.microsoft.com/office/drawing/2014/main" id="{A0FCB933-7583-756C-9F9A-92BFCBAB052E}"/>
              </a:ext>
            </a:extLst>
          </p:cNvPr>
          <p:cNvSpPr txBox="1"/>
          <p:nvPr/>
        </p:nvSpPr>
        <p:spPr>
          <a:xfrm>
            <a:off x="1164771" y="6183086"/>
            <a:ext cx="1152880" cy="369332"/>
          </a:xfrm>
          <a:prstGeom prst="rect">
            <a:avLst/>
          </a:prstGeom>
          <a:noFill/>
        </p:spPr>
        <p:txBody>
          <a:bodyPr wrap="none" rtlCol="0">
            <a:spAutoFit/>
          </a:bodyPr>
          <a:lstStyle/>
          <a:p>
            <a:r>
              <a:rPr lang="en-US" dirty="0"/>
              <a:t>HOML R</a:t>
            </a:r>
          </a:p>
        </p:txBody>
      </p:sp>
    </p:spTree>
    <p:extLst>
      <p:ext uri="{BB962C8B-B14F-4D97-AF65-F5344CB8AC3E}">
        <p14:creationId xmlns:p14="http://schemas.microsoft.com/office/powerpoint/2010/main" val="55885072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6C450-D4DD-C46D-069F-2AE24729C89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E63B6C5-EF2B-75E2-C424-EF62C6882C72}"/>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6CB5875A-BC0B-0B61-0DFA-1920184901C7}"/>
              </a:ext>
            </a:extLst>
          </p:cNvPr>
          <p:cNvSpPr>
            <a:spLocks noGrp="1"/>
          </p:cNvSpPr>
          <p:nvPr>
            <p:ph type="title"/>
          </p:nvPr>
        </p:nvSpPr>
        <p:spPr/>
        <p:txBody>
          <a:bodyPr/>
          <a:lstStyle/>
          <a:p>
            <a:r>
              <a:rPr lang="en-US" dirty="0"/>
              <a:t>Example: Regression Decisions</a:t>
            </a:r>
          </a:p>
        </p:txBody>
      </p:sp>
      <p:sp>
        <p:nvSpPr>
          <p:cNvPr id="6" name="TextBox 5">
            <a:extLst>
              <a:ext uri="{FF2B5EF4-FFF2-40B4-BE49-F238E27FC236}">
                <a16:creationId xmlns:a16="http://schemas.microsoft.com/office/drawing/2014/main" id="{14D2AFCC-BB60-4304-2B10-F9CB0DE750FD}"/>
              </a:ext>
            </a:extLst>
          </p:cNvPr>
          <p:cNvSpPr txBox="1"/>
          <p:nvPr/>
        </p:nvSpPr>
        <p:spPr>
          <a:xfrm>
            <a:off x="1164771" y="6183086"/>
            <a:ext cx="1152880" cy="369332"/>
          </a:xfrm>
          <a:prstGeom prst="rect">
            <a:avLst/>
          </a:prstGeom>
          <a:noFill/>
        </p:spPr>
        <p:txBody>
          <a:bodyPr wrap="none" rtlCol="0">
            <a:spAutoFit/>
          </a:bodyPr>
          <a:lstStyle/>
          <a:p>
            <a:r>
              <a:rPr lang="en-US" dirty="0"/>
              <a:t>HOML R</a:t>
            </a:r>
          </a:p>
        </p:txBody>
      </p:sp>
      <p:pic>
        <p:nvPicPr>
          <p:cNvPr id="7" name="Picture 6">
            <a:extLst>
              <a:ext uri="{FF2B5EF4-FFF2-40B4-BE49-F238E27FC236}">
                <a16:creationId xmlns:a16="http://schemas.microsoft.com/office/drawing/2014/main" id="{421E9C0E-7A2C-6A52-1F2D-16F736C155B0}"/>
              </a:ext>
            </a:extLst>
          </p:cNvPr>
          <p:cNvPicPr>
            <a:picLocks noChangeAspect="1"/>
          </p:cNvPicPr>
          <p:nvPr/>
        </p:nvPicPr>
        <p:blipFill>
          <a:blip r:embed="rId2"/>
          <a:stretch>
            <a:fillRect/>
          </a:stretch>
        </p:blipFill>
        <p:spPr>
          <a:xfrm>
            <a:off x="537777" y="1440046"/>
            <a:ext cx="11016979" cy="4632441"/>
          </a:xfrm>
          <a:prstGeom prst="rect">
            <a:avLst/>
          </a:prstGeom>
        </p:spPr>
      </p:pic>
    </p:spTree>
    <p:extLst>
      <p:ext uri="{BB962C8B-B14F-4D97-AF65-F5344CB8AC3E}">
        <p14:creationId xmlns:p14="http://schemas.microsoft.com/office/powerpoint/2010/main" val="357359854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451CDE-0427-0B53-6366-4DB8162E4028}"/>
              </a:ext>
            </a:extLst>
          </p:cNvPr>
          <p:cNvSpPr>
            <a:spLocks noGrp="1"/>
          </p:cNvSpPr>
          <p:nvPr>
            <p:ph type="body" idx="1"/>
          </p:nvPr>
        </p:nvSpPr>
        <p:spPr/>
        <p:txBody>
          <a:bodyPr/>
          <a:lstStyle/>
          <a:p>
            <a:endParaRPr lang="en-US"/>
          </a:p>
        </p:txBody>
      </p:sp>
      <p:sp>
        <p:nvSpPr>
          <p:cNvPr id="3" name="Title 2">
            <a:extLst>
              <a:ext uri="{FF2B5EF4-FFF2-40B4-BE49-F238E27FC236}">
                <a16:creationId xmlns:a16="http://schemas.microsoft.com/office/drawing/2014/main" id="{81A0F6F1-0663-F755-86F9-FE11B4647491}"/>
              </a:ext>
            </a:extLst>
          </p:cNvPr>
          <p:cNvSpPr>
            <a:spLocks noGrp="1"/>
          </p:cNvSpPr>
          <p:nvPr>
            <p:ph type="title"/>
          </p:nvPr>
        </p:nvSpPr>
        <p:spPr/>
        <p:txBody>
          <a:bodyPr/>
          <a:lstStyle/>
          <a:p>
            <a:endParaRPr lang="en-US"/>
          </a:p>
        </p:txBody>
      </p:sp>
      <p:pic>
        <p:nvPicPr>
          <p:cNvPr id="2050" name="Picture 2" descr="Illustration of how early stopping affects the decision boundary of a regression decision tree. The columns illustrate how tree depth impacts the decision boundary and the rows illustrate how the minimum number of observations in the terminal node influences the decision boundary.">
            <a:extLst>
              <a:ext uri="{FF2B5EF4-FFF2-40B4-BE49-F238E27FC236}">
                <a16:creationId xmlns:a16="http://schemas.microsoft.com/office/drawing/2014/main" id="{54B19537-12BE-DE37-1BD5-30933D07D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0"/>
            <a:ext cx="8572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82403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CART is a very popular tree algorithm but it isn’t the only one (though it is the only one in scikit-learn)…"/>
          <p:cNvSpPr txBox="1">
            <a:spLocks noGrp="1"/>
          </p:cNvSpPr>
          <p:nvPr>
            <p:ph type="body" idx="1"/>
          </p:nvPr>
        </p:nvSpPr>
        <p:spPr>
          <a:prstGeom prst="rect">
            <a:avLst/>
          </a:prstGeom>
        </p:spPr>
        <p:txBody>
          <a:bodyPr>
            <a:normAutofit fontScale="70000" lnSpcReduction="20000"/>
          </a:bodyPr>
          <a:lstStyle/>
          <a:p>
            <a:pPr marL="262523" indent="-262523" defTabSz="1194743">
              <a:lnSpc>
                <a:spcPct val="120000"/>
              </a:lnSpc>
              <a:spcBef>
                <a:spcPts val="500"/>
              </a:spcBef>
              <a:defRPr sz="2940"/>
            </a:pPr>
            <a:r>
              <a:rPr dirty="0"/>
              <a:t>CART is a very popular tree algorithm but it isn’t the only one</a:t>
            </a:r>
            <a:br>
              <a:rPr dirty="0"/>
            </a:br>
            <a:r>
              <a:rPr sz="1929" i="1" dirty="0"/>
              <a:t>(though it is the only one in scikit-learn)</a:t>
            </a:r>
          </a:p>
          <a:p>
            <a:pPr marL="262523" indent="-262523" defTabSz="1194743">
              <a:lnSpc>
                <a:spcPct val="120000"/>
              </a:lnSpc>
              <a:spcBef>
                <a:spcPts val="500"/>
              </a:spcBef>
              <a:defRPr sz="2940"/>
            </a:pPr>
            <a:r>
              <a:rPr dirty="0"/>
              <a:t>Other algorithms:</a:t>
            </a:r>
          </a:p>
          <a:p>
            <a:pPr marL="700063" lvl="1" indent="-262523" defTabSz="1194743">
              <a:lnSpc>
                <a:spcPct val="120000"/>
              </a:lnSpc>
              <a:defRPr sz="2940"/>
            </a:pPr>
            <a:r>
              <a:rPr b="1" dirty="0">
                <a:solidFill>
                  <a:srgbClr val="531B93"/>
                </a:solidFill>
              </a:rPr>
              <a:t>ID3</a:t>
            </a:r>
            <a:r>
              <a:rPr dirty="0"/>
              <a:t> - designed for classification problems </a:t>
            </a:r>
            <a:br>
              <a:rPr dirty="0"/>
            </a:br>
            <a:r>
              <a:rPr dirty="0"/>
              <a:t>- Uses information gain to select the feature that best splits the set of items </a:t>
            </a:r>
            <a:br>
              <a:rPr dirty="0"/>
            </a:br>
            <a:r>
              <a:rPr dirty="0"/>
              <a:t>- Works only with categorical features</a:t>
            </a:r>
            <a:br>
              <a:rPr dirty="0"/>
            </a:br>
            <a:r>
              <a:rPr dirty="0"/>
              <a:t>- More than two branches can be created from a node</a:t>
            </a:r>
          </a:p>
          <a:p>
            <a:pPr marL="700063" lvl="1" indent="-262523" defTabSz="1194743">
              <a:lnSpc>
                <a:spcPct val="120000"/>
              </a:lnSpc>
              <a:defRPr sz="2940"/>
            </a:pPr>
            <a:r>
              <a:rPr b="1" dirty="0">
                <a:solidFill>
                  <a:srgbClr val="531B93"/>
                </a:solidFill>
              </a:rPr>
              <a:t>C4.5</a:t>
            </a:r>
            <a:r>
              <a:rPr dirty="0"/>
              <a:t> - extension of ID3 that handles both continuous and discrete features</a:t>
            </a:r>
          </a:p>
          <a:p>
            <a:pPr marL="700063" lvl="1" indent="-262523" defTabSz="1194743">
              <a:lnSpc>
                <a:spcPct val="120000"/>
              </a:lnSpc>
              <a:defRPr sz="2940"/>
            </a:pPr>
            <a:r>
              <a:rPr b="1" dirty="0">
                <a:solidFill>
                  <a:srgbClr val="531B93"/>
                </a:solidFill>
              </a:rPr>
              <a:t>C5.0</a:t>
            </a:r>
            <a:r>
              <a:rPr dirty="0"/>
              <a:t> - improved version of C4.5</a:t>
            </a:r>
          </a:p>
          <a:p>
            <a:pPr marL="700063" lvl="1" indent="-262523" defTabSz="1194743">
              <a:lnSpc>
                <a:spcPct val="120000"/>
              </a:lnSpc>
              <a:defRPr sz="2940"/>
            </a:pPr>
            <a:r>
              <a:rPr b="1" dirty="0">
                <a:solidFill>
                  <a:srgbClr val="531B93"/>
                </a:solidFill>
              </a:rPr>
              <a:t>CHAID</a:t>
            </a:r>
            <a:r>
              <a:rPr dirty="0"/>
              <a:t> - uses chi-square tests to determine the best split</a:t>
            </a:r>
          </a:p>
        </p:txBody>
      </p:sp>
      <p:sp>
        <p:nvSpPr>
          <p:cNvPr id="249" name="Other Decision Tree Algorithms"/>
          <p:cNvSpPr txBox="1">
            <a:spLocks noGrp="1"/>
          </p:cNvSpPr>
          <p:nvPr>
            <p:ph type="title"/>
          </p:nvPr>
        </p:nvSpPr>
        <p:spPr>
          <a:prstGeom prst="rect">
            <a:avLst/>
          </a:prstGeom>
        </p:spPr>
        <p:txBody>
          <a:bodyPr/>
          <a:lstStyle>
            <a:lvl1pPr defTabSz="1525858">
              <a:defRPr sz="5280" spc="-105"/>
            </a:lvl1pPr>
          </a:lstStyle>
          <a:p>
            <a:r>
              <a:t>Other Decision Tree Algorithms</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Pros…"/>
          <p:cNvSpPr txBox="1">
            <a:spLocks noGrp="1"/>
          </p:cNvSpPr>
          <p:nvPr>
            <p:ph type="body" idx="1"/>
          </p:nvPr>
        </p:nvSpPr>
        <p:spPr>
          <a:prstGeom prst="rect">
            <a:avLst/>
          </a:prstGeom>
        </p:spPr>
        <p:txBody>
          <a:bodyPr>
            <a:noAutofit/>
          </a:bodyPr>
          <a:lstStyle/>
          <a:p>
            <a:pPr marL="257165" indent="-257165" defTabSz="1170361">
              <a:spcBef>
                <a:spcPts val="500"/>
              </a:spcBef>
              <a:defRPr sz="2880"/>
            </a:pPr>
            <a:r>
              <a:rPr sz="1900" dirty="0"/>
              <a:t>Pros</a:t>
            </a:r>
          </a:p>
          <a:p>
            <a:pPr marL="685775" lvl="1" indent="-257165" defTabSz="1170361">
              <a:defRPr sz="2880"/>
            </a:pPr>
            <a:r>
              <a:rPr sz="1900" dirty="0"/>
              <a:t>Easy to build and explain</a:t>
            </a:r>
          </a:p>
          <a:p>
            <a:pPr marL="685775" lvl="1" indent="-257165" defTabSz="1170361">
              <a:defRPr sz="2880"/>
            </a:pPr>
            <a:r>
              <a:rPr sz="1900" dirty="0"/>
              <a:t>Non-parametric and can easily capture non-linear relationships</a:t>
            </a:r>
          </a:p>
          <a:p>
            <a:pPr marL="685775" lvl="1" indent="-257165" defTabSz="1170361">
              <a:defRPr sz="2880"/>
            </a:pPr>
            <a:r>
              <a:rPr sz="1900" dirty="0"/>
              <a:t>Very little data preprocessing is required</a:t>
            </a:r>
          </a:p>
          <a:p>
            <a:pPr marL="685775" lvl="1" indent="-257165" defTabSz="1170361">
              <a:defRPr sz="2880"/>
            </a:pPr>
            <a:endParaRPr sz="1900" dirty="0"/>
          </a:p>
          <a:p>
            <a:pPr marL="257165" indent="-257165" defTabSz="1170361">
              <a:spcBef>
                <a:spcPts val="500"/>
              </a:spcBef>
              <a:defRPr sz="2880"/>
            </a:pPr>
            <a:r>
              <a:rPr sz="1900" dirty="0"/>
              <a:t>Cons</a:t>
            </a:r>
          </a:p>
          <a:p>
            <a:pPr marL="685775" lvl="1" indent="-257165" defTabSz="1170361">
              <a:defRPr sz="2880"/>
            </a:pPr>
            <a:r>
              <a:rPr sz="1900" dirty="0"/>
              <a:t>Tendency to overfit</a:t>
            </a:r>
          </a:p>
          <a:p>
            <a:pPr marL="685775" lvl="1" indent="-257165" defTabSz="1170361">
              <a:defRPr sz="2880"/>
            </a:pPr>
            <a:r>
              <a:rPr sz="1900" dirty="0"/>
              <a:t>Difficulty with linear relationships </a:t>
            </a:r>
          </a:p>
          <a:p>
            <a:pPr marL="685775" lvl="1" indent="-257165" defTabSz="1170361">
              <a:defRPr sz="2880" i="1"/>
            </a:pPr>
            <a:r>
              <a:rPr sz="1900" dirty="0"/>
              <a:t>High variance models</a:t>
            </a:r>
            <a:r>
              <a:rPr lang="en-US" sz="1900" dirty="0"/>
              <a:t> (training set selection has a huge impact on the resulting tree!)</a:t>
            </a:r>
            <a:endParaRPr sz="1900" dirty="0"/>
          </a:p>
        </p:txBody>
      </p:sp>
      <p:sp>
        <p:nvSpPr>
          <p:cNvPr id="252" name="Pros and Cons of Trees"/>
          <p:cNvSpPr txBox="1">
            <a:spLocks noGrp="1"/>
          </p:cNvSpPr>
          <p:nvPr>
            <p:ph type="title"/>
          </p:nvPr>
        </p:nvSpPr>
        <p:spPr>
          <a:prstGeom prst="rect">
            <a:avLst/>
          </a:prstGeom>
        </p:spPr>
        <p:txBody>
          <a:bodyPr/>
          <a:lstStyle>
            <a:lvl1pPr defTabSz="1525858">
              <a:defRPr sz="5280" spc="-105"/>
            </a:lvl1pPr>
          </a:lstStyle>
          <a:p>
            <a:r>
              <a:t>Pros and Cons of Trees</a:t>
            </a:r>
          </a:p>
        </p:txBody>
      </p:sp>
    </p:spTree>
  </p:cSld>
  <p:clrMapOvr>
    <a:masterClrMapping/>
  </p:clrMapOvr>
  <p:transition spd="med"/>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684</TotalTime>
  <Words>1331</Words>
  <Application>Microsoft Office PowerPoint</Application>
  <PresentationFormat>Widescreen</PresentationFormat>
  <Paragraphs>130</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Calisto MT</vt:lpstr>
      <vt:lpstr>Cambria Math</vt:lpstr>
      <vt:lpstr>Courier</vt:lpstr>
      <vt:lpstr>Univers Condensed</vt:lpstr>
      <vt:lpstr>ChronicleVTI</vt:lpstr>
      <vt:lpstr>Decision Trees</vt:lpstr>
      <vt:lpstr>Example Decision Tree</vt:lpstr>
      <vt:lpstr>PowerPoint Presentation</vt:lpstr>
      <vt:lpstr>How To fit?</vt:lpstr>
      <vt:lpstr>Decision Tree Algorithms</vt:lpstr>
      <vt:lpstr>Node Impurity Measures (Classification)</vt:lpstr>
      <vt:lpstr>Growing the Tree (Fitting)</vt:lpstr>
      <vt:lpstr>Node Impurity Measures (Classification)</vt:lpstr>
      <vt:lpstr>Node Impurity Measures (Classification)</vt:lpstr>
      <vt:lpstr>Gini Index</vt:lpstr>
      <vt:lpstr>Entropy</vt:lpstr>
      <vt:lpstr>Information Gain</vt:lpstr>
      <vt:lpstr>Gini Impurity vs Entropy</vt:lpstr>
      <vt:lpstr>The CART Algorithm</vt:lpstr>
      <vt:lpstr>PowerPoint Presentation</vt:lpstr>
      <vt:lpstr>Regularization</vt:lpstr>
      <vt:lpstr>Pre-pruning regularization</vt:lpstr>
      <vt:lpstr>Post-pruning regularization</vt:lpstr>
      <vt:lpstr>Cost-Complexity Pruning (CCP): Intuition</vt:lpstr>
      <vt:lpstr>Pre- versus Post-Pruning</vt:lpstr>
      <vt:lpstr>Making Predictions</vt:lpstr>
      <vt:lpstr>Making Predictions (Classification) </vt:lpstr>
      <vt:lpstr>Classification Boundary Example</vt:lpstr>
      <vt:lpstr>Making Predictions (Regression)</vt:lpstr>
      <vt:lpstr>Example: Regression Decisions</vt:lpstr>
      <vt:lpstr>Example: Regression Decisions</vt:lpstr>
      <vt:lpstr>PowerPoint Presentation</vt:lpstr>
      <vt:lpstr>Other Decision Tree Algorithms</vt:lpstr>
      <vt:lpstr>Pros and Cons of Trees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29</cp:revision>
  <dcterms:created xsi:type="dcterms:W3CDTF">2025-10-28T15:32:43Z</dcterms:created>
  <dcterms:modified xsi:type="dcterms:W3CDTF">2026-02-26T17:38:40Z</dcterms:modified>
</cp:coreProperties>
</file>